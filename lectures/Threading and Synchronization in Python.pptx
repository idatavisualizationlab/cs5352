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65" r:id="rId3"/>
    <p:sldId id="366" r:id="rId4"/>
    <p:sldId id="367" r:id="rId5"/>
    <p:sldId id="385" r:id="rId6"/>
    <p:sldId id="364" r:id="rId7"/>
    <p:sldId id="368" r:id="rId8"/>
    <p:sldId id="369" r:id="rId9"/>
    <p:sldId id="359" r:id="rId10"/>
    <p:sldId id="360" r:id="rId11"/>
    <p:sldId id="361" r:id="rId12"/>
    <p:sldId id="370" r:id="rId13"/>
    <p:sldId id="371" r:id="rId14"/>
    <p:sldId id="372" r:id="rId15"/>
    <p:sldId id="374" r:id="rId16"/>
    <p:sldId id="376" r:id="rId17"/>
    <p:sldId id="377" r:id="rId18"/>
    <p:sldId id="375" r:id="rId19"/>
    <p:sldId id="378" r:id="rId20"/>
    <p:sldId id="373" r:id="rId21"/>
    <p:sldId id="383" r:id="rId22"/>
    <p:sldId id="384" r:id="rId23"/>
    <p:sldId id="379" r:id="rId24"/>
    <p:sldId id="381" r:id="rId25"/>
    <p:sldId id="38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ham, Vung" initials="PV" lastIdx="1" clrIdx="0">
    <p:extLst>
      <p:ext uri="{19B8F6BF-5375-455C-9EA6-DF929625EA0E}">
        <p15:presenceInfo xmlns:p15="http://schemas.microsoft.com/office/powerpoint/2012/main" userId="S::vung.pham@ttu.edu::b8c352c3-a8a4-49f0-8258-1fcc65ef26c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694"/>
    <p:restoredTop sz="96327"/>
  </p:normalViewPr>
  <p:slideViewPr>
    <p:cSldViewPr snapToGrid="0" snapToObjects="1" showGuides="1">
      <p:cViewPr varScale="1">
        <p:scale>
          <a:sx n="110" d="100"/>
          <a:sy n="110" d="100"/>
        </p:scale>
        <p:origin x="192" y="9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2-05T15:17:12.508" idx="1">
    <p:pos x="10" y="10"/>
    <p:text/>
    <p:extLst>
      <p:ext uri="{C676402C-5697-4E1C-873F-D02D1690AC5C}">
        <p15:threadingInfo xmlns:p15="http://schemas.microsoft.com/office/powerpoint/2012/main" timeZoneBias="360"/>
      </p:ext>
    </p:extLst>
  </p:cm>
</p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FF8D7-B01A-7F46-A2FF-9CB897DD43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A9F4F4-7164-B048-A9D5-31E6E6F328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55EC1-86D3-2843-AAD2-B6CE5BFEF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EA5F-51B9-5C45-92FB-C81D57BCDAD1}" type="datetimeFigureOut">
              <a:rPr lang="en-US" smtClean="0"/>
              <a:t>2/5/20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80795-0947-164E-9BE7-C5F1FF4CF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48E08-865E-3D4E-A66C-98A0E5677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2E7A4-8973-A44A-B420-0E4394A84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488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56CF0-F0C3-3344-8D9E-A8B918319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539BD-4BC3-DA45-ABE4-3175A4344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B08D7-A609-4F4E-B5E5-0AB375379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EA5F-51B9-5C45-92FB-C81D57BCDAD1}" type="datetimeFigureOut">
              <a:rPr lang="en-US" smtClean="0"/>
              <a:t>2/5/20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07A03-D01D-A54E-BF48-2B68BCF87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56C47-542E-5E46-9FBE-72E8F7861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2E7A4-8973-A44A-B420-0E4394A84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789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58DCB-30CE-2D45-95A5-62D0D786F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C1F1C4-A739-7D4C-B706-EE0932BAD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121E9-168A-FB4D-B90B-235649338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EA5F-51B9-5C45-92FB-C81D57BCDAD1}" type="datetimeFigureOut">
              <a:rPr lang="en-US" smtClean="0"/>
              <a:t>2/5/20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9B27A-4E61-9843-91BE-415E4C9EA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954C1-1D38-7F46-8BDB-9406DEDB8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2E7A4-8973-A44A-B420-0E4394A84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264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5D06F-B4DA-E04B-8EFD-FB01AF656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93DB5-9A62-FF4E-A4EF-8FC1A7BF14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CC6D09-C940-0C4C-BC0F-B60E55F76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EE7AAF-1360-6044-9B5A-B02A381C8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EA5F-51B9-5C45-92FB-C81D57BCDAD1}" type="datetimeFigureOut">
              <a:rPr lang="en-US" smtClean="0"/>
              <a:t>2/5/20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82901-ADA3-5B4E-9E84-682157E7B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2F2B6-B701-B948-8A9A-B59495FCF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2E7A4-8973-A44A-B420-0E4394A84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49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F0E5F-7140-8F4D-B3B8-CE1BA58B1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635C6-CD60-5142-A466-37A11E2BB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0135D9-8754-B94A-A533-A37612652D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74EC42-2BA5-F546-8812-E8A87F7D6E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4D5726-00FC-D74F-BAD2-B8B2350D36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432766-8DA7-AC4C-8F12-B82E44CFC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EA5F-51B9-5C45-92FB-C81D57BCDAD1}" type="datetimeFigureOut">
              <a:rPr lang="en-US" smtClean="0"/>
              <a:t>2/5/20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E29B23-2238-8B48-8F6F-8C3127E65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EEF51-8760-FE4D-93C5-382788091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2E7A4-8973-A44A-B420-0E4394A84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484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66369-164D-2349-8376-0CA4FBC74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CEDB06-999E-5448-AC67-258F46283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EA5F-51B9-5C45-92FB-C81D57BCDAD1}" type="datetimeFigureOut">
              <a:rPr lang="en-US" smtClean="0"/>
              <a:t>2/5/20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CE0C86-3299-3E4B-8741-17A5C91EF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DC1128-9418-6340-9FFF-BC4BF40DE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2E7A4-8973-A44A-B420-0E4394A84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657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1D7585-8FEA-FD44-9651-3EA9E500C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EA5F-51B9-5C45-92FB-C81D57BCDAD1}" type="datetimeFigureOut">
              <a:rPr lang="en-US" smtClean="0"/>
              <a:t>2/5/20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479E40-760B-9445-AFC8-B8CFCF0D3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E633C1-844B-F04F-8BFE-B94191F26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2E7A4-8973-A44A-B420-0E4394A84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181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5E6AD-BAF9-E24C-A089-7850A1B24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A70EB-173E-5642-8177-DAC739AAD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8CA80-2B4B-FA4F-BA56-29971847DF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F53244-FC1A-704F-8771-56A325440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EA5F-51B9-5C45-92FB-C81D57BCDAD1}" type="datetimeFigureOut">
              <a:rPr lang="en-US" smtClean="0"/>
              <a:t>2/5/20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EDE7E4-6AC3-0848-A795-4510AA447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33353-0090-A849-AE3E-B74E69BE1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2E7A4-8973-A44A-B420-0E4394A84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80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3623E-29F4-434C-AD84-207BF04EC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A59BFD-9DF3-DA41-BBC9-BA90AED381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4C8380-7A9F-064E-B5E5-7597C8F9F2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06305-77D6-4646-8EF4-4FEBFA9CF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EA5F-51B9-5C45-92FB-C81D57BCDAD1}" type="datetimeFigureOut">
              <a:rPr lang="en-US" smtClean="0"/>
              <a:t>2/5/20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8D7311-E080-A547-9980-9D1E9BF18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5784FB-F9C1-D044-A847-9477E03D6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2E7A4-8973-A44A-B420-0E4394A84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853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21EF6-2D9D-7449-BF97-318683255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CD708F-0823-C84D-B478-D158BAC571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8C867-491F-DB48-BD1E-BE92E01C6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EA5F-51B9-5C45-92FB-C81D57BCDAD1}" type="datetimeFigureOut">
              <a:rPr lang="en-US" smtClean="0"/>
              <a:t>2/5/20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60644-5BB8-BD40-BAD2-E04E33B1F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CEDB3-E0F6-984A-A0DA-A17650D04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2E7A4-8973-A44A-B420-0E4394A84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599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D8EDD9-DD76-9A47-B112-D79B2ADFE0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74D9DF-C64A-1148-8EA9-84CEA7B47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30C2D-331A-4C47-9AE7-6E084C385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EA5F-51B9-5C45-92FB-C81D57BCDAD1}" type="datetimeFigureOut">
              <a:rPr lang="en-US" smtClean="0"/>
              <a:t>2/5/20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BBE80-DF5D-7F47-9885-993B24E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79709-361D-4F46-9D65-2334F92ED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2E7A4-8973-A44A-B420-0E4394A84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06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DCC822-8DF6-7546-A259-972B5B39D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B91D6A-FE2E-1D44-9609-DC2890AA6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5FBB0-03E6-9440-9805-ECB0C437D0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49EA5F-51B9-5C45-92FB-C81D57BCDAD1}" type="datetimeFigureOut">
              <a:rPr lang="en-US" smtClean="0"/>
              <a:t>2/5/20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AE505-F3DD-BA42-B7C9-AFF8BA528A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C43F3-0FC0-EB40-9553-90F3C3ECBA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62E7A4-8973-A44A-B420-0E4394A84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102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7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9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0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1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3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5.png"/><Relationship Id="rId4" Type="http://schemas.openxmlformats.org/officeDocument/2006/relationships/image" Target="../media/image14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6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8.png"/><Relationship Id="rId4" Type="http://schemas.openxmlformats.org/officeDocument/2006/relationships/image" Target="../media/image17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Sk5LS8-h-KQ&amp;list=PLxyOsIbHSrxl-T-5k1ywTpcQC3gvij0Cz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A4130-EA40-7C41-BE32-97FA9DEC9B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Thread and thread synchronization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117C80-58BA-3D40-ADFC-62B1AD54B6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786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FA950-D5B8-AD47-8FC3-02479636D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threads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A923708-FA0B-8F4B-A5E3-A4CB101184F7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0729588"/>
              </p:ext>
            </p:extLst>
          </p:nvPr>
        </p:nvGraphicFramePr>
        <p:xfrm>
          <a:off x="1524000" y="1614488"/>
          <a:ext cx="9144000" cy="477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" name="Document" r:id="rId3" imgW="9144000" imgH="4775200" progId="Word.Document.12">
                  <p:embed/>
                </p:oleObj>
              </mc:Choice>
              <mc:Fallback>
                <p:oleObj name="Document" r:id="rId3" imgW="9144000" imgH="47752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4000" y="1614488"/>
                        <a:ext cx="9144000" cy="477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4257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9A86A-B2F4-DB44-8B4E-A24B4EB85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threads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100A9C-7E56-7D43-ABF1-10C3D6BFDA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2736" y="1825625"/>
            <a:ext cx="1016652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416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5AE4D-0383-A54A-8658-5FFFCB923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ThreadPoolExecutor</a:t>
            </a:r>
            <a:endParaRPr lang="en-US" dirty="0"/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B9FA765A-5A79-2A43-8271-FB76C9959F2D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4212667"/>
              </p:ext>
            </p:extLst>
          </p:nvPr>
        </p:nvGraphicFramePr>
        <p:xfrm>
          <a:off x="1524000" y="1430338"/>
          <a:ext cx="9144000" cy="514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" name="Document" r:id="rId3" imgW="9144000" imgH="5143500" progId="Word.Document.12">
                  <p:embed/>
                </p:oleObj>
              </mc:Choice>
              <mc:Fallback>
                <p:oleObj name="Document" r:id="rId3" imgW="9144000" imgH="5143500" progId="Word.Document.12">
                  <p:embed/>
                  <p:pic>
                    <p:nvPicPr>
                      <p:cNvPr id="4" name="Content Placeholder 3">
                        <a:extLst>
                          <a:ext uri="{FF2B5EF4-FFF2-40B4-BE49-F238E27FC236}">
                            <a16:creationId xmlns:a16="http://schemas.microsoft.com/office/drawing/2014/main" id="{DA923708-FA0B-8F4B-A5E3-A4CB101184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4000" y="1430338"/>
                        <a:ext cx="9144000" cy="5143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6093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DB836-6175-B942-84CB-D47144586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ThreadPoolExecutor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205B88-AA40-BE4D-B23A-F95BDB6508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7210" y="1825625"/>
            <a:ext cx="723757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356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The Lost Update Problem (Race condition)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181600" y="2362200"/>
            <a:ext cx="1397000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8614" name="TextBox 7"/>
          <p:cNvSpPr txBox="1">
            <a:spLocks noChangeArrowheads="1"/>
          </p:cNvSpPr>
          <p:nvPr/>
        </p:nvSpPr>
        <p:spPr bwMode="auto">
          <a:xfrm>
            <a:off x="5105400" y="2362200"/>
            <a:ext cx="1447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/>
              <a:t>50</a:t>
            </a:r>
          </a:p>
        </p:txBody>
      </p:sp>
      <p:sp>
        <p:nvSpPr>
          <p:cNvPr id="68615" name="TextBox 8"/>
          <p:cNvSpPr txBox="1">
            <a:spLocks noChangeArrowheads="1"/>
          </p:cNvSpPr>
          <p:nvPr/>
        </p:nvSpPr>
        <p:spPr bwMode="auto">
          <a:xfrm>
            <a:off x="5232400" y="1981200"/>
            <a:ext cx="1244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/>
              <a:t>ACC: C</a:t>
            </a:r>
          </a:p>
        </p:txBody>
      </p:sp>
      <p:sp>
        <p:nvSpPr>
          <p:cNvPr id="68616" name="TextBox 9"/>
          <p:cNvSpPr txBox="1">
            <a:spLocks noChangeArrowheads="1"/>
          </p:cNvSpPr>
          <p:nvPr/>
        </p:nvSpPr>
        <p:spPr bwMode="auto">
          <a:xfrm>
            <a:off x="1557338" y="3240089"/>
            <a:ext cx="1244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FF0000"/>
                </a:solidFill>
              </a:rPr>
              <a:t>TA</a:t>
            </a:r>
          </a:p>
        </p:txBody>
      </p:sp>
      <p:sp>
        <p:nvSpPr>
          <p:cNvPr id="68617" name="TextBox 10"/>
          <p:cNvSpPr txBox="1">
            <a:spLocks noChangeArrowheads="1"/>
          </p:cNvSpPr>
          <p:nvPr/>
        </p:nvSpPr>
        <p:spPr bwMode="auto">
          <a:xfrm>
            <a:off x="8610600" y="3240089"/>
            <a:ext cx="1244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FF0000"/>
                </a:solidFill>
              </a:rPr>
              <a:t>TB</a:t>
            </a:r>
          </a:p>
        </p:txBody>
      </p:sp>
      <p:cxnSp>
        <p:nvCxnSpPr>
          <p:cNvPr id="15" name="Straight Arrow Connector 14"/>
          <p:cNvCxnSpPr>
            <a:stCxn id="68614" idx="1"/>
          </p:cNvCxnSpPr>
          <p:nvPr/>
        </p:nvCxnSpPr>
        <p:spPr>
          <a:xfrm flipH="1">
            <a:off x="2286000" y="2552700"/>
            <a:ext cx="2819400" cy="11049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2801938" y="2962275"/>
            <a:ext cx="11604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Bl = 50</a:t>
            </a:r>
          </a:p>
        </p:txBody>
      </p:sp>
      <p:cxnSp>
        <p:nvCxnSpPr>
          <p:cNvPr id="17" name="Straight Arrow Connector 16"/>
          <p:cNvCxnSpPr>
            <a:stCxn id="68614" idx="3"/>
          </p:cNvCxnSpPr>
          <p:nvPr/>
        </p:nvCxnSpPr>
        <p:spPr>
          <a:xfrm>
            <a:off x="6553200" y="2552700"/>
            <a:ext cx="2286000" cy="11049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7450138" y="2744789"/>
            <a:ext cx="11604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Bl = 50</a:t>
            </a: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1516062" y="3810000"/>
            <a:ext cx="2179638" cy="369888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Bl = 50 + 100</a:t>
            </a:r>
          </a:p>
        </p:txBody>
      </p:sp>
      <p:sp>
        <p:nvSpPr>
          <p:cNvPr id="22" name="Freeform 21"/>
          <p:cNvSpPr/>
          <p:nvPr/>
        </p:nvSpPr>
        <p:spPr>
          <a:xfrm>
            <a:off x="2222501" y="3024188"/>
            <a:ext cx="3355975" cy="1624012"/>
          </a:xfrm>
          <a:custGeom>
            <a:avLst/>
            <a:gdLst>
              <a:gd name="connsiteX0" fmla="*/ 0 w 3356810"/>
              <a:gd name="connsiteY0" fmla="*/ 1335506 h 1623841"/>
              <a:gd name="connsiteX1" fmla="*/ 1347536 w 3356810"/>
              <a:gd name="connsiteY1" fmla="*/ 1528011 h 1623841"/>
              <a:gd name="connsiteX2" fmla="*/ 3356810 w 3356810"/>
              <a:gd name="connsiteY2" fmla="*/ 0 h 1623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56810" h="1623841">
                <a:moveTo>
                  <a:pt x="0" y="1335506"/>
                </a:moveTo>
                <a:cubicBezTo>
                  <a:pt x="394034" y="1543050"/>
                  <a:pt x="788068" y="1750595"/>
                  <a:pt x="1347536" y="1528011"/>
                </a:cubicBezTo>
                <a:cubicBezTo>
                  <a:pt x="1907004" y="1305427"/>
                  <a:pt x="2631907" y="652713"/>
                  <a:pt x="3356810" y="0"/>
                </a:cubicBezTo>
              </a:path>
            </a:pathLst>
          </a:custGeom>
          <a:noFill/>
          <a:ln>
            <a:headEnd type="diamond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4173538" y="3352800"/>
            <a:ext cx="11604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Bl = 150</a:t>
            </a: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5105400" y="2667000"/>
            <a:ext cx="1447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/>
              <a:t>150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7848600" y="3810000"/>
            <a:ext cx="2179638" cy="369888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Bl = 50 + 50</a:t>
            </a:r>
          </a:p>
        </p:txBody>
      </p:sp>
      <p:sp>
        <p:nvSpPr>
          <p:cNvPr id="27" name="Freeform 26"/>
          <p:cNvSpPr/>
          <p:nvPr/>
        </p:nvSpPr>
        <p:spPr>
          <a:xfrm flipH="1">
            <a:off x="6248401" y="3425825"/>
            <a:ext cx="2879725" cy="1246188"/>
          </a:xfrm>
          <a:custGeom>
            <a:avLst/>
            <a:gdLst>
              <a:gd name="connsiteX0" fmla="*/ 0 w 3356810"/>
              <a:gd name="connsiteY0" fmla="*/ 1335506 h 1623841"/>
              <a:gd name="connsiteX1" fmla="*/ 1347536 w 3356810"/>
              <a:gd name="connsiteY1" fmla="*/ 1528011 h 1623841"/>
              <a:gd name="connsiteX2" fmla="*/ 3356810 w 3356810"/>
              <a:gd name="connsiteY2" fmla="*/ 0 h 1623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56810" h="1623841">
                <a:moveTo>
                  <a:pt x="0" y="1335506"/>
                </a:moveTo>
                <a:cubicBezTo>
                  <a:pt x="394034" y="1543050"/>
                  <a:pt x="788068" y="1750595"/>
                  <a:pt x="1347536" y="1528011"/>
                </a:cubicBezTo>
                <a:cubicBezTo>
                  <a:pt x="1907004" y="1305427"/>
                  <a:pt x="2631907" y="652713"/>
                  <a:pt x="3356810" y="0"/>
                </a:cubicBezTo>
              </a:path>
            </a:pathLst>
          </a:custGeom>
          <a:noFill/>
          <a:ln>
            <a:headEnd type="diamond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5105400" y="3048000"/>
            <a:ext cx="1447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/>
              <a:t>100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6096001" y="3614739"/>
            <a:ext cx="11604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Bl = 100</a:t>
            </a:r>
          </a:p>
        </p:txBody>
      </p:sp>
      <p:cxnSp>
        <p:nvCxnSpPr>
          <p:cNvPr id="32" name="Straight Connector 31"/>
          <p:cNvCxnSpPr/>
          <p:nvPr/>
        </p:nvCxnSpPr>
        <p:spPr>
          <a:xfrm flipH="1">
            <a:off x="5578476" y="2362200"/>
            <a:ext cx="441325" cy="3048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5715000" y="2362200"/>
            <a:ext cx="304800" cy="3048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5562601" y="2743200"/>
            <a:ext cx="441325" cy="3048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5699125" y="2743200"/>
            <a:ext cx="304800" cy="3048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229600" y="1828801"/>
            <a:ext cx="1625600" cy="6461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dirty="0"/>
              <a:t>This update is lost</a:t>
            </a:r>
          </a:p>
        </p:txBody>
      </p:sp>
      <p:cxnSp>
        <p:nvCxnSpPr>
          <p:cNvPr id="39" name="Straight Arrow Connector 38"/>
          <p:cNvCxnSpPr>
            <a:stCxn id="37" idx="1"/>
          </p:cNvCxnSpPr>
          <p:nvPr/>
        </p:nvCxnSpPr>
        <p:spPr>
          <a:xfrm flipH="1">
            <a:off x="6003926" y="2152650"/>
            <a:ext cx="2225675" cy="70485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1981200" y="5257801"/>
            <a:ext cx="7696200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lvl="1" eaLnBrk="1" hangingPunct="1">
              <a:lnSpc>
                <a:spcPct val="80000"/>
              </a:lnSpc>
            </a:pPr>
            <a:endParaRPr lang="en-US" sz="1800" dirty="0"/>
          </a:p>
          <a:p>
            <a:pPr lvl="1" eaLnBrk="1" hangingPunct="1">
              <a:lnSpc>
                <a:spcPct val="80000"/>
              </a:lnSpc>
            </a:pPr>
            <a:r>
              <a:rPr lang="en-US" sz="1800" dirty="0"/>
              <a:t>The net effect of the two transactions should be adding 150 to the balance of account C. But it turns out to be adding only 50.</a:t>
            </a:r>
          </a:p>
          <a:p>
            <a:pPr eaLnBrk="1" hangingPunct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65163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21" grpId="0" animBg="1"/>
      <p:bldP spid="23" grpId="0"/>
      <p:bldP spid="25" grpId="0"/>
      <p:bldP spid="26" grpId="0" animBg="1"/>
      <p:bldP spid="29" grpId="0"/>
      <p:bldP spid="30" grpId="0"/>
      <p:bldP spid="37" grpId="0" animBg="1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B3127-4A50-4841-97AF-E8AA778C9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lost update problem (race condition)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D8AC9BE-B933-CF4F-8D67-96BE990862A5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9464173"/>
              </p:ext>
            </p:extLst>
          </p:nvPr>
        </p:nvGraphicFramePr>
        <p:xfrm>
          <a:off x="1524000" y="1614488"/>
          <a:ext cx="9144000" cy="477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2" name="Document" r:id="rId3" imgW="9144000" imgH="4775200" progId="Word.Document.12">
                  <p:embed/>
                </p:oleObj>
              </mc:Choice>
              <mc:Fallback>
                <p:oleObj name="Document" r:id="rId3" imgW="9144000" imgH="4775200" progId="Word.Document.12">
                  <p:embed/>
                  <p:pic>
                    <p:nvPicPr>
                      <p:cNvPr id="8" name="Content Placeholder 3">
                        <a:extLst>
                          <a:ext uri="{FF2B5EF4-FFF2-40B4-BE49-F238E27FC236}">
                            <a16:creationId xmlns:a16="http://schemas.microsoft.com/office/drawing/2014/main" id="{B9FA765A-5A79-2A43-8271-FB76C9959F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4000" y="1614488"/>
                        <a:ext cx="9144000" cy="477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32621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A37BB-31EA-E242-92B0-9D39A82E7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lost update problem (race condition)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3735EF-2297-5A42-A7B4-3EA5352E12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235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920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Preventing lost update!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181600" y="2362200"/>
            <a:ext cx="1397000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8854" name="TextBox 7"/>
          <p:cNvSpPr txBox="1">
            <a:spLocks noChangeArrowheads="1"/>
          </p:cNvSpPr>
          <p:nvPr/>
        </p:nvSpPr>
        <p:spPr bwMode="auto">
          <a:xfrm>
            <a:off x="5105400" y="2362200"/>
            <a:ext cx="1447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/>
              <a:t>50</a:t>
            </a:r>
          </a:p>
        </p:txBody>
      </p:sp>
      <p:sp>
        <p:nvSpPr>
          <p:cNvPr id="78855" name="TextBox 8"/>
          <p:cNvSpPr txBox="1">
            <a:spLocks noChangeArrowheads="1"/>
          </p:cNvSpPr>
          <p:nvPr/>
        </p:nvSpPr>
        <p:spPr bwMode="auto">
          <a:xfrm>
            <a:off x="5232400" y="1981200"/>
            <a:ext cx="1244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ACC:1234</a:t>
            </a:r>
          </a:p>
        </p:txBody>
      </p:sp>
      <p:sp>
        <p:nvSpPr>
          <p:cNvPr id="78856" name="TextBox 9"/>
          <p:cNvSpPr txBox="1">
            <a:spLocks noChangeArrowheads="1"/>
          </p:cNvSpPr>
          <p:nvPr/>
        </p:nvSpPr>
        <p:spPr bwMode="auto">
          <a:xfrm>
            <a:off x="1557338" y="3240089"/>
            <a:ext cx="1244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FF0000"/>
                </a:solidFill>
              </a:rPr>
              <a:t>TA</a:t>
            </a:r>
          </a:p>
        </p:txBody>
      </p:sp>
      <p:sp>
        <p:nvSpPr>
          <p:cNvPr id="12" name="Freeform 11"/>
          <p:cNvSpPr/>
          <p:nvPr/>
        </p:nvSpPr>
        <p:spPr>
          <a:xfrm>
            <a:off x="1836738" y="1852613"/>
            <a:ext cx="3008312" cy="1250950"/>
          </a:xfrm>
          <a:custGeom>
            <a:avLst/>
            <a:gdLst>
              <a:gd name="connsiteX0" fmla="*/ 0 w 3007895"/>
              <a:gd name="connsiteY0" fmla="*/ 1252280 h 1252280"/>
              <a:gd name="connsiteX1" fmla="*/ 1227221 w 3007895"/>
              <a:gd name="connsiteY1" fmla="*/ 121312 h 1252280"/>
              <a:gd name="connsiteX2" fmla="*/ 3007895 w 3007895"/>
              <a:gd name="connsiteY2" fmla="*/ 85217 h 1252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07895" h="1252280">
                <a:moveTo>
                  <a:pt x="0" y="1252280"/>
                </a:moveTo>
                <a:cubicBezTo>
                  <a:pt x="362952" y="784051"/>
                  <a:pt x="725905" y="315822"/>
                  <a:pt x="1227221" y="121312"/>
                </a:cubicBezTo>
                <a:cubicBezTo>
                  <a:pt x="1728537" y="-73199"/>
                  <a:pt x="2368216" y="6009"/>
                  <a:pt x="3007895" y="85217"/>
                </a:cubicBezTo>
              </a:path>
            </a:pathLst>
          </a:custGeom>
          <a:noFill/>
          <a:ln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2362200" y="1638301"/>
            <a:ext cx="152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solidFill>
                  <a:srgbClr val="FF0000"/>
                </a:solidFill>
              </a:rPr>
              <a:t>L(Bl)</a:t>
            </a:r>
          </a:p>
        </p:txBody>
      </p: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4876800" y="1611314"/>
            <a:ext cx="914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solidFill>
                  <a:srgbClr val="FF0000"/>
                </a:solidFill>
              </a:rPr>
              <a:t>La(Bl)</a:t>
            </a:r>
          </a:p>
        </p:txBody>
      </p:sp>
      <p:cxnSp>
        <p:nvCxnSpPr>
          <p:cNvPr id="59" name="Straight Arrow Connector 58"/>
          <p:cNvCxnSpPr/>
          <p:nvPr/>
        </p:nvCxnSpPr>
        <p:spPr>
          <a:xfrm flipH="1">
            <a:off x="2286000" y="2552700"/>
            <a:ext cx="2819400" cy="11049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2801938" y="2962275"/>
            <a:ext cx="11604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Bl = 50</a:t>
            </a:r>
          </a:p>
        </p:txBody>
      </p:sp>
      <p:sp>
        <p:nvSpPr>
          <p:cNvPr id="61" name="Freeform 60"/>
          <p:cNvSpPr/>
          <p:nvPr/>
        </p:nvSpPr>
        <p:spPr>
          <a:xfrm flipH="1">
            <a:off x="6477000" y="1828800"/>
            <a:ext cx="2903538" cy="1252538"/>
          </a:xfrm>
          <a:custGeom>
            <a:avLst/>
            <a:gdLst>
              <a:gd name="connsiteX0" fmla="*/ 0 w 3007895"/>
              <a:gd name="connsiteY0" fmla="*/ 1252280 h 1252280"/>
              <a:gd name="connsiteX1" fmla="*/ 1227221 w 3007895"/>
              <a:gd name="connsiteY1" fmla="*/ 121312 h 1252280"/>
              <a:gd name="connsiteX2" fmla="*/ 3007895 w 3007895"/>
              <a:gd name="connsiteY2" fmla="*/ 85217 h 1252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07895" h="1252280">
                <a:moveTo>
                  <a:pt x="0" y="1252280"/>
                </a:moveTo>
                <a:cubicBezTo>
                  <a:pt x="362952" y="784051"/>
                  <a:pt x="725905" y="315822"/>
                  <a:pt x="1227221" y="121312"/>
                </a:cubicBezTo>
                <a:cubicBezTo>
                  <a:pt x="1728537" y="-73199"/>
                  <a:pt x="2368216" y="6009"/>
                  <a:pt x="3007895" y="85217"/>
                </a:cubicBezTo>
              </a:path>
            </a:pathLst>
          </a:custGeom>
          <a:noFill/>
          <a:ln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3" name="TextBox 62"/>
          <p:cNvSpPr txBox="1">
            <a:spLocks noChangeArrowheads="1"/>
          </p:cNvSpPr>
          <p:nvPr/>
        </p:nvSpPr>
        <p:spPr bwMode="auto">
          <a:xfrm>
            <a:off x="7831138" y="1638301"/>
            <a:ext cx="152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solidFill>
                  <a:srgbClr val="FF0000"/>
                </a:solidFill>
              </a:rPr>
              <a:t>L(Bl)</a:t>
            </a:r>
          </a:p>
        </p:txBody>
      </p:sp>
      <p:cxnSp>
        <p:nvCxnSpPr>
          <p:cNvPr id="64" name="Straight Arrow Connector 63"/>
          <p:cNvCxnSpPr/>
          <p:nvPr/>
        </p:nvCxnSpPr>
        <p:spPr>
          <a:xfrm>
            <a:off x="5610226" y="1781175"/>
            <a:ext cx="866775" cy="1412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5" name="TextBox 64"/>
          <p:cNvSpPr txBox="1">
            <a:spLocks noChangeArrowheads="1"/>
          </p:cNvSpPr>
          <p:nvPr/>
        </p:nvSpPr>
        <p:spPr bwMode="auto">
          <a:xfrm>
            <a:off x="6007101" y="1419225"/>
            <a:ext cx="11604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solidFill>
                  <a:srgbClr val="FF0000"/>
                </a:solidFill>
              </a:rPr>
              <a:t>Wait!</a:t>
            </a:r>
          </a:p>
        </p:txBody>
      </p:sp>
      <p:sp>
        <p:nvSpPr>
          <p:cNvPr id="66" name="Freeform 65"/>
          <p:cNvSpPr/>
          <p:nvPr/>
        </p:nvSpPr>
        <p:spPr>
          <a:xfrm>
            <a:off x="2222501" y="3024188"/>
            <a:ext cx="3355975" cy="1624012"/>
          </a:xfrm>
          <a:custGeom>
            <a:avLst/>
            <a:gdLst>
              <a:gd name="connsiteX0" fmla="*/ 0 w 3356810"/>
              <a:gd name="connsiteY0" fmla="*/ 1335506 h 1623841"/>
              <a:gd name="connsiteX1" fmla="*/ 1347536 w 3356810"/>
              <a:gd name="connsiteY1" fmla="*/ 1528011 h 1623841"/>
              <a:gd name="connsiteX2" fmla="*/ 3356810 w 3356810"/>
              <a:gd name="connsiteY2" fmla="*/ 0 h 1623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56810" h="1623841">
                <a:moveTo>
                  <a:pt x="0" y="1335506"/>
                </a:moveTo>
                <a:cubicBezTo>
                  <a:pt x="394034" y="1543050"/>
                  <a:pt x="788068" y="1750595"/>
                  <a:pt x="1347536" y="1528011"/>
                </a:cubicBezTo>
                <a:cubicBezTo>
                  <a:pt x="1907004" y="1305427"/>
                  <a:pt x="2631907" y="652713"/>
                  <a:pt x="3356810" y="0"/>
                </a:cubicBezTo>
              </a:path>
            </a:pathLst>
          </a:custGeom>
          <a:noFill/>
          <a:ln>
            <a:headEnd type="diamond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7" name="TextBox 66"/>
          <p:cNvSpPr txBox="1">
            <a:spLocks noChangeArrowheads="1"/>
          </p:cNvSpPr>
          <p:nvPr/>
        </p:nvSpPr>
        <p:spPr bwMode="auto">
          <a:xfrm>
            <a:off x="5105400" y="2667000"/>
            <a:ext cx="1447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/>
              <a:t>150</a:t>
            </a:r>
          </a:p>
        </p:txBody>
      </p:sp>
      <p:cxnSp>
        <p:nvCxnSpPr>
          <p:cNvPr id="68" name="Straight Connector 67"/>
          <p:cNvCxnSpPr/>
          <p:nvPr/>
        </p:nvCxnSpPr>
        <p:spPr>
          <a:xfrm flipH="1">
            <a:off x="5578476" y="2362200"/>
            <a:ext cx="441325" cy="3048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5715000" y="2362200"/>
            <a:ext cx="304800" cy="3048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>
            <a:spLocks noChangeArrowheads="1"/>
          </p:cNvSpPr>
          <p:nvPr/>
        </p:nvSpPr>
        <p:spPr bwMode="auto">
          <a:xfrm>
            <a:off x="3340101" y="4495800"/>
            <a:ext cx="11604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Bl=150</a:t>
            </a:r>
          </a:p>
        </p:txBody>
      </p:sp>
      <p:sp>
        <p:nvSpPr>
          <p:cNvPr id="71" name="TextBox 70"/>
          <p:cNvSpPr txBox="1">
            <a:spLocks noChangeArrowheads="1"/>
          </p:cNvSpPr>
          <p:nvPr/>
        </p:nvSpPr>
        <p:spPr bwMode="auto">
          <a:xfrm>
            <a:off x="1516062" y="3810000"/>
            <a:ext cx="2179638" cy="369888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Bl = 50 + 100</a:t>
            </a:r>
          </a:p>
        </p:txBody>
      </p:sp>
      <p:sp>
        <p:nvSpPr>
          <p:cNvPr id="78872" name="TextBox 71"/>
          <p:cNvSpPr txBox="1">
            <a:spLocks noChangeArrowheads="1"/>
          </p:cNvSpPr>
          <p:nvPr/>
        </p:nvSpPr>
        <p:spPr bwMode="auto">
          <a:xfrm>
            <a:off x="9448800" y="3240089"/>
            <a:ext cx="1244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FF0000"/>
                </a:solidFill>
              </a:rPr>
              <a:t>TB</a:t>
            </a:r>
          </a:p>
        </p:txBody>
      </p:sp>
      <p:cxnSp>
        <p:nvCxnSpPr>
          <p:cNvPr id="73" name="Straight Arrow Connector 72"/>
          <p:cNvCxnSpPr/>
          <p:nvPr/>
        </p:nvCxnSpPr>
        <p:spPr>
          <a:xfrm flipV="1">
            <a:off x="2286000" y="1905001"/>
            <a:ext cx="2895600" cy="152082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4" name="TextBox 73"/>
          <p:cNvSpPr txBox="1">
            <a:spLocks noChangeArrowheads="1"/>
          </p:cNvSpPr>
          <p:nvPr/>
        </p:nvSpPr>
        <p:spPr bwMode="auto">
          <a:xfrm>
            <a:off x="3200401" y="2311400"/>
            <a:ext cx="1355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dirty="0">
                <a:solidFill>
                  <a:srgbClr val="FF0000"/>
                </a:solidFill>
              </a:rPr>
              <a:t>Release Bl</a:t>
            </a:r>
          </a:p>
        </p:txBody>
      </p:sp>
    </p:spTree>
    <p:extLst>
      <p:ext uri="{BB962C8B-B14F-4D97-AF65-F5344CB8AC3E}">
        <p14:creationId xmlns:p14="http://schemas.microsoft.com/office/powerpoint/2010/main" val="522223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6" grpId="0"/>
      <p:bldP spid="60" grpId="0"/>
      <p:bldP spid="63" grpId="0"/>
      <p:bldP spid="65" grpId="0"/>
      <p:bldP spid="67" grpId="0"/>
      <p:bldP spid="70" grpId="0"/>
      <p:bldP spid="71" grpId="0" animBg="1"/>
      <p:bldP spid="7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Preventing lost update!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181600" y="2362200"/>
            <a:ext cx="1397000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9878" name="TextBox 7"/>
          <p:cNvSpPr txBox="1">
            <a:spLocks noChangeArrowheads="1"/>
          </p:cNvSpPr>
          <p:nvPr/>
        </p:nvSpPr>
        <p:spPr bwMode="auto">
          <a:xfrm>
            <a:off x="5105400" y="2362200"/>
            <a:ext cx="1447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/>
              <a:t>50</a:t>
            </a:r>
          </a:p>
        </p:txBody>
      </p:sp>
      <p:sp>
        <p:nvSpPr>
          <p:cNvPr id="79879" name="TextBox 8"/>
          <p:cNvSpPr txBox="1">
            <a:spLocks noChangeArrowheads="1"/>
          </p:cNvSpPr>
          <p:nvPr/>
        </p:nvSpPr>
        <p:spPr bwMode="auto">
          <a:xfrm>
            <a:off x="5232400" y="1981200"/>
            <a:ext cx="1244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ACC:1234</a:t>
            </a:r>
          </a:p>
        </p:txBody>
      </p:sp>
      <p:sp>
        <p:nvSpPr>
          <p:cNvPr id="79880" name="TextBox 9"/>
          <p:cNvSpPr txBox="1">
            <a:spLocks noChangeArrowheads="1"/>
          </p:cNvSpPr>
          <p:nvPr/>
        </p:nvSpPr>
        <p:spPr bwMode="auto">
          <a:xfrm>
            <a:off x="1557338" y="3240089"/>
            <a:ext cx="1244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solidFill>
                  <a:srgbClr val="FF0000"/>
                </a:solidFill>
              </a:rPr>
              <a:t>TA</a:t>
            </a:r>
          </a:p>
        </p:txBody>
      </p:sp>
      <p:sp>
        <p:nvSpPr>
          <p:cNvPr id="12" name="Freeform 11"/>
          <p:cNvSpPr/>
          <p:nvPr/>
        </p:nvSpPr>
        <p:spPr>
          <a:xfrm>
            <a:off x="1836738" y="1852613"/>
            <a:ext cx="3008312" cy="1250950"/>
          </a:xfrm>
          <a:custGeom>
            <a:avLst/>
            <a:gdLst>
              <a:gd name="connsiteX0" fmla="*/ 0 w 3007895"/>
              <a:gd name="connsiteY0" fmla="*/ 1252280 h 1252280"/>
              <a:gd name="connsiteX1" fmla="*/ 1227221 w 3007895"/>
              <a:gd name="connsiteY1" fmla="*/ 121312 h 1252280"/>
              <a:gd name="connsiteX2" fmla="*/ 3007895 w 3007895"/>
              <a:gd name="connsiteY2" fmla="*/ 85217 h 1252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07895" h="1252280">
                <a:moveTo>
                  <a:pt x="0" y="1252280"/>
                </a:moveTo>
                <a:cubicBezTo>
                  <a:pt x="362952" y="784051"/>
                  <a:pt x="725905" y="315822"/>
                  <a:pt x="1227221" y="121312"/>
                </a:cubicBezTo>
                <a:cubicBezTo>
                  <a:pt x="1728537" y="-73199"/>
                  <a:pt x="2368216" y="6009"/>
                  <a:pt x="3007895" y="85217"/>
                </a:cubicBezTo>
              </a:path>
            </a:pathLst>
          </a:custGeom>
          <a:noFill/>
          <a:ln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9882" name="TextBox 37"/>
          <p:cNvSpPr txBox="1">
            <a:spLocks noChangeArrowheads="1"/>
          </p:cNvSpPr>
          <p:nvPr/>
        </p:nvSpPr>
        <p:spPr bwMode="auto">
          <a:xfrm>
            <a:off x="2362200" y="1638301"/>
            <a:ext cx="152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solidFill>
                  <a:srgbClr val="FF0000"/>
                </a:solidFill>
              </a:rPr>
              <a:t>L(Bl)</a:t>
            </a:r>
          </a:p>
        </p:txBody>
      </p:sp>
      <p:cxnSp>
        <p:nvCxnSpPr>
          <p:cNvPr id="59" name="Straight Arrow Connector 58"/>
          <p:cNvCxnSpPr/>
          <p:nvPr/>
        </p:nvCxnSpPr>
        <p:spPr>
          <a:xfrm flipH="1">
            <a:off x="2286000" y="2552700"/>
            <a:ext cx="2819400" cy="11049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9884" name="TextBox 59"/>
          <p:cNvSpPr txBox="1">
            <a:spLocks noChangeArrowheads="1"/>
          </p:cNvSpPr>
          <p:nvPr/>
        </p:nvSpPr>
        <p:spPr bwMode="auto">
          <a:xfrm>
            <a:off x="2801938" y="2962275"/>
            <a:ext cx="11604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Bl = 50</a:t>
            </a:r>
          </a:p>
        </p:txBody>
      </p:sp>
      <p:sp>
        <p:nvSpPr>
          <p:cNvPr id="61" name="Freeform 60"/>
          <p:cNvSpPr/>
          <p:nvPr/>
        </p:nvSpPr>
        <p:spPr>
          <a:xfrm flipH="1">
            <a:off x="6477000" y="1828800"/>
            <a:ext cx="2903538" cy="1252538"/>
          </a:xfrm>
          <a:custGeom>
            <a:avLst/>
            <a:gdLst>
              <a:gd name="connsiteX0" fmla="*/ 0 w 3007895"/>
              <a:gd name="connsiteY0" fmla="*/ 1252280 h 1252280"/>
              <a:gd name="connsiteX1" fmla="*/ 1227221 w 3007895"/>
              <a:gd name="connsiteY1" fmla="*/ 121312 h 1252280"/>
              <a:gd name="connsiteX2" fmla="*/ 3007895 w 3007895"/>
              <a:gd name="connsiteY2" fmla="*/ 85217 h 1252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07895" h="1252280">
                <a:moveTo>
                  <a:pt x="0" y="1252280"/>
                </a:moveTo>
                <a:cubicBezTo>
                  <a:pt x="362952" y="784051"/>
                  <a:pt x="725905" y="315822"/>
                  <a:pt x="1227221" y="121312"/>
                </a:cubicBezTo>
                <a:cubicBezTo>
                  <a:pt x="1728537" y="-73199"/>
                  <a:pt x="2368216" y="6009"/>
                  <a:pt x="3007895" y="85217"/>
                </a:cubicBezTo>
              </a:path>
            </a:pathLst>
          </a:custGeom>
          <a:noFill/>
          <a:ln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3" name="TextBox 62"/>
          <p:cNvSpPr txBox="1">
            <a:spLocks noChangeArrowheads="1"/>
          </p:cNvSpPr>
          <p:nvPr/>
        </p:nvSpPr>
        <p:spPr bwMode="auto">
          <a:xfrm>
            <a:off x="7831138" y="1638301"/>
            <a:ext cx="152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solidFill>
                  <a:srgbClr val="FF0000"/>
                </a:solidFill>
              </a:rPr>
              <a:t>L(Bl)</a:t>
            </a:r>
          </a:p>
        </p:txBody>
      </p:sp>
      <p:sp>
        <p:nvSpPr>
          <p:cNvPr id="66" name="Freeform 65"/>
          <p:cNvSpPr/>
          <p:nvPr/>
        </p:nvSpPr>
        <p:spPr>
          <a:xfrm>
            <a:off x="2222501" y="3024188"/>
            <a:ext cx="3355975" cy="1624012"/>
          </a:xfrm>
          <a:custGeom>
            <a:avLst/>
            <a:gdLst>
              <a:gd name="connsiteX0" fmla="*/ 0 w 3356810"/>
              <a:gd name="connsiteY0" fmla="*/ 1335506 h 1623841"/>
              <a:gd name="connsiteX1" fmla="*/ 1347536 w 3356810"/>
              <a:gd name="connsiteY1" fmla="*/ 1528011 h 1623841"/>
              <a:gd name="connsiteX2" fmla="*/ 3356810 w 3356810"/>
              <a:gd name="connsiteY2" fmla="*/ 0 h 1623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56810" h="1623841">
                <a:moveTo>
                  <a:pt x="0" y="1335506"/>
                </a:moveTo>
                <a:cubicBezTo>
                  <a:pt x="394034" y="1543050"/>
                  <a:pt x="788068" y="1750595"/>
                  <a:pt x="1347536" y="1528011"/>
                </a:cubicBezTo>
                <a:cubicBezTo>
                  <a:pt x="1907004" y="1305427"/>
                  <a:pt x="2631907" y="652713"/>
                  <a:pt x="3356810" y="0"/>
                </a:cubicBezTo>
              </a:path>
            </a:pathLst>
          </a:custGeom>
          <a:noFill/>
          <a:ln>
            <a:headEnd type="diamond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9888" name="TextBox 66"/>
          <p:cNvSpPr txBox="1">
            <a:spLocks noChangeArrowheads="1"/>
          </p:cNvSpPr>
          <p:nvPr/>
        </p:nvSpPr>
        <p:spPr bwMode="auto">
          <a:xfrm>
            <a:off x="5105400" y="2667000"/>
            <a:ext cx="1447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/>
              <a:t>150</a:t>
            </a:r>
          </a:p>
        </p:txBody>
      </p:sp>
      <p:cxnSp>
        <p:nvCxnSpPr>
          <p:cNvPr id="68" name="Straight Connector 67"/>
          <p:cNvCxnSpPr/>
          <p:nvPr/>
        </p:nvCxnSpPr>
        <p:spPr>
          <a:xfrm flipH="1">
            <a:off x="5578476" y="2362200"/>
            <a:ext cx="441325" cy="3048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5715000" y="2362200"/>
            <a:ext cx="304800" cy="3048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891" name="TextBox 69"/>
          <p:cNvSpPr txBox="1">
            <a:spLocks noChangeArrowheads="1"/>
          </p:cNvSpPr>
          <p:nvPr/>
        </p:nvSpPr>
        <p:spPr bwMode="auto">
          <a:xfrm>
            <a:off x="3340101" y="4495800"/>
            <a:ext cx="11604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Bl=150</a:t>
            </a:r>
          </a:p>
        </p:txBody>
      </p:sp>
      <p:sp>
        <p:nvSpPr>
          <p:cNvPr id="79892" name="TextBox 70"/>
          <p:cNvSpPr txBox="1">
            <a:spLocks noChangeArrowheads="1"/>
          </p:cNvSpPr>
          <p:nvPr/>
        </p:nvSpPr>
        <p:spPr bwMode="auto">
          <a:xfrm>
            <a:off x="1516062" y="3810000"/>
            <a:ext cx="2179638" cy="369888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Bl = 50 + 100</a:t>
            </a:r>
          </a:p>
        </p:txBody>
      </p:sp>
      <p:sp>
        <p:nvSpPr>
          <p:cNvPr id="79893" name="TextBox 71"/>
          <p:cNvSpPr txBox="1">
            <a:spLocks noChangeArrowheads="1"/>
          </p:cNvSpPr>
          <p:nvPr/>
        </p:nvSpPr>
        <p:spPr bwMode="auto">
          <a:xfrm>
            <a:off x="9448800" y="3240089"/>
            <a:ext cx="1244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FF0000"/>
                </a:solidFill>
              </a:rPr>
              <a:t>TB</a:t>
            </a:r>
          </a:p>
        </p:txBody>
      </p:sp>
      <p:cxnSp>
        <p:nvCxnSpPr>
          <p:cNvPr id="73" name="Straight Arrow Connector 72"/>
          <p:cNvCxnSpPr/>
          <p:nvPr/>
        </p:nvCxnSpPr>
        <p:spPr>
          <a:xfrm flipV="1">
            <a:off x="2286000" y="1905001"/>
            <a:ext cx="2895600" cy="152082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5867400" y="1611314"/>
            <a:ext cx="914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 err="1">
                <a:solidFill>
                  <a:srgbClr val="FF0000"/>
                </a:solidFill>
              </a:rPr>
              <a:t>Lb</a:t>
            </a:r>
            <a:r>
              <a:rPr lang="en-US" sz="1800" dirty="0">
                <a:solidFill>
                  <a:srgbClr val="FF0000"/>
                </a:solidFill>
              </a:rPr>
              <a:t>(Bl)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6553200" y="2552700"/>
            <a:ext cx="2286000" cy="11049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7450138" y="2744789"/>
            <a:ext cx="11604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Bl = 150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7848600" y="3810000"/>
            <a:ext cx="2179638" cy="369888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Bl = 150 + 50</a:t>
            </a:r>
          </a:p>
        </p:txBody>
      </p:sp>
      <p:sp>
        <p:nvSpPr>
          <p:cNvPr id="79899" name="TextBox 31"/>
          <p:cNvSpPr txBox="1">
            <a:spLocks noChangeArrowheads="1"/>
          </p:cNvSpPr>
          <p:nvPr/>
        </p:nvSpPr>
        <p:spPr bwMode="auto">
          <a:xfrm>
            <a:off x="3200401" y="2311400"/>
            <a:ext cx="1355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dirty="0">
                <a:solidFill>
                  <a:srgbClr val="FF0000"/>
                </a:solidFill>
              </a:rPr>
              <a:t>Release Bl</a:t>
            </a:r>
          </a:p>
        </p:txBody>
      </p:sp>
      <p:sp>
        <p:nvSpPr>
          <p:cNvPr id="33" name="Freeform 32"/>
          <p:cNvSpPr/>
          <p:nvPr/>
        </p:nvSpPr>
        <p:spPr>
          <a:xfrm flipH="1">
            <a:off x="6248401" y="3425825"/>
            <a:ext cx="2879725" cy="1246188"/>
          </a:xfrm>
          <a:custGeom>
            <a:avLst/>
            <a:gdLst>
              <a:gd name="connsiteX0" fmla="*/ 0 w 3356810"/>
              <a:gd name="connsiteY0" fmla="*/ 1335506 h 1623841"/>
              <a:gd name="connsiteX1" fmla="*/ 1347536 w 3356810"/>
              <a:gd name="connsiteY1" fmla="*/ 1528011 h 1623841"/>
              <a:gd name="connsiteX2" fmla="*/ 3356810 w 3356810"/>
              <a:gd name="connsiteY2" fmla="*/ 0 h 1623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56810" h="1623841">
                <a:moveTo>
                  <a:pt x="0" y="1335506"/>
                </a:moveTo>
                <a:cubicBezTo>
                  <a:pt x="394034" y="1543050"/>
                  <a:pt x="788068" y="1750595"/>
                  <a:pt x="1347536" y="1528011"/>
                </a:cubicBezTo>
                <a:cubicBezTo>
                  <a:pt x="1907004" y="1305427"/>
                  <a:pt x="2631907" y="652713"/>
                  <a:pt x="3356810" y="0"/>
                </a:cubicBezTo>
              </a:path>
            </a:pathLst>
          </a:custGeom>
          <a:noFill/>
          <a:ln>
            <a:headEnd type="diamond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6946901" y="4087814"/>
            <a:ext cx="11588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Bl = 200</a:t>
            </a: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5105400" y="3048000"/>
            <a:ext cx="1447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/>
              <a:t>200</a:t>
            </a:r>
          </a:p>
        </p:txBody>
      </p:sp>
      <p:cxnSp>
        <p:nvCxnSpPr>
          <p:cNvPr id="36" name="Straight Connector 35"/>
          <p:cNvCxnSpPr/>
          <p:nvPr/>
        </p:nvCxnSpPr>
        <p:spPr>
          <a:xfrm flipH="1">
            <a:off x="5562601" y="2743200"/>
            <a:ext cx="441325" cy="3048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5699125" y="2743200"/>
            <a:ext cx="304800" cy="3048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 flipV="1">
            <a:off x="6337300" y="1981201"/>
            <a:ext cx="2654300" cy="144462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6797676" y="2133600"/>
            <a:ext cx="1355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dirty="0">
                <a:solidFill>
                  <a:srgbClr val="FF0000"/>
                </a:solidFill>
              </a:rPr>
              <a:t>Release Bl</a:t>
            </a:r>
          </a:p>
        </p:txBody>
      </p:sp>
    </p:spTree>
    <p:extLst>
      <p:ext uri="{BB962C8B-B14F-4D97-AF65-F5344CB8AC3E}">
        <p14:creationId xmlns:p14="http://schemas.microsoft.com/office/powerpoint/2010/main" val="3267155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28" grpId="0"/>
      <p:bldP spid="30" grpId="0"/>
      <p:bldP spid="31" grpId="0" animBg="1"/>
      <p:bldP spid="34" grpId="0"/>
      <p:bldP spid="35" grpId="0"/>
      <p:bldP spid="4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Preventing lost update!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181600" y="2362200"/>
            <a:ext cx="1397000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02" name="TextBox 7"/>
          <p:cNvSpPr txBox="1">
            <a:spLocks noChangeArrowheads="1"/>
          </p:cNvSpPr>
          <p:nvPr/>
        </p:nvSpPr>
        <p:spPr bwMode="auto">
          <a:xfrm>
            <a:off x="5105400" y="2362200"/>
            <a:ext cx="1447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/>
              <a:t>50</a:t>
            </a:r>
          </a:p>
        </p:txBody>
      </p:sp>
      <p:sp>
        <p:nvSpPr>
          <p:cNvPr id="80903" name="TextBox 8"/>
          <p:cNvSpPr txBox="1">
            <a:spLocks noChangeArrowheads="1"/>
          </p:cNvSpPr>
          <p:nvPr/>
        </p:nvSpPr>
        <p:spPr bwMode="auto">
          <a:xfrm>
            <a:off x="5232400" y="1981200"/>
            <a:ext cx="1244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ACC:1234</a:t>
            </a:r>
          </a:p>
        </p:txBody>
      </p:sp>
      <p:sp>
        <p:nvSpPr>
          <p:cNvPr id="80904" name="TextBox 9"/>
          <p:cNvSpPr txBox="1">
            <a:spLocks noChangeArrowheads="1"/>
          </p:cNvSpPr>
          <p:nvPr/>
        </p:nvSpPr>
        <p:spPr bwMode="auto">
          <a:xfrm>
            <a:off x="1557338" y="3240089"/>
            <a:ext cx="1244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solidFill>
                  <a:srgbClr val="FF0000"/>
                </a:solidFill>
              </a:rPr>
              <a:t>TA</a:t>
            </a:r>
          </a:p>
        </p:txBody>
      </p:sp>
      <p:sp>
        <p:nvSpPr>
          <p:cNvPr id="12" name="Freeform 11"/>
          <p:cNvSpPr/>
          <p:nvPr/>
        </p:nvSpPr>
        <p:spPr>
          <a:xfrm>
            <a:off x="1836738" y="1852613"/>
            <a:ext cx="3008312" cy="1250950"/>
          </a:xfrm>
          <a:custGeom>
            <a:avLst/>
            <a:gdLst>
              <a:gd name="connsiteX0" fmla="*/ 0 w 3007895"/>
              <a:gd name="connsiteY0" fmla="*/ 1252280 h 1252280"/>
              <a:gd name="connsiteX1" fmla="*/ 1227221 w 3007895"/>
              <a:gd name="connsiteY1" fmla="*/ 121312 h 1252280"/>
              <a:gd name="connsiteX2" fmla="*/ 3007895 w 3007895"/>
              <a:gd name="connsiteY2" fmla="*/ 85217 h 1252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07895" h="1252280">
                <a:moveTo>
                  <a:pt x="0" y="1252280"/>
                </a:moveTo>
                <a:cubicBezTo>
                  <a:pt x="362952" y="784051"/>
                  <a:pt x="725905" y="315822"/>
                  <a:pt x="1227221" y="121312"/>
                </a:cubicBezTo>
                <a:cubicBezTo>
                  <a:pt x="1728537" y="-73199"/>
                  <a:pt x="2368216" y="6009"/>
                  <a:pt x="3007895" y="85217"/>
                </a:cubicBezTo>
              </a:path>
            </a:pathLst>
          </a:custGeom>
          <a:noFill/>
          <a:ln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06" name="TextBox 37"/>
          <p:cNvSpPr txBox="1">
            <a:spLocks noChangeArrowheads="1"/>
          </p:cNvSpPr>
          <p:nvPr/>
        </p:nvSpPr>
        <p:spPr bwMode="auto">
          <a:xfrm>
            <a:off x="2362200" y="1638301"/>
            <a:ext cx="152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solidFill>
                  <a:srgbClr val="FF0000"/>
                </a:solidFill>
              </a:rPr>
              <a:t>L(Bl)</a:t>
            </a:r>
          </a:p>
        </p:txBody>
      </p:sp>
      <p:cxnSp>
        <p:nvCxnSpPr>
          <p:cNvPr id="59" name="Straight Arrow Connector 58"/>
          <p:cNvCxnSpPr/>
          <p:nvPr/>
        </p:nvCxnSpPr>
        <p:spPr>
          <a:xfrm flipH="1">
            <a:off x="2286000" y="2552700"/>
            <a:ext cx="2819400" cy="11049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0908" name="TextBox 59"/>
          <p:cNvSpPr txBox="1">
            <a:spLocks noChangeArrowheads="1"/>
          </p:cNvSpPr>
          <p:nvPr/>
        </p:nvSpPr>
        <p:spPr bwMode="auto">
          <a:xfrm>
            <a:off x="2801938" y="2962275"/>
            <a:ext cx="11604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Bl = 50</a:t>
            </a:r>
          </a:p>
        </p:txBody>
      </p:sp>
      <p:sp>
        <p:nvSpPr>
          <p:cNvPr id="61" name="Freeform 60"/>
          <p:cNvSpPr/>
          <p:nvPr/>
        </p:nvSpPr>
        <p:spPr>
          <a:xfrm flipH="1">
            <a:off x="6477000" y="1828800"/>
            <a:ext cx="2903538" cy="1252538"/>
          </a:xfrm>
          <a:custGeom>
            <a:avLst/>
            <a:gdLst>
              <a:gd name="connsiteX0" fmla="*/ 0 w 3007895"/>
              <a:gd name="connsiteY0" fmla="*/ 1252280 h 1252280"/>
              <a:gd name="connsiteX1" fmla="*/ 1227221 w 3007895"/>
              <a:gd name="connsiteY1" fmla="*/ 121312 h 1252280"/>
              <a:gd name="connsiteX2" fmla="*/ 3007895 w 3007895"/>
              <a:gd name="connsiteY2" fmla="*/ 85217 h 1252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07895" h="1252280">
                <a:moveTo>
                  <a:pt x="0" y="1252280"/>
                </a:moveTo>
                <a:cubicBezTo>
                  <a:pt x="362952" y="784051"/>
                  <a:pt x="725905" y="315822"/>
                  <a:pt x="1227221" y="121312"/>
                </a:cubicBezTo>
                <a:cubicBezTo>
                  <a:pt x="1728537" y="-73199"/>
                  <a:pt x="2368216" y="6009"/>
                  <a:pt x="3007895" y="85217"/>
                </a:cubicBezTo>
              </a:path>
            </a:pathLst>
          </a:custGeom>
          <a:noFill/>
          <a:ln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10" name="TextBox 62"/>
          <p:cNvSpPr txBox="1">
            <a:spLocks noChangeArrowheads="1"/>
          </p:cNvSpPr>
          <p:nvPr/>
        </p:nvSpPr>
        <p:spPr bwMode="auto">
          <a:xfrm>
            <a:off x="7831138" y="1638301"/>
            <a:ext cx="152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solidFill>
                  <a:srgbClr val="FF0000"/>
                </a:solidFill>
              </a:rPr>
              <a:t>L(Bl)</a:t>
            </a:r>
          </a:p>
        </p:txBody>
      </p:sp>
      <p:sp>
        <p:nvSpPr>
          <p:cNvPr id="66" name="Freeform 65"/>
          <p:cNvSpPr/>
          <p:nvPr/>
        </p:nvSpPr>
        <p:spPr>
          <a:xfrm>
            <a:off x="2222501" y="3024188"/>
            <a:ext cx="3355975" cy="1624012"/>
          </a:xfrm>
          <a:custGeom>
            <a:avLst/>
            <a:gdLst>
              <a:gd name="connsiteX0" fmla="*/ 0 w 3356810"/>
              <a:gd name="connsiteY0" fmla="*/ 1335506 h 1623841"/>
              <a:gd name="connsiteX1" fmla="*/ 1347536 w 3356810"/>
              <a:gd name="connsiteY1" fmla="*/ 1528011 h 1623841"/>
              <a:gd name="connsiteX2" fmla="*/ 3356810 w 3356810"/>
              <a:gd name="connsiteY2" fmla="*/ 0 h 1623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56810" h="1623841">
                <a:moveTo>
                  <a:pt x="0" y="1335506"/>
                </a:moveTo>
                <a:cubicBezTo>
                  <a:pt x="394034" y="1543050"/>
                  <a:pt x="788068" y="1750595"/>
                  <a:pt x="1347536" y="1528011"/>
                </a:cubicBezTo>
                <a:cubicBezTo>
                  <a:pt x="1907004" y="1305427"/>
                  <a:pt x="2631907" y="652713"/>
                  <a:pt x="3356810" y="0"/>
                </a:cubicBezTo>
              </a:path>
            </a:pathLst>
          </a:custGeom>
          <a:noFill/>
          <a:ln>
            <a:headEnd type="diamond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12" name="TextBox 66"/>
          <p:cNvSpPr txBox="1">
            <a:spLocks noChangeArrowheads="1"/>
          </p:cNvSpPr>
          <p:nvPr/>
        </p:nvSpPr>
        <p:spPr bwMode="auto">
          <a:xfrm>
            <a:off x="5105400" y="2667000"/>
            <a:ext cx="1447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/>
              <a:t>150</a:t>
            </a:r>
          </a:p>
        </p:txBody>
      </p:sp>
      <p:cxnSp>
        <p:nvCxnSpPr>
          <p:cNvPr id="68" name="Straight Connector 67"/>
          <p:cNvCxnSpPr/>
          <p:nvPr/>
        </p:nvCxnSpPr>
        <p:spPr>
          <a:xfrm flipH="1">
            <a:off x="5578476" y="2362200"/>
            <a:ext cx="441325" cy="3048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5715000" y="2362200"/>
            <a:ext cx="304800" cy="3048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915" name="TextBox 69"/>
          <p:cNvSpPr txBox="1">
            <a:spLocks noChangeArrowheads="1"/>
          </p:cNvSpPr>
          <p:nvPr/>
        </p:nvSpPr>
        <p:spPr bwMode="auto">
          <a:xfrm>
            <a:off x="3340101" y="4495800"/>
            <a:ext cx="11604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Bl=150</a:t>
            </a:r>
          </a:p>
        </p:txBody>
      </p:sp>
      <p:sp>
        <p:nvSpPr>
          <p:cNvPr id="80916" name="TextBox 70"/>
          <p:cNvSpPr txBox="1">
            <a:spLocks noChangeArrowheads="1"/>
          </p:cNvSpPr>
          <p:nvPr/>
        </p:nvSpPr>
        <p:spPr bwMode="auto">
          <a:xfrm>
            <a:off x="1516062" y="3810000"/>
            <a:ext cx="2179638" cy="369888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Bl = 50 + 100</a:t>
            </a:r>
          </a:p>
        </p:txBody>
      </p:sp>
      <p:sp>
        <p:nvSpPr>
          <p:cNvPr id="80917" name="TextBox 71"/>
          <p:cNvSpPr txBox="1">
            <a:spLocks noChangeArrowheads="1"/>
          </p:cNvSpPr>
          <p:nvPr/>
        </p:nvSpPr>
        <p:spPr bwMode="auto">
          <a:xfrm>
            <a:off x="9448800" y="3240089"/>
            <a:ext cx="1244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solidFill>
                  <a:srgbClr val="FF0000"/>
                </a:solidFill>
              </a:rPr>
              <a:t>TB</a:t>
            </a:r>
          </a:p>
        </p:txBody>
      </p:sp>
      <p:cxnSp>
        <p:nvCxnSpPr>
          <p:cNvPr id="73" name="Straight Arrow Connector 72"/>
          <p:cNvCxnSpPr/>
          <p:nvPr/>
        </p:nvCxnSpPr>
        <p:spPr>
          <a:xfrm flipV="1">
            <a:off x="2286000" y="1905001"/>
            <a:ext cx="2895600" cy="152082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6553200" y="2552700"/>
            <a:ext cx="2286000" cy="11049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0920" name="TextBox 29"/>
          <p:cNvSpPr txBox="1">
            <a:spLocks noChangeArrowheads="1"/>
          </p:cNvSpPr>
          <p:nvPr/>
        </p:nvSpPr>
        <p:spPr bwMode="auto">
          <a:xfrm>
            <a:off x="7450138" y="2744789"/>
            <a:ext cx="11604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Bl = 150</a:t>
            </a:r>
          </a:p>
        </p:txBody>
      </p:sp>
      <p:sp>
        <p:nvSpPr>
          <p:cNvPr id="80921" name="TextBox 30"/>
          <p:cNvSpPr txBox="1">
            <a:spLocks noChangeArrowheads="1"/>
          </p:cNvSpPr>
          <p:nvPr/>
        </p:nvSpPr>
        <p:spPr bwMode="auto">
          <a:xfrm>
            <a:off x="7848600" y="3810000"/>
            <a:ext cx="2179638" cy="369888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Bl = 150 + 50</a:t>
            </a:r>
          </a:p>
        </p:txBody>
      </p:sp>
      <p:sp>
        <p:nvSpPr>
          <p:cNvPr id="80922" name="TextBox 31"/>
          <p:cNvSpPr txBox="1">
            <a:spLocks noChangeArrowheads="1"/>
          </p:cNvSpPr>
          <p:nvPr/>
        </p:nvSpPr>
        <p:spPr bwMode="auto">
          <a:xfrm>
            <a:off x="3200401" y="2311400"/>
            <a:ext cx="1355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dirty="0">
                <a:solidFill>
                  <a:srgbClr val="FF0000"/>
                </a:solidFill>
              </a:rPr>
              <a:t>Release Bl</a:t>
            </a:r>
          </a:p>
        </p:txBody>
      </p:sp>
      <p:sp>
        <p:nvSpPr>
          <p:cNvPr id="33" name="Freeform 32"/>
          <p:cNvSpPr/>
          <p:nvPr/>
        </p:nvSpPr>
        <p:spPr>
          <a:xfrm flipH="1">
            <a:off x="6248401" y="3425825"/>
            <a:ext cx="2879725" cy="1246188"/>
          </a:xfrm>
          <a:custGeom>
            <a:avLst/>
            <a:gdLst>
              <a:gd name="connsiteX0" fmla="*/ 0 w 3356810"/>
              <a:gd name="connsiteY0" fmla="*/ 1335506 h 1623841"/>
              <a:gd name="connsiteX1" fmla="*/ 1347536 w 3356810"/>
              <a:gd name="connsiteY1" fmla="*/ 1528011 h 1623841"/>
              <a:gd name="connsiteX2" fmla="*/ 3356810 w 3356810"/>
              <a:gd name="connsiteY2" fmla="*/ 0 h 1623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56810" h="1623841">
                <a:moveTo>
                  <a:pt x="0" y="1335506"/>
                </a:moveTo>
                <a:cubicBezTo>
                  <a:pt x="394034" y="1543050"/>
                  <a:pt x="788068" y="1750595"/>
                  <a:pt x="1347536" y="1528011"/>
                </a:cubicBezTo>
                <a:cubicBezTo>
                  <a:pt x="1907004" y="1305427"/>
                  <a:pt x="2631907" y="652713"/>
                  <a:pt x="3356810" y="0"/>
                </a:cubicBezTo>
              </a:path>
            </a:pathLst>
          </a:custGeom>
          <a:noFill/>
          <a:ln>
            <a:headEnd type="diamond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24" name="TextBox 33"/>
          <p:cNvSpPr txBox="1">
            <a:spLocks noChangeArrowheads="1"/>
          </p:cNvSpPr>
          <p:nvPr/>
        </p:nvSpPr>
        <p:spPr bwMode="auto">
          <a:xfrm>
            <a:off x="6946901" y="4087814"/>
            <a:ext cx="11588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Bl = 200</a:t>
            </a:r>
          </a:p>
        </p:txBody>
      </p:sp>
      <p:sp>
        <p:nvSpPr>
          <p:cNvPr id="80925" name="TextBox 34"/>
          <p:cNvSpPr txBox="1">
            <a:spLocks noChangeArrowheads="1"/>
          </p:cNvSpPr>
          <p:nvPr/>
        </p:nvSpPr>
        <p:spPr bwMode="auto">
          <a:xfrm>
            <a:off x="5105400" y="3048000"/>
            <a:ext cx="1447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/>
              <a:t>200</a:t>
            </a:r>
          </a:p>
        </p:txBody>
      </p:sp>
      <p:cxnSp>
        <p:nvCxnSpPr>
          <p:cNvPr id="36" name="Straight Connector 35"/>
          <p:cNvCxnSpPr/>
          <p:nvPr/>
        </p:nvCxnSpPr>
        <p:spPr>
          <a:xfrm flipH="1">
            <a:off x="5562601" y="2743200"/>
            <a:ext cx="441325" cy="3048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5699125" y="2743200"/>
            <a:ext cx="304800" cy="3048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 flipV="1">
            <a:off x="6337300" y="1981201"/>
            <a:ext cx="2654300" cy="144462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0929" name="TextBox 39"/>
          <p:cNvSpPr txBox="1">
            <a:spLocks noChangeArrowheads="1"/>
          </p:cNvSpPr>
          <p:nvPr/>
        </p:nvSpPr>
        <p:spPr bwMode="auto">
          <a:xfrm>
            <a:off x="6797676" y="2133600"/>
            <a:ext cx="1355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dirty="0">
                <a:solidFill>
                  <a:srgbClr val="FF0000"/>
                </a:solidFill>
              </a:rPr>
              <a:t>Release Bl</a:t>
            </a:r>
          </a:p>
        </p:txBody>
      </p: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1443037" y="5105400"/>
            <a:ext cx="9153526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lvl="1" eaLnBrk="1" hangingPunct="1">
              <a:lnSpc>
                <a:spcPct val="80000"/>
              </a:lnSpc>
            </a:pPr>
            <a:endParaRPr lang="en-US" sz="180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sz="1800" dirty="0">
                <a:solidFill>
                  <a:srgbClr val="FF0000"/>
                </a:solidFill>
              </a:rPr>
              <a:t>This solves the problem!</a:t>
            </a:r>
          </a:p>
          <a:p>
            <a:pPr eaLnBrk="1" hangingPunct="1"/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2515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BD9CE-F028-4D49-A476-B8A91D92D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Lock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FF4C85A-CD53-ED41-8CB1-5009A7A293EE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5478326"/>
              </p:ext>
            </p:extLst>
          </p:nvPr>
        </p:nvGraphicFramePr>
        <p:xfrm>
          <a:off x="1524000" y="1353337"/>
          <a:ext cx="9144000" cy="557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" name="Document" r:id="rId3" imgW="9144000" imgH="5575300" progId="Word.Document.12">
                  <p:embed/>
                </p:oleObj>
              </mc:Choice>
              <mc:Fallback>
                <p:oleObj name="Document" r:id="rId3" imgW="9144000" imgH="5575300" progId="Word.Document.12">
                  <p:embed/>
                  <p:pic>
                    <p:nvPicPr>
                      <p:cNvPr id="8" name="Content Placeholder 3">
                        <a:extLst>
                          <a:ext uri="{FF2B5EF4-FFF2-40B4-BE49-F238E27FC236}">
                            <a16:creationId xmlns:a16="http://schemas.microsoft.com/office/drawing/2014/main" id="{B9FA765A-5A79-2A43-8271-FB76C9959F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4000" y="1353337"/>
                        <a:ext cx="9144000" cy="557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5103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B49C6-FE60-BA4B-B498-F13CD93A5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2F24651-504F-AD4B-B4F2-79DCF28FF6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20467"/>
            <a:ext cx="10515600" cy="2623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429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A5713-AB33-9041-85CC-7D95C64FD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deadlock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6F4F06-002F-2946-9777-A22595FB481B}"/>
              </a:ext>
            </a:extLst>
          </p:cNvPr>
          <p:cNvSpPr/>
          <p:nvPr/>
        </p:nvSpPr>
        <p:spPr>
          <a:xfrm>
            <a:off x="5440101" y="1980056"/>
            <a:ext cx="1412112" cy="415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Projector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24811D-5B29-EF4C-ACEF-C173AB6F5A52}"/>
              </a:ext>
            </a:extLst>
          </p:cNvPr>
          <p:cNvSpPr/>
          <p:nvPr/>
        </p:nvSpPr>
        <p:spPr>
          <a:xfrm>
            <a:off x="5440101" y="5040776"/>
            <a:ext cx="1412112" cy="415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Computer</a:t>
            </a: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6FA562D4-E2D6-A74D-8526-4BFC90A79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9696" y="3529457"/>
            <a:ext cx="1244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solidFill>
                  <a:srgbClr val="FF0000"/>
                </a:solidFill>
              </a:rPr>
              <a:t>TA</a:t>
            </a:r>
          </a:p>
        </p:txBody>
      </p:sp>
      <p:sp>
        <p:nvSpPr>
          <p:cNvPr id="7" name="TextBox 71">
            <a:extLst>
              <a:ext uri="{FF2B5EF4-FFF2-40B4-BE49-F238E27FC236}">
                <a16:creationId xmlns:a16="http://schemas.microsoft.com/office/drawing/2014/main" id="{D640F136-7AA1-6C45-9927-5D585ABB7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8800" y="3529457"/>
            <a:ext cx="1244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solidFill>
                  <a:srgbClr val="FF0000"/>
                </a:solidFill>
              </a:rPr>
              <a:t>TB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C37F274A-38CE-1D4A-B1E0-132D8940467E}"/>
              </a:ext>
            </a:extLst>
          </p:cNvPr>
          <p:cNvSpPr/>
          <p:nvPr/>
        </p:nvSpPr>
        <p:spPr>
          <a:xfrm>
            <a:off x="2589096" y="2067369"/>
            <a:ext cx="2827859" cy="1325562"/>
          </a:xfrm>
          <a:custGeom>
            <a:avLst/>
            <a:gdLst>
              <a:gd name="connsiteX0" fmla="*/ 0 w 3007895"/>
              <a:gd name="connsiteY0" fmla="*/ 1252280 h 1252280"/>
              <a:gd name="connsiteX1" fmla="*/ 1227221 w 3007895"/>
              <a:gd name="connsiteY1" fmla="*/ 121312 h 1252280"/>
              <a:gd name="connsiteX2" fmla="*/ 3007895 w 3007895"/>
              <a:gd name="connsiteY2" fmla="*/ 85217 h 1252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07895" h="1252280">
                <a:moveTo>
                  <a:pt x="0" y="1252280"/>
                </a:moveTo>
                <a:cubicBezTo>
                  <a:pt x="362952" y="784051"/>
                  <a:pt x="725905" y="315822"/>
                  <a:pt x="1227221" y="121312"/>
                </a:cubicBezTo>
                <a:cubicBezTo>
                  <a:pt x="1728537" y="-73199"/>
                  <a:pt x="2368216" y="6009"/>
                  <a:pt x="3007895" y="85217"/>
                </a:cubicBezTo>
              </a:path>
            </a:pathLst>
          </a:custGeom>
          <a:noFill/>
          <a:ln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TextBox 37">
            <a:extLst>
              <a:ext uri="{FF2B5EF4-FFF2-40B4-BE49-F238E27FC236}">
                <a16:creationId xmlns:a16="http://schemas.microsoft.com/office/drawing/2014/main" id="{CDF61266-FD1F-ED4F-9CAD-3273BF8B7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4558" y="1927669"/>
            <a:ext cx="152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solidFill>
                  <a:srgbClr val="FF0000"/>
                </a:solidFill>
              </a:rPr>
              <a:t>L(P)</a:t>
            </a:r>
          </a:p>
        </p:txBody>
      </p:sp>
      <p:sp>
        <p:nvSpPr>
          <p:cNvPr id="10" name="TextBox 37">
            <a:extLst>
              <a:ext uri="{FF2B5EF4-FFF2-40B4-BE49-F238E27FC236}">
                <a16:creationId xmlns:a16="http://schemas.microsoft.com/office/drawing/2014/main" id="{6552D03C-2543-004E-816E-CBEE5FF0E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4157" y="1541275"/>
            <a:ext cx="110037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solidFill>
                  <a:srgbClr val="FF0000"/>
                </a:solidFill>
              </a:rPr>
              <a:t>La(P)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E27FA527-E2A0-6E48-9CDF-E4EE23884A29}"/>
              </a:ext>
            </a:extLst>
          </p:cNvPr>
          <p:cNvSpPr/>
          <p:nvPr/>
        </p:nvSpPr>
        <p:spPr>
          <a:xfrm flipH="1" flipV="1">
            <a:off x="6852213" y="3962091"/>
            <a:ext cx="2827859" cy="1325562"/>
          </a:xfrm>
          <a:custGeom>
            <a:avLst/>
            <a:gdLst>
              <a:gd name="connsiteX0" fmla="*/ 0 w 3007895"/>
              <a:gd name="connsiteY0" fmla="*/ 1252280 h 1252280"/>
              <a:gd name="connsiteX1" fmla="*/ 1227221 w 3007895"/>
              <a:gd name="connsiteY1" fmla="*/ 121312 h 1252280"/>
              <a:gd name="connsiteX2" fmla="*/ 3007895 w 3007895"/>
              <a:gd name="connsiteY2" fmla="*/ 85217 h 1252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07895" h="1252280">
                <a:moveTo>
                  <a:pt x="0" y="1252280"/>
                </a:moveTo>
                <a:cubicBezTo>
                  <a:pt x="362952" y="784051"/>
                  <a:pt x="725905" y="315822"/>
                  <a:pt x="1227221" y="121312"/>
                </a:cubicBezTo>
                <a:cubicBezTo>
                  <a:pt x="1728537" y="-73199"/>
                  <a:pt x="2368216" y="6009"/>
                  <a:pt x="3007895" y="85217"/>
                </a:cubicBezTo>
              </a:path>
            </a:pathLst>
          </a:custGeom>
          <a:noFill/>
          <a:ln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TextBox 37">
            <a:extLst>
              <a:ext uri="{FF2B5EF4-FFF2-40B4-BE49-F238E27FC236}">
                <a16:creationId xmlns:a16="http://schemas.microsoft.com/office/drawing/2014/main" id="{992C09F1-16AE-AA4E-9538-4E4AB42977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9594" y="5135776"/>
            <a:ext cx="152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solidFill>
                  <a:srgbClr val="FF0000"/>
                </a:solidFill>
              </a:rPr>
              <a:t>L(C)</a:t>
            </a:r>
          </a:p>
        </p:txBody>
      </p:sp>
      <p:sp>
        <p:nvSpPr>
          <p:cNvPr id="13" name="TextBox 37">
            <a:extLst>
              <a:ext uri="{FF2B5EF4-FFF2-40B4-BE49-F238E27FC236}">
                <a16:creationId xmlns:a16="http://schemas.microsoft.com/office/drawing/2014/main" id="{8CE6E142-A88F-E642-AEAE-32D63697A9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4133" y="5505108"/>
            <a:ext cx="152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 err="1">
                <a:solidFill>
                  <a:srgbClr val="FF0000"/>
                </a:solidFill>
              </a:rPr>
              <a:t>Lb</a:t>
            </a:r>
            <a:r>
              <a:rPr lang="en-US" sz="1800" dirty="0">
                <a:solidFill>
                  <a:srgbClr val="FF0000"/>
                </a:solidFill>
              </a:rPr>
              <a:t>(C)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FC4F6E42-D2CF-CA4B-B616-11711FC0EE11}"/>
              </a:ext>
            </a:extLst>
          </p:cNvPr>
          <p:cNvSpPr/>
          <p:nvPr/>
        </p:nvSpPr>
        <p:spPr>
          <a:xfrm flipV="1">
            <a:off x="2589095" y="3962091"/>
            <a:ext cx="2827859" cy="1325561"/>
          </a:xfrm>
          <a:custGeom>
            <a:avLst/>
            <a:gdLst>
              <a:gd name="connsiteX0" fmla="*/ 0 w 3007895"/>
              <a:gd name="connsiteY0" fmla="*/ 1252280 h 1252280"/>
              <a:gd name="connsiteX1" fmla="*/ 1227221 w 3007895"/>
              <a:gd name="connsiteY1" fmla="*/ 121312 h 1252280"/>
              <a:gd name="connsiteX2" fmla="*/ 3007895 w 3007895"/>
              <a:gd name="connsiteY2" fmla="*/ 85217 h 1252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07895" h="1252280">
                <a:moveTo>
                  <a:pt x="0" y="1252280"/>
                </a:moveTo>
                <a:cubicBezTo>
                  <a:pt x="362952" y="784051"/>
                  <a:pt x="725905" y="315822"/>
                  <a:pt x="1227221" y="121312"/>
                </a:cubicBezTo>
                <a:cubicBezTo>
                  <a:pt x="1728537" y="-73199"/>
                  <a:pt x="2368216" y="6009"/>
                  <a:pt x="3007895" y="85217"/>
                </a:cubicBezTo>
              </a:path>
            </a:pathLst>
          </a:custGeom>
          <a:noFill/>
          <a:ln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TextBox 37">
            <a:extLst>
              <a:ext uri="{FF2B5EF4-FFF2-40B4-BE49-F238E27FC236}">
                <a16:creationId xmlns:a16="http://schemas.microsoft.com/office/drawing/2014/main" id="{8843FF16-1642-A34D-BCC8-F47F5BFFF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4558" y="5102986"/>
            <a:ext cx="152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solidFill>
                  <a:srgbClr val="FF0000"/>
                </a:solidFill>
              </a:rPr>
              <a:t>L(C)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25B6650-A1A2-BF48-ACD7-818A3E5C911F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5619107" y="5689774"/>
            <a:ext cx="505026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0F7A481-4386-104F-AE9E-9E2E710DA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1157" y="5522579"/>
            <a:ext cx="11604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solidFill>
                  <a:srgbClr val="FF0000"/>
                </a:solidFill>
              </a:rPr>
              <a:t>Wait!</a:t>
            </a: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76726E3C-3ED5-2F4E-9AAE-667213BA60AF}"/>
              </a:ext>
            </a:extLst>
          </p:cNvPr>
          <p:cNvSpPr/>
          <p:nvPr/>
        </p:nvSpPr>
        <p:spPr>
          <a:xfrm flipH="1">
            <a:off x="6846425" y="2067369"/>
            <a:ext cx="2827859" cy="1325563"/>
          </a:xfrm>
          <a:custGeom>
            <a:avLst/>
            <a:gdLst>
              <a:gd name="connsiteX0" fmla="*/ 0 w 3007895"/>
              <a:gd name="connsiteY0" fmla="*/ 1252280 h 1252280"/>
              <a:gd name="connsiteX1" fmla="*/ 1227221 w 3007895"/>
              <a:gd name="connsiteY1" fmla="*/ 121312 h 1252280"/>
              <a:gd name="connsiteX2" fmla="*/ 3007895 w 3007895"/>
              <a:gd name="connsiteY2" fmla="*/ 85217 h 1252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07895" h="1252280">
                <a:moveTo>
                  <a:pt x="0" y="1252280"/>
                </a:moveTo>
                <a:cubicBezTo>
                  <a:pt x="362952" y="784051"/>
                  <a:pt x="725905" y="315822"/>
                  <a:pt x="1227221" y="121312"/>
                </a:cubicBezTo>
                <a:cubicBezTo>
                  <a:pt x="1728537" y="-73199"/>
                  <a:pt x="2368216" y="6009"/>
                  <a:pt x="3007895" y="85217"/>
                </a:cubicBezTo>
              </a:path>
            </a:pathLst>
          </a:custGeom>
          <a:noFill/>
          <a:ln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TextBox 37">
            <a:extLst>
              <a:ext uri="{FF2B5EF4-FFF2-40B4-BE49-F238E27FC236}">
                <a16:creationId xmlns:a16="http://schemas.microsoft.com/office/drawing/2014/main" id="{9372C0FC-2DC8-0042-B18B-FF1E958387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6950" y="1923693"/>
            <a:ext cx="152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solidFill>
                  <a:srgbClr val="FF0000"/>
                </a:solidFill>
              </a:rPr>
              <a:t>L(P)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AEF431D-B7E0-C34C-8A7F-DAF5DC52E0E2}"/>
              </a:ext>
            </a:extLst>
          </p:cNvPr>
          <p:cNvCxnSpPr>
            <a:cxnSpLocks/>
          </p:cNvCxnSpPr>
          <p:nvPr/>
        </p:nvCxnSpPr>
        <p:spPr>
          <a:xfrm>
            <a:off x="6096000" y="1743548"/>
            <a:ext cx="504644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575DF69-F871-5745-9E7C-CF161FBD1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9603" y="1575444"/>
            <a:ext cx="11604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solidFill>
                  <a:srgbClr val="FF0000"/>
                </a:solidFill>
              </a:rPr>
              <a:t>Wait!</a:t>
            </a: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B5558437-6738-CA4C-8673-D2EB508E2810}"/>
              </a:ext>
            </a:extLst>
          </p:cNvPr>
          <p:cNvSpPr/>
          <p:nvPr/>
        </p:nvSpPr>
        <p:spPr>
          <a:xfrm>
            <a:off x="5440101" y="4027990"/>
            <a:ext cx="4476087" cy="1914990"/>
          </a:xfrm>
          <a:custGeom>
            <a:avLst/>
            <a:gdLst>
              <a:gd name="connsiteX0" fmla="*/ 0 w 4476087"/>
              <a:gd name="connsiteY0" fmla="*/ 1886673 h 1914990"/>
              <a:gd name="connsiteX1" fmla="*/ 3854370 w 4476087"/>
              <a:gd name="connsiteY1" fmla="*/ 1655180 h 1914990"/>
              <a:gd name="connsiteX2" fmla="*/ 4421529 w 4476087"/>
              <a:gd name="connsiteY2" fmla="*/ 0 h 1914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76087" h="1914990">
                <a:moveTo>
                  <a:pt x="0" y="1886673"/>
                </a:moveTo>
                <a:cubicBezTo>
                  <a:pt x="1558724" y="1928149"/>
                  <a:pt x="3117449" y="1969625"/>
                  <a:pt x="3854370" y="1655180"/>
                </a:cubicBezTo>
                <a:cubicBezTo>
                  <a:pt x="4591291" y="1340735"/>
                  <a:pt x="4506410" y="670367"/>
                  <a:pt x="4421529" y="0"/>
                </a:cubicBezTo>
              </a:path>
            </a:pathLst>
          </a:cu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63591368-4159-2245-B618-A8EA9C0B6B73}"/>
              </a:ext>
            </a:extLst>
          </p:cNvPr>
          <p:cNvSpPr/>
          <p:nvPr/>
        </p:nvSpPr>
        <p:spPr>
          <a:xfrm flipH="1" flipV="1">
            <a:off x="2271050" y="1461882"/>
            <a:ext cx="4476087" cy="1920543"/>
          </a:xfrm>
          <a:custGeom>
            <a:avLst/>
            <a:gdLst>
              <a:gd name="connsiteX0" fmla="*/ 0 w 4476087"/>
              <a:gd name="connsiteY0" fmla="*/ 1886673 h 1914990"/>
              <a:gd name="connsiteX1" fmla="*/ 3854370 w 4476087"/>
              <a:gd name="connsiteY1" fmla="*/ 1655180 h 1914990"/>
              <a:gd name="connsiteX2" fmla="*/ 4421529 w 4476087"/>
              <a:gd name="connsiteY2" fmla="*/ 0 h 1914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76087" h="1914990">
                <a:moveTo>
                  <a:pt x="0" y="1886673"/>
                </a:moveTo>
                <a:cubicBezTo>
                  <a:pt x="1558724" y="1928149"/>
                  <a:pt x="3117449" y="1969625"/>
                  <a:pt x="3854370" y="1655180"/>
                </a:cubicBezTo>
                <a:cubicBezTo>
                  <a:pt x="4591291" y="1340735"/>
                  <a:pt x="4506410" y="670367"/>
                  <a:pt x="4421529" y="0"/>
                </a:cubicBezTo>
              </a:path>
            </a:pathLst>
          </a:cu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67E872-1FB6-6D4D-9D92-826F76C23FFF}"/>
              </a:ext>
            </a:extLst>
          </p:cNvPr>
          <p:cNvSpPr/>
          <p:nvPr/>
        </p:nvSpPr>
        <p:spPr>
          <a:xfrm>
            <a:off x="5580474" y="3244334"/>
            <a:ext cx="1031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deadlock</a:t>
            </a:r>
          </a:p>
        </p:txBody>
      </p:sp>
    </p:spTree>
    <p:extLst>
      <p:ext uri="{BB962C8B-B14F-4D97-AF65-F5344CB8AC3E}">
        <p14:creationId xmlns:p14="http://schemas.microsoft.com/office/powerpoint/2010/main" val="2810828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  <p:bldP spid="17" grpId="0"/>
      <p:bldP spid="22" grpId="0" animBg="1"/>
      <p:bldP spid="23" grpId="0"/>
      <p:bldP spid="25" grpId="0"/>
      <p:bldP spid="29" grpId="0" animBg="1"/>
      <p:bldP spid="30" grpId="0" animBg="1"/>
      <p:bldP spid="3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BD9CE-F028-4D49-A476-B8A91D92D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deadlock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FF4C85A-CD53-ED41-8CB1-5009A7A293EE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4365077"/>
              </p:ext>
            </p:extLst>
          </p:nvPr>
        </p:nvGraphicFramePr>
        <p:xfrm>
          <a:off x="1524000" y="2152650"/>
          <a:ext cx="9144000" cy="397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6" name="Document" r:id="rId3" imgW="9144000" imgH="3975100" progId="Word.Document.12">
                  <p:embed/>
                </p:oleObj>
              </mc:Choice>
              <mc:Fallback>
                <p:oleObj name="Document" r:id="rId3" imgW="9144000" imgH="3975100" progId="Word.Document.12">
                  <p:embed/>
                  <p:pic>
                    <p:nvPicPr>
                      <p:cNvPr id="4" name="Content Placeholder 3">
                        <a:extLst>
                          <a:ext uri="{FF2B5EF4-FFF2-40B4-BE49-F238E27FC236}">
                            <a16:creationId xmlns:a16="http://schemas.microsoft.com/office/drawing/2014/main" id="{9FF4C85A-CD53-ED41-8CB1-5009A7A293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4000" y="2152650"/>
                        <a:ext cx="9144000" cy="397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73884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BD9CE-F028-4D49-A476-B8A91D92D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deadlock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FF4C85A-CD53-ED41-8CB1-5009A7A293EE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1897351"/>
              </p:ext>
            </p:extLst>
          </p:nvPr>
        </p:nvGraphicFramePr>
        <p:xfrm>
          <a:off x="1524000" y="2851150"/>
          <a:ext cx="9144000" cy="257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0" name="Document" r:id="rId3" imgW="9144000" imgH="2578100" progId="Word.Document.12">
                  <p:embed/>
                </p:oleObj>
              </mc:Choice>
              <mc:Fallback>
                <p:oleObj name="Document" r:id="rId3" imgW="9144000" imgH="2578100" progId="Word.Document.12">
                  <p:embed/>
                  <p:pic>
                    <p:nvPicPr>
                      <p:cNvPr id="4" name="Content Placeholder 3">
                        <a:extLst>
                          <a:ext uri="{FF2B5EF4-FFF2-40B4-BE49-F238E27FC236}">
                            <a16:creationId xmlns:a16="http://schemas.microsoft.com/office/drawing/2014/main" id="{9FF4C85A-CD53-ED41-8CB1-5009A7A293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4000" y="2851150"/>
                        <a:ext cx="9144000" cy="2578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56886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BD9CE-F028-4D49-A476-B8A91D92D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deadlock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FF4C85A-CD53-ED41-8CB1-5009A7A293EE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622823"/>
              </p:ext>
            </p:extLst>
          </p:nvPr>
        </p:nvGraphicFramePr>
        <p:xfrm>
          <a:off x="1524000" y="2451100"/>
          <a:ext cx="9144000" cy="337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4" name="Document" r:id="rId3" imgW="9144000" imgH="3378200" progId="Word.Document.12">
                  <p:embed/>
                </p:oleObj>
              </mc:Choice>
              <mc:Fallback>
                <p:oleObj name="Document" r:id="rId3" imgW="9144000" imgH="3378200" progId="Word.Document.12">
                  <p:embed/>
                  <p:pic>
                    <p:nvPicPr>
                      <p:cNvPr id="4" name="Content Placeholder 3">
                        <a:extLst>
                          <a:ext uri="{FF2B5EF4-FFF2-40B4-BE49-F238E27FC236}">
                            <a16:creationId xmlns:a16="http://schemas.microsoft.com/office/drawing/2014/main" id="{9FF4C85A-CD53-ED41-8CB1-5009A7A293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4000" y="2451100"/>
                        <a:ext cx="9144000" cy="337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650319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D02F5-B944-1A4D-9521-528191B34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7BD7CE6-AD86-9044-A00F-24C70A29A9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757001"/>
            <a:ext cx="10515600" cy="248858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8A285E-3A94-1741-9E48-117FAF02E130}"/>
              </a:ext>
            </a:extLst>
          </p:cNvPr>
          <p:cNvSpPr/>
          <p:nvPr/>
        </p:nvSpPr>
        <p:spPr>
          <a:xfrm>
            <a:off x="838200" y="4876255"/>
            <a:ext cx="1031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deadlock</a:t>
            </a:r>
          </a:p>
        </p:txBody>
      </p:sp>
    </p:spTree>
    <p:extLst>
      <p:ext uri="{BB962C8B-B14F-4D97-AF65-F5344CB8AC3E}">
        <p14:creationId xmlns:p14="http://schemas.microsoft.com/office/powerpoint/2010/main" val="261755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F0A32-D52B-9540-90D3-4B087A62C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Producer/Consumer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3848AC-B845-4640-A6D9-039B600D3208}"/>
              </a:ext>
            </a:extLst>
          </p:cNvPr>
          <p:cNvSpPr/>
          <p:nvPr/>
        </p:nvSpPr>
        <p:spPr>
          <a:xfrm>
            <a:off x="2326511" y="1921397"/>
            <a:ext cx="844952" cy="335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39C53F-FAF6-1B41-9A16-A88EFDFCEE01}"/>
              </a:ext>
            </a:extLst>
          </p:cNvPr>
          <p:cNvSpPr txBox="1"/>
          <p:nvPr/>
        </p:nvSpPr>
        <p:spPr>
          <a:xfrm>
            <a:off x="2229710" y="1436711"/>
            <a:ext cx="10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Producer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FF49B9-85A0-9244-A37F-3E5B2D8C9216}"/>
              </a:ext>
            </a:extLst>
          </p:cNvPr>
          <p:cNvSpPr txBox="1"/>
          <p:nvPr/>
        </p:nvSpPr>
        <p:spPr>
          <a:xfrm>
            <a:off x="7451821" y="1436711"/>
            <a:ext cx="1143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Consumer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643CD2-1EF7-644A-B662-01F42B34A087}"/>
              </a:ext>
            </a:extLst>
          </p:cNvPr>
          <p:cNvSpPr/>
          <p:nvPr/>
        </p:nvSpPr>
        <p:spPr>
          <a:xfrm>
            <a:off x="7600976" y="1921397"/>
            <a:ext cx="844952" cy="335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E8A8F0-5BC2-D246-8892-45651C4D390B}"/>
              </a:ext>
            </a:extLst>
          </p:cNvPr>
          <p:cNvSpPr/>
          <p:nvPr/>
        </p:nvSpPr>
        <p:spPr>
          <a:xfrm>
            <a:off x="2326511" y="2372417"/>
            <a:ext cx="844952" cy="335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E5724B-16DF-8A43-9099-1E8FF0F5D6BD}"/>
              </a:ext>
            </a:extLst>
          </p:cNvPr>
          <p:cNvSpPr/>
          <p:nvPr/>
        </p:nvSpPr>
        <p:spPr>
          <a:xfrm>
            <a:off x="7600976" y="2372417"/>
            <a:ext cx="844952" cy="335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7CAA97-7E84-6F4E-8151-F74B6D325625}"/>
              </a:ext>
            </a:extLst>
          </p:cNvPr>
          <p:cNvSpPr/>
          <p:nvPr/>
        </p:nvSpPr>
        <p:spPr>
          <a:xfrm>
            <a:off x="2326511" y="2823044"/>
            <a:ext cx="844952" cy="335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221FAA-127D-4042-A426-A8AC0B714D91}"/>
              </a:ext>
            </a:extLst>
          </p:cNvPr>
          <p:cNvSpPr/>
          <p:nvPr/>
        </p:nvSpPr>
        <p:spPr>
          <a:xfrm>
            <a:off x="7600976" y="2823044"/>
            <a:ext cx="844952" cy="335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E25E04-E4E5-1944-BEF2-67215725F97C}"/>
              </a:ext>
            </a:extLst>
          </p:cNvPr>
          <p:cNvSpPr/>
          <p:nvPr/>
        </p:nvSpPr>
        <p:spPr>
          <a:xfrm>
            <a:off x="2326511" y="3273671"/>
            <a:ext cx="844952" cy="335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9EEE19-56EC-C048-9FC0-451BC6E60A2D}"/>
              </a:ext>
            </a:extLst>
          </p:cNvPr>
          <p:cNvSpPr/>
          <p:nvPr/>
        </p:nvSpPr>
        <p:spPr>
          <a:xfrm>
            <a:off x="7600976" y="3273671"/>
            <a:ext cx="844952" cy="335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636613-D1FD-004B-94F5-967A88845169}"/>
              </a:ext>
            </a:extLst>
          </p:cNvPr>
          <p:cNvSpPr/>
          <p:nvPr/>
        </p:nvSpPr>
        <p:spPr>
          <a:xfrm>
            <a:off x="2326511" y="3724298"/>
            <a:ext cx="844952" cy="335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7D436F-8DAC-1447-93C5-8CC6D23B6146}"/>
              </a:ext>
            </a:extLst>
          </p:cNvPr>
          <p:cNvSpPr/>
          <p:nvPr/>
        </p:nvSpPr>
        <p:spPr>
          <a:xfrm>
            <a:off x="7600976" y="3724298"/>
            <a:ext cx="844952" cy="335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03466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9C329-C449-2C4B-A78F-21DBC8E85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Producer/Consumer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9A9C4C-AEC4-FD4C-A549-177E843A47CF}"/>
              </a:ext>
            </a:extLst>
          </p:cNvPr>
          <p:cNvSpPr/>
          <p:nvPr/>
        </p:nvSpPr>
        <p:spPr>
          <a:xfrm>
            <a:off x="2326511" y="1921397"/>
            <a:ext cx="844952" cy="335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2BE94A-0D21-5340-8F50-B481236F29F2}"/>
              </a:ext>
            </a:extLst>
          </p:cNvPr>
          <p:cNvSpPr txBox="1"/>
          <p:nvPr/>
        </p:nvSpPr>
        <p:spPr>
          <a:xfrm>
            <a:off x="2229710" y="1436711"/>
            <a:ext cx="10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Producer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87A3BA-495A-7642-A48E-7DDADA1ACE9A}"/>
              </a:ext>
            </a:extLst>
          </p:cNvPr>
          <p:cNvSpPr txBox="1"/>
          <p:nvPr/>
        </p:nvSpPr>
        <p:spPr>
          <a:xfrm>
            <a:off x="7451821" y="1436711"/>
            <a:ext cx="1143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Consumer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728AAD-B0F1-0C4E-8F1E-37C12601BFCE}"/>
              </a:ext>
            </a:extLst>
          </p:cNvPr>
          <p:cNvSpPr/>
          <p:nvPr/>
        </p:nvSpPr>
        <p:spPr>
          <a:xfrm>
            <a:off x="7600976" y="1921397"/>
            <a:ext cx="844952" cy="335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390B27-3AB9-064D-9F49-A98396FB8920}"/>
              </a:ext>
            </a:extLst>
          </p:cNvPr>
          <p:cNvSpPr/>
          <p:nvPr/>
        </p:nvSpPr>
        <p:spPr>
          <a:xfrm>
            <a:off x="7600976" y="2426608"/>
            <a:ext cx="844952" cy="335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29384E-F089-9848-A4D1-3D0AF12BDFDF}"/>
              </a:ext>
            </a:extLst>
          </p:cNvPr>
          <p:cNvSpPr/>
          <p:nvPr/>
        </p:nvSpPr>
        <p:spPr>
          <a:xfrm>
            <a:off x="2326511" y="2931819"/>
            <a:ext cx="844952" cy="335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1176CA-D085-E140-A3AD-5D77EA7D4110}"/>
              </a:ext>
            </a:extLst>
          </p:cNvPr>
          <p:cNvSpPr/>
          <p:nvPr/>
        </p:nvSpPr>
        <p:spPr>
          <a:xfrm>
            <a:off x="7600976" y="2940242"/>
            <a:ext cx="844952" cy="335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83A7FD-E569-F146-AED7-414715002F49}"/>
              </a:ext>
            </a:extLst>
          </p:cNvPr>
          <p:cNvSpPr/>
          <p:nvPr/>
        </p:nvSpPr>
        <p:spPr>
          <a:xfrm>
            <a:off x="7600976" y="3453876"/>
            <a:ext cx="844952" cy="335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FED0FE-C479-E24A-932B-0BA615DEE785}"/>
              </a:ext>
            </a:extLst>
          </p:cNvPr>
          <p:cNvSpPr/>
          <p:nvPr/>
        </p:nvSpPr>
        <p:spPr>
          <a:xfrm>
            <a:off x="2326511" y="3967510"/>
            <a:ext cx="844952" cy="335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03506C-C8FC-2447-8306-A0F0F5A62DDE}"/>
              </a:ext>
            </a:extLst>
          </p:cNvPr>
          <p:cNvSpPr/>
          <p:nvPr/>
        </p:nvSpPr>
        <p:spPr>
          <a:xfrm>
            <a:off x="7600976" y="3967510"/>
            <a:ext cx="844952" cy="335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8AD1AD-2616-9240-94B5-DB170EE4C745}"/>
              </a:ext>
            </a:extLst>
          </p:cNvPr>
          <p:cNvSpPr/>
          <p:nvPr/>
        </p:nvSpPr>
        <p:spPr>
          <a:xfrm>
            <a:off x="2326511" y="4979904"/>
            <a:ext cx="844952" cy="335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250FAE-A3A4-624D-B867-85BF599E9185}"/>
              </a:ext>
            </a:extLst>
          </p:cNvPr>
          <p:cNvSpPr/>
          <p:nvPr/>
        </p:nvSpPr>
        <p:spPr>
          <a:xfrm>
            <a:off x="2326511" y="5992298"/>
            <a:ext cx="844952" cy="335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52242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4CF54-9230-0249-8F83-A643D3237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Producer/Consumer without synchronization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363E7A-17DD-9A43-BAFC-43485D8C6F33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9930481"/>
              </p:ext>
            </p:extLst>
          </p:nvPr>
        </p:nvGraphicFramePr>
        <p:xfrm>
          <a:off x="1524000" y="2247900"/>
          <a:ext cx="9144000" cy="378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3" name="Document" r:id="rId3" imgW="9144000" imgH="3784600" progId="Word.Document.12">
                  <p:embed/>
                </p:oleObj>
              </mc:Choice>
              <mc:Fallback>
                <p:oleObj name="Document" r:id="rId3" imgW="9144000" imgH="3784600" progId="Word.Document.12">
                  <p:embed/>
                  <p:pic>
                    <p:nvPicPr>
                      <p:cNvPr id="4" name="Content Placeholder 3">
                        <a:extLst>
                          <a:ext uri="{FF2B5EF4-FFF2-40B4-BE49-F238E27FC236}">
                            <a16:creationId xmlns:a16="http://schemas.microsoft.com/office/drawing/2014/main" id="{C8363E7A-17DD-9A43-BAFC-43485D8C6F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4000" y="2247900"/>
                        <a:ext cx="9144000" cy="378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75417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4CF54-9230-0249-8F83-A643D3237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Producer/Consumer with synchronization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363E7A-17DD-9A43-BAFC-43485D8C6F33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3591603"/>
              </p:ext>
            </p:extLst>
          </p:nvPr>
        </p:nvGraphicFramePr>
        <p:xfrm>
          <a:off x="1524000" y="1690688"/>
          <a:ext cx="914400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7" name="Document" r:id="rId3" imgW="9144000" imgH="1181100" progId="Word.Document.12">
                  <p:embed/>
                </p:oleObj>
              </mc:Choice>
              <mc:Fallback>
                <p:oleObj name="Document" r:id="rId3" imgW="9144000" imgH="1181100" progId="Word.Document.12">
                  <p:embed/>
                  <p:pic>
                    <p:nvPicPr>
                      <p:cNvPr id="4" name="Content Placeholder 3">
                        <a:extLst>
                          <a:ext uri="{FF2B5EF4-FFF2-40B4-BE49-F238E27FC236}">
                            <a16:creationId xmlns:a16="http://schemas.microsoft.com/office/drawing/2014/main" id="{C8363E7A-17DD-9A43-BAFC-43485D8C6F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4000" y="1690688"/>
                        <a:ext cx="9144000" cy="1181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2C1BFC80-A568-DD45-93AD-80235BD205D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3043"/>
          <a:stretch/>
        </p:blipFill>
        <p:spPr>
          <a:xfrm>
            <a:off x="1524000" y="3005450"/>
            <a:ext cx="9144000" cy="348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9077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4CF54-9230-0249-8F83-A643D3237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Producer/Consumer with synchronization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363E7A-17DD-9A43-BAFC-43485D8C6F33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6881603"/>
              </p:ext>
            </p:extLst>
          </p:nvPr>
        </p:nvGraphicFramePr>
        <p:xfrm>
          <a:off x="1524000" y="1454150"/>
          <a:ext cx="9144000" cy="537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6" name="Document" r:id="rId3" imgW="9144000" imgH="5372100" progId="Word.Document.12">
                  <p:embed/>
                </p:oleObj>
              </mc:Choice>
              <mc:Fallback>
                <p:oleObj name="Document" r:id="rId3" imgW="9144000" imgH="5372100" progId="Word.Document.12">
                  <p:embed/>
                  <p:pic>
                    <p:nvPicPr>
                      <p:cNvPr id="4" name="Content Placeholder 3">
                        <a:extLst>
                          <a:ext uri="{FF2B5EF4-FFF2-40B4-BE49-F238E27FC236}">
                            <a16:creationId xmlns:a16="http://schemas.microsoft.com/office/drawing/2014/main" id="{9FF4C85A-CD53-ED41-8CB1-5009A7A293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4000" y="1454150"/>
                        <a:ext cx="9144000" cy="537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080504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4CF54-9230-0249-8F83-A643D3237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Producer/Consumer with synchronization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363E7A-17DD-9A43-BAFC-43485D8C6F33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1418241"/>
              </p:ext>
            </p:extLst>
          </p:nvPr>
        </p:nvGraphicFramePr>
        <p:xfrm>
          <a:off x="1524000" y="1690688"/>
          <a:ext cx="9144000" cy="138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8" name="Document" r:id="rId3" imgW="9144000" imgH="1384300" progId="Word.Document.12">
                  <p:embed/>
                </p:oleObj>
              </mc:Choice>
              <mc:Fallback>
                <p:oleObj name="Document" r:id="rId3" imgW="9144000" imgH="1384300" progId="Word.Document.12">
                  <p:embed/>
                  <p:pic>
                    <p:nvPicPr>
                      <p:cNvPr id="4" name="Content Placeholder 3">
                        <a:extLst>
                          <a:ext uri="{FF2B5EF4-FFF2-40B4-BE49-F238E27FC236}">
                            <a16:creationId xmlns:a16="http://schemas.microsoft.com/office/drawing/2014/main" id="{C8363E7A-17DD-9A43-BAFC-43485D8C6F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4000" y="1690688"/>
                        <a:ext cx="9144000" cy="1384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4EA80BFA-6BF6-E543-8D35-3E06C0E03B6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3043"/>
          <a:stretch/>
        </p:blipFill>
        <p:spPr>
          <a:xfrm>
            <a:off x="1524000" y="3074988"/>
            <a:ext cx="9144000" cy="351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1301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74D83-A158-6340-AF69-C548F543D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A9CB5-BC1A-AC46-97DE-EA99E3E5E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threading video tutorials:</a:t>
            </a:r>
          </a:p>
          <a:p>
            <a:pPr lvl="1"/>
            <a:r>
              <a:rPr lang="en-US" dirty="0">
                <a:hlinkClick r:id="rId2"/>
              </a:rPr>
              <a:t>https://www.youtube.com/watch?v=Sk5LS8-h-KQ&amp;list=PLxyOsIbHSrxl-T-5k1ywTpcQC3gvij0Cz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454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357</Words>
  <Application>Microsoft Macintosh PowerPoint</Application>
  <PresentationFormat>Widescreen</PresentationFormat>
  <Paragraphs>128</Paragraphs>
  <Slides>25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Microsoft Word Document</vt:lpstr>
      <vt:lpstr>Thread and thread synchronization</vt:lpstr>
      <vt:lpstr>Creating threads</vt:lpstr>
      <vt:lpstr>Creating threads</vt:lpstr>
      <vt:lpstr>Using ThreadPoolExecutor</vt:lpstr>
      <vt:lpstr>Using ThreadPoolExecutor</vt:lpstr>
      <vt:lpstr>The Lost Update Problem (Race condition)</vt:lpstr>
      <vt:lpstr>The lost update problem (race condition)</vt:lpstr>
      <vt:lpstr>The lost update problem (race condition)</vt:lpstr>
      <vt:lpstr>Preventing lost update!</vt:lpstr>
      <vt:lpstr>Preventing lost update!</vt:lpstr>
      <vt:lpstr>Preventing lost update!</vt:lpstr>
      <vt:lpstr>Using Lock</vt:lpstr>
      <vt:lpstr>Test</vt:lpstr>
      <vt:lpstr>The deadlock</vt:lpstr>
      <vt:lpstr>The deadlock</vt:lpstr>
      <vt:lpstr>The deadlock</vt:lpstr>
      <vt:lpstr>The deadlock</vt:lpstr>
      <vt:lpstr>Test</vt:lpstr>
      <vt:lpstr>Producer/Consumer</vt:lpstr>
      <vt:lpstr>Producer/Consumer Pattern</vt:lpstr>
      <vt:lpstr>Producer/Consumer without synchronization</vt:lpstr>
      <vt:lpstr>Producer/Consumer with synchronization</vt:lpstr>
      <vt:lpstr>Producer/Consumer with synchronization</vt:lpstr>
      <vt:lpstr>Producer/Consumer with synchronization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Pham, Vung</dc:creator>
  <cp:lastModifiedBy>Pham, Vung</cp:lastModifiedBy>
  <cp:revision>114</cp:revision>
  <dcterms:created xsi:type="dcterms:W3CDTF">2020-02-05T21:06:55Z</dcterms:created>
  <dcterms:modified xsi:type="dcterms:W3CDTF">2020-02-06T00:39:25Z</dcterms:modified>
</cp:coreProperties>
</file>