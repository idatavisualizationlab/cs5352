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63" r:id="rId3"/>
    <p:sldId id="264" r:id="rId4"/>
    <p:sldId id="265" r:id="rId5"/>
    <p:sldId id="257" r:id="rId6"/>
    <p:sldId id="266" r:id="rId7"/>
    <p:sldId id="267" r:id="rId8"/>
    <p:sldId id="268" r:id="rId9"/>
    <p:sldId id="269" r:id="rId10"/>
    <p:sldId id="271" r:id="rId11"/>
    <p:sldId id="270" r:id="rId12"/>
    <p:sldId id="272" r:id="rId13"/>
    <p:sldId id="273" r:id="rId14"/>
    <p:sldId id="274" r:id="rId15"/>
    <p:sldId id="276" r:id="rId16"/>
    <p:sldId id="275" r:id="rId17"/>
    <p:sldId id="277" r:id="rId18"/>
    <p:sldId id="261" r:id="rId19"/>
    <p:sldId id="278" r:id="rId20"/>
    <p:sldId id="279" r:id="rId21"/>
    <p:sldId id="280"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C3503-E260-9542-9733-673AE781F390}" v="825" dt="2020-03-21T00:21:45.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08"/>
    <p:restoredTop sz="76749"/>
  </p:normalViewPr>
  <p:slideViewPr>
    <p:cSldViewPr snapToGrid="0" snapToObjects="1">
      <p:cViewPr varScale="1">
        <p:scale>
          <a:sx n="96" d="100"/>
          <a:sy n="96" d="100"/>
        </p:scale>
        <p:origin x="1264" y="1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139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B4EF0-DD9D-0940-9BBF-FC97E4434E83}" type="datetimeFigureOut">
              <a:rPr lang="en-US" smtClean="0"/>
              <a:t>3/20/2020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42706-CB5B-D446-8070-5D55AE41EE67}" type="slidenum">
              <a:rPr lang="en-US" smtClean="0"/>
              <a:t>‹#›</a:t>
            </a:fld>
            <a:endParaRPr lang="en-US"/>
          </a:p>
        </p:txBody>
      </p:sp>
    </p:spTree>
    <p:extLst>
      <p:ext uri="{BB962C8B-B14F-4D97-AF65-F5344CB8AC3E}">
        <p14:creationId xmlns:p14="http://schemas.microsoft.com/office/powerpoint/2010/main" val="9228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a:t>
            </a:fld>
            <a:endParaRPr lang="en-US"/>
          </a:p>
        </p:txBody>
      </p:sp>
    </p:spTree>
    <p:extLst>
      <p:ext uri="{BB962C8B-B14F-4D97-AF65-F5344CB8AC3E}">
        <p14:creationId xmlns:p14="http://schemas.microsoft.com/office/powerpoint/2010/main" val="1589897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5</a:t>
            </a:fld>
            <a:endParaRPr lang="en-US"/>
          </a:p>
        </p:txBody>
      </p:sp>
    </p:spTree>
    <p:extLst>
      <p:ext uri="{BB962C8B-B14F-4D97-AF65-F5344CB8AC3E}">
        <p14:creationId xmlns:p14="http://schemas.microsoft.com/office/powerpoint/2010/main" val="1643303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instance, </a:t>
            </a:r>
            <a:r>
              <a:rPr lang="en-US" sz="1200" kern="1200" dirty="0" err="1">
                <a:solidFill>
                  <a:schemeClr val="tx1"/>
                </a:solidFill>
                <a:effectLst/>
                <a:latin typeface="+mn-lt"/>
                <a:ea typeface="+mn-ea"/>
                <a:cs typeface="+mn-cs"/>
              </a:rPr>
              <a:t>xor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rbx,rbx</a:t>
            </a:r>
            <a:r>
              <a:rPr lang="en-US" sz="1200" kern="1200" dirty="0">
                <a:solidFill>
                  <a:schemeClr val="tx1"/>
                </a:solidFill>
                <a:effectLst/>
                <a:latin typeface="+mn-lt"/>
                <a:ea typeface="+mn-ea"/>
                <a:cs typeface="+mn-cs"/>
              </a:rPr>
              <a:t> is irreversible, because </a:t>
            </a:r>
            <a:r>
              <a:rPr lang="en-US" sz="1200" kern="1200" dirty="0" err="1">
                <a:solidFill>
                  <a:schemeClr val="tx1"/>
                </a:solidFill>
                <a:effectLst/>
                <a:latin typeface="+mn-lt"/>
                <a:ea typeface="+mn-ea"/>
                <a:cs typeface="+mn-cs"/>
              </a:rPr>
              <a:t>rbx’s</a:t>
            </a:r>
            <a:r>
              <a:rPr lang="en-US" sz="1200" kern="1200" dirty="0">
                <a:solidFill>
                  <a:schemeClr val="tx1"/>
                </a:solidFill>
                <a:effectLst/>
                <a:latin typeface="+mn-lt"/>
                <a:ea typeface="+mn-ea"/>
                <a:cs typeface="+mn-cs"/>
              </a:rPr>
              <a:t> value before the instruction is executed cannot be recovered sim- ply based on this instruction’s semantics and </a:t>
            </a:r>
            <a:r>
              <a:rPr lang="en-US" sz="1200" kern="1200" dirty="0" err="1">
                <a:solidFill>
                  <a:schemeClr val="tx1"/>
                </a:solidFill>
                <a:effectLst/>
                <a:latin typeface="+mn-lt"/>
                <a:ea typeface="+mn-ea"/>
                <a:cs typeface="+mn-cs"/>
              </a:rPr>
              <a:t>rbx’s</a:t>
            </a:r>
            <a:r>
              <a:rPr lang="en-US" sz="1200" kern="1200" dirty="0">
                <a:solidFill>
                  <a:schemeClr val="tx1"/>
                </a:solidFill>
                <a:effectLst/>
                <a:latin typeface="+mn-lt"/>
                <a:ea typeface="+mn-ea"/>
                <a:cs typeface="+mn-cs"/>
              </a:rPr>
              <a:t> value after the instruction is executed. Therefore, the straight- forward backward analysis for reversible instructions is not applicable in general.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Conceptually, given the instruction sequence </a:t>
            </a:r>
            <a:r>
              <a:rPr lang="en-US" sz="1200" i="1" kern="1200" dirty="0">
                <a:solidFill>
                  <a:schemeClr val="tx1"/>
                </a:solidFill>
                <a:effectLst/>
                <a:latin typeface="+mn-lt"/>
                <a:ea typeface="+mn-ea"/>
                <a:cs typeface="+mn-cs"/>
              </a:rPr>
              <a:t>I </a:t>
            </a:r>
            <a:r>
              <a:rPr lang="en-US" sz="1200" kern="1200" dirty="0">
                <a:solidFill>
                  <a:schemeClr val="tx1"/>
                </a:solidFill>
                <a:effectLst/>
                <a:latin typeface="+mn-lt"/>
                <a:ea typeface="+mn-ea"/>
                <a:cs typeface="+mn-cs"/>
              </a:rPr>
              <a:t>and the final state </a:t>
            </a:r>
            <a:r>
              <a:rPr lang="en-US" sz="1200" i="1" kern="1200" dirty="0">
                <a:solidFill>
                  <a:schemeClr val="tx1"/>
                </a:solidFill>
                <a:effectLst/>
                <a:latin typeface="+mn-lt"/>
                <a:ea typeface="+mn-ea"/>
                <a:cs typeface="+mn-cs"/>
              </a:rPr>
              <a:t>Sn</a:t>
            </a:r>
            <a:r>
              <a:rPr lang="en-US" sz="1200" kern="1200" dirty="0">
                <a:solidFill>
                  <a:schemeClr val="tx1"/>
                </a:solidFill>
                <a:effectLst/>
                <a:latin typeface="+mn-lt"/>
                <a:ea typeface="+mn-ea"/>
                <a:cs typeface="+mn-cs"/>
              </a:rPr>
              <a:t>, we first mark all register values as </a:t>
            </a:r>
            <a:r>
              <a:rPr lang="en-US" sz="1200" i="1" kern="1200" dirty="0">
                <a:solidFill>
                  <a:schemeClr val="tx1"/>
                </a:solidFill>
                <a:effectLst/>
                <a:latin typeface="+mn-lt"/>
                <a:ea typeface="+mn-ea"/>
                <a:cs typeface="+mn-cs"/>
              </a:rPr>
              <a:t>unknown </a:t>
            </a:r>
            <a:r>
              <a:rPr lang="en-US" sz="1200" kern="1200" dirty="0">
                <a:solidFill>
                  <a:schemeClr val="tx1"/>
                </a:solidFill>
                <a:effectLst/>
                <a:latin typeface="+mn-lt"/>
                <a:ea typeface="+mn-ea"/>
                <a:cs typeface="+mn-cs"/>
              </a:rPr>
              <a:t>in program states from </a:t>
            </a:r>
            <a:r>
              <a:rPr lang="en-US" sz="1200" i="1"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0 to </a:t>
            </a:r>
            <a:r>
              <a:rPr lang="en-US" sz="1200" i="1" kern="1200" dirty="0">
                <a:solidFill>
                  <a:schemeClr val="tx1"/>
                </a:solidFill>
                <a:effectLst/>
                <a:latin typeface="+mn-lt"/>
                <a:ea typeface="+mn-ea"/>
                <a:cs typeface="+mn-cs"/>
              </a:rPr>
              <a:t>Sn</a:t>
            </a:r>
            <a:r>
              <a:rPr lang="en-US" sz="1200" kern="1200" dirty="0">
                <a:solidFill>
                  <a:schemeClr val="tx1"/>
                </a:solidFill>
                <a:effectLst/>
                <a:latin typeface="+mn-lt"/>
                <a:ea typeface="+mn-ea"/>
                <a:cs typeface="+mn-cs"/>
              </a:rPr>
              <a:t>−1. Then we do backward analysis to recover program states from </a:t>
            </a:r>
            <a:r>
              <a:rPr lang="en-US" sz="1200" i="1" kern="1200" dirty="0">
                <a:solidFill>
                  <a:schemeClr val="tx1"/>
                </a:solidFill>
                <a:effectLst/>
                <a:latin typeface="+mn-lt"/>
                <a:ea typeface="+mn-ea"/>
                <a:cs typeface="+mn-cs"/>
              </a:rPr>
              <a:t>Sn</a:t>
            </a:r>
            <a:r>
              <a:rPr lang="en-US" sz="1200" kern="1200" dirty="0">
                <a:solidFill>
                  <a:schemeClr val="tx1"/>
                </a:solidFill>
                <a:effectLst/>
                <a:latin typeface="+mn-lt"/>
                <a:ea typeface="+mn-ea"/>
                <a:cs typeface="+mn-cs"/>
              </a:rPr>
              <a:t>−1 to </a:t>
            </a:r>
            <a:r>
              <a:rPr lang="en-US" sz="1200" i="1"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0. After this step, we perform forward analysis to update program states from </a:t>
            </a:r>
            <a:r>
              <a:rPr lang="en-US" sz="1200" i="1"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0 to </a:t>
            </a:r>
            <a:r>
              <a:rPr lang="en-US" sz="1200" i="1" kern="1200" dirty="0">
                <a:solidFill>
                  <a:schemeClr val="tx1"/>
                </a:solidFill>
                <a:effectLst/>
                <a:latin typeface="+mn-lt"/>
                <a:ea typeface="+mn-ea"/>
                <a:cs typeface="+mn-cs"/>
              </a:rPr>
              <a:t>Sn</a:t>
            </a:r>
            <a:r>
              <a:rPr lang="en-US" sz="1200" kern="1200" dirty="0">
                <a:solidFill>
                  <a:schemeClr val="tx1"/>
                </a:solidFill>
                <a:effectLst/>
                <a:latin typeface="+mn-lt"/>
                <a:ea typeface="+mn-ea"/>
                <a:cs typeface="+mn-cs"/>
              </a:rPr>
              <a:t>−1.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repeat these steps until a </a:t>
            </a:r>
            <a:r>
              <a:rPr lang="en-US" sz="1200" i="1" kern="1200" dirty="0">
                <a:solidFill>
                  <a:schemeClr val="tx1"/>
                </a:solidFill>
                <a:effectLst/>
                <a:latin typeface="+mn-lt"/>
                <a:ea typeface="+mn-ea"/>
                <a:cs typeface="+mn-cs"/>
              </a:rPr>
              <a:t>fixed point </a:t>
            </a:r>
            <a:r>
              <a:rPr lang="en-US" sz="1200" kern="1200" dirty="0">
                <a:solidFill>
                  <a:schemeClr val="tx1"/>
                </a:solidFill>
                <a:effectLst/>
                <a:latin typeface="+mn-lt"/>
                <a:ea typeface="+mn-ea"/>
                <a:cs typeface="+mn-cs"/>
              </a:rPr>
              <a:t>is reached: i.e., no state is updated in a backward or forward analysis. When we update a program state, we only change a register’s value from unknown to an inferred value. Crucially, this analysis will not produce conflicting inferred values because all the initial values are correct and no step in the analysis can introduce a wrong value based on correct values. This also guarantees that the iterative analysis will converge.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13</a:t>
            </a:fld>
            <a:endParaRPr lang="en-US"/>
          </a:p>
        </p:txBody>
      </p:sp>
    </p:spTree>
    <p:extLst>
      <p:ext uri="{BB962C8B-B14F-4D97-AF65-F5344CB8AC3E}">
        <p14:creationId xmlns:p14="http://schemas.microsoft.com/office/powerpoint/2010/main" val="2795867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address of a memory access may not always be known. For a memory write instruction whose destination is unknown, we cannot correctly update the value for the destination memory. A missing update may introduce an obsolete value, which would negatively impact subsequent analysis. A conservative approach that marks all memory as unknown upon a missing memory write would lead to an unnecessary and unacceptable information loss.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iteration of the backward analysis, since we do not know </a:t>
            </a:r>
            <a:r>
              <a:rPr lang="en-US" sz="1200" kern="1200" dirty="0" err="1">
                <a:solidFill>
                  <a:schemeClr val="tx1"/>
                </a:solidFill>
                <a:effectLst/>
                <a:latin typeface="+mn-lt"/>
                <a:ea typeface="+mn-ea"/>
                <a:cs typeface="+mn-cs"/>
              </a:rPr>
              <a:t>rbx’s</a:t>
            </a:r>
            <a:r>
              <a:rPr lang="en-US" sz="1200" kern="1200" dirty="0">
                <a:solidFill>
                  <a:schemeClr val="tx1"/>
                </a:solidFill>
                <a:effectLst/>
                <a:latin typeface="+mn-lt"/>
                <a:ea typeface="+mn-ea"/>
                <a:cs typeface="+mn-cs"/>
              </a:rPr>
              <a:t> value in </a:t>
            </a:r>
            <a:r>
              <a:rPr lang="en-US" sz="1200" i="1"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4, we do not change the value at the ad- dress g. In the second iteration of the forward analysis, there is a conflict for </a:t>
            </a:r>
            <a:r>
              <a:rPr lang="en-US" sz="1200" kern="1200" dirty="0" err="1">
                <a:solidFill>
                  <a:schemeClr val="tx1"/>
                </a:solidFill>
                <a:effectLst/>
                <a:latin typeface="+mn-lt"/>
                <a:ea typeface="+mn-ea"/>
                <a:cs typeface="+mn-cs"/>
              </a:rPr>
              <a:t>rax</a:t>
            </a:r>
            <a:r>
              <a:rPr lang="en-US" sz="1200" kern="1200" dirty="0">
                <a:solidFill>
                  <a:schemeClr val="tx1"/>
                </a:solidFill>
                <a:effectLst/>
                <a:latin typeface="+mn-lt"/>
                <a:ea typeface="+mn-ea"/>
                <a:cs typeface="+mn-cs"/>
              </a:rPr>
              <a:t> in </a:t>
            </a:r>
            <a:r>
              <a:rPr lang="en-US" sz="1200" i="1"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3. The original value is 3, but the newly inferred value would be 4 (</a:t>
            </a:r>
            <a:r>
              <a:rPr lang="en-US" sz="1200" kern="1200" dirty="0" err="1">
                <a:solidFill>
                  <a:schemeClr val="tx1"/>
                </a:solidFill>
                <a:effectLst/>
                <a:latin typeface="+mn-lt"/>
                <a:ea typeface="+mn-ea"/>
                <a:cs typeface="+mn-cs"/>
              </a:rPr>
              <a:t>rax</a:t>
            </a:r>
            <a:r>
              <a:rPr lang="en-US" sz="1200" kern="1200" dirty="0">
                <a:solidFill>
                  <a:schemeClr val="tx1"/>
                </a:solidFill>
                <a:effectLst/>
                <a:latin typeface="+mn-lt"/>
                <a:ea typeface="+mn-ea"/>
                <a:cs typeface="+mn-cs"/>
              </a:rPr>
              <a:t> + [g] = 1 + 3 = 4). Our analysis keeps the original value of 3 because it was inferred from the final program state which we assume is correct. In the third iteration of the back- ward analysis, based on </a:t>
            </a:r>
            <a:r>
              <a:rPr lang="en-US" sz="1200" kern="1200" dirty="0" err="1">
                <a:solidFill>
                  <a:schemeClr val="tx1"/>
                </a:solidFill>
                <a:effectLst/>
                <a:latin typeface="+mn-lt"/>
                <a:ea typeface="+mn-ea"/>
                <a:cs typeface="+mn-cs"/>
              </a:rPr>
              <a:t>rax’s</a:t>
            </a:r>
            <a:r>
              <a:rPr lang="en-US" sz="1200" kern="1200" dirty="0">
                <a:solidFill>
                  <a:schemeClr val="tx1"/>
                </a:solidFill>
                <a:effectLst/>
                <a:latin typeface="+mn-lt"/>
                <a:ea typeface="+mn-ea"/>
                <a:cs typeface="+mn-cs"/>
              </a:rPr>
              <a:t> value before and after the instruction </a:t>
            </a:r>
            <a:r>
              <a:rPr lang="en-US" sz="1200" i="1" kern="1200" dirty="0">
                <a:solidFill>
                  <a:schemeClr val="tx1"/>
                </a:solidFill>
                <a:effectLst/>
                <a:latin typeface="+mn-lt"/>
                <a:ea typeface="+mn-ea"/>
                <a:cs typeface="+mn-cs"/>
              </a:rPr>
              <a:t>I</a:t>
            </a:r>
            <a:r>
              <a:rPr lang="en-US" sz="1200" kern="1200" dirty="0">
                <a:solidFill>
                  <a:schemeClr val="tx1"/>
                </a:solidFill>
                <a:effectLst/>
                <a:latin typeface="+mn-lt"/>
                <a:ea typeface="+mn-ea"/>
                <a:cs typeface="+mn-cs"/>
              </a:rPr>
              <a:t>3, we can recover [g]’s value to be 2. </a:t>
            </a: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14</a:t>
            </a:fld>
            <a:endParaRPr lang="en-US"/>
          </a:p>
        </p:txBody>
      </p:sp>
    </p:spTree>
    <p:extLst>
      <p:ext uri="{BB962C8B-B14F-4D97-AF65-F5344CB8AC3E}">
        <p14:creationId xmlns:p14="http://schemas.microsoft.com/office/powerpoint/2010/main" val="3159508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example, we use </a:t>
            </a:r>
            <a:r>
              <a:rPr lang="en-US" sz="1200" kern="1200" dirty="0" err="1">
                <a:solidFill>
                  <a:schemeClr val="tx1"/>
                </a:solidFill>
                <a:effectLst/>
                <a:latin typeface="+mn-lt"/>
                <a:ea typeface="+mn-ea"/>
                <a:cs typeface="+mn-cs"/>
              </a:rPr>
              <a:t>rcx</a:t>
            </a:r>
            <a:r>
              <a:rPr lang="en-US" sz="1200" kern="1200" dirty="0">
                <a:solidFill>
                  <a:schemeClr val="tx1"/>
                </a:solidFill>
                <a:effectLst/>
                <a:latin typeface="+mn-lt"/>
                <a:ea typeface="+mn-ea"/>
                <a:cs typeface="+mn-cs"/>
              </a:rPr>
              <a:t> to recover [</a:t>
            </a:r>
            <a:r>
              <a:rPr lang="en-US" sz="1200" kern="1200" dirty="0" err="1">
                <a:solidFill>
                  <a:schemeClr val="tx1"/>
                </a:solidFill>
                <a:effectLst/>
                <a:latin typeface="+mn-lt"/>
                <a:ea typeface="+mn-ea"/>
                <a:cs typeface="+mn-cs"/>
              </a:rPr>
              <a:t>rax</a:t>
            </a:r>
            <a:r>
              <a:rPr lang="en-US" sz="1200" kern="1200" dirty="0">
                <a:solidFill>
                  <a:schemeClr val="tx1"/>
                </a:solidFill>
                <a:effectLst/>
                <a:latin typeface="+mn-lt"/>
                <a:ea typeface="+mn-ea"/>
                <a:cs typeface="+mn-cs"/>
              </a:rPr>
              <a:t>], and then use the latter to recover </a:t>
            </a:r>
            <a:r>
              <a:rPr lang="en-US" sz="1200" kern="1200" dirty="0" err="1">
                <a:solidFill>
                  <a:schemeClr val="tx1"/>
                </a:solidFill>
                <a:effectLst/>
                <a:latin typeface="+mn-lt"/>
                <a:ea typeface="+mn-ea"/>
                <a:cs typeface="+mn-cs"/>
              </a:rPr>
              <a:t>rbx</a:t>
            </a:r>
            <a:r>
              <a:rPr lang="en-US" sz="1200" kern="1200" dirty="0">
                <a:solidFill>
                  <a:schemeClr val="tx1"/>
                </a:solidFill>
                <a:effectLst/>
                <a:latin typeface="+mn-lt"/>
                <a:ea typeface="+mn-ea"/>
                <a:cs typeface="+mn-cs"/>
              </a:rPr>
              <a:t>. Here we assume that </a:t>
            </a:r>
            <a:r>
              <a:rPr lang="en-US" sz="1200" kern="1200" dirty="0" err="1">
                <a:solidFill>
                  <a:schemeClr val="tx1"/>
                </a:solidFill>
                <a:effectLst/>
                <a:latin typeface="+mn-lt"/>
                <a:ea typeface="+mn-ea"/>
                <a:cs typeface="+mn-cs"/>
              </a:rPr>
              <a:t>rax’s</a:t>
            </a:r>
            <a:r>
              <a:rPr lang="en-US" sz="1200" kern="1200" dirty="0">
                <a:solidFill>
                  <a:schemeClr val="tx1"/>
                </a:solidFill>
                <a:effectLst/>
                <a:latin typeface="+mn-lt"/>
                <a:ea typeface="+mn-ea"/>
                <a:cs typeface="+mn-cs"/>
              </a:rPr>
              <a:t> value is not changed between </a:t>
            </a:r>
            <a:r>
              <a:rPr lang="en-US" sz="1200" i="1" kern="1200" dirty="0">
                <a:solidFill>
                  <a:schemeClr val="tx1"/>
                </a:solidFill>
                <a:effectLst/>
                <a:latin typeface="+mn-lt"/>
                <a:ea typeface="+mn-ea"/>
                <a:cs typeface="+mn-cs"/>
              </a:rPr>
              <a:t>I</a:t>
            </a:r>
            <a:r>
              <a:rPr lang="en-US" sz="1200" kern="1200" dirty="0">
                <a:solidFill>
                  <a:schemeClr val="tx1"/>
                </a:solidFill>
                <a:effectLst/>
                <a:latin typeface="+mn-lt"/>
                <a:ea typeface="+mn-ea"/>
                <a:cs typeface="+mn-cs"/>
              </a:rPr>
              <a:t>1 and </a:t>
            </a:r>
            <a:r>
              <a:rPr lang="en-US" sz="1200" i="1" kern="1200" dirty="0">
                <a:solidFill>
                  <a:schemeClr val="tx1"/>
                </a:solidFill>
                <a:effectLst/>
                <a:latin typeface="+mn-lt"/>
                <a:ea typeface="+mn-ea"/>
                <a:cs typeface="+mn-cs"/>
              </a:rPr>
              <a:t>In</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node in the data inference graph represents a register or a memory location that is accessed in an executed instruction. A node is called a </a:t>
            </a:r>
            <a:r>
              <a:rPr lang="en-US" sz="1200" i="1" kern="1200" dirty="0">
                <a:solidFill>
                  <a:schemeClr val="tx1"/>
                </a:solidFill>
                <a:effectLst/>
                <a:latin typeface="+mn-lt"/>
                <a:ea typeface="+mn-ea"/>
                <a:cs typeface="+mn-cs"/>
              </a:rPr>
              <a:t>use </a:t>
            </a:r>
            <a:r>
              <a:rPr lang="en-US" sz="1200" kern="1200" dirty="0">
                <a:solidFill>
                  <a:schemeClr val="tx1"/>
                </a:solidFill>
                <a:effectLst/>
                <a:latin typeface="+mn-lt"/>
                <a:ea typeface="+mn-ea"/>
                <a:cs typeface="+mn-cs"/>
              </a:rPr>
              <a:t>node if it’s corresponding register or memory location is for read. Similarly, a node is called a </a:t>
            </a:r>
            <a:r>
              <a:rPr lang="en-US" sz="1200" i="1" kern="1200" dirty="0">
                <a:solidFill>
                  <a:schemeClr val="tx1"/>
                </a:solidFill>
                <a:effectLst/>
                <a:latin typeface="+mn-lt"/>
                <a:ea typeface="+mn-ea"/>
                <a:cs typeface="+mn-cs"/>
              </a:rPr>
              <a:t>def </a:t>
            </a:r>
            <a:r>
              <a:rPr lang="en-US" sz="1200" kern="1200" dirty="0">
                <a:solidFill>
                  <a:schemeClr val="tx1"/>
                </a:solidFill>
                <a:effectLst/>
                <a:latin typeface="+mn-lt"/>
                <a:ea typeface="+mn-ea"/>
                <a:cs typeface="+mn-cs"/>
              </a:rPr>
              <a:t>node if it is for write. For instance, rbx@</a:t>
            </a:r>
            <a:r>
              <a:rPr lang="en-US" sz="1200" i="1" kern="1200" dirty="0">
                <a:solidFill>
                  <a:schemeClr val="tx1"/>
                </a:solidFill>
                <a:effectLst/>
                <a:latin typeface="+mn-lt"/>
                <a:ea typeface="+mn-ea"/>
                <a:cs typeface="+mn-cs"/>
              </a:rPr>
              <a:t>I</a:t>
            </a:r>
            <a:r>
              <a:rPr lang="en-US" sz="1200" kern="1200" dirty="0">
                <a:solidFill>
                  <a:schemeClr val="tx1"/>
                </a:solidFill>
                <a:effectLst/>
                <a:latin typeface="+mn-lt"/>
                <a:ea typeface="+mn-ea"/>
                <a:cs typeface="+mn-cs"/>
              </a:rPr>
              <a:t>1 is a use node, and </a:t>
            </a:r>
            <a:r>
              <a:rPr lang="en-US" sz="1200" kern="1200" dirty="0" err="1">
                <a:solidFill>
                  <a:schemeClr val="tx1"/>
                </a:solidFill>
                <a:effectLst/>
                <a:latin typeface="+mn-lt"/>
                <a:ea typeface="+mn-ea"/>
                <a:cs typeface="+mn-cs"/>
              </a:rPr>
              <a:t>rcx@</a:t>
            </a:r>
            <a:r>
              <a:rPr lang="en-US" sz="1200" i="1" kern="1200" dirty="0" err="1">
                <a:solidFill>
                  <a:schemeClr val="tx1"/>
                </a:solidFill>
                <a:effectLst/>
                <a:latin typeface="+mn-lt"/>
                <a:ea typeface="+mn-ea"/>
                <a:cs typeface="+mn-cs"/>
              </a:rPr>
              <a:t>In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is a def node.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Finally, REPT treats data in the memory dump as use nodes because their values can be propagated backwards like other use nodes.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REPT detects a conflict, it stops the analysis of the current instruction, identifies the invalid node, then runs the invalidation process. For both types of conflicts, the invalidation process starts with an initial node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kern="1200" dirty="0">
                <a:solidFill>
                  <a:schemeClr val="tx1"/>
                </a:solidFill>
                <a:effectLst/>
                <a:latin typeface="+mn-lt"/>
                <a:ea typeface="+mn-ea"/>
                <a:cs typeface="+mn-cs"/>
              </a:rPr>
              <a:t>If REPT identifies an initial node for invalidation, it first processes each of its outgoing value and address edges. For a value edge, the target node is marked as unknown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maintains a </a:t>
            </a:r>
            <a:r>
              <a:rPr lang="en-US" sz="1200" i="1" kern="1200" dirty="0">
                <a:solidFill>
                  <a:schemeClr val="tx1"/>
                </a:solidFill>
                <a:effectLst/>
                <a:latin typeface="+mn-lt"/>
                <a:ea typeface="+mn-ea"/>
                <a:cs typeface="+mn-cs"/>
              </a:rPr>
              <a:t>blacklist </a:t>
            </a:r>
            <a:r>
              <a:rPr lang="en-US" sz="1200" kern="1200" dirty="0">
                <a:solidFill>
                  <a:schemeClr val="tx1"/>
                </a:solidFill>
                <a:effectLst/>
                <a:latin typeface="+mn-lt"/>
                <a:ea typeface="+mn-ea"/>
                <a:cs typeface="+mn-cs"/>
              </a:rPr>
              <a:t>of invalidated values for each node. Every time a node is invalidated; its value is added to its blacklist. Once a value is in a node’s blacklist, the node cannot take that value anymore. This ensures that the iterative analysis process will not enter the conflicting state again and consequently guarantees that the algorithm will eventually converge.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blacklists to prioritize the convergence of the analysis over the improvement in data recovery.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15</a:t>
            </a:fld>
            <a:endParaRPr lang="en-US"/>
          </a:p>
        </p:txBody>
      </p:sp>
    </p:spTree>
    <p:extLst>
      <p:ext uri="{BB962C8B-B14F-4D97-AF65-F5344CB8AC3E}">
        <p14:creationId xmlns:p14="http://schemas.microsoft.com/office/powerpoint/2010/main" val="2111086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timestamps inserted in an instruction sequence, we refer to the instructions between two timestamps as an instruction </a:t>
            </a:r>
            <a:r>
              <a:rPr lang="en-US" sz="1200" i="1" kern="1200" dirty="0">
                <a:solidFill>
                  <a:schemeClr val="tx1"/>
                </a:solidFill>
                <a:effectLst/>
                <a:latin typeface="+mn-lt"/>
                <a:ea typeface="+mn-ea"/>
                <a:cs typeface="+mn-cs"/>
              </a:rPr>
              <a:t>subsequence</a:t>
            </a:r>
            <a:r>
              <a:rPr lang="en-US" sz="1200" kern="1200" dirty="0">
                <a:solidFill>
                  <a:schemeClr val="tx1"/>
                </a:solidFill>
                <a:effectLst/>
                <a:latin typeface="+mn-lt"/>
                <a:ea typeface="+mn-ea"/>
                <a:cs typeface="+mn-cs"/>
              </a:rPr>
              <a:t>. We refer to the two times- tamps as the start and end time of the subsequence.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one subsequence’s end time is before another subsequence’s start time, we say the first subsequence is executed </a:t>
            </a:r>
            <a:r>
              <a:rPr lang="en-US" sz="1200" i="1" kern="1200" dirty="0">
                <a:solidFill>
                  <a:schemeClr val="tx1"/>
                </a:solidFill>
                <a:effectLst/>
                <a:latin typeface="+mn-lt"/>
                <a:ea typeface="+mn-ea"/>
                <a:cs typeface="+mn-cs"/>
              </a:rPr>
              <a:t>before </a:t>
            </a:r>
            <a:r>
              <a:rPr lang="en-US" sz="1200" kern="1200" dirty="0">
                <a:solidFill>
                  <a:schemeClr val="tx1"/>
                </a:solidFill>
                <a:effectLst/>
                <a:latin typeface="+mn-lt"/>
                <a:ea typeface="+mn-ea"/>
                <a:cs typeface="+mn-cs"/>
              </a:rPr>
              <a:t>the other subsequence. Otherwise, we say their order cannot be inferred, and the two subsequences are </a:t>
            </a:r>
            <a:r>
              <a:rPr lang="en-US" sz="1200" i="1" kern="1200" dirty="0">
                <a:solidFill>
                  <a:schemeClr val="tx1"/>
                </a:solidFill>
                <a:effectLst/>
                <a:latin typeface="+mn-lt"/>
                <a:ea typeface="+mn-ea"/>
                <a:cs typeface="+mn-cs"/>
              </a:rPr>
              <a:t>concurrent. </a:t>
            </a:r>
            <a:r>
              <a:rPr lang="en-US" sz="1200" kern="1200" dirty="0">
                <a:solidFill>
                  <a:schemeClr val="tx1"/>
                </a:solidFill>
                <a:effectLst/>
                <a:latin typeface="+mn-lt"/>
                <a:ea typeface="+mn-ea"/>
                <a:cs typeface="+mn-cs"/>
              </a:rPr>
              <a:t>the order of two subsequences in the same instruction sequence can always be determined based on their positions in the instruction sequence.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Given multiple instruction sequences executed simultaneously on multiple cores, REPT first divides them into subsequences, then merges them into a </a:t>
            </a:r>
            <a:r>
              <a:rPr lang="en-US" sz="1200" i="1" kern="1200" dirty="0">
                <a:solidFill>
                  <a:schemeClr val="tx1"/>
                </a:solidFill>
                <a:effectLst/>
                <a:latin typeface="+mn-lt"/>
                <a:ea typeface="+mn-ea"/>
                <a:cs typeface="+mn-cs"/>
              </a:rPr>
              <a:t>single conceptual </a:t>
            </a:r>
            <a:r>
              <a:rPr lang="en-US" sz="1200" kern="1200" dirty="0">
                <a:solidFill>
                  <a:schemeClr val="tx1"/>
                </a:solidFill>
                <a:effectLst/>
                <a:latin typeface="+mn-lt"/>
                <a:ea typeface="+mn-ea"/>
                <a:cs typeface="+mn-cs"/>
              </a:rPr>
              <a:t>instruction sequence based on the inferred orders. REPT arbitrarily inserts one before the other in the newly con- structed sequence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natural question is whether the data recovery is affected by this arbitrary choice of ordering two concurrent subsequences.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change the order of two subsequences that have concurrent mem- </a:t>
            </a:r>
            <a:r>
              <a:rPr lang="en-US" sz="1200" kern="1200" dirty="0" err="1">
                <a:solidFill>
                  <a:schemeClr val="tx1"/>
                </a:solidFill>
                <a:effectLst/>
                <a:latin typeface="+mn-lt"/>
                <a:ea typeface="+mn-ea"/>
                <a:cs typeface="+mn-cs"/>
              </a:rPr>
              <a:t>ory</a:t>
            </a:r>
            <a:r>
              <a:rPr lang="en-US" sz="1200" kern="1200" dirty="0">
                <a:solidFill>
                  <a:schemeClr val="tx1"/>
                </a:solidFill>
                <a:effectLst/>
                <a:latin typeface="+mn-lt"/>
                <a:ea typeface="+mn-ea"/>
                <a:cs typeface="+mn-cs"/>
              </a:rPr>
              <a:t> accesses to the same location and one of them is write, we may get different values for the memory location.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places them into the merged instruction sequence.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detects if it has a concurrent memory write to the same location. If so, REPT takes the following steps to limit the use of the memory access in the data inference graph. First, REPT removes all vertical edges of the node representing the memory access and invalidates the target nodes of outgoing vertical edges. Then, REPT labels the memory access node so that it will not be used in vertical edges. This is because REPT does not know if the memory access happens before or after the concurrent memory write to the same location. However, REPT still allows horizontal value edges to infer this node’s value.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picking an arbitrary order for concurrent instruction subsequences would affect the detection of concurrent memory writes to the same location.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REPT’s analysis works if there are no two separate concurrent writes such that one affects the inference of another’s destination.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remaining question is whether picking an arbitrary order for concurrent instruction subsequences would </a:t>
            </a:r>
            <a:r>
              <a:rPr lang="en-US" sz="1200" kern="1200" dirty="0" err="1">
                <a:solidFill>
                  <a:schemeClr val="tx1"/>
                </a:solidFill>
                <a:effectLst/>
                <a:latin typeface="+mn-lt"/>
                <a:ea typeface="+mn-ea"/>
                <a:cs typeface="+mn-cs"/>
              </a:rPr>
              <a:t>af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fect</a:t>
            </a:r>
            <a:r>
              <a:rPr lang="en-US" sz="1200" kern="1200" dirty="0">
                <a:solidFill>
                  <a:schemeClr val="tx1"/>
                </a:solidFill>
                <a:effectLst/>
                <a:latin typeface="+mn-lt"/>
                <a:ea typeface="+mn-ea"/>
                <a:cs typeface="+mn-cs"/>
              </a:rPr>
              <a:t> the detection of concurrent memory writes to the same location.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REPT’s analysis works as long as there are no two separate concurrent writes such that one affects the inference of another’s destination. We acknowledge that this possibility exists and depends on the granularity of timing information. Given the timestamp granularity supported by modern hardware, we deem this as a rare case in practice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16</a:t>
            </a:fld>
            <a:endParaRPr lang="en-US"/>
          </a:p>
        </p:txBody>
      </p:sp>
    </p:spTree>
    <p:extLst>
      <p:ext uri="{BB962C8B-B14F-4D97-AF65-F5344CB8AC3E}">
        <p14:creationId xmlns:p14="http://schemas.microsoft.com/office/powerpoint/2010/main" val="3372050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a conditional branch is executed only if a register’s value is 0, then REPT can infer the register’s value once it observes that the branch is taken. </a:t>
            </a: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17</a:t>
            </a:fld>
            <a:endParaRPr lang="en-US"/>
          </a:p>
        </p:txBody>
      </p:sp>
    </p:spTree>
    <p:extLst>
      <p:ext uri="{BB962C8B-B14F-4D97-AF65-F5344CB8AC3E}">
        <p14:creationId xmlns:p14="http://schemas.microsoft.com/office/powerpoint/2010/main" val="122290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do not evaluate Chrome-776677 or LibreOffice-88914 because REPT does not work for them </a:t>
            </a: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does not work for Chrome-776677 because the collected trace contains in-place code update for </a:t>
            </a:r>
            <a:r>
              <a:rPr lang="en-US" sz="1200" kern="1200" dirty="0" err="1">
                <a:solidFill>
                  <a:schemeClr val="tx1"/>
                </a:solidFill>
                <a:effectLst/>
                <a:latin typeface="+mn-lt"/>
                <a:ea typeface="+mn-ea"/>
                <a:cs typeface="+mn-cs"/>
              </a:rPr>
              <a:t>jitted</a:t>
            </a:r>
            <a:r>
              <a:rPr lang="en-US" sz="1200" kern="1200" dirty="0">
                <a:solidFill>
                  <a:schemeClr val="tx1"/>
                </a:solidFill>
                <a:effectLst/>
                <a:latin typeface="+mn-lt"/>
                <a:ea typeface="+mn-ea"/>
                <a:cs typeface="+mn-cs"/>
              </a:rPr>
              <a:t> code, which fails Intel PT trace parsing. REPT does not work for LibreOffice-88914, because this is a deadlock bug that triggers an infinite loop, which easily fills up the circular trace buffer and causes the program execution history before the loop to be lost. </a:t>
            </a: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18</a:t>
            </a:fld>
            <a:endParaRPr lang="en-US"/>
          </a:p>
        </p:txBody>
      </p:sp>
    </p:spTree>
    <p:extLst>
      <p:ext uri="{BB962C8B-B14F-4D97-AF65-F5344CB8AC3E}">
        <p14:creationId xmlns:p14="http://schemas.microsoft.com/office/powerpoint/2010/main" val="1806934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How accurately can REPT recover data values? </a:t>
            </a:r>
          </a:p>
          <a:p>
            <a:r>
              <a:rPr lang="en-US" dirty="0"/>
              <a:t>(2) How efficiently can REPT recover data values? </a:t>
            </a:r>
          </a:p>
          <a:p>
            <a:r>
              <a:rPr lang="en-US" dirty="0"/>
              <a:t>(3) How effectively can REPT be used to debug failures? </a:t>
            </a:r>
          </a:p>
          <a:p>
            <a:r>
              <a:rPr lang="en-US" dirty="0"/>
              <a:t>(4) What is the deployment status? </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can see that REPT achieves a high accuracy. In most cases, the percentage of correct register uses is above 90% for tens of thousands of instructions;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Unfortunately, memory </a:t>
            </a:r>
            <a:r>
              <a:rPr lang="en-US" sz="1200" kern="1200" dirty="0" err="1">
                <a:solidFill>
                  <a:schemeClr val="tx1"/>
                </a:solidFill>
                <a:effectLst/>
                <a:latin typeface="+mn-lt"/>
                <a:ea typeface="+mn-ea"/>
                <a:cs typeface="+mn-cs"/>
              </a:rPr>
              <a:t>alloca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a:t>
            </a:r>
            <a:r>
              <a:rPr lang="en-US" sz="1200" kern="1200" dirty="0">
                <a:solidFill>
                  <a:schemeClr val="tx1"/>
                </a:solidFill>
                <a:effectLst/>
                <a:latin typeface="+mn-lt"/>
                <a:ea typeface="+mn-ea"/>
                <a:cs typeface="+mn-cs"/>
              </a:rPr>
              <a:t> operations are hard to reverse because the metadata information (i.e., chunk sizes) may be completely over- written by reallocations, resulting in a large percentage of unknowns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Overall, the accuracy decreases as the number of instructions increases, and the rate of decrease depends on the program and the workload.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we compare the data values, we only check </a:t>
            </a:r>
            <a:r>
              <a:rPr lang="en-US" sz="1200" i="1" kern="1200" dirty="0">
                <a:solidFill>
                  <a:schemeClr val="tx1"/>
                </a:solidFill>
                <a:effectLst/>
                <a:latin typeface="+mn-lt"/>
                <a:ea typeface="+mn-ea"/>
                <a:cs typeface="+mn-cs"/>
              </a:rPr>
              <a:t>register uses </a:t>
            </a:r>
            <a:r>
              <a:rPr lang="en-US" sz="1200" kern="1200" dirty="0">
                <a:solidFill>
                  <a:schemeClr val="tx1"/>
                </a:solidFill>
                <a:effectLst/>
                <a:latin typeface="+mn-lt"/>
                <a:ea typeface="+mn-ea"/>
                <a:cs typeface="+mn-cs"/>
              </a:rPr>
              <a:t>(i.e., a register used as a source operand or the address of a destination memory operand). We do not check </a:t>
            </a:r>
            <a:r>
              <a:rPr lang="en-US" sz="1200" i="1" kern="1200" dirty="0" err="1">
                <a:solidFill>
                  <a:schemeClr val="tx1"/>
                </a:solidFill>
                <a:effectLst/>
                <a:latin typeface="+mn-lt"/>
                <a:ea typeface="+mn-ea"/>
                <a:cs typeface="+mn-cs"/>
              </a:rPr>
              <a:t>defs</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(i.e., a destination operand) because we want to avoid double counting.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computing the data recovery accuracy, we do not need to count both. We do not check </a:t>
            </a:r>
            <a:r>
              <a:rPr lang="en-US" sz="1200" i="1" kern="1200" dirty="0">
                <a:solidFill>
                  <a:schemeClr val="tx1"/>
                </a:solidFill>
                <a:effectLst/>
                <a:latin typeface="+mn-lt"/>
                <a:ea typeface="+mn-ea"/>
                <a:cs typeface="+mn-cs"/>
              </a:rPr>
              <a:t>memory uses </a:t>
            </a:r>
            <a:r>
              <a:rPr lang="en-US" sz="1200" kern="1200" dirty="0">
                <a:solidFill>
                  <a:schemeClr val="tx1"/>
                </a:solidFill>
                <a:effectLst/>
                <a:latin typeface="+mn-lt"/>
                <a:ea typeface="+mn-ea"/>
                <a:cs typeface="+mn-cs"/>
              </a:rPr>
              <a:t>(i.e., a memory used as a source operand) because memory values are usually read into registers before they take on any operations.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TTD supports record and replay of multithreaded programs running on multiple cores by logging timestamps at each system call and synchronization operation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the reverse debugging enabled by REPT, the developer is able to step through the function based on the reconstructed execution his- tory and quickly find out the root cause and fix the bug. In summary, a two-year-old bug was fixed in just a few minutes thanks to REPT.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19</a:t>
            </a:fld>
            <a:endParaRPr lang="en-US"/>
          </a:p>
        </p:txBody>
      </p:sp>
    </p:spTree>
    <p:extLst>
      <p:ext uri="{BB962C8B-B14F-4D97-AF65-F5344CB8AC3E}">
        <p14:creationId xmlns:p14="http://schemas.microsoft.com/office/powerpoint/2010/main" val="96431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cannot simply use a large circular trace buffer to solve this problem because the data recovery accuracy decreases when the trace size increases. </a:t>
            </a:r>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currently does not capture any data during a program’s execution. To fundamentally solve these two limitations, we will need to log more data than just the memory dump.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current implementation of REPT only supports reverse debugging of user-mode executions.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challenge is that the data recovery of REPT is not perfect, so the research question is how to perform automatic root cause analysis based on the imperfect information provided by REPT.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has been focused on software running on a single machine. When developers debug distributed systems, they usually rely on event logging.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REPT has not been able to apply  to mobile applications because there is no efficient hardware tracing like Intel PT available on mobile devices.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73942706-CB5B-D446-8070-5D55AE41EE67}" type="slidenum">
              <a:rPr lang="en-US" smtClean="0"/>
              <a:t>20</a:t>
            </a:fld>
            <a:endParaRPr lang="en-US"/>
          </a:p>
        </p:txBody>
      </p:sp>
    </p:spTree>
    <p:extLst>
      <p:ext uri="{BB962C8B-B14F-4D97-AF65-F5344CB8AC3E}">
        <p14:creationId xmlns:p14="http://schemas.microsoft.com/office/powerpoint/2010/main" val="8807367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3/20/2020</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DD3E-7429-A447-9602-8972D862BFF6}"/>
              </a:ext>
            </a:extLst>
          </p:cNvPr>
          <p:cNvSpPr>
            <a:spLocks noGrp="1"/>
          </p:cNvSpPr>
          <p:nvPr>
            <p:ph type="ctrTitle"/>
          </p:nvPr>
        </p:nvSpPr>
        <p:spPr/>
        <p:txBody>
          <a:bodyPr>
            <a:normAutofit fontScale="90000"/>
          </a:bodyPr>
          <a:lstStyle/>
          <a:p>
            <a:r>
              <a:rPr lang="en-US" b="1" dirty="0"/>
              <a:t>REPT: Reverse Debugging of Failures in Deployed Software </a:t>
            </a:r>
            <a:br>
              <a:rPr lang="en-US" dirty="0"/>
            </a:br>
            <a:endParaRPr lang="en-US" dirty="0"/>
          </a:p>
        </p:txBody>
      </p:sp>
      <p:sp>
        <p:nvSpPr>
          <p:cNvPr id="3" name="Subtitle 2">
            <a:extLst>
              <a:ext uri="{FF2B5EF4-FFF2-40B4-BE49-F238E27FC236}">
                <a16:creationId xmlns:a16="http://schemas.microsoft.com/office/drawing/2014/main" id="{3452B1F9-9BE3-DF43-B06D-290B9E016BFB}"/>
              </a:ext>
            </a:extLst>
          </p:cNvPr>
          <p:cNvSpPr>
            <a:spLocks noGrp="1"/>
          </p:cNvSpPr>
          <p:nvPr>
            <p:ph type="subTitle" idx="1"/>
          </p:nvPr>
        </p:nvSpPr>
        <p:spPr/>
        <p:txBody>
          <a:bodyPr/>
          <a:lstStyle/>
          <a:p>
            <a:r>
              <a:rPr lang="en-US" dirty="0"/>
              <a:t>Zach alaniz</a:t>
            </a:r>
          </a:p>
          <a:p>
            <a:r>
              <a:rPr lang="en-US" dirty="0"/>
              <a:t>cs-5352</a:t>
            </a:r>
          </a:p>
          <a:p>
            <a:r>
              <a:rPr lang="en-US" dirty="0"/>
              <a:t>Advance operating systems</a:t>
            </a:r>
          </a:p>
        </p:txBody>
      </p:sp>
    </p:spTree>
    <p:extLst>
      <p:ext uri="{BB962C8B-B14F-4D97-AF65-F5344CB8AC3E}">
        <p14:creationId xmlns:p14="http://schemas.microsoft.com/office/powerpoint/2010/main" val="3080070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71C5B-3134-4A47-84A1-F5D8BB96A2B8}"/>
              </a:ext>
            </a:extLst>
          </p:cNvPr>
          <p:cNvSpPr>
            <a:spLocks noGrp="1"/>
          </p:cNvSpPr>
          <p:nvPr>
            <p:ph type="title"/>
          </p:nvPr>
        </p:nvSpPr>
        <p:spPr/>
        <p:txBody>
          <a:bodyPr/>
          <a:lstStyle/>
          <a:p>
            <a:r>
              <a:rPr lang="en-US" dirty="0"/>
              <a:t>Debugging/Software failures</a:t>
            </a:r>
          </a:p>
        </p:txBody>
      </p:sp>
      <p:sp>
        <p:nvSpPr>
          <p:cNvPr id="3" name="Content Placeholder 2">
            <a:extLst>
              <a:ext uri="{FF2B5EF4-FFF2-40B4-BE49-F238E27FC236}">
                <a16:creationId xmlns:a16="http://schemas.microsoft.com/office/drawing/2014/main" id="{AAD658BF-F907-F844-82F1-232C177C24E6}"/>
              </a:ext>
            </a:extLst>
          </p:cNvPr>
          <p:cNvSpPr>
            <a:spLocks noGrp="1"/>
          </p:cNvSpPr>
          <p:nvPr>
            <p:ph idx="1"/>
          </p:nvPr>
        </p:nvSpPr>
        <p:spPr>
          <a:xfrm>
            <a:off x="685801" y="2142067"/>
            <a:ext cx="10131425" cy="2650067"/>
          </a:xfrm>
        </p:spPr>
        <p:txBody>
          <a:bodyPr>
            <a:normAutofit/>
          </a:bodyPr>
          <a:lstStyle/>
          <a:p>
            <a:r>
              <a:rPr lang="en-US" dirty="0"/>
              <a:t>Software failures and debugging can be crucial. This can effect customers and actual users. </a:t>
            </a:r>
          </a:p>
          <a:p>
            <a:r>
              <a:rPr lang="en-US" dirty="0"/>
              <a:t>Execution logs can be helpful but is it worth the cost for high performance overhead? Most overheads will log and trace but neglect the normal runs. </a:t>
            </a:r>
          </a:p>
          <a:p>
            <a:r>
              <a:rPr lang="en-US" dirty="0"/>
              <a:t>Where does that leave the developer then? Well memory dumps can capture most failures. However, debugging memory dumps can provide limitations on information and can leave bugs unfixed. </a:t>
            </a:r>
          </a:p>
          <a:p>
            <a:r>
              <a:rPr lang="en-US" dirty="0"/>
              <a:t>There needs to be a broader sense of debugging. Atlas, two categories that are found is Automatic Root Cause Diagnosis (ARCD) and Failure of Reproduction (FR).</a:t>
            </a:r>
          </a:p>
        </p:txBody>
      </p:sp>
    </p:spTree>
    <p:extLst>
      <p:ext uri="{BB962C8B-B14F-4D97-AF65-F5344CB8AC3E}">
        <p14:creationId xmlns:p14="http://schemas.microsoft.com/office/powerpoint/2010/main" val="94329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85A2-25F2-6F41-A005-B40E3B71EC0F}"/>
              </a:ext>
            </a:extLst>
          </p:cNvPr>
          <p:cNvSpPr>
            <a:spLocks noGrp="1"/>
          </p:cNvSpPr>
          <p:nvPr>
            <p:ph type="title"/>
          </p:nvPr>
        </p:nvSpPr>
        <p:spPr/>
        <p:txBody>
          <a:bodyPr/>
          <a:lstStyle/>
          <a:p>
            <a:r>
              <a:rPr lang="en-US" dirty="0"/>
              <a:t>Automatic Root cause diagnosis / failure reproduction</a:t>
            </a:r>
          </a:p>
        </p:txBody>
      </p:sp>
      <p:sp>
        <p:nvSpPr>
          <p:cNvPr id="3" name="Content Placeholder 2">
            <a:extLst>
              <a:ext uri="{FF2B5EF4-FFF2-40B4-BE49-F238E27FC236}">
                <a16:creationId xmlns:a16="http://schemas.microsoft.com/office/drawing/2014/main" id="{D77AA1EB-7107-8F49-B547-AB5CF875ADCF}"/>
              </a:ext>
            </a:extLst>
          </p:cNvPr>
          <p:cNvSpPr>
            <a:spLocks noGrp="1"/>
          </p:cNvSpPr>
          <p:nvPr>
            <p:ph idx="1"/>
          </p:nvPr>
        </p:nvSpPr>
        <p:spPr>
          <a:xfrm>
            <a:off x="685801" y="2142067"/>
            <a:ext cx="11129210" cy="3669186"/>
          </a:xfrm>
        </p:spPr>
        <p:txBody>
          <a:bodyPr>
            <a:normAutofit/>
          </a:bodyPr>
          <a:lstStyle/>
          <a:p>
            <a:r>
              <a:rPr lang="en-US" dirty="0"/>
              <a:t>attempts to automatically decide whether the culprit statements are the cause of a program fail. This comes with limitations for example requiring code modification, inability to handle complex software efficiently, and subset of failures.  Moreover, the none of the systems have been in tested for practice.</a:t>
            </a:r>
          </a:p>
          <a:p>
            <a:r>
              <a:rPr lang="en-US" dirty="0"/>
              <a:t>Root cause diagnosis can help a developer understand the failure, but a deeper perception is needed to the conditions. Finally, leading into fixing the bug when the system does not provide.</a:t>
            </a:r>
          </a:p>
          <a:p>
            <a:r>
              <a:rPr lang="en-US" dirty="0"/>
              <a:t>Failure reproduction allows developers to examine program inputs and state the cycle of the failure. This can be combated exhausting testing techniques for e.g. (symbolic execution, model checking, and state-space collection). Furthermore, these techniques require heavyweight runtime monitoring and there is already limitations to other debugging methods </a:t>
            </a:r>
          </a:p>
          <a:p>
            <a:r>
              <a:rPr lang="en-US" dirty="0"/>
              <a:t>There must be a practical solution</a:t>
            </a:r>
          </a:p>
          <a:p>
            <a:endParaRPr lang="en-US" dirty="0"/>
          </a:p>
        </p:txBody>
      </p:sp>
    </p:spTree>
    <p:extLst>
      <p:ext uri="{BB962C8B-B14F-4D97-AF65-F5344CB8AC3E}">
        <p14:creationId xmlns:p14="http://schemas.microsoft.com/office/powerpoint/2010/main" val="1443353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4B425-1C4D-2544-B289-1D21784D07A1}"/>
              </a:ext>
            </a:extLst>
          </p:cNvPr>
          <p:cNvSpPr>
            <a:spLocks noGrp="1"/>
          </p:cNvSpPr>
          <p:nvPr>
            <p:ph type="title"/>
          </p:nvPr>
        </p:nvSpPr>
        <p:spPr/>
        <p:txBody>
          <a:bodyPr/>
          <a:lstStyle/>
          <a:p>
            <a:r>
              <a:rPr lang="en-US" dirty="0"/>
              <a:t>What about reverse debugging or Time travel debugging?</a:t>
            </a:r>
          </a:p>
        </p:txBody>
      </p:sp>
      <p:sp>
        <p:nvSpPr>
          <p:cNvPr id="3" name="Content Placeholder 2">
            <a:extLst>
              <a:ext uri="{FF2B5EF4-FFF2-40B4-BE49-F238E27FC236}">
                <a16:creationId xmlns:a16="http://schemas.microsoft.com/office/drawing/2014/main" id="{F43A7023-2EDE-A448-87B0-45D432B521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41016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D5BF-D574-BD4D-AE27-B319AD73812A}"/>
              </a:ext>
            </a:extLst>
          </p:cNvPr>
          <p:cNvSpPr>
            <a:spLocks noGrp="1"/>
          </p:cNvSpPr>
          <p:nvPr>
            <p:ph type="title"/>
          </p:nvPr>
        </p:nvSpPr>
        <p:spPr/>
        <p:txBody>
          <a:bodyPr/>
          <a:lstStyle/>
          <a:p>
            <a:r>
              <a:rPr lang="en-US" dirty="0"/>
              <a:t>What is rept?</a:t>
            </a:r>
          </a:p>
        </p:txBody>
      </p:sp>
      <p:sp>
        <p:nvSpPr>
          <p:cNvPr id="3" name="Content Placeholder 2">
            <a:extLst>
              <a:ext uri="{FF2B5EF4-FFF2-40B4-BE49-F238E27FC236}">
                <a16:creationId xmlns:a16="http://schemas.microsoft.com/office/drawing/2014/main" id="{5C8D6297-8763-D743-BE5F-573A9F3242E6}"/>
              </a:ext>
            </a:extLst>
          </p:cNvPr>
          <p:cNvSpPr>
            <a:spLocks noGrp="1"/>
          </p:cNvSpPr>
          <p:nvPr>
            <p:ph idx="1"/>
          </p:nvPr>
        </p:nvSpPr>
        <p:spPr>
          <a:xfrm>
            <a:off x="178676" y="2142068"/>
            <a:ext cx="11655515" cy="3370836"/>
          </a:xfrm>
        </p:spPr>
        <p:txBody>
          <a:bodyPr>
            <a:normAutofit/>
          </a:bodyPr>
          <a:lstStyle/>
          <a:p>
            <a:r>
              <a:rPr lang="en-US" dirty="0"/>
              <a:t>REPT is a practical system that permits reverse debugging in software for deployed systems</a:t>
            </a:r>
          </a:p>
          <a:p>
            <a:r>
              <a:rPr lang="en-US" dirty="0"/>
              <a:t>This is system supposed to recover data values from thousand instructions before the failure. The seems impossible? However, it is not and REPT can take on these challenges.</a:t>
            </a:r>
          </a:p>
          <a:p>
            <a:r>
              <a:rPr lang="en-US" dirty="0"/>
              <a:t>There are two key concepts for REPT. First is REPT’s hardware; tracing while recording a programs control flow will allow a low performance overhead. Second, Rept uses a technique called novel binary analysis. This technique allows recovery data flow information, and this is supported by the logged control flow information. As well as, the data values are saved in the memory dump.</a:t>
            </a:r>
          </a:p>
          <a:p>
            <a:r>
              <a:rPr lang="en-US" dirty="0"/>
              <a:t>In laymen terms: REPT permits reverse debugging with combined logged control flow and the recovered data flow</a:t>
            </a:r>
          </a:p>
          <a:p>
            <a:endParaRPr lang="en-US" dirty="0"/>
          </a:p>
        </p:txBody>
      </p:sp>
    </p:spTree>
    <p:extLst>
      <p:ext uri="{BB962C8B-B14F-4D97-AF65-F5344CB8AC3E}">
        <p14:creationId xmlns:p14="http://schemas.microsoft.com/office/powerpoint/2010/main" val="1342422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37321-4D57-6147-867D-6C0ED658476F}"/>
              </a:ext>
            </a:extLst>
          </p:cNvPr>
          <p:cNvSpPr>
            <a:spLocks noGrp="1"/>
          </p:cNvSpPr>
          <p:nvPr>
            <p:ph type="title"/>
          </p:nvPr>
        </p:nvSpPr>
        <p:spPr/>
        <p:txBody>
          <a:bodyPr/>
          <a:lstStyle/>
          <a:p>
            <a:r>
              <a:rPr lang="en-US" dirty="0"/>
              <a:t>What are the challenges that Rept face?</a:t>
            </a:r>
          </a:p>
        </p:txBody>
      </p:sp>
      <p:sp>
        <p:nvSpPr>
          <p:cNvPr id="3" name="Content Placeholder 2">
            <a:extLst>
              <a:ext uri="{FF2B5EF4-FFF2-40B4-BE49-F238E27FC236}">
                <a16:creationId xmlns:a16="http://schemas.microsoft.com/office/drawing/2014/main" id="{F34A0C99-2639-B84B-8ADA-EE7154E448AD}"/>
              </a:ext>
            </a:extLst>
          </p:cNvPr>
          <p:cNvSpPr>
            <a:spLocks noGrp="1"/>
          </p:cNvSpPr>
          <p:nvPr>
            <p:ph idx="1"/>
          </p:nvPr>
        </p:nvSpPr>
        <p:spPr>
          <a:xfrm>
            <a:off x="685802" y="1868799"/>
            <a:ext cx="5925206" cy="1560201"/>
          </a:xfrm>
        </p:spPr>
        <p:txBody>
          <a:bodyPr/>
          <a:lstStyle/>
          <a:p>
            <a:r>
              <a:rPr lang="en-US" dirty="0"/>
              <a:t>Irreversible Instructions</a:t>
            </a:r>
          </a:p>
          <a:p>
            <a:r>
              <a:rPr lang="en-US" dirty="0"/>
              <a:t>Missing Memory Writes </a:t>
            </a:r>
          </a:p>
          <a:p>
            <a:r>
              <a:rPr lang="en-US" dirty="0"/>
              <a:t>Concurrent Memory Writes </a:t>
            </a:r>
          </a:p>
        </p:txBody>
      </p:sp>
    </p:spTree>
    <p:extLst>
      <p:ext uri="{BB962C8B-B14F-4D97-AF65-F5344CB8AC3E}">
        <p14:creationId xmlns:p14="http://schemas.microsoft.com/office/powerpoint/2010/main" val="354928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4473E-52D1-AA4C-855B-0EC435ACEA83}"/>
              </a:ext>
            </a:extLst>
          </p:cNvPr>
          <p:cNvSpPr>
            <a:spLocks noGrp="1"/>
          </p:cNvSpPr>
          <p:nvPr>
            <p:ph type="title"/>
          </p:nvPr>
        </p:nvSpPr>
        <p:spPr/>
        <p:txBody>
          <a:bodyPr/>
          <a:lstStyle/>
          <a:p>
            <a:r>
              <a:rPr lang="en-US" dirty="0"/>
              <a:t>Irreversible Instructions</a:t>
            </a:r>
          </a:p>
        </p:txBody>
      </p:sp>
      <p:sp>
        <p:nvSpPr>
          <p:cNvPr id="3" name="Content Placeholder 2">
            <a:extLst>
              <a:ext uri="{FF2B5EF4-FFF2-40B4-BE49-F238E27FC236}">
                <a16:creationId xmlns:a16="http://schemas.microsoft.com/office/drawing/2014/main" id="{8F534B1E-6911-C648-B780-91400ED1EF77}"/>
              </a:ext>
            </a:extLst>
          </p:cNvPr>
          <p:cNvSpPr>
            <a:spLocks noGrp="1"/>
          </p:cNvSpPr>
          <p:nvPr>
            <p:ph idx="1"/>
          </p:nvPr>
        </p:nvSpPr>
        <p:spPr/>
        <p:txBody>
          <a:bodyPr/>
          <a:lstStyle/>
          <a:p>
            <a:r>
              <a:rPr lang="en-US" dirty="0"/>
              <a:t>What if every instruction became reversible? This can be determined before the program state and its execution. This would make REPT’s design straightforward and easily understood.</a:t>
            </a:r>
          </a:p>
          <a:p>
            <a:r>
              <a:rPr lang="en-US" dirty="0"/>
              <a:t>To reverse a program’s instruction, first invert each instruction’s semantics and recover data values in each position during the instruction sequence.</a:t>
            </a:r>
          </a:p>
          <a:p>
            <a:r>
              <a:rPr lang="en-US" dirty="0"/>
              <a:t>Though many instructions can be irreversible and information destroying. </a:t>
            </a:r>
          </a:p>
          <a:p>
            <a:r>
              <a:rPr lang="en-US" dirty="0"/>
              <a:t>The authors followed up by using forward execution and recovering values. These recovering values cannot be recovered normally in backward execution.</a:t>
            </a:r>
          </a:p>
        </p:txBody>
      </p:sp>
    </p:spTree>
    <p:extLst>
      <p:ext uri="{BB962C8B-B14F-4D97-AF65-F5344CB8AC3E}">
        <p14:creationId xmlns:p14="http://schemas.microsoft.com/office/powerpoint/2010/main" val="283828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AD8DD-7CB7-8643-81BD-B25377C20A78}"/>
              </a:ext>
            </a:extLst>
          </p:cNvPr>
          <p:cNvSpPr>
            <a:spLocks noGrp="1"/>
          </p:cNvSpPr>
          <p:nvPr>
            <p:ph type="title"/>
          </p:nvPr>
        </p:nvSpPr>
        <p:spPr/>
        <p:txBody>
          <a:bodyPr/>
          <a:lstStyle/>
          <a:p>
            <a:r>
              <a:rPr lang="en-US" dirty="0"/>
              <a:t>Missing Memory Writes </a:t>
            </a:r>
          </a:p>
        </p:txBody>
      </p:sp>
      <p:sp>
        <p:nvSpPr>
          <p:cNvPr id="3" name="Content Placeholder 2">
            <a:extLst>
              <a:ext uri="{FF2B5EF4-FFF2-40B4-BE49-F238E27FC236}">
                <a16:creationId xmlns:a16="http://schemas.microsoft.com/office/drawing/2014/main" id="{BE129441-0ACA-2147-97AB-1076F4F89164}"/>
              </a:ext>
            </a:extLst>
          </p:cNvPr>
          <p:cNvSpPr>
            <a:spLocks noGrp="1"/>
          </p:cNvSpPr>
          <p:nvPr>
            <p:ph idx="1"/>
          </p:nvPr>
        </p:nvSpPr>
        <p:spPr>
          <a:xfrm>
            <a:off x="685802" y="2142067"/>
            <a:ext cx="7522778" cy="3596581"/>
          </a:xfrm>
        </p:spPr>
        <p:txBody>
          <a:bodyPr>
            <a:normAutofit/>
          </a:bodyPr>
          <a:lstStyle/>
          <a:p>
            <a:r>
              <a:rPr lang="en-US" dirty="0"/>
              <a:t>Unknown address are bad in memory and makes memory handling bad. Moreover, most memory cannot be determined statically. This makes data values hard to recover and REPT may not know the destination of the memory writing.</a:t>
            </a:r>
          </a:p>
          <a:p>
            <a:r>
              <a:rPr lang="en-US" dirty="0"/>
              <a:t>The author presumes that all memory locations are unknown. Furthermore, this can be too traditional and can cause miss data values from being recoverable. Though if REPT ignores the memory writing then the analysis will leave it invalid value at the memory location.</a:t>
            </a:r>
          </a:p>
          <a:p>
            <a:r>
              <a:rPr lang="en-US" dirty="0"/>
              <a:t>This can generate other memory locations and registers. The solution that the authors chose to combat this issue is error detection.</a:t>
            </a:r>
          </a:p>
        </p:txBody>
      </p:sp>
    </p:spTree>
    <p:extLst>
      <p:ext uri="{BB962C8B-B14F-4D97-AF65-F5344CB8AC3E}">
        <p14:creationId xmlns:p14="http://schemas.microsoft.com/office/powerpoint/2010/main" val="368775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3E7A-E63F-024D-8940-CBDA43BB257D}"/>
              </a:ext>
            </a:extLst>
          </p:cNvPr>
          <p:cNvSpPr>
            <a:spLocks noGrp="1"/>
          </p:cNvSpPr>
          <p:nvPr>
            <p:ph type="title"/>
          </p:nvPr>
        </p:nvSpPr>
        <p:spPr/>
        <p:txBody>
          <a:bodyPr/>
          <a:lstStyle/>
          <a:p>
            <a:r>
              <a:rPr lang="en-US" dirty="0"/>
              <a:t>Concurrent Memory Writes </a:t>
            </a:r>
          </a:p>
        </p:txBody>
      </p:sp>
      <p:sp>
        <p:nvSpPr>
          <p:cNvPr id="3" name="Content Placeholder 2">
            <a:extLst>
              <a:ext uri="{FF2B5EF4-FFF2-40B4-BE49-F238E27FC236}">
                <a16:creationId xmlns:a16="http://schemas.microsoft.com/office/drawing/2014/main" id="{8D4A4ACD-82BE-6245-9069-8435CFDC8739}"/>
              </a:ext>
            </a:extLst>
          </p:cNvPr>
          <p:cNvSpPr>
            <a:spLocks noGrp="1"/>
          </p:cNvSpPr>
          <p:nvPr>
            <p:ph idx="1"/>
          </p:nvPr>
        </p:nvSpPr>
        <p:spPr/>
        <p:txBody>
          <a:bodyPr/>
          <a:lstStyle/>
          <a:p>
            <a:r>
              <a:rPr lang="en-US" dirty="0"/>
              <a:t>Finally, the last challenge is the identification in the order of shared memory access. To deduce the order of execution in concurrent memory may not possible. That’s even with timestamps provided from hardware.</a:t>
            </a:r>
          </a:p>
          <a:p>
            <a:r>
              <a:rPr lang="en-US" dirty="0"/>
              <a:t>REPT will have to properly handle these memory accesses otherwise it will confuse the wrong values for these memory locations.</a:t>
            </a:r>
          </a:p>
          <a:p>
            <a:r>
              <a:rPr lang="en-US" dirty="0"/>
              <a:t>The authors solved this challenge by restricting the analysis in data values recovered from concurrent memory accesses.</a:t>
            </a:r>
          </a:p>
        </p:txBody>
      </p:sp>
    </p:spTree>
    <p:extLst>
      <p:ext uri="{BB962C8B-B14F-4D97-AF65-F5344CB8AC3E}">
        <p14:creationId xmlns:p14="http://schemas.microsoft.com/office/powerpoint/2010/main" val="3550899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3126D-8DBA-3444-8B9B-FE4F78DC94FF}"/>
              </a:ext>
            </a:extLst>
          </p:cNvPr>
          <p:cNvSpPr>
            <a:spLocks noGrp="1"/>
          </p:cNvSpPr>
          <p:nvPr>
            <p:ph type="title"/>
          </p:nvPr>
        </p:nvSpPr>
        <p:spPr/>
        <p:txBody>
          <a:bodyPr/>
          <a:lstStyle/>
          <a:p>
            <a:r>
              <a:rPr lang="en-US" dirty="0"/>
              <a:t>Design of Rept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87D105-B46F-A244-B72C-270A7E3A9D5D}"/>
                  </a:ext>
                </a:extLst>
              </p:cNvPr>
              <p:cNvSpPr>
                <a:spLocks noGrp="1"/>
              </p:cNvSpPr>
              <p:nvPr>
                <p:ph idx="1"/>
              </p:nvPr>
            </p:nvSpPr>
            <p:spPr/>
            <p:txBody>
              <a:bodyPr>
                <a:normAutofit/>
              </a:bodyPr>
              <a:lstStyle/>
              <a:p>
                <a14:m>
                  <m:oMath xmlns:m="http://schemas.openxmlformats.org/officeDocument/2006/math">
                    <m:r>
                      <m:rPr>
                        <m:nor/>
                      </m:rPr>
                      <a:rPr lang="en-US" smtClean="0"/>
                      <m:t>For</m:t>
                    </m:r>
                    <m:r>
                      <m:rPr>
                        <m:nor/>
                      </m:rPr>
                      <a:rPr lang="en-US" smtClean="0"/>
                      <m:t> </m:t>
                    </m:r>
                    <m:r>
                      <m:rPr>
                        <m:nor/>
                      </m:rPr>
                      <a:rPr lang="en-US" smtClean="0"/>
                      <m:t>brevity</m:t>
                    </m:r>
                    <m:r>
                      <m:rPr>
                        <m:nor/>
                      </m:rPr>
                      <a:rPr lang="en-US" smtClean="0"/>
                      <m:t>, </m:t>
                    </m:r>
                    <m:r>
                      <m:rPr>
                        <m:nor/>
                      </m:rPr>
                      <a:rPr lang="en-US" smtClean="0"/>
                      <m:t>we</m:t>
                    </m:r>
                    <m:r>
                      <m:rPr>
                        <m:nor/>
                      </m:rPr>
                      <a:rPr lang="en-US" smtClean="0"/>
                      <m:t> </m:t>
                    </m:r>
                    <m:r>
                      <m:rPr>
                        <m:nor/>
                      </m:rPr>
                      <a:rPr lang="en-US" smtClean="0"/>
                      <m:t>define</m:t>
                    </m:r>
                    <m:r>
                      <m:rPr>
                        <m:nor/>
                      </m:rPr>
                      <a:rPr lang="en-US" smtClean="0"/>
                      <m:t> </m:t>
                    </m:r>
                    <m:r>
                      <m:rPr>
                        <m:nor/>
                      </m:rPr>
                      <a:rPr lang="en-US" smtClean="0"/>
                      <m:t>an</m:t>
                    </m:r>
                    <m:r>
                      <m:rPr>
                        <m:nor/>
                      </m:rPr>
                      <a:rPr lang="en-US" smtClean="0"/>
                      <m:t> </m:t>
                    </m:r>
                    <m:r>
                      <m:rPr>
                        <m:nor/>
                      </m:rPr>
                      <a:rPr lang="en-US" smtClean="0"/>
                      <m:t>instruction</m:t>
                    </m:r>
                    <m:r>
                      <m:rPr>
                        <m:nor/>
                      </m:rPr>
                      <a:rPr lang="en-US" smtClean="0"/>
                      <m:t> </m:t>
                    </m:r>
                    <m:r>
                      <m:rPr>
                        <m:nor/>
                      </m:rPr>
                      <a:rPr lang="en-US" smtClean="0"/>
                      <m:t>sequence</m:t>
                    </m:r>
                    <m:r>
                      <m:rPr>
                        <m:nor/>
                      </m:rPr>
                      <a:rPr lang="en-US" smtClean="0"/>
                      <m:t> </m:t>
                    </m:r>
                    <m:r>
                      <m:rPr>
                        <m:nor/>
                      </m:rPr>
                      <a:rPr lang="en-US" smtClean="0"/>
                      <m:t>as</m:t>
                    </m:r>
                    <m:r>
                      <m:rPr>
                        <m:nor/>
                      </m:rPr>
                      <a:rPr lang="en-US" smtClean="0"/>
                      <m:t> </m:t>
                    </m:r>
                    <m:r>
                      <m:rPr>
                        <m:nor/>
                      </m:rPr>
                      <a:rPr lang="en-US" i="1" smtClean="0"/>
                      <m:t>I</m:t>
                    </m:r>
                    <m:r>
                      <m:rPr>
                        <m:nor/>
                      </m:rPr>
                      <a:rPr lang="en-US" i="1" smtClean="0"/>
                      <m:t> </m:t>
                    </m:r>
                    <m:r>
                      <m:rPr>
                        <m:nor/>
                      </m:rPr>
                      <a:rPr lang="en-US" smtClean="0"/>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r>
                      <m:rPr>
                        <m:nor/>
                      </m:rPr>
                      <a:rPr lang="en-US" smtClean="0"/>
                      <m:t>|</m:t>
                    </m:r>
                    <m:r>
                      <m:rPr>
                        <m:nor/>
                      </m:rPr>
                      <a:rPr lang="en-US" i="1" smtClean="0"/>
                      <m:t>i</m:t>
                    </m:r>
                    <m:r>
                      <m:rPr>
                        <m:nor/>
                      </m:rPr>
                      <a:rPr lang="en-US" i="1" smtClean="0"/>
                      <m:t> </m:t>
                    </m:r>
                    <m:r>
                      <m:rPr>
                        <m:nor/>
                      </m:rPr>
                      <a:rPr lang="en-US" smtClean="0"/>
                      <m:t>= 1,2,...,</m:t>
                    </m:r>
                    <m:r>
                      <m:rPr>
                        <m:nor/>
                      </m:rPr>
                      <a:rPr lang="en-US" i="1" smtClean="0"/>
                      <m:t>n</m:t>
                    </m:r>
                    <m:r>
                      <m:rPr>
                        <m:nor/>
                      </m:rPr>
                      <a:rPr lang="en-US" smtClean="0"/>
                      <m:t>} </m:t>
                    </m:r>
                    <m:r>
                      <m:rPr>
                        <m:nor/>
                      </m:rPr>
                      <a:rPr lang="en-US" smtClean="0"/>
                      <m:t>where</m:t>
                    </m:r>
                    <m:r>
                      <m:rPr>
                        <m:nor/>
                      </m:rPr>
                      <a:rPr lang="en-US" smtClean="0"/>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r>
                      <m:rPr>
                        <m:nor/>
                      </m:rPr>
                      <a:rPr lang="en-US" smtClean="0"/>
                      <m:t>represents</m:t>
                    </m:r>
                    <m:r>
                      <m:rPr>
                        <m:nor/>
                      </m:rPr>
                      <a:rPr lang="en-US" smtClean="0"/>
                      <m:t> </m:t>
                    </m:r>
                    <m:r>
                      <m:rPr>
                        <m:nor/>
                      </m:rPr>
                      <a:rPr lang="en-US" smtClean="0"/>
                      <m:t>the</m:t>
                    </m:r>
                    <m:r>
                      <m:rPr>
                        <m:nor/>
                      </m:rPr>
                      <a:rPr lang="en-US" smtClean="0"/>
                      <m:t> </m:t>
                    </m:r>
                    <m:r>
                      <m:rPr>
                        <m:nor/>
                      </m:rPr>
                      <a:rPr lang="en-US" i="1" smtClean="0"/>
                      <m:t>i</m:t>
                    </m:r>
                    <m:r>
                      <m:rPr>
                        <m:nor/>
                      </m:rPr>
                      <a:rPr lang="en-US" smtClean="0"/>
                      <m:t>−</m:t>
                    </m:r>
                    <m:r>
                      <m:rPr>
                        <m:nor/>
                      </m:rPr>
                      <a:rPr lang="en-US" smtClean="0"/>
                      <m:t>th</m:t>
                    </m:r>
                    <m:r>
                      <m:rPr>
                        <m:nor/>
                      </m:rPr>
                      <a:rPr lang="en-US" smtClean="0"/>
                      <m:t> </m:t>
                    </m:r>
                    <m:r>
                      <m:rPr>
                        <m:nor/>
                      </m:rPr>
                      <a:rPr lang="en-US" smtClean="0"/>
                      <m:t>instruction</m:t>
                    </m:r>
                    <m:r>
                      <m:rPr>
                        <m:nor/>
                      </m:rPr>
                      <a:rPr lang="en-US" smtClean="0"/>
                      <m:t> </m:t>
                    </m:r>
                    <m:r>
                      <m:rPr>
                        <m:nor/>
                      </m:rPr>
                      <a:rPr lang="en-US" smtClean="0"/>
                      <m:t>executed</m:t>
                    </m:r>
                    <m:r>
                      <m:rPr>
                        <m:nor/>
                      </m:rPr>
                      <a:rPr lang="en-US" smtClean="0"/>
                      <m:t> </m:t>
                    </m:r>
                    <m:r>
                      <m:rPr>
                        <m:nor/>
                      </m:rPr>
                      <a:rPr lang="en-US" smtClean="0"/>
                      <m:t>in</m:t>
                    </m:r>
                    <m:r>
                      <m:rPr>
                        <m:nor/>
                      </m:rPr>
                      <a:rPr lang="en-US" smtClean="0"/>
                      <m:t> </m:t>
                    </m:r>
                    <m:r>
                      <m:rPr>
                        <m:nor/>
                      </m:rPr>
                      <a:rPr lang="en-US" smtClean="0"/>
                      <m:t>the</m:t>
                    </m:r>
                    <m:r>
                      <m:rPr>
                        <m:nor/>
                      </m:rPr>
                      <a:rPr lang="en-US" smtClean="0"/>
                      <m:t> </m:t>
                    </m:r>
                    <m:r>
                      <m:rPr>
                        <m:nor/>
                      </m:rPr>
                      <a:rPr lang="en-US" smtClean="0"/>
                      <m:t>sequence</m:t>
                    </m:r>
                    <m:r>
                      <m:rPr>
                        <m:nor/>
                      </m:rPr>
                      <a:rPr lang="en-US" smtClean="0"/>
                      <m:t>. </m:t>
                    </m:r>
                    <m:r>
                      <m:rPr>
                        <m:nor/>
                      </m:rPr>
                      <a:rPr lang="en-US" smtClean="0"/>
                      <m:t>We</m:t>
                    </m:r>
                    <m:r>
                      <m:rPr>
                        <m:nor/>
                      </m:rPr>
                      <a:rPr lang="en-US" smtClean="0"/>
                      <m:t> </m:t>
                    </m:r>
                    <m:r>
                      <m:rPr>
                        <m:nor/>
                      </m:rPr>
                      <a:rPr lang="en-US" smtClean="0"/>
                      <m:t>assume</m:t>
                    </m:r>
                    <m:r>
                      <m:rPr>
                        <m:nor/>
                      </m:rPr>
                      <a:rPr lang="en-US" smtClean="0"/>
                      <m:t> </m:t>
                    </m:r>
                    <m:r>
                      <m:rPr>
                        <m:nor/>
                      </m:rPr>
                      <a:rPr lang="en-US" smtClean="0"/>
                      <m:t>that</m:t>
                    </m:r>
                    <m:r>
                      <m:rPr>
                        <m:nor/>
                      </m:rPr>
                      <a:rPr lang="en-US" smtClean="0"/>
                      <m:t> </m:t>
                    </m:r>
                    <m:r>
                      <m:rPr>
                        <m:nor/>
                      </m:rPr>
                      <a:rPr lang="en-US" smtClean="0"/>
                      <m:t>the</m:t>
                    </m:r>
                    <m:r>
                      <m:rPr>
                        <m:nor/>
                      </m:rPr>
                      <a:rPr lang="en-US" smtClean="0"/>
                      <m:t> </m:t>
                    </m:r>
                    <m:r>
                      <m:rPr>
                        <m:nor/>
                      </m:rPr>
                      <a:rPr lang="en-US" smtClean="0"/>
                      <m:t>memory</m:t>
                    </m:r>
                    <m:r>
                      <m:rPr>
                        <m:nor/>
                      </m:rPr>
                      <a:rPr lang="en-US" smtClean="0"/>
                      <m:t> </m:t>
                    </m:r>
                    <m:r>
                      <m:rPr>
                        <m:nor/>
                      </m:rPr>
                      <a:rPr lang="en-US" smtClean="0"/>
                      <m:t>dump</m:t>
                    </m:r>
                    <m:r>
                      <m:rPr>
                        <m:nor/>
                      </m:rPr>
                      <a:rPr lang="en-US" smtClean="0"/>
                      <m:t> </m:t>
                    </m:r>
                    <m:r>
                      <m:rPr>
                        <m:nor/>
                      </m:rPr>
                      <a:rPr lang="en-US" smtClean="0"/>
                      <m:t>is</m:t>
                    </m:r>
                    <m:r>
                      <m:rPr>
                        <m:nor/>
                      </m:rPr>
                      <a:rPr lang="en-US" smtClean="0"/>
                      <m:t> </m:t>
                    </m:r>
                    <m:r>
                      <m:rPr>
                        <m:nor/>
                      </m:rPr>
                      <a:rPr lang="en-US" smtClean="0"/>
                      <m:t>available</m:t>
                    </m:r>
                    <m:r>
                      <m:rPr>
                        <m:nor/>
                      </m:rPr>
                      <a:rPr lang="en-US" smtClean="0"/>
                      <m:t> </m:t>
                    </m:r>
                    <m:r>
                      <m:rPr>
                        <m:nor/>
                      </m:rPr>
                      <a:rPr lang="en-US" smtClean="0"/>
                      <m:t>after</m:t>
                    </m:r>
                    <m:r>
                      <m:rPr>
                        <m:nor/>
                      </m:rPr>
                      <a:rPr lang="en-US" smtClean="0"/>
                      <m:t> </m:t>
                    </m:r>
                    <m:r>
                      <m:rPr>
                        <m:nor/>
                      </m:rPr>
                      <a:rPr lang="en-US" smtClean="0"/>
                      <m:t>the</m:t>
                    </m:r>
                    <m:r>
                      <m:rPr>
                        <m:nor/>
                      </m:rPr>
                      <a:rPr lang="en-US" smtClean="0"/>
                      <m:t> </m:t>
                    </m:r>
                    <m:r>
                      <m:rPr>
                        <m:nor/>
                      </m:rPr>
                      <a:rPr lang="en-US" i="1" smtClean="0"/>
                      <m:t>n</m:t>
                    </m:r>
                    <m:r>
                      <m:rPr>
                        <m:nor/>
                      </m:rPr>
                      <a:rPr lang="en-US" smtClean="0"/>
                      <m:t>−</m:t>
                    </m:r>
                    <m:r>
                      <m:rPr>
                        <m:nor/>
                      </m:rPr>
                      <a:rPr lang="en-US" smtClean="0"/>
                      <m:t>th</m:t>
                    </m:r>
                    <m:r>
                      <m:rPr>
                        <m:nor/>
                      </m:rPr>
                      <a:rPr lang="en-US" smtClean="0"/>
                      <m:t> </m:t>
                    </m:r>
                    <m:r>
                      <m:rPr>
                        <m:nor/>
                      </m:rPr>
                      <a:rPr lang="en-US" smtClean="0"/>
                      <m:t>instruction</m:t>
                    </m:r>
                    <m:r>
                      <m:rPr>
                        <m:nor/>
                      </m:rPr>
                      <a:rPr lang="en-US" smtClean="0"/>
                      <m:t>’</m:t>
                    </m:r>
                    <m:r>
                      <m:rPr>
                        <m:nor/>
                      </m:rPr>
                      <a:rPr lang="en-US" smtClean="0"/>
                      <m:t>s</m:t>
                    </m:r>
                    <m:r>
                      <m:rPr>
                        <m:nor/>
                      </m:rPr>
                      <a:rPr lang="en-US" smtClean="0"/>
                      <m:t> </m:t>
                    </m:r>
                    <m:r>
                      <m:rPr>
                        <m:nor/>
                      </m:rPr>
                      <a:rPr lang="en-US" smtClean="0"/>
                      <m:t>execution</m:t>
                    </m:r>
                    <m:r>
                      <m:rPr>
                        <m:nor/>
                      </m:rPr>
                      <a:rPr lang="en-US" smtClean="0"/>
                      <m:t>. </m:t>
                    </m:r>
                    <m:r>
                      <m:rPr>
                        <m:nor/>
                      </m:rPr>
                      <a:rPr lang="en-US" smtClean="0"/>
                      <m:t>We</m:t>
                    </m:r>
                    <m:r>
                      <m:rPr>
                        <m:nor/>
                      </m:rPr>
                      <a:rPr lang="en-US" smtClean="0"/>
                      <m:t> </m:t>
                    </m:r>
                    <m:r>
                      <m:rPr>
                        <m:nor/>
                      </m:rPr>
                      <a:rPr lang="en-US" smtClean="0"/>
                      <m:t>define</m:t>
                    </m:r>
                    <m:r>
                      <m:rPr>
                        <m:nor/>
                      </m:rPr>
                      <a:rPr lang="en-US" smtClean="0"/>
                      <m:t> </m:t>
                    </m:r>
                    <m:r>
                      <m:rPr>
                        <m:nor/>
                      </m:rPr>
                      <a:rPr lang="en-US" smtClean="0"/>
                      <m:t>a</m:t>
                    </m:r>
                    <m:r>
                      <m:rPr>
                        <m:nor/>
                      </m:rPr>
                      <a:rPr lang="en-US" smtClean="0"/>
                      <m:t> </m:t>
                    </m:r>
                    <m:r>
                      <m:rPr>
                        <m:nor/>
                      </m:rPr>
                      <a:rPr lang="en-US" smtClean="0"/>
                      <m:t>program</m:t>
                    </m:r>
                    <m:r>
                      <m:rPr>
                        <m:nor/>
                      </m:rPr>
                      <a:rPr lang="en-US" smtClean="0"/>
                      <m:t>’</m:t>
                    </m:r>
                    <m:r>
                      <m:rPr>
                        <m:nor/>
                      </m:rPr>
                      <a:rPr lang="en-US" smtClean="0"/>
                      <m:t>s</m:t>
                    </m:r>
                    <m:r>
                      <m:rPr>
                        <m:nor/>
                      </m:rPr>
                      <a:rPr lang="en-US" smtClean="0"/>
                      <m:t> </m:t>
                    </m:r>
                    <m:r>
                      <m:rPr>
                        <m:nor/>
                      </m:rPr>
                      <a:rPr lang="en-US" smtClean="0"/>
                      <m:t>state</m:t>
                    </m:r>
                    <m:r>
                      <m:rPr>
                        <m:nor/>
                      </m:rPr>
                      <a:rPr lang="en-US" smtClean="0"/>
                      <m:t>, </m:t>
                    </m:r>
                    <m:r>
                      <m:rPr>
                        <m:nor/>
                      </m:rPr>
                      <a:rPr lang="en-US" i="1" smtClean="0"/>
                      <m:t>S</m:t>
                    </m:r>
                    <m:r>
                      <m:rPr>
                        <m:nor/>
                      </m:rPr>
                      <a:rPr lang="en-US" smtClean="0"/>
                      <m:t>, </m:t>
                    </m:r>
                    <m:r>
                      <m:rPr>
                        <m:nor/>
                      </m:rPr>
                      <a:rPr lang="en-US" smtClean="0"/>
                      <m:t>as</m:t>
                    </m:r>
                    <m:r>
                      <m:rPr>
                        <m:nor/>
                      </m:rPr>
                      <a:rPr lang="en-US" smtClean="0"/>
                      <m:t> </m:t>
                    </m:r>
                    <m:r>
                      <m:rPr>
                        <m:nor/>
                      </m:rPr>
                      <a:rPr lang="en-US" smtClean="0"/>
                      <m:t>a</m:t>
                    </m:r>
                    <m:r>
                      <m:rPr>
                        <m:nor/>
                      </m:rPr>
                      <a:rPr lang="en-US" smtClean="0"/>
                      <m:t> </m:t>
                    </m:r>
                    <m:r>
                      <m:rPr>
                        <m:nor/>
                      </m:rPr>
                      <a:rPr lang="en-US" smtClean="0"/>
                      <m:t>collection</m:t>
                    </m:r>
                    <m:r>
                      <m:rPr>
                        <m:nor/>
                      </m:rPr>
                      <a:rPr lang="en-US" smtClean="0"/>
                      <m:t> </m:t>
                    </m:r>
                    <m:r>
                      <m:rPr>
                        <m:nor/>
                      </m:rPr>
                      <a:rPr lang="en-US" smtClean="0"/>
                      <m:t>of</m:t>
                    </m:r>
                    <m:r>
                      <m:rPr>
                        <m:nor/>
                      </m:rPr>
                      <a:rPr lang="en-US" smtClean="0"/>
                      <m:t> </m:t>
                    </m:r>
                    <m:r>
                      <m:rPr>
                        <m:nor/>
                      </m:rPr>
                      <a:rPr lang="en-US" smtClean="0"/>
                      <m:t>all</m:t>
                    </m:r>
                    <m:r>
                      <m:rPr>
                        <m:nor/>
                      </m:rPr>
                      <a:rPr lang="en-US" smtClean="0"/>
                      <m:t> </m:t>
                    </m:r>
                    <m:r>
                      <m:rPr>
                        <m:nor/>
                      </m:rPr>
                      <a:rPr lang="en-US" smtClean="0"/>
                      <m:t>data</m:t>
                    </m:r>
                    <m:r>
                      <m:rPr>
                        <m:nor/>
                      </m:rPr>
                      <a:rPr lang="en-US" smtClean="0"/>
                      <m:t> </m:t>
                    </m:r>
                    <m:r>
                      <m:rPr>
                        <m:nor/>
                      </m:rPr>
                      <a:rPr lang="en-US" smtClean="0"/>
                      <m:t>values</m:t>
                    </m:r>
                    <m:r>
                      <m:rPr>
                        <m:nor/>
                      </m:rPr>
                      <a:rPr lang="en-US" smtClean="0"/>
                      <m:t> </m:t>
                    </m:r>
                    <m:r>
                      <m:rPr>
                        <m:nor/>
                      </m:rPr>
                      <a:rPr lang="en-US" smtClean="0"/>
                      <m:t>in</m:t>
                    </m:r>
                    <m:r>
                      <m:rPr>
                        <m:nor/>
                      </m:rPr>
                      <a:rPr lang="en-US" smtClean="0"/>
                      <m:t> </m:t>
                    </m:r>
                    <m:r>
                      <m:rPr>
                        <m:nor/>
                      </m:rPr>
                      <a:rPr lang="en-US" smtClean="0"/>
                      <m:t>registers</m:t>
                    </m:r>
                    <m:r>
                      <m:rPr>
                        <m:nor/>
                      </m:rPr>
                      <a:rPr lang="en-US" smtClean="0"/>
                      <m:t> </m:t>
                    </m:r>
                    <m:r>
                      <m:rPr>
                        <m:nor/>
                      </m:rPr>
                      <a:rPr lang="en-US" smtClean="0"/>
                      <m:t>and</m:t>
                    </m:r>
                    <m:r>
                      <m:rPr>
                        <m:nor/>
                      </m:rPr>
                      <a:rPr lang="en-US" smtClean="0"/>
                      <m:t> </m:t>
                    </m:r>
                    <m:r>
                      <m:rPr>
                        <m:nor/>
                      </m:rPr>
                      <a:rPr lang="en-US" smtClean="0"/>
                      <m:t>memory</m:t>
                    </m:r>
                    <m:r>
                      <m:rPr>
                        <m:nor/>
                      </m:rPr>
                      <a:rPr lang="en-US" smtClean="0"/>
                      <m:t> </m:t>
                    </m:r>
                    <m:r>
                      <m:rPr>
                        <m:nor/>
                      </m:rPr>
                      <a:rPr lang="en-US" smtClean="0"/>
                      <m:t>locations</m:t>
                    </m:r>
                    <m:r>
                      <m:rPr>
                        <m:nor/>
                      </m:rPr>
                      <a:rPr lang="en-US" smtClean="0"/>
                      <m:t>. </m:t>
                    </m:r>
                    <m:r>
                      <m:rPr>
                        <m:nor/>
                      </m:rPr>
                      <a:rPr lang="en-US" smtClean="0"/>
                      <m:t>We</m:t>
                    </m:r>
                    <m:r>
                      <m:rPr>
                        <m:nor/>
                      </m:rPr>
                      <a:rPr lang="en-US" smtClean="0"/>
                      <m:t> </m:t>
                    </m:r>
                    <m:r>
                      <m:rPr>
                        <m:nor/>
                      </m:rPr>
                      <a:rPr lang="en-US" smtClean="0"/>
                      <m:t>define</m:t>
                    </m:r>
                    <m:r>
                      <m:rPr>
                        <m:nor/>
                      </m:rPr>
                      <a:rPr lang="en-US" smtClean="0"/>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m:rPr>
                        <m:nor/>
                      </m:rPr>
                      <a:rPr lang="en-US" i="1"/>
                      <m:t> </m:t>
                    </m:r>
                    <m:r>
                      <m:rPr>
                        <m:nor/>
                      </m:rPr>
                      <a:rPr lang="en-US"/>
                      <m:t>as</m:t>
                    </m:r>
                    <m:r>
                      <m:rPr>
                        <m:nor/>
                      </m:rPr>
                      <a:rPr lang="en-US"/>
                      <m:t> </m:t>
                    </m:r>
                    <m:r>
                      <m:rPr>
                        <m:nor/>
                      </m:rPr>
                      <a:rPr lang="en-US"/>
                      <m:t>the</m:t>
                    </m:r>
                    <m:r>
                      <m:rPr>
                        <m:nor/>
                      </m:rPr>
                      <a:rPr lang="en-US"/>
                      <m:t> </m:t>
                    </m:r>
                    <m:r>
                      <m:rPr>
                        <m:nor/>
                      </m:rPr>
                      <a:rPr lang="en-US"/>
                      <m:t>program</m:t>
                    </m:r>
                    <m:r>
                      <m:rPr>
                        <m:nor/>
                      </m:rPr>
                      <a:rPr lang="en-US"/>
                      <m:t> </m:t>
                    </m:r>
                    <m:r>
                      <m:rPr>
                        <m:nor/>
                      </m:rPr>
                      <a:rPr lang="en-US"/>
                      <m:t>state</m:t>
                    </m:r>
                    <m:r>
                      <m:rPr>
                        <m:nor/>
                      </m:rPr>
                      <a:rPr lang="en-US"/>
                      <m:t> </m:t>
                    </m:r>
                    <m:r>
                      <m:rPr>
                        <m:nor/>
                      </m:rPr>
                      <a:rPr lang="en-US"/>
                      <m:t>after</m:t>
                    </m:r>
                    <m:r>
                      <m:rPr>
                        <m:nor/>
                      </m:rPr>
                      <a:rPr lang="en-US"/>
                      <m:t> </m:t>
                    </m:r>
                    <m:r>
                      <m:rPr>
                        <m:nor/>
                      </m:rPr>
                      <a:rPr lang="en-US"/>
                      <m:t>the</m:t>
                    </m:r>
                    <m:r>
                      <m:rPr>
                        <m:nor/>
                      </m:rPr>
                      <a:rPr lang="en-US"/>
                      <m:t> </m:t>
                    </m:r>
                    <m:r>
                      <m:rPr>
                        <m:nor/>
                      </m:rPr>
                      <a:rPr lang="en-US" i="1"/>
                      <m:t>i</m:t>
                    </m:r>
                    <m:r>
                      <m:rPr>
                        <m:nor/>
                      </m:rPr>
                      <a:rPr lang="en-US"/>
                      <m:t>−</m:t>
                    </m:r>
                    <m:r>
                      <m:rPr>
                        <m:nor/>
                      </m:rPr>
                      <a:rPr lang="en-US"/>
                      <m:t>th</m:t>
                    </m:r>
                    <m:r>
                      <m:rPr>
                        <m:nor/>
                      </m:rPr>
                      <a:rPr lang="en-US"/>
                      <m:t> </m:t>
                    </m:r>
                    <m:r>
                      <m:rPr>
                        <m:nor/>
                      </m:rPr>
                      <a:rPr lang="en-US"/>
                      <m:t>instruction</m:t>
                    </m:r>
                    <m:r>
                      <m:rPr>
                        <m:nor/>
                      </m:rPr>
                      <a:rPr lang="en-US"/>
                      <m:t> </m:t>
                    </m:r>
                    <m:r>
                      <m:rPr>
                        <m:nor/>
                      </m:rPr>
                      <a:rPr lang="en-US"/>
                      <m:t>is</m:t>
                    </m:r>
                    <m:r>
                      <m:rPr>
                        <m:nor/>
                      </m:rPr>
                      <a:rPr lang="en-US"/>
                      <m:t> </m:t>
                    </m:r>
                    <m:r>
                      <m:rPr>
                        <m:nor/>
                      </m:rPr>
                      <a:rPr lang="en-US"/>
                      <m:t>executed</m:t>
                    </m:r>
                    <m:r>
                      <m:rPr>
                        <m:nor/>
                      </m:rPr>
                      <a:rPr lang="en-US"/>
                      <m:t>. </m:t>
                    </m:r>
                    <m:r>
                      <m:rPr>
                        <m:nor/>
                      </m:rPr>
                      <a:rPr lang="en-US"/>
                      <m:t>Therefore</m:t>
                    </m:r>
                    <m:r>
                      <m:rPr>
                        <m:nor/>
                      </m:rPr>
                      <a:rPr lang="en-US"/>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m:rPr>
                        <m:nor/>
                      </m:rPr>
                      <a:rPr lang="en-US"/>
                      <m:t> </m:t>
                    </m:r>
                    <m:r>
                      <m:rPr>
                        <m:nor/>
                      </m:rPr>
                      <a:rPr lang="en-US"/>
                      <m:t>represents</m:t>
                    </m:r>
                    <m:r>
                      <m:rPr>
                        <m:nor/>
                      </m:rPr>
                      <a:rPr lang="en-US"/>
                      <m:t> </m:t>
                    </m:r>
                    <m:r>
                      <m:rPr>
                        <m:nor/>
                      </m:rPr>
                      <a:rPr lang="en-US"/>
                      <m:t>the</m:t>
                    </m:r>
                    <m:r>
                      <m:rPr>
                        <m:nor/>
                      </m:rPr>
                      <a:rPr lang="en-US"/>
                      <m:t> </m:t>
                    </m:r>
                    <m:r>
                      <m:rPr>
                        <m:nor/>
                      </m:rPr>
                      <a:rPr lang="en-US"/>
                      <m:t>program</m:t>
                    </m:r>
                    <m:r>
                      <m:rPr>
                        <m:nor/>
                      </m:rPr>
                      <a:rPr lang="en-US"/>
                      <m:t> </m:t>
                    </m:r>
                    <m:r>
                      <m:rPr>
                        <m:nor/>
                      </m:rPr>
                      <a:rPr lang="en-US"/>
                      <m:t>state</m:t>
                    </m:r>
                    <m:r>
                      <m:rPr>
                        <m:nor/>
                      </m:rPr>
                      <a:rPr lang="en-US"/>
                      <m:t> </m:t>
                    </m:r>
                    <m:r>
                      <m:rPr>
                        <m:nor/>
                      </m:rPr>
                      <a:rPr lang="en-US"/>
                      <m:t>before</m:t>
                    </m:r>
                    <m:r>
                      <m:rPr>
                        <m:nor/>
                      </m:rPr>
                      <a:rPr lang="en-US"/>
                      <m:t> </m:t>
                    </m:r>
                    <m:r>
                      <m:rPr>
                        <m:nor/>
                      </m:rPr>
                      <a:rPr lang="en-US"/>
                      <m:t>the</m:t>
                    </m:r>
                    <m:r>
                      <m:rPr>
                        <m:nor/>
                      </m:rPr>
                      <a:rPr lang="en-US"/>
                      <m:t> </m:t>
                    </m:r>
                    <m:r>
                      <m:rPr>
                        <m:nor/>
                      </m:rPr>
                      <a:rPr lang="en-US"/>
                      <m:t>first</m:t>
                    </m:r>
                    <m:r>
                      <m:rPr>
                        <m:nor/>
                      </m:rPr>
                      <a:rPr lang="en-US"/>
                      <m:t> </m:t>
                    </m:r>
                    <m:r>
                      <m:rPr>
                        <m:nor/>
                      </m:rPr>
                      <a:rPr lang="en-US"/>
                      <m:t>instruction</m:t>
                    </m:r>
                    <m:r>
                      <m:rPr>
                        <m:nor/>
                      </m:rPr>
                      <a:rPr lang="en-US"/>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m:rPr>
                        <m:nor/>
                      </m:rPr>
                      <a:rPr lang="en-US"/>
                      <m:t> </m:t>
                    </m:r>
                    <m:r>
                      <m:rPr>
                        <m:nor/>
                      </m:rPr>
                      <a:rPr lang="en-US"/>
                      <m:t>is</m:t>
                    </m:r>
                    <m:r>
                      <m:rPr>
                        <m:nor/>
                      </m:rPr>
                      <a:rPr lang="en-US"/>
                      <m:t> </m:t>
                    </m:r>
                    <m:r>
                      <m:rPr>
                        <m:nor/>
                      </m:rPr>
                      <a:rPr lang="en-US"/>
                      <m:t>executed</m:t>
                    </m:r>
                    <m:r>
                      <m:rPr>
                        <m:nor/>
                      </m:rPr>
                      <a:rPr lang="en-US"/>
                      <m:t>, </m:t>
                    </m:r>
                    <m:r>
                      <m:rPr>
                        <m:nor/>
                      </m:rPr>
                      <a:rPr lang="en-US"/>
                      <m:t>and</m:t>
                    </m:r>
                    <m:r>
                      <m:rPr>
                        <m:nor/>
                      </m:rPr>
                      <a:rPr lang="en-US"/>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𝑛</m:t>
                        </m:r>
                      </m:sub>
                    </m:sSub>
                    <m:r>
                      <m:rPr>
                        <m:nor/>
                      </m:rPr>
                      <a:rPr lang="en-US" i="1"/>
                      <m:t> </m:t>
                    </m:r>
                    <m:r>
                      <m:rPr>
                        <m:nor/>
                      </m:rPr>
                      <a:rPr lang="en-US"/>
                      <m:t>represents</m:t>
                    </m:r>
                    <m:r>
                      <m:rPr>
                        <m:nor/>
                      </m:rPr>
                      <a:rPr lang="en-US"/>
                      <m:t> </m:t>
                    </m:r>
                    <m:r>
                      <m:rPr>
                        <m:nor/>
                      </m:rPr>
                      <a:rPr lang="en-US"/>
                      <m:t>the</m:t>
                    </m:r>
                    <m:r>
                      <m:rPr>
                        <m:nor/>
                      </m:rPr>
                      <a:rPr lang="en-US"/>
                      <m:t> </m:t>
                    </m:r>
                    <m:r>
                      <m:rPr>
                        <m:nor/>
                      </m:rPr>
                      <a:rPr lang="en-US"/>
                      <m:t>program</m:t>
                    </m:r>
                    <m:r>
                      <m:rPr>
                        <m:nor/>
                      </m:rPr>
                      <a:rPr lang="en-US"/>
                      <m:t> </m:t>
                    </m:r>
                    <m:r>
                      <m:rPr>
                        <m:nor/>
                      </m:rPr>
                      <a:rPr lang="en-US"/>
                      <m:t>state</m:t>
                    </m:r>
                    <m:r>
                      <m:rPr>
                        <m:nor/>
                      </m:rPr>
                      <a:rPr lang="en-US"/>
                      <m:t> </m:t>
                    </m:r>
                    <m:r>
                      <m:rPr>
                        <m:nor/>
                      </m:rPr>
                      <a:rPr lang="en-US"/>
                      <m:t>stored</m:t>
                    </m:r>
                    <m:r>
                      <m:rPr>
                        <m:nor/>
                      </m:rPr>
                      <a:rPr lang="en-US"/>
                      <m:t> </m:t>
                    </m:r>
                    <m:r>
                      <m:rPr>
                        <m:nor/>
                      </m:rPr>
                      <a:rPr lang="en-US"/>
                      <m:t>in</m:t>
                    </m:r>
                    <m:r>
                      <m:rPr>
                        <m:nor/>
                      </m:rPr>
                      <a:rPr lang="en-US"/>
                      <m:t> </m:t>
                    </m:r>
                    <m:r>
                      <m:rPr>
                        <m:nor/>
                      </m:rPr>
                      <a:rPr lang="en-US"/>
                      <m:t>the</m:t>
                    </m:r>
                    <m:r>
                      <m:rPr>
                        <m:nor/>
                      </m:rPr>
                      <a:rPr lang="en-US"/>
                      <m:t> </m:t>
                    </m:r>
                    <m:r>
                      <m:rPr>
                        <m:nor/>
                      </m:rPr>
                      <a:rPr lang="en-US"/>
                      <m:t>memory</m:t>
                    </m:r>
                    <m:r>
                      <m:rPr>
                        <m:nor/>
                      </m:rPr>
                      <a:rPr lang="en-US"/>
                      <m:t> </m:t>
                    </m:r>
                    <m:r>
                      <m:rPr>
                        <m:nor/>
                      </m:rPr>
                      <a:rPr lang="en-US"/>
                      <m:t>dump</m:t>
                    </m:r>
                    <m:r>
                      <m:rPr>
                        <m:nor/>
                      </m:rPr>
                      <a:rPr lang="en-US"/>
                      <m:t> </m:t>
                    </m:r>
                  </m:oMath>
                </a14:m>
                <a:endParaRPr lang="en-US" dirty="0"/>
              </a:p>
              <a:p>
                <a:endParaRPr lang="en-US" dirty="0"/>
              </a:p>
              <a:p>
                <a:r>
                  <a:rPr lang="en-US" dirty="0"/>
                  <a:t>In context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r>
                  <a:rPr lang="en-US" dirty="0"/>
                  <a:t>, this will be considered as complete if all the register and memory are known.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sub>
                    </m:sSub>
                  </m:oMath>
                </a14:m>
                <a:r>
                  <a:rPr lang="en-US" i="1" dirty="0">
                    <a:latin typeface="Cambria Math" panose="02040503050406030204" pitchFamily="18" charset="0"/>
                  </a:rPr>
                  <a:t>,</a:t>
                </a:r>
                <a:r>
                  <a:rPr lang="en-US" dirty="0">
                    <a:latin typeface="Cambria Math" panose="02040503050406030204" pitchFamily="18" charset="0"/>
                  </a:rPr>
                  <a:t> is defined as reversible if, given a complete state,</a:t>
                </a:r>
                <a:r>
                  <a:rPr lang="en-US" i="1" dirty="0">
                    <a:latin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r>
                  <a:rPr lang="en-US" dirty="0"/>
                  <a:t>. Then it can be recovered such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r>
                          <a:rPr lang="en-US" b="0" i="1" smtClean="0">
                            <a:latin typeface="Cambria Math" panose="02040503050406030204" pitchFamily="18" charset="0"/>
                          </a:rPr>
                          <m:t>−1</m:t>
                        </m:r>
                      </m:sub>
                    </m:sSub>
                  </m:oMath>
                </a14:m>
                <a:r>
                  <a:rPr lang="en-US" dirty="0"/>
                  <a:t> completely otherwise it is the instruction is irreversible.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FE87D105-B46F-A244-B72C-270A7E3A9D5D}"/>
                  </a:ext>
                </a:extLst>
              </p:cNvPr>
              <p:cNvSpPr>
                <a:spLocks noGrp="1" noRot="1" noChangeAspect="1" noMove="1" noResize="1" noEditPoints="1" noAdjustHandles="1" noChangeArrowheads="1" noChangeShapeType="1" noTextEdit="1"/>
              </p:cNvSpPr>
              <p:nvPr>
                <p:ph idx="1"/>
              </p:nvPr>
            </p:nvSpPr>
            <p:spPr>
              <a:blipFill>
                <a:blip r:embed="rId2"/>
                <a:stretch>
                  <a:fillRect l="-375"/>
                </a:stretch>
              </a:blipFill>
            </p:spPr>
            <p:txBody>
              <a:bodyPr/>
              <a:lstStyle/>
              <a:p>
                <a:r>
                  <a:rPr lang="en-US">
                    <a:noFill/>
                  </a:rPr>
                  <a:t> </a:t>
                </a:r>
              </a:p>
            </p:txBody>
          </p:sp>
        </mc:Fallback>
      </mc:AlternateContent>
    </p:spTree>
    <p:extLst>
      <p:ext uri="{BB962C8B-B14F-4D97-AF65-F5344CB8AC3E}">
        <p14:creationId xmlns:p14="http://schemas.microsoft.com/office/powerpoint/2010/main" val="1824325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C0DE-B983-0C48-9953-94FF16441889}"/>
              </a:ext>
            </a:extLst>
          </p:cNvPr>
          <p:cNvSpPr>
            <a:spLocks noGrp="1"/>
          </p:cNvSpPr>
          <p:nvPr>
            <p:ph type="title"/>
          </p:nvPr>
        </p:nvSpPr>
        <p:spPr/>
        <p:txBody>
          <a:bodyPr/>
          <a:lstStyle/>
          <a:p>
            <a:r>
              <a:rPr lang="en-US" dirty="0"/>
              <a:t>Design of REPT contd.</a:t>
            </a:r>
          </a:p>
        </p:txBody>
      </p:sp>
      <p:sp>
        <p:nvSpPr>
          <p:cNvPr id="3" name="Content Placeholder 2">
            <a:extLst>
              <a:ext uri="{FF2B5EF4-FFF2-40B4-BE49-F238E27FC236}">
                <a16:creationId xmlns:a16="http://schemas.microsoft.com/office/drawing/2014/main" id="{B2E81B04-4DA9-094A-ACAC-48CDC8DC7F29}"/>
              </a:ext>
            </a:extLst>
          </p:cNvPr>
          <p:cNvSpPr>
            <a:spLocks noGrp="1"/>
          </p:cNvSpPr>
          <p:nvPr>
            <p:ph idx="1"/>
          </p:nvPr>
        </p:nvSpPr>
        <p:spPr>
          <a:xfrm>
            <a:off x="685801" y="2142068"/>
            <a:ext cx="6061840" cy="1568084"/>
          </a:xfrm>
        </p:spPr>
        <p:txBody>
          <a:bodyPr>
            <a:normAutofit lnSpcReduction="10000"/>
          </a:bodyPr>
          <a:lstStyle/>
          <a:p>
            <a:r>
              <a:rPr lang="en-US" dirty="0"/>
              <a:t>Instruction Reversal</a:t>
            </a:r>
          </a:p>
          <a:p>
            <a:r>
              <a:rPr lang="en-US" dirty="0"/>
              <a:t>Irreversible Instruction Handling</a:t>
            </a:r>
          </a:p>
          <a:p>
            <a:r>
              <a:rPr lang="en-US" dirty="0"/>
              <a:t>Recovering Memory Writes</a:t>
            </a:r>
          </a:p>
          <a:p>
            <a:r>
              <a:rPr lang="en-US" dirty="0"/>
              <a:t>Handling Concurrency</a:t>
            </a:r>
          </a:p>
        </p:txBody>
      </p:sp>
    </p:spTree>
    <p:extLst>
      <p:ext uri="{BB962C8B-B14F-4D97-AF65-F5344CB8AC3E}">
        <p14:creationId xmlns:p14="http://schemas.microsoft.com/office/powerpoint/2010/main" val="4155384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11339-8FFE-5342-B112-76C1C9AB666B}"/>
              </a:ext>
            </a:extLst>
          </p:cNvPr>
          <p:cNvSpPr>
            <a:spLocks noGrp="1"/>
          </p:cNvSpPr>
          <p:nvPr>
            <p:ph type="title"/>
          </p:nvPr>
        </p:nvSpPr>
        <p:spPr/>
        <p:txBody>
          <a:bodyPr/>
          <a:lstStyle/>
          <a:p>
            <a:r>
              <a:rPr lang="en-US" dirty="0"/>
              <a:t>Instruction Reversal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3E260B-EAC9-B14A-BA47-E4475D5E2B8F}"/>
                  </a:ext>
                </a:extLst>
              </p:cNvPr>
              <p:cNvSpPr>
                <a:spLocks noGrp="1"/>
              </p:cNvSpPr>
              <p:nvPr>
                <p:ph idx="1"/>
              </p:nvPr>
            </p:nvSpPr>
            <p:spPr/>
            <p:txBody>
              <a:bodyPr/>
              <a:lstStyle/>
              <a:p>
                <a:r>
                  <a:rPr lang="en-US" dirty="0"/>
                  <a:t>REPT assumes an input is a single instruction sequence with only reversible only reversible instructions. Moreover, every instruction is considered reversible then REPT can reverse the effects of each instruction. Then it can recover the initial program state from the end of the instruction to the beginning. </a:t>
                </a:r>
              </a:p>
              <a:p>
                <a:r>
                  <a:rPr lang="en-US" dirty="0"/>
                  <a:t>For instance, if the instruction sequence has a single instruction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𝐼</m:t>
                        </m:r>
                      </m:e>
                      <m:sub>
                        <m:r>
                          <a:rPr lang="en-US" b="0" i="1" dirty="0" smtClean="0">
                            <a:latin typeface="Cambria Math" panose="02040503050406030204" pitchFamily="18" charset="0"/>
                          </a:rPr>
                          <m:t>1</m:t>
                        </m:r>
                      </m:sub>
                    </m:sSub>
                  </m:oMath>
                </a14:m>
                <a:r>
                  <a:rPr lang="en-US" dirty="0"/>
                  <a:t> = add </a:t>
                </a:r>
                <a:r>
                  <a:rPr lang="en-US" dirty="0" err="1"/>
                  <a:t>rax,rbx</a:t>
                </a:r>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a14:m>
                <a:r>
                  <a:rPr lang="en-US" dirty="0"/>
                  <a:t> = {</a:t>
                </a:r>
                <a:r>
                  <a:rPr lang="en-US" dirty="0" err="1"/>
                  <a:t>rax</a:t>
                </a:r>
                <a:r>
                  <a:rPr lang="en-US" dirty="0"/>
                  <a:t>=3, </a:t>
                </a:r>
                <a:r>
                  <a:rPr lang="en-US" dirty="0" err="1"/>
                  <a:t>rbx</a:t>
                </a:r>
                <a:r>
                  <a:rPr lang="en-US" dirty="0"/>
                  <a:t>=1}, then the analysis can recover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oMath>
                </a14:m>
                <a:r>
                  <a:rPr lang="en-US" dirty="0"/>
                  <a:t> = {</a:t>
                </a:r>
                <a:r>
                  <a:rPr lang="en-US" dirty="0" err="1"/>
                  <a:t>rax</a:t>
                </a:r>
                <a:r>
                  <a:rPr lang="en-US" dirty="0"/>
                  <a:t>=2, </a:t>
                </a:r>
                <a:r>
                  <a:rPr lang="en-US" dirty="0" err="1"/>
                  <a:t>rbx</a:t>
                </a:r>
                <a:r>
                  <a:rPr lang="en-US" dirty="0"/>
                  <a:t>=1}.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93E260B-EAC9-B14A-BA47-E4475D5E2B8F}"/>
                  </a:ext>
                </a:extLst>
              </p:cNvPr>
              <p:cNvSpPr>
                <a:spLocks noGrp="1" noRot="1" noChangeAspect="1" noMove="1" noResize="1" noEditPoints="1" noAdjustHandles="1" noChangeArrowheads="1" noChangeShapeType="1" noTextEdit="1"/>
              </p:cNvSpPr>
              <p:nvPr>
                <p:ph idx="1"/>
              </p:nvPr>
            </p:nvSpPr>
            <p:spPr>
              <a:blipFill>
                <a:blip r:embed="rId2"/>
                <a:stretch>
                  <a:fillRect l="-375" r="-375"/>
                </a:stretch>
              </a:blipFill>
            </p:spPr>
            <p:txBody>
              <a:bodyPr/>
              <a:lstStyle/>
              <a:p>
                <a:r>
                  <a:rPr lang="en-US">
                    <a:noFill/>
                  </a:rPr>
                  <a:t> </a:t>
                </a:r>
              </a:p>
            </p:txBody>
          </p:sp>
        </mc:Fallback>
      </mc:AlternateContent>
    </p:spTree>
    <p:extLst>
      <p:ext uri="{BB962C8B-B14F-4D97-AF65-F5344CB8AC3E}">
        <p14:creationId xmlns:p14="http://schemas.microsoft.com/office/powerpoint/2010/main" val="2087953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8C80-A8AD-6A44-B60A-475CF61A093D}"/>
              </a:ext>
            </a:extLst>
          </p:cNvPr>
          <p:cNvSpPr>
            <a:spLocks noGrp="1"/>
          </p:cNvSpPr>
          <p:nvPr>
            <p:ph type="title"/>
          </p:nvPr>
        </p:nvSpPr>
        <p:spPr>
          <a:xfrm>
            <a:off x="825909" y="808055"/>
            <a:ext cx="3979205" cy="1453363"/>
          </a:xfrm>
        </p:spPr>
        <p:txBody>
          <a:bodyPr>
            <a:normAutofit/>
          </a:bodyPr>
          <a:lstStyle/>
          <a:p>
            <a:pPr>
              <a:lnSpc>
                <a:spcPct val="90000"/>
              </a:lnSpc>
            </a:pPr>
            <a:r>
              <a:rPr lang="en-US" sz="3300"/>
              <a:t>Irreversible Instruction Handling</a:t>
            </a:r>
          </a:p>
        </p:txBody>
      </p:sp>
      <p:sp>
        <p:nvSpPr>
          <p:cNvPr id="8" name="Content Placeholder 7">
            <a:extLst>
              <a:ext uri="{FF2B5EF4-FFF2-40B4-BE49-F238E27FC236}">
                <a16:creationId xmlns:a16="http://schemas.microsoft.com/office/drawing/2014/main" id="{BE664542-F6B5-430E-9747-82F08A027A21}"/>
              </a:ext>
            </a:extLst>
          </p:cNvPr>
          <p:cNvSpPr>
            <a:spLocks noGrp="1"/>
          </p:cNvSpPr>
          <p:nvPr>
            <p:ph idx="1"/>
          </p:nvPr>
        </p:nvSpPr>
        <p:spPr>
          <a:xfrm>
            <a:off x="802178" y="2261420"/>
            <a:ext cx="4002936" cy="3637935"/>
          </a:xfrm>
        </p:spPr>
        <p:txBody>
          <a:bodyPr>
            <a:normAutofit fontScale="92500" lnSpcReduction="10000"/>
          </a:bodyPr>
          <a:lstStyle/>
          <a:p>
            <a:r>
              <a:rPr lang="en-US" dirty="0"/>
              <a:t>Irreversible instruction handling is almost the same as instruction reversal except it doesn’t include any memory access.</a:t>
            </a:r>
          </a:p>
          <a:p>
            <a:r>
              <a:rPr lang="en-US" dirty="0"/>
              <a:t>The key visualization for deducing a recovered destroyed value is forward analysis. </a:t>
            </a:r>
          </a:p>
          <a:p>
            <a:r>
              <a:rPr lang="en-US" dirty="0"/>
              <a:t>This means if there is a destroyed value that is derived from some registers or memory locations and their values are available then it is recoverable. This is done by forward and backward analysis till there are no new values are recovered.</a:t>
            </a:r>
          </a:p>
        </p:txBody>
      </p:sp>
      <p:pic>
        <p:nvPicPr>
          <p:cNvPr id="4" name="Content Placeholder 3" descr="A screenshot of a cell phone&#10;&#10;Description automatically generated">
            <a:extLst>
              <a:ext uri="{FF2B5EF4-FFF2-40B4-BE49-F238E27FC236}">
                <a16:creationId xmlns:a16="http://schemas.microsoft.com/office/drawing/2014/main" id="{96A38CD7-3665-FF44-8113-6310BD7657F7}"/>
              </a:ext>
            </a:extLst>
          </p:cNvPr>
          <p:cNvPicPr>
            <a:picLocks noChangeAspect="1"/>
          </p:cNvPicPr>
          <p:nvPr/>
        </p:nvPicPr>
        <p:blipFill>
          <a:blip r:embed="rId4"/>
          <a:stretch>
            <a:fillRect/>
          </a:stretch>
        </p:blipFill>
        <p:spPr>
          <a:xfrm>
            <a:off x="5289752" y="2723086"/>
            <a:ext cx="6095593" cy="124959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977161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C9A2-E615-C44A-9F42-0868BD3802F2}"/>
              </a:ext>
            </a:extLst>
          </p:cNvPr>
          <p:cNvSpPr>
            <a:spLocks noGrp="1"/>
          </p:cNvSpPr>
          <p:nvPr>
            <p:ph type="title"/>
          </p:nvPr>
        </p:nvSpPr>
        <p:spPr>
          <a:xfrm>
            <a:off x="825909" y="808055"/>
            <a:ext cx="3979205" cy="1453363"/>
          </a:xfrm>
        </p:spPr>
        <p:txBody>
          <a:bodyPr>
            <a:normAutofit/>
          </a:bodyPr>
          <a:lstStyle/>
          <a:p>
            <a:r>
              <a:rPr lang="en-US" dirty="0"/>
              <a:t>Recovering Memory Writes</a:t>
            </a:r>
          </a:p>
        </p:txBody>
      </p:sp>
      <p:sp>
        <p:nvSpPr>
          <p:cNvPr id="10" name="Content Placeholder 7">
            <a:extLst>
              <a:ext uri="{FF2B5EF4-FFF2-40B4-BE49-F238E27FC236}">
                <a16:creationId xmlns:a16="http://schemas.microsoft.com/office/drawing/2014/main" id="{C70AECF3-3F99-4CE7-A04F-79710CF51DA6}"/>
              </a:ext>
            </a:extLst>
          </p:cNvPr>
          <p:cNvSpPr>
            <a:spLocks noGrp="1"/>
          </p:cNvSpPr>
          <p:nvPr>
            <p:ph idx="1"/>
          </p:nvPr>
        </p:nvSpPr>
        <p:spPr>
          <a:xfrm>
            <a:off x="802178" y="2261420"/>
            <a:ext cx="4002936" cy="3637935"/>
          </a:xfrm>
        </p:spPr>
        <p:txBody>
          <a:bodyPr>
            <a:normAutofit/>
          </a:bodyPr>
          <a:lstStyle/>
          <a:p>
            <a:r>
              <a:rPr lang="en-US"/>
              <a:t>Recovering memory writes is almost the same as instruction reversal except now it has irreversible instructions and memory access.</a:t>
            </a:r>
          </a:p>
          <a:p>
            <a:r>
              <a:rPr lang="en-US"/>
              <a:t>The idea to solve the missing memory write issue is error correction. Rept uses the memory values that are possibly valid to conclude other values and to correct these values later (if the values are invalid based on conflicts). </a:t>
            </a:r>
          </a:p>
          <a:p>
            <a:endParaRPr lang="en-US" dirty="0"/>
          </a:p>
        </p:txBody>
      </p:sp>
      <p:pic>
        <p:nvPicPr>
          <p:cNvPr id="4" name="Content Placeholder 3" descr="A screenshot of a cell phone&#10;&#10;Description automatically generated">
            <a:extLst>
              <a:ext uri="{FF2B5EF4-FFF2-40B4-BE49-F238E27FC236}">
                <a16:creationId xmlns:a16="http://schemas.microsoft.com/office/drawing/2014/main" id="{7744874C-7DE6-A54B-82EB-D8532C5E4A66}"/>
              </a:ext>
            </a:extLst>
          </p:cNvPr>
          <p:cNvPicPr>
            <a:picLocks noChangeAspect="1"/>
          </p:cNvPicPr>
          <p:nvPr/>
        </p:nvPicPr>
        <p:blipFill>
          <a:blip r:embed="rId4"/>
          <a:stretch>
            <a:fillRect/>
          </a:stretch>
        </p:blipFill>
        <p:spPr>
          <a:xfrm>
            <a:off x="4928260" y="2494500"/>
            <a:ext cx="7017717" cy="2457510"/>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25532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26F5-41E7-1344-BD3D-6A61E5FA6B9E}"/>
              </a:ext>
            </a:extLst>
          </p:cNvPr>
          <p:cNvSpPr>
            <a:spLocks noGrp="1"/>
          </p:cNvSpPr>
          <p:nvPr>
            <p:ph type="title"/>
          </p:nvPr>
        </p:nvSpPr>
        <p:spPr>
          <a:xfrm>
            <a:off x="685801" y="1358900"/>
            <a:ext cx="3771899" cy="1651000"/>
          </a:xfrm>
        </p:spPr>
        <p:txBody>
          <a:bodyPr anchor="b">
            <a:normAutofit/>
          </a:bodyPr>
          <a:lstStyle/>
          <a:p>
            <a:r>
              <a:rPr lang="en-US" sz="2400"/>
              <a:t>Recovering Memory Writes contd.</a:t>
            </a:r>
          </a:p>
        </p:txBody>
      </p:sp>
      <p:sp>
        <p:nvSpPr>
          <p:cNvPr id="3" name="Content Placeholder 2">
            <a:extLst>
              <a:ext uri="{FF2B5EF4-FFF2-40B4-BE49-F238E27FC236}">
                <a16:creationId xmlns:a16="http://schemas.microsoft.com/office/drawing/2014/main" id="{6FB868E4-4254-9946-A542-69C32F6ABFD7}"/>
              </a:ext>
            </a:extLst>
          </p:cNvPr>
          <p:cNvSpPr>
            <a:spLocks noGrp="1"/>
          </p:cNvSpPr>
          <p:nvPr>
            <p:ph idx="1"/>
          </p:nvPr>
        </p:nvSpPr>
        <p:spPr>
          <a:xfrm>
            <a:off x="685801" y="3009900"/>
            <a:ext cx="4527467" cy="3628406"/>
          </a:xfrm>
        </p:spPr>
        <p:txBody>
          <a:bodyPr anchor="t">
            <a:normAutofit/>
          </a:bodyPr>
          <a:lstStyle/>
          <a:p>
            <a:r>
              <a:rPr lang="en-US" sz="1600" dirty="0"/>
              <a:t>Data inference graph: The data inference graph is different from a traditional data flow graph in the sense that it tracks how a data value is inferred in either forward or backward directions while a data flow graph tracks the program’s data flow in just one direction. </a:t>
            </a:r>
          </a:p>
          <a:p>
            <a:r>
              <a:rPr lang="en-US" sz="1600" dirty="0"/>
              <a:t>Error correction value conflict and edge conflict. A value conflict happens when an inferred value does not match the existing value. An edge conflict happens when a newly identified def node of a memory location breaks the previously assumed def-use relationship between two nodes connected through a vertical edge. </a:t>
            </a:r>
          </a:p>
          <a:p>
            <a:pPr marL="0" indent="0">
              <a:buNone/>
            </a:pPr>
            <a:endParaRPr lang="en-US" sz="1600" dirty="0"/>
          </a:p>
        </p:txBody>
      </p:sp>
      <p:pic>
        <p:nvPicPr>
          <p:cNvPr id="4" name="Content Placeholder 3" descr="A screenshot of a cell phone&#10;&#10;Description automatically generated">
            <a:extLst>
              <a:ext uri="{FF2B5EF4-FFF2-40B4-BE49-F238E27FC236}">
                <a16:creationId xmlns:a16="http://schemas.microsoft.com/office/drawing/2014/main" id="{62335F68-19B7-8340-968B-A58F751C07B2}"/>
              </a:ext>
            </a:extLst>
          </p:cNvPr>
          <p:cNvPicPr>
            <a:picLocks noChangeAspect="1"/>
          </p:cNvPicPr>
          <p:nvPr/>
        </p:nvPicPr>
        <p:blipFill>
          <a:blip r:embed="rId4"/>
          <a:stretch>
            <a:fillRect/>
          </a:stretch>
        </p:blipFill>
        <p:spPr>
          <a:xfrm>
            <a:off x="5544754" y="1018840"/>
            <a:ext cx="5511173" cy="486360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45986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42F4A-79CD-7244-9191-149CC56DC506}"/>
              </a:ext>
            </a:extLst>
          </p:cNvPr>
          <p:cNvSpPr>
            <a:spLocks noGrp="1"/>
          </p:cNvSpPr>
          <p:nvPr>
            <p:ph type="title"/>
          </p:nvPr>
        </p:nvSpPr>
        <p:spPr/>
        <p:txBody>
          <a:bodyPr/>
          <a:lstStyle/>
          <a:p>
            <a:r>
              <a:rPr lang="en-US" dirty="0"/>
              <a:t>Handling Concurrency</a:t>
            </a:r>
          </a:p>
        </p:txBody>
      </p:sp>
      <p:sp>
        <p:nvSpPr>
          <p:cNvPr id="3" name="Content Placeholder 2">
            <a:extLst>
              <a:ext uri="{FF2B5EF4-FFF2-40B4-BE49-F238E27FC236}">
                <a16:creationId xmlns:a16="http://schemas.microsoft.com/office/drawing/2014/main" id="{FFEAB844-800C-454C-992F-51C8B5F8AEA5}"/>
              </a:ext>
            </a:extLst>
          </p:cNvPr>
          <p:cNvSpPr>
            <a:spLocks noGrp="1"/>
          </p:cNvSpPr>
          <p:nvPr>
            <p:ph idx="1"/>
          </p:nvPr>
        </p:nvSpPr>
        <p:spPr/>
        <p:txBody>
          <a:bodyPr/>
          <a:lstStyle/>
          <a:p>
            <a:r>
              <a:rPr lang="en-US" dirty="0"/>
              <a:t>Think about facing multiple instructions being executed simultaneously on multiple cores. Secondly, there is no exact order from these large number of instructions. Rept can handle this by doing two solutions, first is leverage the timing information logged and Second is recognized the memory writes in only operations whose orders may affect data recovery. </a:t>
            </a:r>
          </a:p>
          <a:p>
            <a:r>
              <a:rPr lang="en-US" dirty="0"/>
              <a:t>REPT first divides them into subsequences, then merges them into a single conceptual instruction sequence based on the inferred orders </a:t>
            </a:r>
          </a:p>
          <a:p>
            <a:endParaRPr lang="en-US" dirty="0"/>
          </a:p>
        </p:txBody>
      </p:sp>
    </p:spTree>
    <p:extLst>
      <p:ext uri="{BB962C8B-B14F-4D97-AF65-F5344CB8AC3E}">
        <p14:creationId xmlns:p14="http://schemas.microsoft.com/office/powerpoint/2010/main" val="190594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1D61-F04B-5940-863E-FB035B1D1924}"/>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2FEA9B88-CE2A-8549-A129-82CBE1AB94C3}"/>
              </a:ext>
            </a:extLst>
          </p:cNvPr>
          <p:cNvSpPr>
            <a:spLocks noGrp="1"/>
          </p:cNvSpPr>
          <p:nvPr>
            <p:ph idx="1"/>
          </p:nvPr>
        </p:nvSpPr>
        <p:spPr/>
        <p:txBody>
          <a:bodyPr/>
          <a:lstStyle/>
          <a:p>
            <a:r>
              <a:rPr lang="en-US" dirty="0"/>
              <a:t>Online Hardware Tracing: REPT leverages Intel Processor Trace (PT) to log control-flow and timing information of a program’s execution. REPT currently uses the </a:t>
            </a:r>
            <a:r>
              <a:rPr lang="en-US" i="1" dirty="0"/>
              <a:t>per-thread circular </a:t>
            </a:r>
            <a:r>
              <a:rPr lang="en-US" dirty="0"/>
              <a:t>buffer mode to trace user-space execution of all threads within a process. REPT sup- ports configuring the circular buffer size and the granularity of timestamps. </a:t>
            </a:r>
          </a:p>
          <a:p>
            <a:r>
              <a:rPr lang="en-US" dirty="0"/>
              <a:t>Offline Binary Analysis: REPT takes a memory dump with Intel PT trace as in- put, and outputs the recovered execution history of each thread. It conducts the forward and backward analysis until it converges. </a:t>
            </a:r>
          </a:p>
        </p:txBody>
      </p:sp>
    </p:spTree>
    <p:extLst>
      <p:ext uri="{BB962C8B-B14F-4D97-AF65-F5344CB8AC3E}">
        <p14:creationId xmlns:p14="http://schemas.microsoft.com/office/powerpoint/2010/main" val="2743907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pic>
        <p:nvPicPr>
          <p:cNvPr id="5" name="Content Placeholder 4" descr="A close up of text on a white background&#10;&#10;Description automatically generated">
            <a:extLst>
              <a:ext uri="{FF2B5EF4-FFF2-40B4-BE49-F238E27FC236}">
                <a16:creationId xmlns:a16="http://schemas.microsoft.com/office/drawing/2014/main" id="{A0E50AD2-A269-694F-954A-591A32609A97}"/>
              </a:ext>
            </a:extLst>
          </p:cNvPr>
          <p:cNvPicPr>
            <a:picLocks noChangeAspect="1"/>
          </p:cNvPicPr>
          <p:nvPr/>
        </p:nvPicPr>
        <p:blipFill>
          <a:blip r:embed="rId4"/>
          <a:stretch>
            <a:fillRect/>
          </a:stretch>
        </p:blipFill>
        <p:spPr>
          <a:xfrm>
            <a:off x="280222" y="798513"/>
            <a:ext cx="5076839" cy="526097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pic>
        <p:nvPicPr>
          <p:cNvPr id="6" name="Content Placeholder 3" descr="A screenshot of a cell phone&#10;&#10;Description automatically generated">
            <a:extLst>
              <a:ext uri="{FF2B5EF4-FFF2-40B4-BE49-F238E27FC236}">
                <a16:creationId xmlns:a16="http://schemas.microsoft.com/office/drawing/2014/main" id="{96FA3802-CCB6-4442-8F12-587CA12FF5F7}"/>
              </a:ext>
            </a:extLst>
          </p:cNvPr>
          <p:cNvPicPr>
            <a:picLocks noGrp="1" noChangeAspect="1"/>
          </p:cNvPicPr>
          <p:nvPr>
            <p:ph idx="1"/>
          </p:nvPr>
        </p:nvPicPr>
        <p:blipFill>
          <a:blip r:embed="rId5"/>
          <a:stretch>
            <a:fillRect/>
          </a:stretch>
        </p:blipFill>
        <p:spPr>
          <a:xfrm>
            <a:off x="5698699" y="798513"/>
            <a:ext cx="5441050" cy="5260974"/>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690078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32356-220D-DB4B-93CF-6AAD4BAA2F5F}"/>
              </a:ext>
            </a:extLst>
          </p:cNvPr>
          <p:cNvSpPr>
            <a:spLocks noGrp="1"/>
          </p:cNvSpPr>
          <p:nvPr>
            <p:ph type="title"/>
          </p:nvPr>
        </p:nvSpPr>
        <p:spPr/>
        <p:txBody>
          <a:bodyPr/>
          <a:lstStyle/>
          <a:p>
            <a:r>
              <a:rPr lang="en-US"/>
              <a:t>Reviewing Rept</a:t>
            </a:r>
          </a:p>
        </p:txBody>
      </p:sp>
      <p:sp>
        <p:nvSpPr>
          <p:cNvPr id="3" name="Content Placeholder 2">
            <a:extLst>
              <a:ext uri="{FF2B5EF4-FFF2-40B4-BE49-F238E27FC236}">
                <a16:creationId xmlns:a16="http://schemas.microsoft.com/office/drawing/2014/main" id="{FEB6E570-ABF4-E646-A09C-899EB969484B}"/>
              </a:ext>
            </a:extLst>
          </p:cNvPr>
          <p:cNvSpPr>
            <a:spLocks noGrp="1"/>
          </p:cNvSpPr>
          <p:nvPr>
            <p:ph idx="1"/>
          </p:nvPr>
        </p:nvSpPr>
        <p:spPr/>
        <p:txBody>
          <a:bodyPr/>
          <a:lstStyle/>
          <a:p>
            <a:r>
              <a:rPr lang="en-US" dirty="0"/>
              <a:t>Accuracy: Rept uses Time-Travel Debugging (TTD) a slow precise record/replay tool</a:t>
            </a:r>
          </a:p>
          <a:p>
            <a:pPr lvl="1"/>
            <a:r>
              <a:rPr lang="en-US" dirty="0"/>
              <a:t>Single-thread accuracy: 16 bugs and find that the destination is a register for 95% of memory reads. </a:t>
            </a:r>
          </a:p>
          <a:p>
            <a:pPr lvl="1"/>
            <a:r>
              <a:rPr lang="en-US" dirty="0"/>
              <a:t>Multiple thread accuracy: such an approach may not perfectly reflect a multithreaded program’s actual behavior on a bare metal machine. </a:t>
            </a:r>
          </a:p>
          <a:p>
            <a:r>
              <a:rPr lang="en-US" dirty="0"/>
              <a:t>Efficiency: for the 14 bugs REPT can analyze. We can see that REPT finishes its analysis within 20 seconds for all the 14 bugs. </a:t>
            </a:r>
          </a:p>
          <a:p>
            <a:r>
              <a:rPr lang="en-US" dirty="0"/>
              <a:t>Effectiveness: REPT is effective if the values of variables that are involved in the bug fix are correctly recovered. </a:t>
            </a:r>
          </a:p>
          <a:p>
            <a:r>
              <a:rPr lang="en-US" dirty="0"/>
              <a:t>Deployment: The very first production bug that is successfully resolved with the help of REPT had been left unfixed for almost two years because developers can- not reproduce the crash locally. </a:t>
            </a:r>
          </a:p>
          <a:p>
            <a:endParaRPr lang="en-US" dirty="0"/>
          </a:p>
        </p:txBody>
      </p:sp>
    </p:spTree>
    <p:extLst>
      <p:ext uri="{BB962C8B-B14F-4D97-AF65-F5344CB8AC3E}">
        <p14:creationId xmlns:p14="http://schemas.microsoft.com/office/powerpoint/2010/main" val="3233966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68B96-BDAE-AB4F-9638-EAD3B4CEDEE4}"/>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24058C73-06A2-6A4E-AB15-5D40F9740C3C}"/>
              </a:ext>
            </a:extLst>
          </p:cNvPr>
          <p:cNvSpPr>
            <a:spLocks noGrp="1"/>
          </p:cNvSpPr>
          <p:nvPr>
            <p:ph idx="1"/>
          </p:nvPr>
        </p:nvSpPr>
        <p:spPr>
          <a:xfrm>
            <a:off x="685802" y="2142067"/>
            <a:ext cx="9028042" cy="1807081"/>
          </a:xfrm>
        </p:spPr>
        <p:txBody>
          <a:bodyPr/>
          <a:lstStyle/>
          <a:p>
            <a:r>
              <a:rPr lang="en-US" dirty="0"/>
              <a:t>First, the control flow trace may not be long enough to capture the defect (e.g., the free call is not in the trace for a use-after-free bug). </a:t>
            </a:r>
          </a:p>
          <a:p>
            <a:r>
              <a:rPr lang="en-US" dirty="0"/>
              <a:t>Second, data values that are necessary for debugging the failure are not recovered (e.g., the heap address passed to the free call is not recovered for a use-after-free bug). </a:t>
            </a:r>
          </a:p>
        </p:txBody>
      </p:sp>
    </p:spTree>
    <p:extLst>
      <p:ext uri="{BB962C8B-B14F-4D97-AF65-F5344CB8AC3E}">
        <p14:creationId xmlns:p14="http://schemas.microsoft.com/office/powerpoint/2010/main" val="1041123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A18A8-E4B8-FF49-873F-B22AE8C53445}"/>
              </a:ext>
            </a:extLst>
          </p:cNvPr>
          <p:cNvSpPr>
            <a:spLocks noGrp="1"/>
          </p:cNvSpPr>
          <p:nvPr>
            <p:ph type="title"/>
          </p:nvPr>
        </p:nvSpPr>
        <p:spPr/>
        <p:txBody>
          <a:bodyPr/>
          <a:lstStyle/>
          <a:p>
            <a:r>
              <a:rPr lang="en-US" dirty="0"/>
              <a:t>Conclusion of rept</a:t>
            </a:r>
          </a:p>
        </p:txBody>
      </p:sp>
      <p:sp>
        <p:nvSpPr>
          <p:cNvPr id="3" name="Content Placeholder 2">
            <a:extLst>
              <a:ext uri="{FF2B5EF4-FFF2-40B4-BE49-F238E27FC236}">
                <a16:creationId xmlns:a16="http://schemas.microsoft.com/office/drawing/2014/main" id="{6F798EDE-A272-9D4A-9B64-090621E1F382}"/>
              </a:ext>
            </a:extLst>
          </p:cNvPr>
          <p:cNvSpPr>
            <a:spLocks noGrp="1"/>
          </p:cNvSpPr>
          <p:nvPr>
            <p:ph idx="1"/>
          </p:nvPr>
        </p:nvSpPr>
        <p:spPr/>
        <p:txBody>
          <a:bodyPr/>
          <a:lstStyle/>
          <a:p>
            <a:r>
              <a:rPr lang="en-US" dirty="0"/>
              <a:t>REPT can accurately and efficiently recover data values based on a control flow trace and a memory dump by performing forward and backward execution iteratively with error correction. </a:t>
            </a:r>
          </a:p>
          <a:p>
            <a:r>
              <a:rPr lang="en-US" dirty="0"/>
              <a:t>REPT can recover data values with high accuracy in just seconds, and its reverse debugging is effective for diagnosing 14 out of 16 bugs. </a:t>
            </a:r>
          </a:p>
        </p:txBody>
      </p:sp>
    </p:spTree>
    <p:extLst>
      <p:ext uri="{BB962C8B-B14F-4D97-AF65-F5344CB8AC3E}">
        <p14:creationId xmlns:p14="http://schemas.microsoft.com/office/powerpoint/2010/main" val="2068704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44DC-B637-6A4C-871D-EA3F2CED8F8D}"/>
              </a:ext>
            </a:extLst>
          </p:cNvPr>
          <p:cNvSpPr>
            <a:spLocks noGrp="1"/>
          </p:cNvSpPr>
          <p:nvPr>
            <p:ph type="title"/>
          </p:nvPr>
        </p:nvSpPr>
        <p:spPr/>
        <p:txBody>
          <a:bodyPr/>
          <a:lstStyle/>
          <a:p>
            <a:r>
              <a:rPr lang="en-US" dirty="0"/>
              <a:t>Q/a</a:t>
            </a:r>
          </a:p>
        </p:txBody>
      </p:sp>
      <p:sp>
        <p:nvSpPr>
          <p:cNvPr id="3" name="Content Placeholder 2">
            <a:extLst>
              <a:ext uri="{FF2B5EF4-FFF2-40B4-BE49-F238E27FC236}">
                <a16:creationId xmlns:a16="http://schemas.microsoft.com/office/drawing/2014/main" id="{F07D3C8E-896C-2840-A5A6-570A91C9322C}"/>
              </a:ext>
            </a:extLst>
          </p:cNvPr>
          <p:cNvSpPr>
            <a:spLocks noGrp="1"/>
          </p:cNvSpPr>
          <p:nvPr>
            <p:ph idx="1"/>
          </p:nvPr>
        </p:nvSpPr>
        <p:spPr/>
        <p:txBody>
          <a:bodyPr/>
          <a:lstStyle/>
          <a:p>
            <a:r>
              <a:rPr lang="en-US"/>
              <a:t>Any questions</a:t>
            </a:r>
            <a:r>
              <a:rPr lang="en-US" dirty="0"/>
              <a:t>?</a:t>
            </a:r>
          </a:p>
        </p:txBody>
      </p:sp>
    </p:spTree>
    <p:extLst>
      <p:ext uri="{BB962C8B-B14F-4D97-AF65-F5344CB8AC3E}">
        <p14:creationId xmlns:p14="http://schemas.microsoft.com/office/powerpoint/2010/main" val="31575869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3450</Words>
  <Application>Microsoft Office PowerPoint</Application>
  <PresentationFormat>Widescreen</PresentationFormat>
  <Paragraphs>198</Paragraphs>
  <Slides>22</Slides>
  <Notes>10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Celestial</vt:lpstr>
      <vt:lpstr>REPT: Reverse Debugging of Failures in Deployed Software  </vt:lpstr>
      <vt:lpstr>Debugging/Software failures</vt:lpstr>
      <vt:lpstr>Automatic Root cause diagnosis / failure reproduction</vt:lpstr>
      <vt:lpstr>What about reverse debugging or Time travel debugging?</vt:lpstr>
      <vt:lpstr>What is rept?</vt:lpstr>
      <vt:lpstr>What are the challenges that Rept face?</vt:lpstr>
      <vt:lpstr>Irreversible Instructions</vt:lpstr>
      <vt:lpstr>Missing Memory Writes </vt:lpstr>
      <vt:lpstr>Concurrent Memory Writes </vt:lpstr>
      <vt:lpstr>Design of Rept</vt:lpstr>
      <vt:lpstr>Design of REPT contd.</vt:lpstr>
      <vt:lpstr>Instruction Reversal</vt:lpstr>
      <vt:lpstr>Irreversible Instruction Handling</vt:lpstr>
      <vt:lpstr>Recovering Memory Writes</vt:lpstr>
      <vt:lpstr>Recovering Memory Writes contd.</vt:lpstr>
      <vt:lpstr>Handling Concurrency</vt:lpstr>
      <vt:lpstr>Implementation</vt:lpstr>
      <vt:lpstr>PowerPoint Presentation</vt:lpstr>
      <vt:lpstr>Reviewing Rept</vt:lpstr>
      <vt:lpstr>limitations</vt:lpstr>
      <vt:lpstr>Conclusion of rept</vt:lpstr>
      <vt:lpstr>Q/a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REPT: Reverse Debugging of Failures in Deployed Software  </dc:title>
  <dc:creator>Alaniz, Zacharias</dc:creator>
  <cp:lastModifiedBy>Alaniz, Zacharias</cp:lastModifiedBy>
  <cp:revision>2</cp:revision>
  <dcterms:created xsi:type="dcterms:W3CDTF">2020-03-20T01:06:11Z</dcterms:created>
  <dcterms:modified xsi:type="dcterms:W3CDTF">2020-03-21T00:24:06Z</dcterms:modified>
</cp:coreProperties>
</file>