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62" r:id="rId1"/>
  </p:sldMasterIdLst>
  <p:notesMasterIdLst>
    <p:notesMasterId r:id="rId45"/>
  </p:notesMasterIdLst>
  <p:handoutMasterIdLst>
    <p:handoutMasterId r:id="rId46"/>
  </p:handoutMasterIdLst>
  <p:sldIdLst>
    <p:sldId id="256" r:id="rId2"/>
    <p:sldId id="257" r:id="rId3"/>
    <p:sldId id="307" r:id="rId4"/>
    <p:sldId id="308" r:id="rId5"/>
    <p:sldId id="312" r:id="rId6"/>
    <p:sldId id="313" r:id="rId7"/>
    <p:sldId id="315" r:id="rId8"/>
    <p:sldId id="314" r:id="rId9"/>
    <p:sldId id="309" r:id="rId10"/>
    <p:sldId id="317" r:id="rId11"/>
    <p:sldId id="316" r:id="rId12"/>
    <p:sldId id="331" r:id="rId13"/>
    <p:sldId id="318" r:id="rId14"/>
    <p:sldId id="328" r:id="rId15"/>
    <p:sldId id="319" r:id="rId16"/>
    <p:sldId id="347" r:id="rId17"/>
    <p:sldId id="329" r:id="rId18"/>
    <p:sldId id="321" r:id="rId19"/>
    <p:sldId id="348" r:id="rId20"/>
    <p:sldId id="330" r:id="rId21"/>
    <p:sldId id="322" r:id="rId22"/>
    <p:sldId id="337" r:id="rId23"/>
    <p:sldId id="323" r:id="rId24"/>
    <p:sldId id="324" r:id="rId25"/>
    <p:sldId id="334" r:id="rId26"/>
    <p:sldId id="333" r:id="rId27"/>
    <p:sldId id="335" r:id="rId28"/>
    <p:sldId id="336" r:id="rId29"/>
    <p:sldId id="338" r:id="rId30"/>
    <p:sldId id="311" r:id="rId31"/>
    <p:sldId id="339" r:id="rId32"/>
    <p:sldId id="340" r:id="rId33"/>
    <p:sldId id="325" r:id="rId34"/>
    <p:sldId id="341" r:id="rId35"/>
    <p:sldId id="342" r:id="rId36"/>
    <p:sldId id="343" r:id="rId37"/>
    <p:sldId id="344" r:id="rId38"/>
    <p:sldId id="345" r:id="rId39"/>
    <p:sldId id="346" r:id="rId40"/>
    <p:sldId id="327" r:id="rId41"/>
    <p:sldId id="326" r:id="rId42"/>
    <p:sldId id="305" r:id="rId43"/>
    <p:sldId id="306" r:id="rId4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6600"/>
    <a:srgbClr val="FFFFFF"/>
    <a:srgbClr val="FFC000"/>
    <a:srgbClr val="CC66FF"/>
    <a:srgbClr val="00CC99"/>
    <a:srgbClr val="FF9999"/>
    <a:srgbClr val="FF7C80"/>
    <a:srgbClr val="89C3E5"/>
    <a:srgbClr val="002060"/>
    <a:srgbClr val="0070C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7009" autoAdjust="0"/>
    <p:restoredTop sz="82013" autoAdjust="0"/>
  </p:normalViewPr>
  <p:slideViewPr>
    <p:cSldViewPr snapToGrid="0">
      <p:cViewPr varScale="1">
        <p:scale>
          <a:sx n="67" d="100"/>
          <a:sy n="67" d="100"/>
        </p:scale>
        <p:origin x="1128" y="53"/>
      </p:cViewPr>
      <p:guideLst/>
    </p:cSldViewPr>
  </p:slideViewPr>
  <p:notesTextViewPr>
    <p:cViewPr>
      <p:scale>
        <a:sx n="3" d="2"/>
        <a:sy n="3" d="2"/>
      </p:scale>
      <p:origin x="0" y="0"/>
    </p:cViewPr>
  </p:notesTextViewPr>
  <p:sorterViewPr>
    <p:cViewPr>
      <p:scale>
        <a:sx n="100" d="100"/>
        <a:sy n="100" d="100"/>
      </p:scale>
      <p:origin x="0" y="-485"/>
    </p:cViewPr>
  </p:sorterViewPr>
  <p:notesViewPr>
    <p:cSldViewPr snapToGrid="0">
      <p:cViewPr varScale="1">
        <p:scale>
          <a:sx n="62" d="100"/>
          <a:sy n="62" d="100"/>
        </p:scale>
        <p:origin x="3154" y="72"/>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handoutMaster" Target="handoutMasters/handoutMaster1.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CFB2D72-BFBF-4BD7-8431-A09742F38B09}"/>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08E6B462-7D8A-45B6-A037-049C341046DB}"/>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82C14B26-E832-4940-895B-882E8EEE4F8D}" type="datetimeFigureOut">
              <a:rPr lang="en-US" smtClean="0"/>
              <a:t>13-Mar-20</a:t>
            </a:fld>
            <a:endParaRPr lang="en-US"/>
          </a:p>
        </p:txBody>
      </p:sp>
      <p:sp>
        <p:nvSpPr>
          <p:cNvPr id="4" name="Footer Placeholder 3">
            <a:extLst>
              <a:ext uri="{FF2B5EF4-FFF2-40B4-BE49-F238E27FC236}">
                <a16:creationId xmlns:a16="http://schemas.microsoft.com/office/drawing/2014/main" id="{2C4FC836-4F69-4208-A689-4019084525B4}"/>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689F5D5F-3C49-4709-B24A-B38E1701DB6A}"/>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28D362B0-1FE3-4B8D-BB60-E0919A3C4061}" type="slidenum">
              <a:rPr lang="en-US" smtClean="0"/>
              <a:t>‹#›</a:t>
            </a:fld>
            <a:endParaRPr lang="en-US"/>
          </a:p>
        </p:txBody>
      </p:sp>
    </p:spTree>
    <p:extLst>
      <p:ext uri="{BB962C8B-B14F-4D97-AF65-F5344CB8AC3E}">
        <p14:creationId xmlns:p14="http://schemas.microsoft.com/office/powerpoint/2010/main" val="51674540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E2421BB-FB8B-4D08-81F1-42C5FB124F02}" type="datetimeFigureOut">
              <a:rPr lang="en-US" smtClean="0"/>
              <a:t>13-Mar-20</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5DEA2C6-D913-488B-A290-8B34DDB230B2}" type="slidenum">
              <a:rPr lang="en-US" smtClean="0"/>
              <a:t>‹#›</a:t>
            </a:fld>
            <a:endParaRPr lang="en-US"/>
          </a:p>
        </p:txBody>
      </p:sp>
    </p:spTree>
    <p:extLst>
      <p:ext uri="{BB962C8B-B14F-4D97-AF65-F5344CB8AC3E}">
        <p14:creationId xmlns:p14="http://schemas.microsoft.com/office/powerpoint/2010/main" val="155494346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Changes: the development of small but powerful, mobile devices and the move to massive-scale cloud computing. </a:t>
            </a:r>
          </a:p>
          <a:p>
            <a:r>
              <a:rPr lang="en-US" dirty="0"/>
              <a:t>These changes have led to a shift away from traditional desktop applications to modern mobile/cloud applications.</a:t>
            </a:r>
          </a:p>
        </p:txBody>
      </p:sp>
      <p:sp>
        <p:nvSpPr>
          <p:cNvPr id="4" name="Slide Number Placeholder 3"/>
          <p:cNvSpPr>
            <a:spLocks noGrp="1"/>
          </p:cNvSpPr>
          <p:nvPr>
            <p:ph type="sldNum" sz="quarter" idx="5"/>
          </p:nvPr>
        </p:nvSpPr>
        <p:spPr/>
        <p:txBody>
          <a:bodyPr/>
          <a:lstStyle/>
          <a:p>
            <a:fld id="{A5DEA2C6-D913-488B-A290-8B34DDB230B2}" type="slidenum">
              <a:rPr lang="en-US" smtClean="0"/>
              <a:t>4</a:t>
            </a:fld>
            <a:endParaRPr lang="en-US"/>
          </a:p>
        </p:txBody>
      </p:sp>
    </p:spTree>
    <p:extLst>
      <p:ext uri="{BB962C8B-B14F-4D97-AF65-F5344CB8AC3E}">
        <p14:creationId xmlns:p14="http://schemas.microsoft.com/office/powerpoint/2010/main" val="44346575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Code for today’s applications spans cloud servers and mobile devices. </a:t>
            </a:r>
          </a:p>
          <a:p>
            <a:r>
              <a:rPr lang="en-US" dirty="0"/>
              <a:t>Client-side code runs on varied mobile platforms, while server-side code runs in the cloud, typically using shared backend services like distributed storage.</a:t>
            </a:r>
          </a:p>
          <a:p>
            <a:endParaRPr lang="en-US" dirty="0"/>
          </a:p>
          <a:p>
            <a:r>
              <a:rPr lang="en-US" dirty="0"/>
              <a:t>As a consequence, modern applications have become inherently distributed, with data and code spread across cloud backends and user devices such as phones and tablets.</a:t>
            </a:r>
          </a:p>
        </p:txBody>
      </p:sp>
      <p:sp>
        <p:nvSpPr>
          <p:cNvPr id="4" name="Slide Number Placeholder 3"/>
          <p:cNvSpPr>
            <a:spLocks noGrp="1"/>
          </p:cNvSpPr>
          <p:nvPr>
            <p:ph type="sldNum" sz="quarter" idx="5"/>
          </p:nvPr>
        </p:nvSpPr>
        <p:spPr/>
        <p:txBody>
          <a:bodyPr/>
          <a:lstStyle/>
          <a:p>
            <a:fld id="{A5DEA2C6-D913-488B-A290-8B34DDB230B2}" type="slidenum">
              <a:rPr lang="en-US" smtClean="0"/>
              <a:t>5</a:t>
            </a:fld>
            <a:endParaRPr lang="en-US"/>
          </a:p>
        </p:txBody>
      </p:sp>
    </p:spTree>
    <p:extLst>
      <p:ext uri="{BB962C8B-B14F-4D97-AF65-F5344CB8AC3E}">
        <p14:creationId xmlns:p14="http://schemas.microsoft.com/office/powerpoint/2010/main" val="199628662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Application programmers face new challenges</a:t>
            </a:r>
          </a:p>
        </p:txBody>
      </p:sp>
      <p:sp>
        <p:nvSpPr>
          <p:cNvPr id="4" name="Slide Number Placeholder 3"/>
          <p:cNvSpPr>
            <a:spLocks noGrp="1"/>
          </p:cNvSpPr>
          <p:nvPr>
            <p:ph type="sldNum" sz="quarter" idx="5"/>
          </p:nvPr>
        </p:nvSpPr>
        <p:spPr/>
        <p:txBody>
          <a:bodyPr/>
          <a:lstStyle/>
          <a:p>
            <a:fld id="{A5DEA2C6-D913-488B-A290-8B34DDB230B2}" type="slidenum">
              <a:rPr lang="en-US" smtClean="0"/>
              <a:t>6</a:t>
            </a:fld>
            <a:endParaRPr lang="en-US"/>
          </a:p>
        </p:txBody>
      </p:sp>
    </p:spTree>
    <p:extLst>
      <p:ext uri="{BB962C8B-B14F-4D97-AF65-F5344CB8AC3E}">
        <p14:creationId xmlns:p14="http://schemas.microsoft.com/office/powerpoint/2010/main" val="274639129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address these challenges, programmers must make many distributed deployment decisions</a:t>
            </a:r>
          </a:p>
        </p:txBody>
      </p:sp>
      <p:sp>
        <p:nvSpPr>
          <p:cNvPr id="4" name="Slide Number Placeholder 3"/>
          <p:cNvSpPr>
            <a:spLocks noGrp="1"/>
          </p:cNvSpPr>
          <p:nvPr>
            <p:ph type="sldNum" sz="quarter" idx="5"/>
          </p:nvPr>
        </p:nvSpPr>
        <p:spPr/>
        <p:txBody>
          <a:bodyPr/>
          <a:lstStyle/>
          <a:p>
            <a:fld id="{A5DEA2C6-D913-488B-A290-8B34DDB230B2}" type="slidenum">
              <a:rPr lang="en-US" smtClean="0"/>
              <a:t>7</a:t>
            </a:fld>
            <a:endParaRPr lang="en-US"/>
          </a:p>
        </p:txBody>
      </p:sp>
    </p:spTree>
    <p:extLst>
      <p:ext uri="{BB962C8B-B14F-4D97-AF65-F5344CB8AC3E}">
        <p14:creationId xmlns:p14="http://schemas.microsoft.com/office/powerpoint/2010/main" val="207607510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address these challenges, programmers must make many distributed deployment decisions</a:t>
            </a:r>
          </a:p>
          <a:p>
            <a:endParaRPr lang="en-US" dirty="0"/>
          </a:p>
        </p:txBody>
      </p:sp>
      <p:sp>
        <p:nvSpPr>
          <p:cNvPr id="4" name="Slide Number Placeholder 3"/>
          <p:cNvSpPr>
            <a:spLocks noGrp="1"/>
          </p:cNvSpPr>
          <p:nvPr>
            <p:ph type="sldNum" sz="quarter" idx="5"/>
          </p:nvPr>
        </p:nvSpPr>
        <p:spPr/>
        <p:txBody>
          <a:bodyPr/>
          <a:lstStyle/>
          <a:p>
            <a:fld id="{A5DEA2C6-D913-488B-A290-8B34DDB230B2}" type="slidenum">
              <a:rPr lang="en-US" smtClean="0"/>
              <a:t>8</a:t>
            </a:fld>
            <a:endParaRPr lang="en-US"/>
          </a:p>
        </p:txBody>
      </p:sp>
    </p:spTree>
    <p:extLst>
      <p:ext uri="{BB962C8B-B14F-4D97-AF65-F5344CB8AC3E}">
        <p14:creationId xmlns:p14="http://schemas.microsoft.com/office/powerpoint/2010/main" val="100589201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key concept of Sapphire’s design is the separation of application logic from deployment logic. That is, deployment code is factored out of application code, allowing the programmer to focus on the application logic. At the same time, the programmer has full control over deployment decisions and the flexibility to customize them.</a:t>
            </a:r>
          </a:p>
        </p:txBody>
      </p:sp>
      <p:sp>
        <p:nvSpPr>
          <p:cNvPr id="4" name="Slide Number Placeholder 3"/>
          <p:cNvSpPr>
            <a:spLocks noGrp="1"/>
          </p:cNvSpPr>
          <p:nvPr>
            <p:ph type="sldNum" sz="quarter" idx="5"/>
          </p:nvPr>
        </p:nvSpPr>
        <p:spPr/>
        <p:txBody>
          <a:bodyPr/>
          <a:lstStyle/>
          <a:p>
            <a:fld id="{A5DEA2C6-D913-488B-A290-8B34DDB230B2}" type="slidenum">
              <a:rPr lang="en-US" smtClean="0"/>
              <a:t>10</a:t>
            </a:fld>
            <a:endParaRPr lang="en-US"/>
          </a:p>
        </p:txBody>
      </p:sp>
    </p:spTree>
    <p:extLst>
      <p:ext uri="{BB962C8B-B14F-4D97-AF65-F5344CB8AC3E}">
        <p14:creationId xmlns:p14="http://schemas.microsoft.com/office/powerpoint/2010/main" val="119645142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new programming system for deploying mobile/cloud applications.</a:t>
            </a:r>
          </a:p>
        </p:txBody>
      </p:sp>
      <p:sp>
        <p:nvSpPr>
          <p:cNvPr id="4" name="Slide Number Placeholder 3"/>
          <p:cNvSpPr>
            <a:spLocks noGrp="1"/>
          </p:cNvSpPr>
          <p:nvPr>
            <p:ph type="sldNum" sz="quarter" idx="5"/>
          </p:nvPr>
        </p:nvSpPr>
        <p:spPr/>
        <p:txBody>
          <a:bodyPr/>
          <a:lstStyle/>
          <a:p>
            <a:fld id="{A5DEA2C6-D913-488B-A290-8B34DDB230B2}" type="slidenum">
              <a:rPr lang="en-US" smtClean="0"/>
              <a:t>11</a:t>
            </a:fld>
            <a:endParaRPr lang="en-US"/>
          </a:p>
        </p:txBody>
      </p:sp>
    </p:spTree>
    <p:extLst>
      <p:ext uri="{BB962C8B-B14F-4D97-AF65-F5344CB8AC3E}">
        <p14:creationId xmlns:p14="http://schemas.microsoft.com/office/powerpoint/2010/main" val="364460979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5DEA2C6-D913-488B-A290-8B34DDB230B2}" type="slidenum">
              <a:rPr lang="en-US" smtClean="0"/>
              <a:t>12</a:t>
            </a:fld>
            <a:endParaRPr lang="en-US"/>
          </a:p>
        </p:txBody>
      </p:sp>
    </p:spTree>
    <p:extLst>
      <p:ext uri="{BB962C8B-B14F-4D97-AF65-F5344CB8AC3E}">
        <p14:creationId xmlns:p14="http://schemas.microsoft.com/office/powerpoint/2010/main" val="119455645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SO functions as a single unit of distribution, like a virtual node. </a:t>
            </a:r>
          </a:p>
          <a:p>
            <a:pPr marL="171450" indent="-171450">
              <a:buFontTx/>
              <a:buChar char="-"/>
            </a:pPr>
            <a:r>
              <a:rPr lang="en-US" dirty="0"/>
              <a:t>share a logical address space that spans all cloud servers and client-side devices. </a:t>
            </a:r>
          </a:p>
          <a:p>
            <a:pPr marL="171450" indent="-171450">
              <a:buFontTx/>
              <a:buChar char="-"/>
            </a:pPr>
            <a:r>
              <a:rPr lang="en-US" dirty="0"/>
              <a:t>That is, a Sapphire application is written so that all SOs can invoke each other directly through simple location-independent procedure calls.</a:t>
            </a:r>
          </a:p>
          <a:p>
            <a:pPr marL="0" indent="0">
              <a:buFontTx/>
              <a:buNone/>
            </a:pPr>
            <a:r>
              <a:rPr lang="en-US" dirty="0"/>
              <a:t>A Sapphire Object encapsulates data and computation into a “virtual node” that: (1) ensures that each data/computation unit (a Sapphire Object) will always have its code and data on the same node, (2) lets the system transparently relocate or offload that unit, (3) supports easy replication of units, and (4) provides an easy-</a:t>
            </a:r>
            <a:r>
              <a:rPr lang="en-US" dirty="0" err="1"/>
              <a:t>tounderstand</a:t>
            </a:r>
            <a:r>
              <a:rPr lang="en-US" dirty="0"/>
              <a:t> unit of failure and recovery. These benefits make Sapphire Objects a powerful abstraction; using fine-grained programmer-defined Sapphire Objects, instead of a coarse-grained client/server architecture, increases both flexibility in distributed deployment and programmer control over performance.</a:t>
            </a:r>
          </a:p>
        </p:txBody>
      </p:sp>
      <p:sp>
        <p:nvSpPr>
          <p:cNvPr id="4" name="Slide Number Placeholder 3"/>
          <p:cNvSpPr>
            <a:spLocks noGrp="1"/>
          </p:cNvSpPr>
          <p:nvPr>
            <p:ph type="sldNum" sz="quarter" idx="5"/>
          </p:nvPr>
        </p:nvSpPr>
        <p:spPr/>
        <p:txBody>
          <a:bodyPr/>
          <a:lstStyle/>
          <a:p>
            <a:fld id="{A5DEA2C6-D913-488B-A290-8B34DDB230B2}" type="slidenum">
              <a:rPr lang="en-US" smtClean="0"/>
              <a:t>15</a:t>
            </a:fld>
            <a:endParaRPr lang="en-US"/>
          </a:p>
        </p:txBody>
      </p:sp>
    </p:spTree>
    <p:extLst>
      <p:ext uri="{BB962C8B-B14F-4D97-AF65-F5344CB8AC3E}">
        <p14:creationId xmlns:p14="http://schemas.microsoft.com/office/powerpoint/2010/main" val="74781378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consists of a set of servers that run on every mobile and back-end computing device used by the application, and a centralized Object Tracking System (OTS) for tracking Sapphire Objects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key feature of the Sapphire kernel is its support for the programming and execution of Deployment Managers</a:t>
            </a:r>
          </a:p>
          <a:p>
            <a:endParaRPr lang="en-US" dirty="0"/>
          </a:p>
          <a:p>
            <a:r>
              <a:rPr lang="en-US" dirty="0"/>
              <a:t>DK provides direct API support for DMs</a:t>
            </a:r>
          </a:p>
        </p:txBody>
      </p:sp>
      <p:sp>
        <p:nvSpPr>
          <p:cNvPr id="4" name="Slide Number Placeholder 3"/>
          <p:cNvSpPr>
            <a:spLocks noGrp="1"/>
          </p:cNvSpPr>
          <p:nvPr>
            <p:ph type="sldNum" sz="quarter" idx="5"/>
          </p:nvPr>
        </p:nvSpPr>
        <p:spPr/>
        <p:txBody>
          <a:bodyPr/>
          <a:lstStyle/>
          <a:p>
            <a:fld id="{A5DEA2C6-D913-488B-A290-8B34DDB230B2}" type="slidenum">
              <a:rPr lang="en-US" smtClean="0"/>
              <a:t>17</a:t>
            </a:fld>
            <a:endParaRPr lang="en-US"/>
          </a:p>
        </p:txBody>
      </p:sp>
    </p:spTree>
    <p:extLst>
      <p:ext uri="{BB962C8B-B14F-4D97-AF65-F5344CB8AC3E}">
        <p14:creationId xmlns:p14="http://schemas.microsoft.com/office/powerpoint/2010/main" val="209617582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provides only the most basic distribution</a:t>
            </a:r>
          </a:p>
          <a:p>
            <a:r>
              <a:rPr lang="en-US" dirty="0"/>
              <a:t>It does not support more complex tasks, such as fault tolerance, failure management, reliability, and consistency</a:t>
            </a:r>
          </a:p>
          <a:p>
            <a:r>
              <a:rPr lang="en-US" dirty="0"/>
              <a:t>the goal of the DK is to create an integrated execution platform across mobile devices and servers</a:t>
            </a:r>
          </a:p>
          <a:p>
            <a:pPr marL="228600" indent="-228600">
              <a:buAutoNum type="arabicParenBoth"/>
            </a:pPr>
            <a:r>
              <a:rPr lang="en-US" dirty="0"/>
              <a:t>management and location tracking of Sapphire Objects</a:t>
            </a:r>
          </a:p>
          <a:p>
            <a:pPr marL="228600" indent="-228600">
              <a:buAutoNum type="arabicParenBoth"/>
            </a:pPr>
            <a:r>
              <a:rPr lang="en-US" dirty="0"/>
              <a:t>location-transparent inter-object communications (RPC),</a:t>
            </a:r>
          </a:p>
          <a:p>
            <a:pPr marL="228600" indent="-228600">
              <a:buAutoNum type="arabicParenBoth"/>
            </a:pPr>
            <a:r>
              <a:rPr lang="en-US" dirty="0"/>
              <a:t>low-level replica support</a:t>
            </a:r>
          </a:p>
          <a:p>
            <a:pPr marL="228600" indent="-228600">
              <a:buAutoNum type="arabicParenBoth"/>
            </a:pPr>
            <a:r>
              <a:rPr lang="en-US" dirty="0"/>
              <a:t> services to simplify the writing and execution of Deployment Managers</a:t>
            </a:r>
          </a:p>
        </p:txBody>
      </p:sp>
      <p:sp>
        <p:nvSpPr>
          <p:cNvPr id="4" name="Slide Number Placeholder 3"/>
          <p:cNvSpPr>
            <a:spLocks noGrp="1"/>
          </p:cNvSpPr>
          <p:nvPr>
            <p:ph type="sldNum" sz="quarter" idx="5"/>
          </p:nvPr>
        </p:nvSpPr>
        <p:spPr/>
        <p:txBody>
          <a:bodyPr/>
          <a:lstStyle/>
          <a:p>
            <a:fld id="{A5DEA2C6-D913-488B-A290-8B34DDB230B2}" type="slidenum">
              <a:rPr lang="en-US" smtClean="0"/>
              <a:t>18</a:t>
            </a:fld>
            <a:endParaRPr lang="en-US"/>
          </a:p>
        </p:txBody>
      </p:sp>
    </p:spTree>
    <p:extLst>
      <p:ext uri="{BB962C8B-B14F-4D97-AF65-F5344CB8AC3E}">
        <p14:creationId xmlns:p14="http://schemas.microsoft.com/office/powerpoint/2010/main" val="40009093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consists of a set of servers that run on every mobile and back-end computing device used by the application, and a centralized Object Tracking System (OTS) for tracking Sapphire Objects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key feature of the Sapphire kernel is its support for the programming and execution of Deployment Managers</a:t>
            </a:r>
          </a:p>
          <a:p>
            <a:endParaRPr lang="en-US" dirty="0"/>
          </a:p>
          <a:p>
            <a:r>
              <a:rPr lang="en-US" dirty="0"/>
              <a:t>DK provides direct API support for DMs</a:t>
            </a:r>
          </a:p>
        </p:txBody>
      </p:sp>
      <p:sp>
        <p:nvSpPr>
          <p:cNvPr id="4" name="Slide Number Placeholder 3"/>
          <p:cNvSpPr>
            <a:spLocks noGrp="1"/>
          </p:cNvSpPr>
          <p:nvPr>
            <p:ph type="sldNum" sz="quarter" idx="5"/>
          </p:nvPr>
        </p:nvSpPr>
        <p:spPr/>
        <p:txBody>
          <a:bodyPr/>
          <a:lstStyle/>
          <a:p>
            <a:fld id="{A5DEA2C6-D913-488B-A290-8B34DDB230B2}" type="slidenum">
              <a:rPr lang="en-US" smtClean="0"/>
              <a:t>19</a:t>
            </a:fld>
            <a:endParaRPr lang="en-US"/>
          </a:p>
        </p:txBody>
      </p:sp>
    </p:spTree>
    <p:extLst>
      <p:ext uri="{BB962C8B-B14F-4D97-AF65-F5344CB8AC3E}">
        <p14:creationId xmlns:p14="http://schemas.microsoft.com/office/powerpoint/2010/main" val="406084812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Sapphire Object can optionally have an attached DM which provides runtime distribution support in addition to the minimal features of the DK. </a:t>
            </a:r>
          </a:p>
          <a:p>
            <a:r>
              <a:rPr lang="en-US" dirty="0"/>
              <a:t>The programmer selects a DM to manage each SO; </a:t>
            </a:r>
          </a:p>
          <a:p>
            <a:r>
              <a:rPr lang="en-US" dirty="0"/>
              <a:t>e.g., he may choose a DM that handles failures to improve fault-tolerance, </a:t>
            </a:r>
          </a:p>
          <a:p>
            <a:r>
              <a:rPr lang="en-US" dirty="0"/>
              <a:t>cache data locally on a mobile device for performance. </a:t>
            </a:r>
          </a:p>
        </p:txBody>
      </p:sp>
      <p:sp>
        <p:nvSpPr>
          <p:cNvPr id="4" name="Slide Number Placeholder 3"/>
          <p:cNvSpPr>
            <a:spLocks noGrp="1"/>
          </p:cNvSpPr>
          <p:nvPr>
            <p:ph type="sldNum" sz="quarter" idx="5"/>
          </p:nvPr>
        </p:nvSpPr>
        <p:spPr/>
        <p:txBody>
          <a:bodyPr/>
          <a:lstStyle/>
          <a:p>
            <a:fld id="{A5DEA2C6-D913-488B-A290-8B34DDB230B2}" type="slidenum">
              <a:rPr lang="en-US" smtClean="0"/>
              <a:t>20</a:t>
            </a:fld>
            <a:endParaRPr lang="en-US"/>
          </a:p>
        </p:txBody>
      </p:sp>
    </p:spTree>
    <p:extLst>
      <p:ext uri="{BB962C8B-B14F-4D97-AF65-F5344CB8AC3E}">
        <p14:creationId xmlns:p14="http://schemas.microsoft.com/office/powerpoint/2010/main" val="368189616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collection of pluggable Deployment Manager (DM) modules that extend the kernel to support application-specific deployment needs, such as replication and caching</a:t>
            </a:r>
          </a:p>
          <a:p>
            <a:r>
              <a:rPr lang="en-US" dirty="0"/>
              <a:t>Since DMs are intended to manage distribution, the DK creates a distributed execution environment in which they operate</a:t>
            </a:r>
          </a:p>
          <a:p>
            <a:r>
              <a:rPr lang="en-US" dirty="0"/>
              <a:t>= a DM is itself distributed and its components can operate on different nodes.</a:t>
            </a:r>
          </a:p>
          <a:p>
            <a:r>
              <a:rPr lang="en-US" dirty="0"/>
              <a:t>When the DK instantiates a Sapphire Object with an attached DM, it also instantiates and distributes the DM’s components.  -&gt; The DK provides transparent RPC between the DM components of an SO instance for coordination between component</a:t>
            </a:r>
          </a:p>
          <a:p>
            <a:endParaRPr lang="en-US" dirty="0"/>
          </a:p>
        </p:txBody>
      </p:sp>
      <p:sp>
        <p:nvSpPr>
          <p:cNvPr id="4" name="Slide Number Placeholder 3"/>
          <p:cNvSpPr>
            <a:spLocks noGrp="1"/>
          </p:cNvSpPr>
          <p:nvPr>
            <p:ph type="sldNum" sz="quarter" idx="5"/>
          </p:nvPr>
        </p:nvSpPr>
        <p:spPr/>
        <p:txBody>
          <a:bodyPr/>
          <a:lstStyle/>
          <a:p>
            <a:fld id="{A5DEA2C6-D913-488B-A290-8B34DDB230B2}" type="slidenum">
              <a:rPr lang="en-US" smtClean="0"/>
              <a:t>21</a:t>
            </a:fld>
            <a:endParaRPr lang="en-US"/>
          </a:p>
        </p:txBody>
      </p:sp>
    </p:spTree>
    <p:extLst>
      <p:ext uri="{BB962C8B-B14F-4D97-AF65-F5344CB8AC3E}">
        <p14:creationId xmlns:p14="http://schemas.microsoft.com/office/powerpoint/2010/main" val="419697157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to show the DM API can be used to extend the DK for a wide range of distributed management features.</a:t>
            </a:r>
          </a:p>
        </p:txBody>
      </p:sp>
      <p:sp>
        <p:nvSpPr>
          <p:cNvPr id="4" name="Slide Number Placeholder 3"/>
          <p:cNvSpPr>
            <a:spLocks noGrp="1"/>
          </p:cNvSpPr>
          <p:nvPr>
            <p:ph type="sldNum" sz="quarter" idx="5"/>
          </p:nvPr>
        </p:nvSpPr>
        <p:spPr/>
        <p:txBody>
          <a:bodyPr/>
          <a:lstStyle/>
          <a:p>
            <a:fld id="{A5DEA2C6-D913-488B-A290-8B34DDB230B2}" type="slidenum">
              <a:rPr lang="en-US" smtClean="0"/>
              <a:t>22</a:t>
            </a:fld>
            <a:endParaRPr lang="en-US"/>
          </a:p>
        </p:txBody>
      </p:sp>
    </p:spTree>
    <p:extLst>
      <p:ext uri="{BB962C8B-B14F-4D97-AF65-F5344CB8AC3E}">
        <p14:creationId xmlns:p14="http://schemas.microsoft.com/office/powerpoint/2010/main" val="353000097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have built a library of DMs supporting common distribution tasks used by applications today</a:t>
            </a:r>
          </a:p>
        </p:txBody>
      </p:sp>
      <p:sp>
        <p:nvSpPr>
          <p:cNvPr id="4" name="Slide Number Placeholder 3"/>
          <p:cNvSpPr>
            <a:spLocks noGrp="1"/>
          </p:cNvSpPr>
          <p:nvPr>
            <p:ph type="sldNum" sz="quarter" idx="5"/>
          </p:nvPr>
        </p:nvSpPr>
        <p:spPr/>
        <p:txBody>
          <a:bodyPr/>
          <a:lstStyle/>
          <a:p>
            <a:fld id="{A5DEA2C6-D913-488B-A290-8B34DDB230B2}" type="slidenum">
              <a:rPr lang="en-US" smtClean="0"/>
              <a:t>23</a:t>
            </a:fld>
            <a:endParaRPr lang="en-US"/>
          </a:p>
        </p:txBody>
      </p:sp>
    </p:spTree>
    <p:extLst>
      <p:ext uri="{BB962C8B-B14F-4D97-AF65-F5344CB8AC3E}">
        <p14:creationId xmlns:p14="http://schemas.microsoft.com/office/powerpoint/2010/main" val="381502598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symmetric nature of SOs, the caller of the method may be on a cloud server and the SO itself may be on a client device</a:t>
            </a:r>
          </a:p>
          <a:p>
            <a:r>
              <a:rPr lang="en-US" dirty="0"/>
              <a:t>All three components are optional; a DM can define one or more of the components, and the DK will instantiate only those components that are defined.</a:t>
            </a:r>
          </a:p>
          <a:p>
            <a:endParaRPr lang="en-US" dirty="0"/>
          </a:p>
        </p:txBody>
      </p:sp>
      <p:sp>
        <p:nvSpPr>
          <p:cNvPr id="4" name="Slide Number Placeholder 3"/>
          <p:cNvSpPr>
            <a:spLocks noGrp="1"/>
          </p:cNvSpPr>
          <p:nvPr>
            <p:ph type="sldNum" sz="quarter" idx="5"/>
          </p:nvPr>
        </p:nvSpPr>
        <p:spPr/>
        <p:txBody>
          <a:bodyPr/>
          <a:lstStyle/>
          <a:p>
            <a:fld id="{A5DEA2C6-D913-488B-A290-8B34DDB230B2}" type="slidenum">
              <a:rPr lang="en-US" smtClean="0"/>
              <a:t>24</a:t>
            </a:fld>
            <a:endParaRPr lang="en-US"/>
          </a:p>
        </p:txBody>
      </p:sp>
    </p:spTree>
    <p:extLst>
      <p:ext uri="{BB962C8B-B14F-4D97-AF65-F5344CB8AC3E}">
        <p14:creationId xmlns:p14="http://schemas.microsoft.com/office/powerpoint/2010/main" val="275117621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example deployment of the DM components for a single Sapphire Object A</a:t>
            </a:r>
          </a:p>
          <a:p>
            <a:r>
              <a:rPr lang="en-US" dirty="0"/>
              <a:t>The DK may instantiate many Proxies and Instance Managers but at most one Coordinator, as shown in this figure. </a:t>
            </a:r>
          </a:p>
          <a:p>
            <a:r>
              <a:rPr lang="en-US" dirty="0"/>
              <a:t>The center box (marked “Instance A”) indicates that A has two replicas, marked replica 1 and replica 2. </a:t>
            </a:r>
          </a:p>
          <a:p>
            <a:r>
              <a:rPr lang="en-US" dirty="0"/>
              <a:t>Each replica has its own copy of the Instance Manager. </a:t>
            </a:r>
          </a:p>
          <a:p>
            <a:r>
              <a:rPr lang="en-US" dirty="0"/>
              <a:t>If the DM request a third replica of A, the DK would also create a new Instance Manager for that replica. </a:t>
            </a:r>
          </a:p>
          <a:p>
            <a:r>
              <a:rPr lang="en-US" dirty="0"/>
              <a:t>A replica and its Instance Manager are always located on the same node</a:t>
            </a:r>
          </a:p>
          <a:p>
            <a:endParaRPr lang="en-US" dirty="0"/>
          </a:p>
          <a:p>
            <a:r>
              <a:rPr lang="en-US" dirty="0"/>
              <a:t>DK-FT host the OTS, that support reliable centralized tasks for DMs and the DK</a:t>
            </a:r>
          </a:p>
          <a:p>
            <a:endParaRPr lang="en-US" dirty="0"/>
          </a:p>
          <a:p>
            <a:r>
              <a:rPr lang="en-US" dirty="0"/>
              <a:t>4 other SOs. Each contains a reference to A = RPC stub, to which the DK has attached an instance of A’s DM Proxy component. </a:t>
            </a:r>
          </a:p>
          <a:p>
            <a:r>
              <a:rPr lang="en-US" dirty="0"/>
              <a:t>Making an RPC to A through the DK and its DM proceeds as follows. </a:t>
            </a:r>
          </a:p>
          <a:p>
            <a:r>
              <a:rPr lang="en-US" dirty="0"/>
              <a:t>The DK reflects the call via an </a:t>
            </a:r>
            <a:r>
              <a:rPr lang="en-US" dirty="0" err="1"/>
              <a:t>onRPC</a:t>
            </a:r>
            <a:r>
              <a:rPr lang="en-US" dirty="0"/>
              <a:t>() upcall to the attached Proxy. The upcall to the Proxy lets A’s DM intercept an RPC on the caller’s node where, for example, it can implement client-local caching. If the Proxy wants to forward the call to replica 1 of A, it simply invokes replica 1’s Instance Manager which runs in the same DK server as replica 1. The Instance Manager will pass the RPC through to replica 1 of A</a:t>
            </a:r>
          </a:p>
          <a:p>
            <a:r>
              <a:rPr lang="en-US" dirty="0"/>
              <a:t>Because the Proxies and Instance Managers for A are all part of the same Deployment Manager, they all understand whether or not the SO (A, in this case) is replicated, and, if so, how that replication is implemented. The choice of which replica to call is made inside the DM components, which are aware of each other and can communicate with each other directly through RPCs.</a:t>
            </a:r>
          </a:p>
          <a:p>
            <a:endParaRPr lang="en-US" dirty="0"/>
          </a:p>
          <a:p>
            <a:r>
              <a:rPr lang="en-US" dirty="0"/>
              <a:t>Finally, the DK instantiates one Coordinator for each DM instance. The OTS manages Coordinators, keeping them </a:t>
            </a:r>
            <a:r>
              <a:rPr lang="en-US" dirty="0" err="1"/>
              <a:t>faulttolerant</a:t>
            </a:r>
            <a:r>
              <a:rPr lang="en-US" dirty="0"/>
              <a:t> and centrally accessible. It is well known that a centralized coordinator can simplify many distributed algorithms (e.g., eliminating the need for leader election). Since the DK needs the OTS to tracking Sapphire Objects, it was easy to provide fault-tolerance for some DMs as well. We do not expect every DM to have a Coordinator, and even if there is a Coordinator, it is used sparingly for management tasks that are easiest handled centrally, such as instantiating new replicas in the event of failures. In this sense, Coordinators are similar to other centralized management systems</a:t>
            </a:r>
          </a:p>
          <a:p>
            <a:endParaRPr lang="en-US" dirty="0"/>
          </a:p>
        </p:txBody>
      </p:sp>
      <p:sp>
        <p:nvSpPr>
          <p:cNvPr id="4" name="Slide Number Placeholder 3"/>
          <p:cNvSpPr>
            <a:spLocks noGrp="1"/>
          </p:cNvSpPr>
          <p:nvPr>
            <p:ph type="sldNum" sz="quarter" idx="5"/>
          </p:nvPr>
        </p:nvSpPr>
        <p:spPr/>
        <p:txBody>
          <a:bodyPr/>
          <a:lstStyle/>
          <a:p>
            <a:fld id="{A5DEA2C6-D913-488B-A290-8B34DDB230B2}" type="slidenum">
              <a:rPr lang="en-US" smtClean="0"/>
              <a:t>25</a:t>
            </a:fld>
            <a:endParaRPr lang="en-US"/>
          </a:p>
        </p:txBody>
      </p:sp>
    </p:spTree>
    <p:extLst>
      <p:ext uri="{BB962C8B-B14F-4D97-AF65-F5344CB8AC3E}">
        <p14:creationId xmlns:p14="http://schemas.microsoft.com/office/powerpoint/2010/main" val="210291946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interposing on SO e.g. method </a:t>
            </a:r>
            <a:r>
              <a:rPr lang="en-US" dirty="0" err="1"/>
              <a:t>invokation</a:t>
            </a:r>
            <a:r>
              <a:rPr lang="en-US" dirty="0"/>
              <a:t>, DMs can implement a variety of distributed management features transparently and generically</a:t>
            </a:r>
          </a:p>
        </p:txBody>
      </p:sp>
      <p:sp>
        <p:nvSpPr>
          <p:cNvPr id="4" name="Slide Number Placeholder 3"/>
          <p:cNvSpPr>
            <a:spLocks noGrp="1"/>
          </p:cNvSpPr>
          <p:nvPr>
            <p:ph type="sldNum" sz="quarter" idx="5"/>
          </p:nvPr>
        </p:nvSpPr>
        <p:spPr/>
        <p:txBody>
          <a:bodyPr/>
          <a:lstStyle/>
          <a:p>
            <a:fld id="{A5DEA2C6-D913-488B-A290-8B34DDB230B2}" type="slidenum">
              <a:rPr lang="en-US" smtClean="0"/>
              <a:t>26</a:t>
            </a:fld>
            <a:endParaRPr lang="en-US"/>
          </a:p>
        </p:txBody>
      </p:sp>
    </p:spTree>
    <p:extLst>
      <p:ext uri="{BB962C8B-B14F-4D97-AF65-F5344CB8AC3E}">
        <p14:creationId xmlns:p14="http://schemas.microsoft.com/office/powerpoint/2010/main" val="388089324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perform management tasks on the SO using a set of primitives supported by the DK</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DM components of an SO instance communicate directly with each other through a transparent RPC mechanism provided by the DK</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DK supports only the most basic replication functions, namely, creating a new replica for an SO and reporting on replica locations. All decisions about the number of replicas, when to create or delete them, how to synchronize them, and how to handle failures occur at the DM level.</a:t>
            </a:r>
          </a:p>
          <a:p>
            <a:endParaRPr lang="en-US" dirty="0"/>
          </a:p>
        </p:txBody>
      </p:sp>
      <p:sp>
        <p:nvSpPr>
          <p:cNvPr id="4" name="Slide Number Placeholder 3"/>
          <p:cNvSpPr>
            <a:spLocks noGrp="1"/>
          </p:cNvSpPr>
          <p:nvPr>
            <p:ph type="sldNum" sz="quarter" idx="5"/>
          </p:nvPr>
        </p:nvSpPr>
        <p:spPr/>
        <p:txBody>
          <a:bodyPr/>
          <a:lstStyle/>
          <a:p>
            <a:fld id="{A5DEA2C6-D913-488B-A290-8B34DDB230B2}" type="slidenum">
              <a:rPr lang="en-US" smtClean="0"/>
              <a:t>27</a:t>
            </a:fld>
            <a:endParaRPr lang="en-US"/>
          </a:p>
        </p:txBody>
      </p:sp>
    </p:spTree>
    <p:extLst>
      <p:ext uri="{BB962C8B-B14F-4D97-AF65-F5344CB8AC3E}">
        <p14:creationId xmlns:p14="http://schemas.microsoft.com/office/powerpoint/2010/main" val="207963837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develop a Sapphire application, the programmer first builds the application logic as a single object-oriented program. He then breaks the application into distributed components by declaring a set of application objects to be Sapphire Objects. Sapphire Objects can still call each other via normal method invocation, however, these calls may now be remote invocations. Finally, the programmer applies Deployment Managers (DMs) to SOs as desired for additional distributed management features</a:t>
            </a:r>
          </a:p>
          <a:p>
            <a:endParaRPr lang="en-US" dirty="0"/>
          </a:p>
          <a:p>
            <a:r>
              <a:rPr lang="en-US" dirty="0"/>
              <a:t>create a uniform programming model integrating mobile devices and the cloud without hiding performance costs and trade-offs from the programmer. </a:t>
            </a:r>
          </a:p>
          <a:p>
            <a:r>
              <a:rPr lang="en-US" dirty="0"/>
              <a:t>So, the programmer makes explicit choices in the decomposition of the application into SOs, then the system provides location-independent communication,</a:t>
            </a:r>
          </a:p>
          <a:p>
            <a:r>
              <a:rPr lang="en-US" dirty="0"/>
              <a:t>= simplifies programming in the distributed environment.</a:t>
            </a:r>
          </a:p>
        </p:txBody>
      </p:sp>
      <p:sp>
        <p:nvSpPr>
          <p:cNvPr id="4" name="Slide Number Placeholder 3"/>
          <p:cNvSpPr>
            <a:spLocks noGrp="1"/>
          </p:cNvSpPr>
          <p:nvPr>
            <p:ph type="sldNum" sz="quarter" idx="5"/>
          </p:nvPr>
        </p:nvSpPr>
        <p:spPr/>
        <p:txBody>
          <a:bodyPr/>
          <a:lstStyle/>
          <a:p>
            <a:fld id="{A5DEA2C6-D913-488B-A290-8B34DDB230B2}" type="slidenum">
              <a:rPr lang="en-US" smtClean="0"/>
              <a:t>28</a:t>
            </a:fld>
            <a:endParaRPr lang="en-US"/>
          </a:p>
        </p:txBody>
      </p:sp>
    </p:spTree>
    <p:extLst>
      <p:ext uri="{BB962C8B-B14F-4D97-AF65-F5344CB8AC3E}">
        <p14:creationId xmlns:p14="http://schemas.microsoft.com/office/powerpoint/2010/main" val="155805405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solidFill>
                  <a:srgbClr val="FF6600"/>
                </a:solidFill>
              </a:rPr>
              <a:t>Sapphire application and runtime system</a:t>
            </a:r>
          </a:p>
          <a:p>
            <a:endParaRPr lang="en-US" dirty="0"/>
          </a:p>
          <a:p>
            <a:r>
              <a:rPr lang="en-US" dirty="0"/>
              <a:t>We used Sun’s Java 1.6.0 38 JVM to run Sapphire in the cluster</a:t>
            </a:r>
          </a:p>
          <a:p>
            <a:r>
              <a:rPr lang="en-US" dirty="0"/>
              <a:t>the tablets and phones ran Sapphire on the Android 4.2 Dalvik VM. </a:t>
            </a:r>
          </a:p>
          <a:p>
            <a:r>
              <a:rPr lang="en-US" dirty="0"/>
              <a:t>We used Java RMI for low-level RPCs between DK nodes. </a:t>
            </a:r>
          </a:p>
          <a:p>
            <a:r>
              <a:rPr lang="en-US" dirty="0"/>
              <a:t>We used Voldemort as the storage back-end for our checkpointing DMs.</a:t>
            </a:r>
          </a:p>
          <a:p>
            <a:r>
              <a:rPr lang="en-US" dirty="0"/>
              <a:t>Java RMI provides only point-to-point communication and only supports calls to Java objects that have a special Java RMI-provided interface. Thus, we could only use Java RMI for low-level communication between DK servers and the OTS. To achieve transparent communication between SOs and between DM components, we built a compiler (862 LoC) that creates stubs for SOs and for DM Instance Managers and Coordinators</a:t>
            </a:r>
          </a:p>
          <a:p>
            <a:r>
              <a:rPr lang="en-US" dirty="0"/>
              <a:t>We also rely on Apache Harmony’s implementation of RMI serialization – with Java reflection to </a:t>
            </a:r>
            <a:r>
              <a:rPr lang="en-US" dirty="0" err="1"/>
              <a:t>marshall</a:t>
            </a:r>
            <a:r>
              <a:rPr lang="en-US" dirty="0"/>
              <a:t> and unmarshall objects – for sending, diffing and copying objects</a:t>
            </a:r>
          </a:p>
        </p:txBody>
      </p:sp>
      <p:sp>
        <p:nvSpPr>
          <p:cNvPr id="4" name="Slide Number Placeholder 3"/>
          <p:cNvSpPr>
            <a:spLocks noGrp="1"/>
          </p:cNvSpPr>
          <p:nvPr>
            <p:ph type="sldNum" sz="quarter" idx="5"/>
          </p:nvPr>
        </p:nvSpPr>
        <p:spPr/>
        <p:txBody>
          <a:bodyPr/>
          <a:lstStyle/>
          <a:p>
            <a:fld id="{A5DEA2C6-D913-488B-A290-8B34DDB230B2}" type="slidenum">
              <a:rPr lang="en-US" smtClean="0"/>
              <a:t>29</a:t>
            </a:fld>
            <a:endParaRPr lang="en-US"/>
          </a:p>
        </p:txBody>
      </p:sp>
    </p:spTree>
    <p:extLst>
      <p:ext uri="{BB962C8B-B14F-4D97-AF65-F5344CB8AC3E}">
        <p14:creationId xmlns:p14="http://schemas.microsoft.com/office/powerpoint/2010/main" val="385165675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1 easy to develop mobile/cloud apps either from scratch or by porting non-distributed mobile device applications to Sapphire.</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5"/>
          </p:nvPr>
        </p:nvSpPr>
        <p:spPr/>
        <p:txBody>
          <a:bodyPr/>
          <a:lstStyle/>
          <a:p>
            <a:fld id="{A5DEA2C6-D913-488B-A290-8B34DDB230B2}" type="slidenum">
              <a:rPr lang="en-US" smtClean="0"/>
              <a:t>31</a:t>
            </a:fld>
            <a:endParaRPr lang="en-US"/>
          </a:p>
        </p:txBody>
      </p:sp>
    </p:spTree>
    <p:extLst>
      <p:ext uri="{BB962C8B-B14F-4D97-AF65-F5344CB8AC3E}">
        <p14:creationId xmlns:p14="http://schemas.microsoft.com/office/powerpoint/2010/main" val="105798202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 typeface="Arial" panose="020B0604020202020204" pitchFamily="34" charset="0"/>
              <a:buChar char="•"/>
            </a:pPr>
            <a:r>
              <a:rPr lang="en-US" dirty="0"/>
              <a:t> front-end code (the UI) and back-end code (application logic). </a:t>
            </a:r>
          </a:p>
          <a:p>
            <a:pPr>
              <a:buFont typeface="Arial" panose="020B0604020202020204" pitchFamily="34" charset="0"/>
              <a:buChar char="•"/>
            </a:pPr>
            <a:r>
              <a:rPr lang="en-US" dirty="0"/>
              <a:t> The source column indicates whether we developed new native Sapphire code or ported open-source code to Sapphire</a:t>
            </a:r>
          </a:p>
          <a:p>
            <a:endParaRPr lang="en-US" dirty="0"/>
          </a:p>
        </p:txBody>
      </p:sp>
      <p:sp>
        <p:nvSpPr>
          <p:cNvPr id="4" name="Slide Number Placeholder 3"/>
          <p:cNvSpPr>
            <a:spLocks noGrp="1"/>
          </p:cNvSpPr>
          <p:nvPr>
            <p:ph type="sldNum" sz="quarter" idx="5"/>
          </p:nvPr>
        </p:nvSpPr>
        <p:spPr/>
        <p:txBody>
          <a:bodyPr/>
          <a:lstStyle/>
          <a:p>
            <a:fld id="{A5DEA2C6-D913-488B-A290-8B34DDB230B2}" type="slidenum">
              <a:rPr lang="en-US" smtClean="0"/>
              <a:t>32</a:t>
            </a:fld>
            <a:endParaRPr lang="en-US"/>
          </a:p>
        </p:txBody>
      </p:sp>
    </p:spTree>
    <p:extLst>
      <p:ext uri="{BB962C8B-B14F-4D97-AF65-F5344CB8AC3E}">
        <p14:creationId xmlns:p14="http://schemas.microsoft.com/office/powerpoint/2010/main" val="7630304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While Thrift was slightly faster in all cases, Java RMI and Sapphire were comparable and were both faster than the Java REST library</a:t>
            </a:r>
          </a:p>
          <a:p>
            <a:r>
              <a:rPr lang="en-US" dirty="0"/>
              <a:t>without optimization, Sapphire was faster than REST</a:t>
            </a:r>
          </a:p>
          <a:p>
            <a:r>
              <a:rPr lang="en-US" dirty="0"/>
              <a:t>Sapphire uses Java RMI for communication between DK servers; however, we dispatch method calls to SOs through the DK</a:t>
            </a:r>
          </a:p>
        </p:txBody>
      </p:sp>
      <p:sp>
        <p:nvSpPr>
          <p:cNvPr id="4" name="Slide Number Placeholder 3"/>
          <p:cNvSpPr>
            <a:spLocks noGrp="1"/>
          </p:cNvSpPr>
          <p:nvPr>
            <p:ph type="sldNum" sz="quarter" idx="5"/>
          </p:nvPr>
        </p:nvSpPr>
        <p:spPr/>
        <p:txBody>
          <a:bodyPr/>
          <a:lstStyle/>
          <a:p>
            <a:fld id="{A5DEA2C6-D913-488B-A290-8B34DDB230B2}" type="slidenum">
              <a:rPr lang="en-US" smtClean="0"/>
              <a:t>35</a:t>
            </a:fld>
            <a:endParaRPr lang="en-US"/>
          </a:p>
        </p:txBody>
      </p:sp>
    </p:spTree>
    <p:extLst>
      <p:ext uri="{BB962C8B-B14F-4D97-AF65-F5344CB8AC3E}">
        <p14:creationId xmlns:p14="http://schemas.microsoft.com/office/powerpoint/2010/main" val="316606049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Java RMI object throughput approximately 15% higher than that for Sapphire Objects. This is because Sapphire null RPCs are not truly empty: they carry a serialized structure telling the DK how to direct the call</a:t>
            </a:r>
          </a:p>
          <a:p>
            <a:r>
              <a:rPr lang="en-US" dirty="0"/>
              <a:t>This reduced the throughput difference to 3.6%; </a:t>
            </a:r>
          </a:p>
          <a:p>
            <a:r>
              <a:rPr lang="en-US" dirty="0"/>
              <a:t>this 3.6% is the additional cost of Sapphire’s RPC dispatching in the DK, with the remainder due to the cost of serialization for the dispatching structure.</a:t>
            </a:r>
          </a:p>
        </p:txBody>
      </p:sp>
      <p:sp>
        <p:nvSpPr>
          <p:cNvPr id="4" name="Slide Number Placeholder 3"/>
          <p:cNvSpPr>
            <a:spLocks noGrp="1"/>
          </p:cNvSpPr>
          <p:nvPr>
            <p:ph type="sldNum" sz="quarter" idx="5"/>
          </p:nvPr>
        </p:nvSpPr>
        <p:spPr/>
        <p:txBody>
          <a:bodyPr/>
          <a:lstStyle/>
          <a:p>
            <a:fld id="{A5DEA2C6-D913-488B-A290-8B34DDB230B2}" type="slidenum">
              <a:rPr lang="en-US" smtClean="0"/>
              <a:t>36</a:t>
            </a:fld>
            <a:endParaRPr lang="en-US"/>
          </a:p>
        </p:txBody>
      </p:sp>
    </p:spTree>
    <p:extLst>
      <p:ext uri="{BB962C8B-B14F-4D97-AF65-F5344CB8AC3E}">
        <p14:creationId xmlns:p14="http://schemas.microsoft.com/office/powerpoint/2010/main" val="128292238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DK call latency depends on the size and complexity of the object, since we use Java serialization</a:t>
            </a:r>
          </a:p>
          <a:p>
            <a:r>
              <a:rPr lang="en-US" dirty="0"/>
              <a:t>latency results for creating, replicating, and moving SOs on servers and tablets. Operation latencies were low when executed on cloud servers. Tablets were considerably slower than cloud servers. However, we expect most management operations such as these to be performed in the cloud (i.e., we do not expect tablets to create large numbers of SOs).</a:t>
            </a:r>
          </a:p>
          <a:p>
            <a:r>
              <a:rPr lang="en-US" dirty="0"/>
              <a:t>The SO instantiation process can be expensive because the DK must create several objects locally: the SO, the SO stub, the DM Proxy and the DM Instance Manager. The DK must also create the DM Coordinator remotely on a DK-FT node and register the SO with the OTS. Communication with the DK-FT node and the OTS accounted for nearly half the instantiation latency.</a:t>
            </a:r>
          </a:p>
        </p:txBody>
      </p:sp>
      <p:sp>
        <p:nvSpPr>
          <p:cNvPr id="4" name="Slide Number Placeholder 3"/>
          <p:cNvSpPr>
            <a:spLocks noGrp="1"/>
          </p:cNvSpPr>
          <p:nvPr>
            <p:ph type="sldNum" sz="quarter" idx="5"/>
          </p:nvPr>
        </p:nvSpPr>
        <p:spPr/>
        <p:txBody>
          <a:bodyPr/>
          <a:lstStyle/>
          <a:p>
            <a:fld id="{A5DEA2C6-D913-488B-A290-8B34DDB230B2}" type="slidenum">
              <a:rPr lang="en-US" smtClean="0"/>
              <a:t>37</a:t>
            </a:fld>
            <a:endParaRPr lang="en-US"/>
          </a:p>
        </p:txBody>
      </p:sp>
    </p:spTree>
    <p:extLst>
      <p:ext uri="{BB962C8B-B14F-4D97-AF65-F5344CB8AC3E}">
        <p14:creationId xmlns:p14="http://schemas.microsoft.com/office/powerpoint/2010/main" val="1549155514"/>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throughput of the SO serving null RPCs when the DM creates up to 3 replicas.</a:t>
            </a:r>
          </a:p>
          <a:p>
            <a:r>
              <a:rPr lang="en-US" dirty="0"/>
              <a:t>scaled linearly with the number of replicas until the network saturated at 257,365 requests/second</a:t>
            </a:r>
          </a:p>
        </p:txBody>
      </p:sp>
      <p:sp>
        <p:nvSpPr>
          <p:cNvPr id="4" name="Slide Number Placeholder 3"/>
          <p:cNvSpPr>
            <a:spLocks noGrp="1"/>
          </p:cNvSpPr>
          <p:nvPr>
            <p:ph type="sldNum" sz="quarter" idx="5"/>
          </p:nvPr>
        </p:nvSpPr>
        <p:spPr/>
        <p:txBody>
          <a:bodyPr/>
          <a:lstStyle/>
          <a:p>
            <a:fld id="{A5DEA2C6-D913-488B-A290-8B34DDB230B2}" type="slidenum">
              <a:rPr lang="en-US" smtClean="0"/>
              <a:t>39</a:t>
            </a:fld>
            <a:endParaRPr lang="en-US"/>
          </a:p>
        </p:txBody>
      </p:sp>
    </p:spTree>
    <p:extLst>
      <p:ext uri="{BB962C8B-B14F-4D97-AF65-F5344CB8AC3E}">
        <p14:creationId xmlns:p14="http://schemas.microsoft.com/office/powerpoint/2010/main" val="417822476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latencies for running each application locally on the device (shown as Base), offloaded to the cloud over </a:t>
            </a:r>
            <a:r>
              <a:rPr lang="en-US" dirty="0" err="1"/>
              <a:t>WiFi</a:t>
            </a:r>
            <a:r>
              <a:rPr lang="en-US" dirty="0"/>
              <a:t>, and offloaded over 3G. </a:t>
            </a:r>
          </a:p>
          <a:p>
            <a:r>
              <a:rPr lang="en-US" dirty="0"/>
              <a:t>The offloading trade-offs varied widely across the two platforms due to differences in CPU speed, wireless, and cellular network card performance</a:t>
            </a:r>
          </a:p>
          <a:p>
            <a:r>
              <a:rPr lang="en-US" dirty="0"/>
              <a:t>For the Physics engine, offloading was universally better, but it was particularly significant for the mobile device, which was not able to provide real-time simulation without code offloading.</a:t>
            </a:r>
          </a:p>
          <a:p>
            <a:endParaRPr lang="en-US" dirty="0"/>
          </a:p>
          <a:p>
            <a:r>
              <a:rPr lang="en-US" dirty="0"/>
              <a:t>These cross-platform differences in performance show the importance of flexibility. An automated algorithm cannot always predict when to offload and can be costly. Therefore, it is important for the programmer to be able to easily change deployment to adapt to new technologies.</a:t>
            </a:r>
          </a:p>
        </p:txBody>
      </p:sp>
      <p:sp>
        <p:nvSpPr>
          <p:cNvPr id="4" name="Slide Number Placeholder 3"/>
          <p:cNvSpPr>
            <a:spLocks noGrp="1"/>
          </p:cNvSpPr>
          <p:nvPr>
            <p:ph type="sldNum" sz="quarter" idx="5"/>
          </p:nvPr>
        </p:nvSpPr>
        <p:spPr/>
        <p:txBody>
          <a:bodyPr/>
          <a:lstStyle/>
          <a:p>
            <a:fld id="{A5DEA2C6-D913-488B-A290-8B34DDB230B2}" type="slidenum">
              <a:rPr lang="en-US" smtClean="0"/>
              <a:t>40</a:t>
            </a:fld>
            <a:endParaRPr lang="en-US"/>
          </a:p>
        </p:txBody>
      </p:sp>
    </p:spTree>
    <p:extLst>
      <p:ext uri="{BB962C8B-B14F-4D97-AF65-F5344CB8AC3E}">
        <p14:creationId xmlns:p14="http://schemas.microsoft.com/office/powerpoint/2010/main" val="1329177687"/>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shows the latency of the game’s read methods</a:t>
            </a:r>
          </a:p>
          <a:p>
            <a:r>
              <a:rPr lang="en-US" dirty="0"/>
              <a:t>With the Game SO in the cloud, read and write latencies were high for both players. With the </a:t>
            </a:r>
            <a:r>
              <a:rPr lang="en-US" dirty="0" err="1"/>
              <a:t>KeepOnDevice</a:t>
            </a:r>
            <a:r>
              <a:rPr lang="en-US" dirty="0"/>
              <a:t> DM, the read and write latencies were extremely low for the device hosting the SO, but somewhat higher for the other player, compared to the cloud version. Finally, with the ConsensusRSM-P2P DM, read latencies were much lower for both devices, while write latencies were higher.</a:t>
            </a:r>
          </a:p>
          <a:p>
            <a:r>
              <a:rPr lang="en-US" dirty="0"/>
              <a:t>In our scenario, the two tablets and the server were on the same network. In cases where the two players are close on the network and far from the server, the peer-to-peer DMs would provide a valuable deployment option</a:t>
            </a:r>
          </a:p>
          <a:p>
            <a:r>
              <a:rPr lang="en-US" dirty="0"/>
              <a:t>With the DMs, no cloud servers were needed to support the Game SO; this reduced server load, but Game SOs were no longer available if the hosting device were disconnected. This experiment shows the impact of different deployment options and the benefit of being able to flexibly choose alternative deployments to trade off application performance, availability, and server load.</a:t>
            </a:r>
          </a:p>
          <a:p>
            <a:endParaRPr lang="en-US" dirty="0"/>
          </a:p>
        </p:txBody>
      </p:sp>
      <p:sp>
        <p:nvSpPr>
          <p:cNvPr id="4" name="Slide Number Placeholder 3"/>
          <p:cNvSpPr>
            <a:spLocks noGrp="1"/>
          </p:cNvSpPr>
          <p:nvPr>
            <p:ph type="sldNum" sz="quarter" idx="5"/>
          </p:nvPr>
        </p:nvSpPr>
        <p:spPr/>
        <p:txBody>
          <a:bodyPr/>
          <a:lstStyle/>
          <a:p>
            <a:fld id="{A5DEA2C6-D913-488B-A290-8B34DDB230B2}" type="slidenum">
              <a:rPr lang="en-US" smtClean="0"/>
              <a:t>41</a:t>
            </a:fld>
            <a:endParaRPr lang="en-US"/>
          </a:p>
        </p:txBody>
      </p:sp>
    </p:spTree>
    <p:extLst>
      <p:ext uri="{BB962C8B-B14F-4D97-AF65-F5344CB8AC3E}">
        <p14:creationId xmlns:p14="http://schemas.microsoft.com/office/powerpoint/2010/main" val="175424893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39E3965E-AC41-4711-9D10-E25ABB132D86}"/>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90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645152"/>
            <a:ext cx="10058400" cy="1143000"/>
          </a:xfrm>
        </p:spPr>
        <p:txBody>
          <a:bodyPr lIns="91440" rIns="91440">
            <a:normAutofit/>
          </a:bodyPr>
          <a:lstStyle>
            <a:lvl1pPr marL="0" indent="0" algn="l">
              <a:buNone/>
              <a:defRPr sz="2400" cap="all" spc="200" baseline="0">
                <a:solidFill>
                  <a:schemeClr val="tx1"/>
                </a:solidFill>
                <a:latin typeface="+mn-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cxnSp>
        <p:nvCxnSpPr>
          <p:cNvPr id="9" name="Straight Connector 8">
            <a:extLst>
              <a:ext uri="{FF2B5EF4-FFF2-40B4-BE49-F238E27FC236}">
                <a16:creationId xmlns:a16="http://schemas.microsoft.com/office/drawing/2014/main" id="{1F5DC8C3-BA5F-4EED-BB9A-A14272BD82A1}"/>
              </a:ext>
            </a:extLst>
          </p:cNvPr>
          <p:cNvCxnSpPr/>
          <p:nvPr/>
        </p:nvCxnSpPr>
        <p:spPr>
          <a:xfrm>
            <a:off x="1207658" y="4474741"/>
            <a:ext cx="987552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4" name="Date Placeholder 3">
            <a:extLst>
              <a:ext uri="{FF2B5EF4-FFF2-40B4-BE49-F238E27FC236}">
                <a16:creationId xmlns:a16="http://schemas.microsoft.com/office/drawing/2014/main" id="{9925CCF1-92C0-4AF3-BFAF-4921631915AB}"/>
              </a:ext>
            </a:extLst>
          </p:cNvPr>
          <p:cNvSpPr>
            <a:spLocks noGrp="1"/>
          </p:cNvSpPr>
          <p:nvPr>
            <p:ph type="dt" sz="half" idx="10"/>
          </p:nvPr>
        </p:nvSpPr>
        <p:spPr/>
        <p:txBody>
          <a:bodyPr/>
          <a:lstStyle/>
          <a:p>
            <a:fld id="{9184DA70-C731-4C70-880D-CCD4705E623C}" type="datetime1">
              <a:rPr lang="en-US" smtClean="0"/>
              <a:t>13-Mar-20</a:t>
            </a:fld>
            <a:endParaRPr lang="en-US" dirty="0"/>
          </a:p>
        </p:txBody>
      </p:sp>
      <p:sp>
        <p:nvSpPr>
          <p:cNvPr id="5" name="Footer Placeholder 4">
            <a:extLst>
              <a:ext uri="{FF2B5EF4-FFF2-40B4-BE49-F238E27FC236}">
                <a16:creationId xmlns:a16="http://schemas.microsoft.com/office/drawing/2014/main" id="{051A78A9-3DFF-4937-A9F2-5D8CF495F367}"/>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5FAEB271-5CC0-4759-BC6E-8BE53AB227C0}"/>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413431291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1_Title">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8E9C91B-7EAD-4562-AB0E-DFB9663AECE3}"/>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Date Placeholder 1">
            <a:extLst>
              <a:ext uri="{FF2B5EF4-FFF2-40B4-BE49-F238E27FC236}">
                <a16:creationId xmlns:a16="http://schemas.microsoft.com/office/drawing/2014/main" id="{94E9223F-721F-47BF-9FD5-0F8D12FF0DE1}"/>
              </a:ext>
            </a:extLst>
          </p:cNvPr>
          <p:cNvSpPr>
            <a:spLocks noGrp="1"/>
          </p:cNvSpPr>
          <p:nvPr>
            <p:ph type="dt" sz="half" idx="10"/>
          </p:nvPr>
        </p:nvSpPr>
        <p:spPr/>
        <p:txBody>
          <a:bodyPr/>
          <a:lstStyle/>
          <a:p>
            <a:fld id="{39667345-2558-425A-8533-9BFDBCE15005}" type="datetime1">
              <a:rPr lang="en-US" smtClean="0"/>
              <a:t>13-Mar-20</a:t>
            </a:fld>
            <a:endParaRPr lang="en-US" dirty="0"/>
          </a:p>
        </p:txBody>
      </p:sp>
      <p:sp>
        <p:nvSpPr>
          <p:cNvPr id="3" name="Footer Placeholder 2">
            <a:extLst>
              <a:ext uri="{FF2B5EF4-FFF2-40B4-BE49-F238E27FC236}">
                <a16:creationId xmlns:a16="http://schemas.microsoft.com/office/drawing/2014/main" id="{05915714-6BBA-4593-8591-4E26F7D58D9F}"/>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BE06F857-D2E1-44DD-ABDD-EBB739645B67}"/>
              </a:ext>
            </a:extLst>
          </p:cNvPr>
          <p:cNvSpPr>
            <a:spLocks noGrp="1"/>
          </p:cNvSpPr>
          <p:nvPr>
            <p:ph type="sldNum" sz="quarter" idx="12"/>
          </p:nvPr>
        </p:nvSpPr>
        <p:spPr/>
        <p:txBody>
          <a:bodyPr/>
          <a:lstStyle/>
          <a:p>
            <a:fld id="{3A98EE3D-8CD1-4C3F-BD1C-C98C9596463C}" type="slidenum">
              <a:rPr lang="en-US" smtClean="0"/>
              <a:t>‹#›</a:t>
            </a:fld>
            <a:endParaRPr lang="en-US" dirty="0"/>
          </a:p>
        </p:txBody>
      </p:sp>
      <p:cxnSp>
        <p:nvCxnSpPr>
          <p:cNvPr id="6" name="Straight Connector 5">
            <a:extLst>
              <a:ext uri="{FF2B5EF4-FFF2-40B4-BE49-F238E27FC236}">
                <a16:creationId xmlns:a16="http://schemas.microsoft.com/office/drawing/2014/main" id="{8176471D-D63D-43A2-88A9-951A3F1E3A71}"/>
              </a:ext>
            </a:extLst>
          </p:cNvPr>
          <p:cNvCxnSpPr>
            <a:cxnSpLocks/>
          </p:cNvCxnSpPr>
          <p:nvPr userDrawn="1"/>
        </p:nvCxnSpPr>
        <p:spPr>
          <a:xfrm>
            <a:off x="1073020" y="1436914"/>
            <a:ext cx="9988732" cy="0"/>
          </a:xfrm>
          <a:prstGeom prst="line">
            <a:avLst/>
          </a:prstGeom>
        </p:spPr>
        <p:style>
          <a:lnRef idx="1">
            <a:schemeClr val="dk1"/>
          </a:lnRef>
          <a:fillRef idx="0">
            <a:schemeClr val="dk1"/>
          </a:fillRef>
          <a:effectRef idx="0">
            <a:schemeClr val="dk1"/>
          </a:effectRef>
          <a:fontRef idx="minor">
            <a:schemeClr val="tx1"/>
          </a:fontRef>
        </p:style>
      </p:cxnSp>
      <p:sp>
        <p:nvSpPr>
          <p:cNvPr id="9" name="Title 1">
            <a:extLst>
              <a:ext uri="{FF2B5EF4-FFF2-40B4-BE49-F238E27FC236}">
                <a16:creationId xmlns:a16="http://schemas.microsoft.com/office/drawing/2014/main" id="{BE5C30CF-AC65-47FE-AFC5-023ADE32FA39}"/>
              </a:ext>
            </a:extLst>
          </p:cNvPr>
          <p:cNvSpPr>
            <a:spLocks noGrp="1"/>
          </p:cNvSpPr>
          <p:nvPr>
            <p:ph type="title"/>
          </p:nvPr>
        </p:nvSpPr>
        <p:spPr>
          <a:xfrm>
            <a:off x="1097279" y="305075"/>
            <a:ext cx="10058400" cy="1057147"/>
          </a:xfrm>
        </p:spPr>
        <p:txBody>
          <a:bodyPr/>
          <a:lstStyle/>
          <a:p>
            <a:r>
              <a:rPr lang="en-US" dirty="0"/>
              <a:t>Click to edit Master title style</a:t>
            </a:r>
          </a:p>
        </p:txBody>
      </p:sp>
      <p:sp>
        <p:nvSpPr>
          <p:cNvPr id="11" name="Content Placeholder 2">
            <a:extLst>
              <a:ext uri="{FF2B5EF4-FFF2-40B4-BE49-F238E27FC236}">
                <a16:creationId xmlns:a16="http://schemas.microsoft.com/office/drawing/2014/main" id="{A86F4628-3A10-4D11-9C60-2866D21329BA}"/>
              </a:ext>
            </a:extLst>
          </p:cNvPr>
          <p:cNvSpPr>
            <a:spLocks noGrp="1"/>
          </p:cNvSpPr>
          <p:nvPr>
            <p:ph idx="1"/>
          </p:nvPr>
        </p:nvSpPr>
        <p:spPr>
          <a:xfrm>
            <a:off x="1097280" y="1579428"/>
            <a:ext cx="10058400" cy="4627395"/>
          </a:xfrm>
        </p:spPr>
        <p:txBody>
          <a:bodyPr/>
          <a:lstStyle>
            <a:lvl1pPr>
              <a:defRPr sz="2800"/>
            </a:lvl1pPr>
            <a:lvl2pPr>
              <a:defRPr sz="2400"/>
            </a:lvl2pPr>
            <a:lvl3pPr>
              <a:defRPr sz="2000"/>
            </a:lvl3pPr>
            <a:lvl4pPr>
              <a:defRPr sz="2000"/>
            </a:lvl4pPr>
            <a:lvl5pPr>
              <a:defRPr sz="20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14194735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a:extLst>
              <a:ext uri="{FF2B5EF4-FFF2-40B4-BE49-F238E27FC236}">
                <a16:creationId xmlns:a16="http://schemas.microsoft.com/office/drawing/2014/main" id="{354D8B55-9EA8-4B81-8E84-9B93B0A27559}"/>
              </a:ext>
            </a:extLst>
          </p:cNvPr>
          <p:cNvSpPr>
            <a:spLocks noGrp="1"/>
          </p:cNvSpPr>
          <p:nvPr>
            <p:ph type="dt" sz="half" idx="10"/>
          </p:nvPr>
        </p:nvSpPr>
        <p:spPr/>
        <p:txBody>
          <a:bodyPr/>
          <a:lstStyle/>
          <a:p>
            <a:fld id="{4BE1D723-8F53-4F53-90B0-1982A396982E}" type="datetime1">
              <a:rPr lang="en-US" smtClean="0"/>
              <a:t>13-Mar-20</a:t>
            </a:fld>
            <a:endParaRPr lang="en-US" dirty="0"/>
          </a:p>
        </p:txBody>
      </p:sp>
      <p:sp>
        <p:nvSpPr>
          <p:cNvPr id="8" name="Footer Placeholder 7">
            <a:extLst>
              <a:ext uri="{FF2B5EF4-FFF2-40B4-BE49-F238E27FC236}">
                <a16:creationId xmlns:a16="http://schemas.microsoft.com/office/drawing/2014/main" id="{062CA021-2578-47CB-822C-BDDFF7223B28}"/>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C4AAB51D-4141-4682-9375-DAFD5FB9DD10}"/>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84690312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585C21A-8B93-4657-B5DF-7EAEAD3BE127}"/>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90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663440"/>
            <a:ext cx="10058400" cy="1143000"/>
          </a:xfrm>
        </p:spPr>
        <p:txBody>
          <a:bodyPr lIns="91440" rIns="91440" anchor="t" anchorCtr="0">
            <a:normAutofit/>
          </a:bodyPr>
          <a:lstStyle>
            <a:lvl1pPr marL="0" indent="0">
              <a:buNone/>
              <a:defRPr sz="2400" cap="all" spc="200" baseline="0">
                <a:solidFill>
                  <a:schemeClr val="tx1"/>
                </a:solidFill>
                <a:latin typeface="+mn-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cxnSp>
        <p:nvCxnSpPr>
          <p:cNvPr id="9" name="Straight Connector 8">
            <a:extLst>
              <a:ext uri="{FF2B5EF4-FFF2-40B4-BE49-F238E27FC236}">
                <a16:creationId xmlns:a16="http://schemas.microsoft.com/office/drawing/2014/main" id="{459DE2C1-4C52-40A3-8959-27B2C1BEBFF6}"/>
              </a:ext>
            </a:extLst>
          </p:cNvPr>
          <p:cNvCxnSpPr/>
          <p:nvPr/>
        </p:nvCxnSpPr>
        <p:spPr>
          <a:xfrm>
            <a:off x="1207658" y="4485132"/>
            <a:ext cx="987552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7" name="Date Placeholder 6">
            <a:extLst>
              <a:ext uri="{FF2B5EF4-FFF2-40B4-BE49-F238E27FC236}">
                <a16:creationId xmlns:a16="http://schemas.microsoft.com/office/drawing/2014/main" id="{AAF2E137-EC28-48F8-9198-1F02539029B6}"/>
              </a:ext>
            </a:extLst>
          </p:cNvPr>
          <p:cNvSpPr>
            <a:spLocks noGrp="1"/>
          </p:cNvSpPr>
          <p:nvPr>
            <p:ph type="dt" sz="half" idx="10"/>
          </p:nvPr>
        </p:nvSpPr>
        <p:spPr/>
        <p:txBody>
          <a:bodyPr/>
          <a:lstStyle/>
          <a:p>
            <a:fld id="{97669AF7-7BEB-44E4-9852-375E34362B5B}" type="datetime1">
              <a:rPr lang="en-US" smtClean="0"/>
              <a:t>13-Mar-20</a:t>
            </a:fld>
            <a:endParaRPr lang="en-US" dirty="0"/>
          </a:p>
        </p:txBody>
      </p:sp>
      <p:sp>
        <p:nvSpPr>
          <p:cNvPr id="8" name="Footer Placeholder 7">
            <a:extLst>
              <a:ext uri="{FF2B5EF4-FFF2-40B4-BE49-F238E27FC236}">
                <a16:creationId xmlns:a16="http://schemas.microsoft.com/office/drawing/2014/main" id="{189422CD-6F62-4DD6-89EF-07A60B42D219}"/>
              </a:ext>
            </a:extLst>
          </p:cNvPr>
          <p:cNvSpPr>
            <a:spLocks noGrp="1"/>
          </p:cNvSpPr>
          <p:nvPr>
            <p:ph type="ftr" sz="quarter" idx="11"/>
          </p:nvPr>
        </p:nvSpPr>
        <p:spPr/>
        <p:txBody>
          <a:bodyPr/>
          <a:lstStyle/>
          <a:p>
            <a:endParaRPr lang="en-US" dirty="0"/>
          </a:p>
        </p:txBody>
      </p:sp>
      <p:sp>
        <p:nvSpPr>
          <p:cNvPr id="11" name="Slide Number Placeholder 10">
            <a:extLst>
              <a:ext uri="{FF2B5EF4-FFF2-40B4-BE49-F238E27FC236}">
                <a16:creationId xmlns:a16="http://schemas.microsoft.com/office/drawing/2014/main" id="{69C6AFF8-42B4-4D05-969B-9F5FB3355555}"/>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71911051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80" y="2120900"/>
            <a:ext cx="4639736" cy="374819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515944" y="2120900"/>
            <a:ext cx="4639736" cy="374819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Date Placeholder 1">
            <a:extLst>
              <a:ext uri="{FF2B5EF4-FFF2-40B4-BE49-F238E27FC236}">
                <a16:creationId xmlns:a16="http://schemas.microsoft.com/office/drawing/2014/main" id="{5782D47D-B0DC-4C40-BCC6-BBBA32584A38}"/>
              </a:ext>
            </a:extLst>
          </p:cNvPr>
          <p:cNvSpPr>
            <a:spLocks noGrp="1"/>
          </p:cNvSpPr>
          <p:nvPr>
            <p:ph type="dt" sz="half" idx="10"/>
          </p:nvPr>
        </p:nvSpPr>
        <p:spPr/>
        <p:txBody>
          <a:bodyPr/>
          <a:lstStyle/>
          <a:p>
            <a:fld id="{BAAAC38D-0552-4C82-B593-E6124DFADBE2}" type="datetime1">
              <a:rPr lang="en-US" smtClean="0"/>
              <a:t>13-Mar-20</a:t>
            </a:fld>
            <a:endParaRPr lang="en-US" dirty="0"/>
          </a:p>
        </p:txBody>
      </p:sp>
      <p:sp>
        <p:nvSpPr>
          <p:cNvPr id="9" name="Footer Placeholder 8">
            <a:extLst>
              <a:ext uri="{FF2B5EF4-FFF2-40B4-BE49-F238E27FC236}">
                <a16:creationId xmlns:a16="http://schemas.microsoft.com/office/drawing/2014/main" id="{4690D34E-7EBD-44B2-83CA-4C126A18D7EF}"/>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2AC511A1-9BBD-42DE-92FB-2AF44F8E97A9}"/>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400914453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2057400"/>
            <a:ext cx="4639736" cy="736282"/>
          </a:xfrm>
        </p:spPr>
        <p:txBody>
          <a:bodyPr lIns="91440" rIns="91440" anchor="ctr">
            <a:normAutofit/>
          </a:bodyPr>
          <a:lstStyle>
            <a:lvl1pPr marL="0" indent="0">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958274"/>
            <a:ext cx="4639736" cy="291082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515944" y="2057400"/>
            <a:ext cx="4639736" cy="736282"/>
          </a:xfrm>
        </p:spPr>
        <p:txBody>
          <a:bodyPr lIns="91440" rIns="91440" anchor="ctr">
            <a:normAutofit/>
          </a:bodyPr>
          <a:lstStyle>
            <a:lvl1pPr marL="0" indent="0">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515944" y="2958273"/>
            <a:ext cx="4639736" cy="291082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Date Placeholder 1">
            <a:extLst>
              <a:ext uri="{FF2B5EF4-FFF2-40B4-BE49-F238E27FC236}">
                <a16:creationId xmlns:a16="http://schemas.microsoft.com/office/drawing/2014/main" id="{8AF8A515-AA94-45D1-9223-5C2272618D85}"/>
              </a:ext>
            </a:extLst>
          </p:cNvPr>
          <p:cNvSpPr>
            <a:spLocks noGrp="1"/>
          </p:cNvSpPr>
          <p:nvPr>
            <p:ph type="dt" sz="half" idx="10"/>
          </p:nvPr>
        </p:nvSpPr>
        <p:spPr/>
        <p:txBody>
          <a:bodyPr/>
          <a:lstStyle/>
          <a:p>
            <a:fld id="{D9DF0F1C-5577-4ACB-BB62-DF8F3C494C7E}" type="datetime1">
              <a:rPr lang="en-US" smtClean="0"/>
              <a:t>13-Mar-20</a:t>
            </a:fld>
            <a:endParaRPr lang="en-US" dirty="0"/>
          </a:p>
        </p:txBody>
      </p:sp>
      <p:sp>
        <p:nvSpPr>
          <p:cNvPr id="11" name="Footer Placeholder 10">
            <a:extLst>
              <a:ext uri="{FF2B5EF4-FFF2-40B4-BE49-F238E27FC236}">
                <a16:creationId xmlns:a16="http://schemas.microsoft.com/office/drawing/2014/main" id="{D052F5BC-98E0-4D60-AD67-9547738B7DD4}"/>
              </a:ext>
            </a:extLst>
          </p:cNvPr>
          <p:cNvSpPr>
            <a:spLocks noGrp="1"/>
          </p:cNvSpPr>
          <p:nvPr>
            <p:ph type="ftr" sz="quarter" idx="11"/>
          </p:nvPr>
        </p:nvSpPr>
        <p:spPr/>
        <p:txBody>
          <a:bodyPr/>
          <a:lstStyle/>
          <a:p>
            <a:endParaRPr lang="en-US" dirty="0"/>
          </a:p>
        </p:txBody>
      </p:sp>
      <p:sp>
        <p:nvSpPr>
          <p:cNvPr id="12" name="Slide Number Placeholder 11">
            <a:extLst>
              <a:ext uri="{FF2B5EF4-FFF2-40B4-BE49-F238E27FC236}">
                <a16:creationId xmlns:a16="http://schemas.microsoft.com/office/drawing/2014/main" id="{A38552DC-952E-41EA-AAAF-C2187523C0B0}"/>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80803000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1097279" y="305075"/>
            <a:ext cx="10058400" cy="1450757"/>
          </a:xfrm>
        </p:spPr>
        <p:txBody>
          <a:bodyPr/>
          <a:lstStyle/>
          <a:p>
            <a:r>
              <a:rPr lang="en-US" dirty="0"/>
              <a:t>Click to edit Master title style</a:t>
            </a:r>
          </a:p>
        </p:txBody>
      </p:sp>
      <p:sp>
        <p:nvSpPr>
          <p:cNvPr id="6" name="Date Placeholder 5">
            <a:extLst>
              <a:ext uri="{FF2B5EF4-FFF2-40B4-BE49-F238E27FC236}">
                <a16:creationId xmlns:a16="http://schemas.microsoft.com/office/drawing/2014/main" id="{7392073F-158F-44A3-8913-917AFFC1BC20}"/>
              </a:ext>
            </a:extLst>
          </p:cNvPr>
          <p:cNvSpPr>
            <a:spLocks noGrp="1"/>
          </p:cNvSpPr>
          <p:nvPr>
            <p:ph type="dt" sz="half" idx="10"/>
          </p:nvPr>
        </p:nvSpPr>
        <p:spPr/>
        <p:txBody>
          <a:bodyPr/>
          <a:lstStyle/>
          <a:p>
            <a:fld id="{1775B394-D9F9-4F0C-B15D-605F45CB9E9F}" type="datetime1">
              <a:rPr lang="en-US" smtClean="0"/>
              <a:t>13-Mar-20</a:t>
            </a:fld>
            <a:endParaRPr lang="en-US" dirty="0"/>
          </a:p>
        </p:txBody>
      </p:sp>
      <p:sp>
        <p:nvSpPr>
          <p:cNvPr id="7" name="Footer Placeholder 6">
            <a:extLst>
              <a:ext uri="{FF2B5EF4-FFF2-40B4-BE49-F238E27FC236}">
                <a16:creationId xmlns:a16="http://schemas.microsoft.com/office/drawing/2014/main" id="{EED72207-24CA-42B7-A975-2F8E41CBA904}"/>
              </a:ext>
            </a:extLst>
          </p:cNvPr>
          <p:cNvSpPr>
            <a:spLocks noGrp="1"/>
          </p:cNvSpPr>
          <p:nvPr>
            <p:ph type="ftr" sz="quarter" idx="11"/>
          </p:nvPr>
        </p:nvSpPr>
        <p:spPr/>
        <p:txBody>
          <a:bodyPr/>
          <a:lstStyle/>
          <a:p>
            <a:endParaRPr lang="en-US" dirty="0"/>
          </a:p>
        </p:txBody>
      </p:sp>
      <p:sp>
        <p:nvSpPr>
          <p:cNvPr id="8" name="Slide Number Placeholder 7">
            <a:extLst>
              <a:ext uri="{FF2B5EF4-FFF2-40B4-BE49-F238E27FC236}">
                <a16:creationId xmlns:a16="http://schemas.microsoft.com/office/drawing/2014/main" id="{D01080F2-251A-4B88-9A62-16F46D724F83}"/>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70854573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8E9C91B-7EAD-4562-AB0E-DFB9663AECE3}"/>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Date Placeholder 1">
            <a:extLst>
              <a:ext uri="{FF2B5EF4-FFF2-40B4-BE49-F238E27FC236}">
                <a16:creationId xmlns:a16="http://schemas.microsoft.com/office/drawing/2014/main" id="{94E9223F-721F-47BF-9FD5-0F8D12FF0DE1}"/>
              </a:ext>
            </a:extLst>
          </p:cNvPr>
          <p:cNvSpPr>
            <a:spLocks noGrp="1"/>
          </p:cNvSpPr>
          <p:nvPr>
            <p:ph type="dt" sz="half" idx="10"/>
          </p:nvPr>
        </p:nvSpPr>
        <p:spPr/>
        <p:txBody>
          <a:bodyPr/>
          <a:lstStyle/>
          <a:p>
            <a:fld id="{39667345-2558-425A-8533-9BFDBCE15005}" type="datetime1">
              <a:rPr lang="en-US" smtClean="0"/>
              <a:t>13-Mar-20</a:t>
            </a:fld>
            <a:endParaRPr lang="en-US" dirty="0"/>
          </a:p>
        </p:txBody>
      </p:sp>
      <p:sp>
        <p:nvSpPr>
          <p:cNvPr id="3" name="Footer Placeholder 2">
            <a:extLst>
              <a:ext uri="{FF2B5EF4-FFF2-40B4-BE49-F238E27FC236}">
                <a16:creationId xmlns:a16="http://schemas.microsoft.com/office/drawing/2014/main" id="{05915714-6BBA-4593-8591-4E26F7D58D9F}"/>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BE06F857-D2E1-44DD-ABDD-EBB739645B67}"/>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27677918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16D90D66-BCB9-4229-A829-628874352AC0}"/>
              </a:ext>
            </a:extLst>
          </p:cNvPr>
          <p:cNvSpPr/>
          <p:nvPr/>
        </p:nvSpPr>
        <p:spPr>
          <a:xfrm>
            <a:off x="16" y="0"/>
            <a:ext cx="4654296" cy="68580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43466" y="786383"/>
            <a:ext cx="3517567" cy="2093975"/>
          </a:xfrm>
        </p:spPr>
        <p:txBody>
          <a:bodyPr anchor="b">
            <a:normAutofit/>
          </a:bodyPr>
          <a:lstStyle>
            <a:lvl1pPr>
              <a:lnSpc>
                <a:spcPct val="90000"/>
              </a:lnSpc>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5458984" y="812799"/>
            <a:ext cx="5928344" cy="52947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43465" y="3043050"/>
            <a:ext cx="3517567" cy="3064505"/>
          </a:xfrm>
        </p:spPr>
        <p:txBody>
          <a:bodyPr lIns="91440" rIns="91440">
            <a:normAutofit/>
          </a:bodyPr>
          <a:lstStyle>
            <a:lvl1pPr marL="0" indent="0">
              <a:buNone/>
              <a:defRPr sz="18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643464" y="6446520"/>
            <a:ext cx="3517568" cy="365125"/>
          </a:xfrm>
        </p:spPr>
        <p:txBody>
          <a:bodyPr/>
          <a:lstStyle>
            <a:lvl1pPr algn="l">
              <a:defRPr/>
            </a:lvl1pPr>
          </a:lstStyle>
          <a:p>
            <a:fld id="{92BEA474-078D-4E9B-9B14-09A87B19DC46}" type="datetime1">
              <a:rPr lang="en-US" smtClean="0"/>
              <a:t>13-Mar-20</a:t>
            </a:fld>
            <a:endParaRPr lang="en-US" dirty="0"/>
          </a:p>
        </p:txBody>
      </p:sp>
      <p:sp>
        <p:nvSpPr>
          <p:cNvPr id="6" name="Footer Placeholder 5"/>
          <p:cNvSpPr>
            <a:spLocks noGrp="1"/>
          </p:cNvSpPr>
          <p:nvPr>
            <p:ph type="ftr" sz="quarter" idx="11"/>
          </p:nvPr>
        </p:nvSpPr>
        <p:spPr>
          <a:xfrm>
            <a:off x="5458983" y="6446520"/>
            <a:ext cx="5334019" cy="365125"/>
          </a:xfrm>
        </p:spPr>
        <p:txBody>
          <a:bodyPr/>
          <a:lstStyle>
            <a:lvl1pPr algn="l">
              <a:defRPr>
                <a:solidFill>
                  <a:schemeClr val="tx2"/>
                </a:solidFill>
              </a:defRPr>
            </a:lvl1pPr>
          </a:lstStyle>
          <a:p>
            <a:endParaRPr lang="en-US" dirty="0"/>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3A98EE3D-8CD1-4C3F-BD1C-C98C9596463C}" type="slidenum">
              <a:rPr lang="en-US" smtClean="0"/>
              <a:pPr/>
              <a:t>‹#›</a:t>
            </a:fld>
            <a:endParaRPr lang="en-US" dirty="0"/>
          </a:p>
        </p:txBody>
      </p:sp>
    </p:spTree>
    <p:extLst>
      <p:ext uri="{BB962C8B-B14F-4D97-AF65-F5344CB8AC3E}">
        <p14:creationId xmlns:p14="http://schemas.microsoft.com/office/powerpoint/2010/main" val="14299816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DA134939-39C0-4522-A125-A13DFDA66490}"/>
              </a:ext>
            </a:extLst>
          </p:cNvPr>
          <p:cNvSpPr/>
          <p:nvPr/>
        </p:nvSpPr>
        <p:spPr>
          <a:xfrm>
            <a:off x="0" y="4578350"/>
            <a:ext cx="12188825" cy="227965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 name="Picture Placeholder 2"/>
          <p:cNvSpPr>
            <a:spLocks noGrp="1" noChangeAspect="1"/>
          </p:cNvSpPr>
          <p:nvPr>
            <p:ph type="pic" idx="1"/>
          </p:nvPr>
        </p:nvSpPr>
        <p:spPr>
          <a:xfrm>
            <a:off x="15" y="0"/>
            <a:ext cx="12191985" cy="4578350"/>
          </a:xfrm>
          <a:solidFill>
            <a:schemeClr val="bg1">
              <a:lumMod val="85000"/>
            </a:schemeClr>
          </a:solidFill>
        </p:spPr>
        <p:txBody>
          <a:bodyPr lIns="457200" tIns="45720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2" name="Title 1"/>
          <p:cNvSpPr>
            <a:spLocks noGrp="1"/>
          </p:cNvSpPr>
          <p:nvPr>
            <p:ph type="title"/>
          </p:nvPr>
        </p:nvSpPr>
        <p:spPr>
          <a:xfrm>
            <a:off x="1097279" y="4799362"/>
            <a:ext cx="10113645" cy="743682"/>
          </a:xfrm>
        </p:spPr>
        <p:txBody>
          <a:bodyPr tIns="0" bIns="0" anchor="b">
            <a:noAutofit/>
          </a:bodyPr>
          <a:lstStyle>
            <a:lvl1pPr>
              <a:defRPr sz="3600" b="0">
                <a:solidFill>
                  <a:srgbClr val="FFFFFF"/>
                </a:solidFill>
              </a:defRPr>
            </a:lvl1pPr>
          </a:lstStyle>
          <a:p>
            <a:r>
              <a:rPr lang="en-US"/>
              <a:t>Click to edit Master title style</a:t>
            </a:r>
            <a:endParaRPr lang="en-US" dirty="0"/>
          </a:p>
        </p:txBody>
      </p:sp>
      <p:sp>
        <p:nvSpPr>
          <p:cNvPr id="4" name="Text Placeholder 3"/>
          <p:cNvSpPr>
            <a:spLocks noGrp="1"/>
          </p:cNvSpPr>
          <p:nvPr>
            <p:ph type="body" sz="half" idx="2"/>
          </p:nvPr>
        </p:nvSpPr>
        <p:spPr>
          <a:xfrm>
            <a:off x="1097279" y="5715000"/>
            <a:ext cx="10113264" cy="609600"/>
          </a:xfrm>
        </p:spPr>
        <p:txBody>
          <a:bodyPr lIns="91440" tIns="0" rIns="91440" bIns="0">
            <a:normAutofit/>
          </a:bodyPr>
          <a:lstStyle>
            <a:lvl1pPr marL="0" indent="0">
              <a:spcBef>
                <a:spcPts val="0"/>
              </a:spcBef>
              <a:spcAft>
                <a:spcPts val="600"/>
              </a:spcAft>
              <a:buNone/>
              <a:defRPr sz="18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lvl1pPr>
          </a:lstStyle>
          <a:p>
            <a:fld id="{4907D986-8816-4272-A432-0437A28A9828}" type="datetime1">
              <a:rPr lang="en-US" smtClean="0"/>
              <a:t>13-Mar-20</a:t>
            </a:fld>
            <a:endParaRPr lang="en-US" dirty="0"/>
          </a:p>
        </p:txBody>
      </p:sp>
      <p:sp>
        <p:nvSpPr>
          <p:cNvPr id="6" name="Footer Placeholder 5"/>
          <p:cNvSpPr>
            <a:spLocks noGrp="1"/>
          </p:cNvSpPr>
          <p:nvPr>
            <p:ph type="ftr" sz="quarter" idx="11"/>
          </p:nvPr>
        </p:nvSpPr>
        <p:spPr>
          <a:xfrm>
            <a:off x="1097279" y="6446838"/>
            <a:ext cx="6818262" cy="365125"/>
          </a:xfrm>
        </p:spPr>
        <p:txBody>
          <a:bodyPr/>
          <a:lstStyle/>
          <a:p>
            <a:pPr algn="l"/>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91586081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7D5506EE-1026-4F35-9ACC-BD05BE0F9B36}"/>
              </a:ext>
            </a:extLst>
          </p:cNvPr>
          <p:cNvSpPr>
            <a:spLocks noGrp="1"/>
          </p:cNvSpPr>
          <p:nvPr>
            <p:ph type="dt" sz="half" idx="10"/>
          </p:nvPr>
        </p:nvSpPr>
        <p:spPr/>
        <p:txBody>
          <a:bodyPr/>
          <a:lstStyle/>
          <a:p>
            <a:fld id="{B612A279-0833-481D-8C56-F67FD0AC6C50}" type="datetime1">
              <a:rPr lang="en-US" smtClean="0"/>
              <a:t>13-Mar-20</a:t>
            </a:fld>
            <a:endParaRPr lang="en-US" dirty="0"/>
          </a:p>
        </p:txBody>
      </p:sp>
      <p:sp>
        <p:nvSpPr>
          <p:cNvPr id="8" name="Footer Placeholder 7">
            <a:extLst>
              <a:ext uri="{FF2B5EF4-FFF2-40B4-BE49-F238E27FC236}">
                <a16:creationId xmlns:a16="http://schemas.microsoft.com/office/drawing/2014/main" id="{B7696E5F-8D95-4450-AE52-5438E6EDE2BF}"/>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999B2253-74CC-409E-BEB0-F8EFCFCB5629}"/>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58349672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E1B68A5B-D9FA-424B-A4EB-30E7223836B3}"/>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2302"/>
            <a:ext cx="2628900" cy="575989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2302"/>
            <a:ext cx="7734300" cy="5759898"/>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AF33D6B0-F070-45C4-A472-19F432BE3932}"/>
              </a:ext>
            </a:extLst>
          </p:cNvPr>
          <p:cNvSpPr>
            <a:spLocks noGrp="1"/>
          </p:cNvSpPr>
          <p:nvPr>
            <p:ph type="dt" sz="half" idx="10"/>
          </p:nvPr>
        </p:nvSpPr>
        <p:spPr/>
        <p:txBody>
          <a:bodyPr/>
          <a:lstStyle/>
          <a:p>
            <a:fld id="{6587DA83-5663-4C9C-B9AA-0B40A3DAFF81}" type="datetime1">
              <a:rPr lang="en-US" smtClean="0"/>
              <a:t>13-Mar-20</a:t>
            </a:fld>
            <a:endParaRPr lang="en-US" dirty="0"/>
          </a:p>
        </p:txBody>
      </p:sp>
      <p:sp>
        <p:nvSpPr>
          <p:cNvPr id="8" name="Footer Placeholder 7">
            <a:extLst>
              <a:ext uri="{FF2B5EF4-FFF2-40B4-BE49-F238E27FC236}">
                <a16:creationId xmlns:a16="http://schemas.microsoft.com/office/drawing/2014/main" id="{9975399F-DAB2-410D-967F-ED17E6F796E7}"/>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F762A46F-6BE5-4D12-9412-5CA7672EA8EC}"/>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38840667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416A0E3C-60E6-4F39-BC55-5F7C224E1F7C}"/>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2108201"/>
            <a:ext cx="10058400" cy="3760891"/>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218426" y="6446838"/>
            <a:ext cx="2584850" cy="365125"/>
          </a:xfrm>
          <a:prstGeom prst="rect">
            <a:avLst/>
          </a:prstGeom>
        </p:spPr>
        <p:txBody>
          <a:bodyPr vert="horz" lIns="91440" tIns="45720" rIns="91440" bIns="45720" rtlCol="0" anchor="ctr"/>
          <a:lstStyle>
            <a:lvl1pPr algn="r">
              <a:defRPr sz="900">
                <a:solidFill>
                  <a:srgbClr val="FFFFFF"/>
                </a:solidFill>
              </a:defRPr>
            </a:lvl1pPr>
          </a:lstStyle>
          <a:p>
            <a:fld id="{62D6E202-B606-4609-B914-27C9371A1F6D}" type="datetime1">
              <a:rPr lang="en-US" smtClean="0"/>
              <a:t>13-Mar-20</a:t>
            </a:fld>
            <a:endParaRPr lang="en-US" dirty="0"/>
          </a:p>
        </p:txBody>
      </p:sp>
      <p:sp>
        <p:nvSpPr>
          <p:cNvPr id="5" name="Footer Placeholder 4"/>
          <p:cNvSpPr>
            <a:spLocks noGrp="1"/>
          </p:cNvSpPr>
          <p:nvPr>
            <p:ph type="ftr" sz="quarter" idx="3"/>
          </p:nvPr>
        </p:nvSpPr>
        <p:spPr>
          <a:xfrm>
            <a:off x="1097279" y="6446838"/>
            <a:ext cx="6818262" cy="365125"/>
          </a:xfrm>
          <a:prstGeom prst="rect">
            <a:avLst/>
          </a:prstGeom>
        </p:spPr>
        <p:txBody>
          <a:bodyPr vert="horz" lIns="91440" tIns="45720" rIns="91440" bIns="45720" rtlCol="0" anchor="ctr"/>
          <a:lstStyle>
            <a:lvl1pPr algn="l">
              <a:defRPr sz="900" cap="all" baseline="0">
                <a:solidFill>
                  <a:srgbClr val="FFFFFF"/>
                </a:solidFill>
              </a:defRPr>
            </a:lvl1pPr>
          </a:lstStyle>
          <a:p>
            <a:endParaRPr lang="en-US" dirty="0"/>
          </a:p>
        </p:txBody>
      </p:sp>
      <p:sp>
        <p:nvSpPr>
          <p:cNvPr id="6" name="Slide Number Placeholder 5"/>
          <p:cNvSpPr>
            <a:spLocks noGrp="1"/>
          </p:cNvSpPr>
          <p:nvPr>
            <p:ph type="sldNum" sz="quarter" idx="4"/>
          </p:nvPr>
        </p:nvSpPr>
        <p:spPr>
          <a:xfrm>
            <a:off x="10993582" y="6446838"/>
            <a:ext cx="780010" cy="365125"/>
          </a:xfrm>
          <a:prstGeom prst="rect">
            <a:avLst/>
          </a:prstGeom>
        </p:spPr>
        <p:txBody>
          <a:bodyPr vert="horz" lIns="91440" tIns="45720" rIns="91440" bIns="45720" rtlCol="0" anchor="ctr"/>
          <a:lstStyle>
            <a:lvl1pPr algn="l">
              <a:defRPr sz="900">
                <a:solidFill>
                  <a:srgbClr val="FFFFFF"/>
                </a:solidFill>
              </a:defRPr>
            </a:lvl1pPr>
          </a:lstStyle>
          <a:p>
            <a:fld id="{3A98EE3D-8CD1-4C3F-BD1C-C98C9596463C}" type="slidenum">
              <a:rPr lang="en-US" smtClean="0"/>
              <a:t>‹#›</a:t>
            </a:fld>
            <a:endParaRPr lang="en-US" dirty="0"/>
          </a:p>
        </p:txBody>
      </p:sp>
      <p:cxnSp>
        <p:nvCxnSpPr>
          <p:cNvPr id="10" name="Straight Connector 9">
            <a:extLst>
              <a:ext uri="{FF2B5EF4-FFF2-40B4-BE49-F238E27FC236}">
                <a16:creationId xmlns:a16="http://schemas.microsoft.com/office/drawing/2014/main" id="{C5025DAC-8B93-4160-B017-3A274A5828C0}"/>
              </a:ext>
            </a:extLst>
          </p:cNvPr>
          <p:cNvCxnSpPr/>
          <p:nvPr/>
        </p:nvCxnSpPr>
        <p:spPr>
          <a:xfrm>
            <a:off x="1193532" y="1897380"/>
            <a:ext cx="996696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28049852"/>
      </p:ext>
    </p:extLst>
  </p:cSld>
  <p:clrMap bg1="lt1" tx1="dk1" bg2="lt2" tx2="dk2" accent1="accent1" accent2="accent2" accent3="accent3" accent4="accent4" accent5="accent5" accent6="accent6" hlink="hlink" folHlink="folHlink"/>
  <p:sldLayoutIdLst>
    <p:sldLayoutId id="2147483757" r:id="rId1"/>
    <p:sldLayoutId id="2147483763" r:id="rId2"/>
    <p:sldLayoutId id="2147483758" r:id="rId3"/>
    <p:sldLayoutId id="2147483759" r:id="rId4"/>
    <p:sldLayoutId id="2147483760" r:id="rId5"/>
    <p:sldLayoutId id="2147483761" r:id="rId6"/>
    <p:sldLayoutId id="2147483755" r:id="rId7"/>
    <p:sldLayoutId id="2147483751" r:id="rId8"/>
    <p:sldLayoutId id="2147483752" r:id="rId9"/>
    <p:sldLayoutId id="2147483753" r:id="rId10"/>
    <p:sldLayoutId id="2147483754" r:id="rId11"/>
    <p:sldLayoutId id="2147483756" r:id="rId12"/>
  </p:sldLayoutIdLst>
  <p:hf sldNum="0" hdr="0" ftr="0" dt="0"/>
  <p:txStyles>
    <p:titleStyle>
      <a:lvl1pPr algn="l" defTabSz="914400" rtl="0" eaLnBrk="1" latinLnBrk="0" hangingPunct="1">
        <a:lnSpc>
          <a:spcPct val="80000"/>
        </a:lnSpc>
        <a:spcBef>
          <a:spcPct val="0"/>
        </a:spcBef>
        <a:buNone/>
        <a:defRPr sz="54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110000"/>
        </a:lnSpc>
        <a:spcBef>
          <a:spcPts val="1200"/>
        </a:spcBef>
        <a:spcAft>
          <a:spcPts val="200"/>
        </a:spcAft>
        <a:buClr>
          <a:schemeClr val="accent1"/>
        </a:buClr>
        <a:buSzPct val="100000"/>
        <a:buFont typeface="Calibri" panose="020F0502020204030204" pitchFamily="34" charset="0"/>
        <a:buChar char=" "/>
        <a:defRPr sz="23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100000"/>
        </a:lnSpc>
        <a:spcBef>
          <a:spcPts val="200"/>
        </a:spcBef>
        <a:spcAft>
          <a:spcPts val="400"/>
        </a:spcAft>
        <a:buClrTx/>
        <a:buFont typeface="Calibri" pitchFamily="34" charset="0"/>
        <a:buChar char="◦"/>
        <a:defRPr sz="21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100000"/>
        </a:lnSpc>
        <a:spcBef>
          <a:spcPts val="200"/>
        </a:spcBef>
        <a:spcAft>
          <a:spcPts val="400"/>
        </a:spcAft>
        <a:buClrTx/>
        <a:buFont typeface="Calibri" pitchFamily="34" charset="0"/>
        <a:buChar char="◦"/>
        <a:defRPr sz="16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100000"/>
        </a:lnSpc>
        <a:spcBef>
          <a:spcPts val="200"/>
        </a:spcBef>
        <a:spcAft>
          <a:spcPts val="400"/>
        </a:spcAft>
        <a:buClrTx/>
        <a:buFont typeface="Calibri" pitchFamily="34" charset="0"/>
        <a:buChar char="◦"/>
        <a:defRPr sz="16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100000"/>
        </a:lnSpc>
        <a:spcBef>
          <a:spcPts val="200"/>
        </a:spcBef>
        <a:spcAft>
          <a:spcPts val="400"/>
        </a:spcAft>
        <a:buClrTx/>
        <a:buFont typeface="Calibri" pitchFamily="34" charset="0"/>
        <a:buChar char="◦"/>
        <a:defRPr sz="16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1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1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0.xml"/><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5.pn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2.xml"/><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5.png"/></Relationships>
</file>

<file path=ppt/slides/_rels/slide2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3.xml"/><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5.png"/></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0.xml"/><Relationship Id="rId1" Type="http://schemas.openxmlformats.org/officeDocument/2006/relationships/slideLayout" Target="../slideLayouts/slideLayout2.xml"/><Relationship Id="rId4" Type="http://schemas.microsoft.com/office/2007/relationships/hdphoto" Target="../media/hdphoto1.wdp"/></Relationships>
</file>

<file path=ppt/slides/_rels/slide2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F452A527-3631-41ED-858D-3777A7D1496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1"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A126DF4-48BF-4068-A65E-1843C55472BA}"/>
              </a:ext>
            </a:extLst>
          </p:cNvPr>
          <p:cNvSpPr>
            <a:spLocks noGrp="1"/>
          </p:cNvSpPr>
          <p:nvPr>
            <p:ph type="ctrTitle"/>
          </p:nvPr>
        </p:nvSpPr>
        <p:spPr>
          <a:xfrm>
            <a:off x="6730000" y="639097"/>
            <a:ext cx="4813072" cy="3494791"/>
          </a:xfrm>
        </p:spPr>
        <p:txBody>
          <a:bodyPr>
            <a:normAutofit fontScale="90000"/>
          </a:bodyPr>
          <a:lstStyle/>
          <a:p>
            <a:r>
              <a:rPr lang="en-US" sz="5600" dirty="0">
                <a:solidFill>
                  <a:srgbClr val="FF6600"/>
                </a:solidFill>
              </a:rPr>
              <a:t>Customizable and Extensible Deployment</a:t>
            </a:r>
            <a:br>
              <a:rPr lang="en-US" sz="5600" dirty="0">
                <a:solidFill>
                  <a:srgbClr val="FF6600"/>
                </a:solidFill>
              </a:rPr>
            </a:br>
            <a:r>
              <a:rPr lang="en-US" sz="5600" dirty="0">
                <a:solidFill>
                  <a:srgbClr val="FF6600"/>
                </a:solidFill>
              </a:rPr>
              <a:t>for Mobile/Cloud Applications</a:t>
            </a:r>
          </a:p>
        </p:txBody>
      </p:sp>
      <p:sp>
        <p:nvSpPr>
          <p:cNvPr id="3" name="Subtitle 2">
            <a:extLst>
              <a:ext uri="{FF2B5EF4-FFF2-40B4-BE49-F238E27FC236}">
                <a16:creationId xmlns:a16="http://schemas.microsoft.com/office/drawing/2014/main" id="{5E53B33A-7DE5-4027-A1B4-3E0EAF541A31}"/>
              </a:ext>
            </a:extLst>
          </p:cNvPr>
          <p:cNvSpPr>
            <a:spLocks noGrp="1"/>
          </p:cNvSpPr>
          <p:nvPr>
            <p:ph type="subTitle" idx="1"/>
          </p:nvPr>
        </p:nvSpPr>
        <p:spPr>
          <a:xfrm>
            <a:off x="6729999" y="4455621"/>
            <a:ext cx="4829101" cy="1238616"/>
          </a:xfrm>
        </p:spPr>
        <p:txBody>
          <a:bodyPr>
            <a:normAutofit fontScale="92500" lnSpcReduction="10000"/>
          </a:bodyPr>
          <a:lstStyle/>
          <a:p>
            <a:pPr algn="ctr">
              <a:lnSpc>
                <a:spcPct val="100000"/>
              </a:lnSpc>
            </a:pPr>
            <a:r>
              <a:rPr lang="en-US" sz="2000" dirty="0"/>
              <a:t>Presented by </a:t>
            </a:r>
          </a:p>
          <a:p>
            <a:pPr algn="ctr">
              <a:lnSpc>
                <a:spcPct val="100000"/>
              </a:lnSpc>
            </a:pPr>
            <a:r>
              <a:rPr lang="en-US" sz="2000" dirty="0"/>
              <a:t>Supadchaya Puangpontip</a:t>
            </a:r>
          </a:p>
          <a:p>
            <a:pPr algn="ctr">
              <a:lnSpc>
                <a:spcPct val="100000"/>
              </a:lnSpc>
            </a:pPr>
            <a:r>
              <a:rPr lang="en-US" sz="2000" dirty="0" err="1"/>
              <a:t>MArch</a:t>
            </a:r>
            <a:r>
              <a:rPr lang="en-US" sz="2000" dirty="0"/>
              <a:t> 2020</a:t>
            </a:r>
          </a:p>
        </p:txBody>
      </p:sp>
      <p:pic>
        <p:nvPicPr>
          <p:cNvPr id="5" name="Picture 4" descr="A circuit board&#10;&#10;Description automatically generated">
            <a:extLst>
              <a:ext uri="{FF2B5EF4-FFF2-40B4-BE49-F238E27FC236}">
                <a16:creationId xmlns:a16="http://schemas.microsoft.com/office/drawing/2014/main" id="{5002AF56-3FA9-412F-91A6-1274A1AC67EB}"/>
              </a:ext>
            </a:extLst>
          </p:cNvPr>
          <p:cNvPicPr>
            <a:picLocks noChangeAspect="1"/>
          </p:cNvPicPr>
          <p:nvPr/>
        </p:nvPicPr>
        <p:blipFill rotWithShape="1">
          <a:blip r:embed="rId2"/>
          <a:srcRect l="19639" r="21027" b="-1"/>
          <a:stretch/>
        </p:blipFill>
        <p:spPr>
          <a:xfrm>
            <a:off x="1" y="10"/>
            <a:ext cx="6096000" cy="6857990"/>
          </a:xfrm>
          <a:prstGeom prst="rect">
            <a:avLst/>
          </a:prstGeom>
        </p:spPr>
      </p:pic>
      <p:cxnSp>
        <p:nvCxnSpPr>
          <p:cNvPr id="12" name="Straight Connector 11">
            <a:extLst>
              <a:ext uri="{FF2B5EF4-FFF2-40B4-BE49-F238E27FC236}">
                <a16:creationId xmlns:a16="http://schemas.microsoft.com/office/drawing/2014/main" id="{D28A9C89-B313-458F-9C85-515930A51A93}"/>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805053" y="4294754"/>
            <a:ext cx="438912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4" name="Rectangle 3">
            <a:extLst>
              <a:ext uri="{FF2B5EF4-FFF2-40B4-BE49-F238E27FC236}">
                <a16:creationId xmlns:a16="http://schemas.microsoft.com/office/drawing/2014/main" id="{DD83F0DB-FECA-4F3A-889D-B6D7B3CDB0D0}"/>
              </a:ext>
            </a:extLst>
          </p:cNvPr>
          <p:cNvSpPr/>
          <p:nvPr/>
        </p:nvSpPr>
        <p:spPr>
          <a:xfrm>
            <a:off x="6759512" y="5855103"/>
            <a:ext cx="4754047" cy="830997"/>
          </a:xfrm>
          <a:prstGeom prst="rect">
            <a:avLst/>
          </a:prstGeom>
        </p:spPr>
        <p:txBody>
          <a:bodyPr wrap="square">
            <a:spAutoFit/>
          </a:bodyPr>
          <a:lstStyle/>
          <a:p>
            <a:pPr>
              <a:spcAft>
                <a:spcPts val="600"/>
              </a:spcAft>
            </a:pPr>
            <a:r>
              <a:rPr lang="en-US" sz="1200" dirty="0">
                <a:solidFill>
                  <a:srgbClr val="FF6600"/>
                </a:solidFill>
              </a:rPr>
              <a:t>Zhang, I., Szekeres, A., Van </a:t>
            </a:r>
            <a:r>
              <a:rPr lang="en-US" sz="1200" dirty="0" err="1">
                <a:solidFill>
                  <a:srgbClr val="FF6600"/>
                </a:solidFill>
              </a:rPr>
              <a:t>Aken</a:t>
            </a:r>
            <a:r>
              <a:rPr lang="en-US" sz="1200" dirty="0">
                <a:solidFill>
                  <a:srgbClr val="FF6600"/>
                </a:solidFill>
              </a:rPr>
              <a:t>, D., Ackerman, I., Gribble, S.D., Krishnamurthy, A. and Levy, H.M., 2014. Customizable and extensible deployment for mobile/cloud applications. In 11th {USENIX} Symposium on Operating Systems Design and Implementation ({OSDI} 14) (pp. 97-112).</a:t>
            </a:r>
          </a:p>
        </p:txBody>
      </p:sp>
    </p:spTree>
    <p:extLst>
      <p:ext uri="{BB962C8B-B14F-4D97-AF65-F5344CB8AC3E}">
        <p14:creationId xmlns:p14="http://schemas.microsoft.com/office/powerpoint/2010/main" val="118109383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C787C9-F032-417D-918B-696EB22FB6B1}"/>
              </a:ext>
            </a:extLst>
          </p:cNvPr>
          <p:cNvSpPr>
            <a:spLocks noGrp="1"/>
          </p:cNvSpPr>
          <p:nvPr>
            <p:ph type="title"/>
          </p:nvPr>
        </p:nvSpPr>
        <p:spPr/>
        <p:txBody>
          <a:bodyPr/>
          <a:lstStyle/>
          <a:p>
            <a:r>
              <a:rPr lang="en-US" dirty="0">
                <a:solidFill>
                  <a:srgbClr val="FF6600"/>
                </a:solidFill>
              </a:rPr>
              <a:t>Agenda</a:t>
            </a:r>
          </a:p>
        </p:txBody>
      </p:sp>
      <p:sp>
        <p:nvSpPr>
          <p:cNvPr id="3" name="Content Placeholder 2">
            <a:extLst>
              <a:ext uri="{FF2B5EF4-FFF2-40B4-BE49-F238E27FC236}">
                <a16:creationId xmlns:a16="http://schemas.microsoft.com/office/drawing/2014/main" id="{CDD221EB-8B30-469E-9872-14A0928A3E82}"/>
              </a:ext>
            </a:extLst>
          </p:cNvPr>
          <p:cNvSpPr>
            <a:spLocks noGrp="1"/>
          </p:cNvSpPr>
          <p:nvPr>
            <p:ph idx="1"/>
          </p:nvPr>
        </p:nvSpPr>
        <p:spPr/>
        <p:txBody>
          <a:bodyPr>
            <a:normAutofit lnSpcReduction="10000"/>
          </a:bodyPr>
          <a:lstStyle/>
          <a:p>
            <a:pPr>
              <a:buFont typeface="Wingdings" panose="05000000000000000000" pitchFamily="2" charset="2"/>
              <a:buChar char="Ø"/>
            </a:pPr>
            <a:r>
              <a:rPr lang="en-US" dirty="0"/>
              <a:t> Motivation and Background</a:t>
            </a:r>
          </a:p>
          <a:p>
            <a:pPr>
              <a:buFont typeface="Wingdings" panose="05000000000000000000" pitchFamily="2" charset="2"/>
              <a:buChar char="Ø"/>
            </a:pPr>
            <a:r>
              <a:rPr lang="en-US" dirty="0"/>
              <a:t> Sapphire</a:t>
            </a:r>
          </a:p>
          <a:p>
            <a:pPr lvl="1">
              <a:buFont typeface="Wingdings" panose="05000000000000000000" pitchFamily="2" charset="2"/>
              <a:buChar char="Ø"/>
            </a:pPr>
            <a:r>
              <a:rPr lang="en-US" dirty="0"/>
              <a:t> Architecture</a:t>
            </a:r>
          </a:p>
          <a:p>
            <a:pPr lvl="1">
              <a:buFont typeface="Wingdings" panose="05000000000000000000" pitchFamily="2" charset="2"/>
              <a:buChar char="Ø"/>
            </a:pPr>
            <a:r>
              <a:rPr lang="en-US" dirty="0"/>
              <a:t> Programming Model</a:t>
            </a:r>
          </a:p>
          <a:p>
            <a:pPr lvl="1">
              <a:buFont typeface="Wingdings" panose="05000000000000000000" pitchFamily="2" charset="2"/>
              <a:buChar char="Ø"/>
            </a:pPr>
            <a:r>
              <a:rPr lang="en-US" dirty="0"/>
              <a:t> Implementation</a:t>
            </a:r>
          </a:p>
          <a:p>
            <a:pPr>
              <a:buFont typeface="Wingdings" panose="05000000000000000000" pitchFamily="2" charset="2"/>
              <a:buChar char="Ø"/>
            </a:pPr>
            <a:r>
              <a:rPr lang="en-US" dirty="0"/>
              <a:t> Experiences and Evaluation</a:t>
            </a:r>
          </a:p>
          <a:p>
            <a:pPr lvl="1">
              <a:buFont typeface="Wingdings" panose="05000000000000000000" pitchFamily="2" charset="2"/>
              <a:buChar char="Ø"/>
            </a:pPr>
            <a:r>
              <a:rPr lang="en-US" dirty="0"/>
              <a:t> Microbenchmarks</a:t>
            </a:r>
          </a:p>
          <a:p>
            <a:pPr lvl="1">
              <a:buFont typeface="Wingdings" panose="05000000000000000000" pitchFamily="2" charset="2"/>
              <a:buChar char="Ø"/>
            </a:pPr>
            <a:r>
              <a:rPr lang="en-US" dirty="0"/>
              <a:t> Performance</a:t>
            </a:r>
          </a:p>
          <a:p>
            <a:pPr>
              <a:buFont typeface="Wingdings" panose="05000000000000000000" pitchFamily="2" charset="2"/>
              <a:buChar char="Ø"/>
            </a:pPr>
            <a:r>
              <a:rPr lang="en-US" dirty="0"/>
              <a:t> Conclusion</a:t>
            </a:r>
          </a:p>
        </p:txBody>
      </p:sp>
    </p:spTree>
    <p:extLst>
      <p:ext uri="{BB962C8B-B14F-4D97-AF65-F5344CB8AC3E}">
        <p14:creationId xmlns:p14="http://schemas.microsoft.com/office/powerpoint/2010/main" val="309550624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6600"/>
        </a:solidFill>
        <a:effectLst/>
      </p:bgPr>
    </p:bg>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5E12BBF-32DE-450E-863A-1525B170A269}"/>
              </a:ext>
            </a:extLst>
          </p:cNvPr>
          <p:cNvSpPr>
            <a:spLocks noGrp="1"/>
          </p:cNvSpPr>
          <p:nvPr>
            <p:ph type="ctrTitle"/>
          </p:nvPr>
        </p:nvSpPr>
        <p:spPr/>
        <p:txBody>
          <a:bodyPr/>
          <a:lstStyle/>
          <a:p>
            <a:r>
              <a:rPr lang="en-US" dirty="0">
                <a:solidFill>
                  <a:schemeClr val="bg1"/>
                </a:solidFill>
              </a:rPr>
              <a:t>Motivation and Background</a:t>
            </a:r>
          </a:p>
        </p:txBody>
      </p:sp>
      <p:sp>
        <p:nvSpPr>
          <p:cNvPr id="5" name="Subtitle 4">
            <a:extLst>
              <a:ext uri="{FF2B5EF4-FFF2-40B4-BE49-F238E27FC236}">
                <a16:creationId xmlns:a16="http://schemas.microsoft.com/office/drawing/2014/main" id="{93D43735-B940-4C26-926A-AC4EBAFBFF4D}"/>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17500151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0CE6C6-C178-4A2F-AE5C-EF5795354391}"/>
              </a:ext>
            </a:extLst>
          </p:cNvPr>
          <p:cNvSpPr>
            <a:spLocks noGrp="1"/>
          </p:cNvSpPr>
          <p:nvPr>
            <p:ph type="title"/>
          </p:nvPr>
        </p:nvSpPr>
        <p:spPr/>
        <p:txBody>
          <a:bodyPr>
            <a:normAutofit fontScale="90000"/>
          </a:bodyPr>
          <a:lstStyle/>
          <a:p>
            <a:br>
              <a:rPr lang="en-US" dirty="0"/>
            </a:br>
            <a:r>
              <a:rPr lang="en-US" dirty="0"/>
              <a:t>Today’s applications</a:t>
            </a:r>
          </a:p>
        </p:txBody>
      </p:sp>
      <p:pic>
        <p:nvPicPr>
          <p:cNvPr id="4" name="Content Placeholder 3">
            <a:extLst>
              <a:ext uri="{FF2B5EF4-FFF2-40B4-BE49-F238E27FC236}">
                <a16:creationId xmlns:a16="http://schemas.microsoft.com/office/drawing/2014/main" id="{C83ABC1B-45EF-4A34-8CDB-304A13146958}"/>
              </a:ext>
            </a:extLst>
          </p:cNvPr>
          <p:cNvPicPr>
            <a:picLocks noGrp="1" noChangeAspect="1"/>
          </p:cNvPicPr>
          <p:nvPr>
            <p:ph idx="1"/>
          </p:nvPr>
        </p:nvPicPr>
        <p:blipFill>
          <a:blip r:embed="rId3"/>
          <a:stretch>
            <a:fillRect/>
          </a:stretch>
        </p:blipFill>
        <p:spPr>
          <a:xfrm>
            <a:off x="2182813" y="1716881"/>
            <a:ext cx="7989887" cy="3424237"/>
          </a:xfrm>
          <a:prstGeom prst="rect">
            <a:avLst/>
          </a:prstGeom>
        </p:spPr>
      </p:pic>
      <p:sp>
        <p:nvSpPr>
          <p:cNvPr id="5" name="Rectangle 4">
            <a:extLst>
              <a:ext uri="{FF2B5EF4-FFF2-40B4-BE49-F238E27FC236}">
                <a16:creationId xmlns:a16="http://schemas.microsoft.com/office/drawing/2014/main" id="{C19C8F70-2096-44E5-9017-09ADB9C82854}"/>
              </a:ext>
            </a:extLst>
          </p:cNvPr>
          <p:cNvSpPr/>
          <p:nvPr/>
        </p:nvSpPr>
        <p:spPr>
          <a:xfrm>
            <a:off x="2658616" y="5294829"/>
            <a:ext cx="6874767" cy="584775"/>
          </a:xfrm>
          <a:prstGeom prst="rect">
            <a:avLst/>
          </a:prstGeom>
        </p:spPr>
        <p:txBody>
          <a:bodyPr wrap="none">
            <a:spAutoFit/>
          </a:bodyPr>
          <a:lstStyle/>
          <a:p>
            <a:r>
              <a:rPr lang="en-US" sz="3200" dirty="0"/>
              <a:t>multi-user, multi-platform and multi-node </a:t>
            </a:r>
          </a:p>
        </p:txBody>
      </p:sp>
    </p:spTree>
    <p:extLst>
      <p:ext uri="{BB962C8B-B14F-4D97-AF65-F5344CB8AC3E}">
        <p14:creationId xmlns:p14="http://schemas.microsoft.com/office/powerpoint/2010/main" val="345759154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0CE6C6-C178-4A2F-AE5C-EF5795354391}"/>
              </a:ext>
            </a:extLst>
          </p:cNvPr>
          <p:cNvSpPr>
            <a:spLocks noGrp="1"/>
          </p:cNvSpPr>
          <p:nvPr>
            <p:ph type="title"/>
          </p:nvPr>
        </p:nvSpPr>
        <p:spPr/>
        <p:txBody>
          <a:bodyPr>
            <a:normAutofit fontScale="90000"/>
          </a:bodyPr>
          <a:lstStyle/>
          <a:p>
            <a:br>
              <a:rPr lang="en-US" dirty="0"/>
            </a:br>
            <a:r>
              <a:rPr lang="en-US" dirty="0"/>
              <a:t>Code for Today’s Applications</a:t>
            </a:r>
          </a:p>
        </p:txBody>
      </p:sp>
      <p:pic>
        <p:nvPicPr>
          <p:cNvPr id="8" name="Content Placeholder 7">
            <a:extLst>
              <a:ext uri="{FF2B5EF4-FFF2-40B4-BE49-F238E27FC236}">
                <a16:creationId xmlns:a16="http://schemas.microsoft.com/office/drawing/2014/main" id="{05585286-1077-4737-9A2D-D6491607B5E1}"/>
              </a:ext>
            </a:extLst>
          </p:cNvPr>
          <p:cNvPicPr>
            <a:picLocks noGrp="1" noChangeAspect="1"/>
          </p:cNvPicPr>
          <p:nvPr>
            <p:ph idx="1"/>
          </p:nvPr>
        </p:nvPicPr>
        <p:blipFill>
          <a:blip r:embed="rId3"/>
          <a:stretch>
            <a:fillRect/>
          </a:stretch>
        </p:blipFill>
        <p:spPr>
          <a:xfrm>
            <a:off x="1957018" y="1674494"/>
            <a:ext cx="8277964" cy="4509135"/>
          </a:xfrm>
          <a:prstGeom prst="rect">
            <a:avLst/>
          </a:prstGeom>
        </p:spPr>
      </p:pic>
    </p:spTree>
    <p:extLst>
      <p:ext uri="{BB962C8B-B14F-4D97-AF65-F5344CB8AC3E}">
        <p14:creationId xmlns:p14="http://schemas.microsoft.com/office/powerpoint/2010/main" val="251272169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13E42B-E65A-4520-A820-ED779F2536B5}"/>
              </a:ext>
            </a:extLst>
          </p:cNvPr>
          <p:cNvSpPr>
            <a:spLocks noGrp="1"/>
          </p:cNvSpPr>
          <p:nvPr>
            <p:ph type="title"/>
          </p:nvPr>
        </p:nvSpPr>
        <p:spPr/>
        <p:txBody>
          <a:bodyPr/>
          <a:lstStyle/>
          <a:p>
            <a:r>
              <a:rPr lang="en-US" dirty="0"/>
              <a:t>Problems</a:t>
            </a:r>
          </a:p>
        </p:txBody>
      </p:sp>
      <p:sp>
        <p:nvSpPr>
          <p:cNvPr id="3" name="Content Placeholder 2">
            <a:extLst>
              <a:ext uri="{FF2B5EF4-FFF2-40B4-BE49-F238E27FC236}">
                <a16:creationId xmlns:a16="http://schemas.microsoft.com/office/drawing/2014/main" id="{33A071C7-B2EA-470D-BB05-A59124172B1F}"/>
              </a:ext>
            </a:extLst>
          </p:cNvPr>
          <p:cNvSpPr>
            <a:spLocks noGrp="1"/>
          </p:cNvSpPr>
          <p:nvPr>
            <p:ph idx="1"/>
          </p:nvPr>
        </p:nvSpPr>
        <p:spPr/>
        <p:txBody>
          <a:bodyPr>
            <a:normAutofit/>
          </a:bodyPr>
          <a:lstStyle/>
          <a:p>
            <a:pPr>
              <a:buFont typeface="Arial" panose="020B0604020202020204" pitchFamily="34" charset="0"/>
              <a:buChar char="•"/>
            </a:pPr>
            <a:r>
              <a:rPr lang="en-US" dirty="0"/>
              <a:t> How to coordinate data and computation across nodes and platforms</a:t>
            </a:r>
          </a:p>
          <a:p>
            <a:pPr>
              <a:buFont typeface="Arial" panose="020B0604020202020204" pitchFamily="34" charset="0"/>
              <a:buChar char="•"/>
            </a:pPr>
            <a:r>
              <a:rPr lang="en-US" dirty="0"/>
              <a:t> How to hide performance limitations and failures</a:t>
            </a:r>
          </a:p>
          <a:p>
            <a:pPr>
              <a:buFont typeface="Arial" panose="020B0604020202020204" pitchFamily="34" charset="0"/>
              <a:buChar char="•"/>
            </a:pPr>
            <a:r>
              <a:rPr lang="en-US" dirty="0"/>
              <a:t> How to manage different programming environments and hardware resources</a:t>
            </a:r>
          </a:p>
        </p:txBody>
      </p:sp>
      <p:sp>
        <p:nvSpPr>
          <p:cNvPr id="4" name="Rectangle 3">
            <a:extLst>
              <a:ext uri="{FF2B5EF4-FFF2-40B4-BE49-F238E27FC236}">
                <a16:creationId xmlns:a16="http://schemas.microsoft.com/office/drawing/2014/main" id="{4F7D5DE9-D088-4EE9-859A-F9952B518F6B}"/>
              </a:ext>
            </a:extLst>
          </p:cNvPr>
          <p:cNvSpPr/>
          <p:nvPr/>
        </p:nvSpPr>
        <p:spPr>
          <a:xfrm>
            <a:off x="2100919" y="4489902"/>
            <a:ext cx="7342459" cy="646331"/>
          </a:xfrm>
          <a:prstGeom prst="rect">
            <a:avLst/>
          </a:prstGeom>
          <a:solidFill>
            <a:srgbClr val="FF6600"/>
          </a:solidFill>
        </p:spPr>
        <p:txBody>
          <a:bodyPr wrap="none">
            <a:spAutoFit/>
          </a:bodyPr>
          <a:lstStyle/>
          <a:p>
            <a:r>
              <a:rPr lang="en-US" sz="3600" dirty="0">
                <a:solidFill>
                  <a:schemeClr val="bg1"/>
                </a:solidFill>
              </a:rPr>
              <a:t>These are distributed systems problems</a:t>
            </a:r>
          </a:p>
        </p:txBody>
      </p:sp>
    </p:spTree>
    <p:extLst>
      <p:ext uri="{BB962C8B-B14F-4D97-AF65-F5344CB8AC3E}">
        <p14:creationId xmlns:p14="http://schemas.microsoft.com/office/powerpoint/2010/main" val="19514765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13E42B-E65A-4520-A820-ED779F2536B5}"/>
              </a:ext>
            </a:extLst>
          </p:cNvPr>
          <p:cNvSpPr>
            <a:spLocks noGrp="1"/>
          </p:cNvSpPr>
          <p:nvPr>
            <p:ph type="title"/>
          </p:nvPr>
        </p:nvSpPr>
        <p:spPr/>
        <p:txBody>
          <a:bodyPr/>
          <a:lstStyle/>
          <a:p>
            <a:r>
              <a:rPr lang="en-US" dirty="0">
                <a:solidFill>
                  <a:srgbClr val="FF6600"/>
                </a:solidFill>
              </a:rPr>
              <a:t>Problems</a:t>
            </a:r>
          </a:p>
        </p:txBody>
      </p:sp>
      <p:sp>
        <p:nvSpPr>
          <p:cNvPr id="3" name="Content Placeholder 2">
            <a:extLst>
              <a:ext uri="{FF2B5EF4-FFF2-40B4-BE49-F238E27FC236}">
                <a16:creationId xmlns:a16="http://schemas.microsoft.com/office/drawing/2014/main" id="{33A071C7-B2EA-470D-BB05-A59124172B1F}"/>
              </a:ext>
            </a:extLst>
          </p:cNvPr>
          <p:cNvSpPr>
            <a:spLocks noGrp="1"/>
          </p:cNvSpPr>
          <p:nvPr>
            <p:ph idx="1"/>
          </p:nvPr>
        </p:nvSpPr>
        <p:spPr/>
        <p:txBody>
          <a:bodyPr>
            <a:normAutofit/>
          </a:bodyPr>
          <a:lstStyle/>
          <a:p>
            <a:pPr>
              <a:buFont typeface="Arial" panose="020B0604020202020204" pitchFamily="34" charset="0"/>
              <a:buChar char="•"/>
            </a:pPr>
            <a:r>
              <a:rPr lang="en-US" dirty="0"/>
              <a:t> Where data and computation should be located</a:t>
            </a:r>
          </a:p>
          <a:p>
            <a:pPr>
              <a:buFont typeface="Arial" panose="020B0604020202020204" pitchFamily="34" charset="0"/>
              <a:buChar char="•"/>
            </a:pPr>
            <a:r>
              <a:rPr lang="en-US" dirty="0"/>
              <a:t> What data should be replicated or cached</a:t>
            </a:r>
          </a:p>
          <a:p>
            <a:pPr>
              <a:buFont typeface="Arial" panose="020B0604020202020204" pitchFamily="34" charset="0"/>
              <a:buChar char="•"/>
            </a:pPr>
            <a:r>
              <a:rPr lang="en-US" dirty="0"/>
              <a:t> What data consistency level is needed</a:t>
            </a:r>
          </a:p>
        </p:txBody>
      </p:sp>
      <p:sp>
        <p:nvSpPr>
          <p:cNvPr id="4" name="Rectangle 3">
            <a:extLst>
              <a:ext uri="{FF2B5EF4-FFF2-40B4-BE49-F238E27FC236}">
                <a16:creationId xmlns:a16="http://schemas.microsoft.com/office/drawing/2014/main" id="{4F7D5DE9-D088-4EE9-859A-F9952B518F6B}"/>
              </a:ext>
            </a:extLst>
          </p:cNvPr>
          <p:cNvSpPr/>
          <p:nvPr/>
        </p:nvSpPr>
        <p:spPr>
          <a:xfrm>
            <a:off x="1169212" y="4405387"/>
            <a:ext cx="9853576" cy="646331"/>
          </a:xfrm>
          <a:prstGeom prst="rect">
            <a:avLst/>
          </a:prstGeom>
          <a:solidFill>
            <a:srgbClr val="FF6600"/>
          </a:solidFill>
        </p:spPr>
        <p:txBody>
          <a:bodyPr wrap="square">
            <a:spAutoFit/>
          </a:bodyPr>
          <a:lstStyle/>
          <a:p>
            <a:pPr algn="ctr"/>
            <a:r>
              <a:rPr lang="en-US" sz="3600" dirty="0">
                <a:solidFill>
                  <a:schemeClr val="bg1"/>
                </a:solidFill>
              </a:rPr>
              <a:t>These decisions depend on application requirements</a:t>
            </a:r>
          </a:p>
        </p:txBody>
      </p:sp>
    </p:spTree>
    <p:extLst>
      <p:ext uri="{BB962C8B-B14F-4D97-AF65-F5344CB8AC3E}">
        <p14:creationId xmlns:p14="http://schemas.microsoft.com/office/powerpoint/2010/main" val="25311570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13E42B-E65A-4520-A820-ED779F2536B5}"/>
              </a:ext>
            </a:extLst>
          </p:cNvPr>
          <p:cNvSpPr>
            <a:spLocks noGrp="1"/>
          </p:cNvSpPr>
          <p:nvPr>
            <p:ph type="title"/>
          </p:nvPr>
        </p:nvSpPr>
        <p:spPr/>
        <p:txBody>
          <a:bodyPr/>
          <a:lstStyle/>
          <a:p>
            <a:r>
              <a:rPr lang="en-US" dirty="0">
                <a:solidFill>
                  <a:srgbClr val="FF6600"/>
                </a:solidFill>
              </a:rPr>
              <a:t>Problems</a:t>
            </a:r>
          </a:p>
        </p:txBody>
      </p:sp>
      <p:sp>
        <p:nvSpPr>
          <p:cNvPr id="10" name="Content Placeholder 9">
            <a:extLst>
              <a:ext uri="{FF2B5EF4-FFF2-40B4-BE49-F238E27FC236}">
                <a16:creationId xmlns:a16="http://schemas.microsoft.com/office/drawing/2014/main" id="{F5439B3B-46A7-46E2-9CE6-F0CB5532261C}"/>
              </a:ext>
            </a:extLst>
          </p:cNvPr>
          <p:cNvSpPr>
            <a:spLocks noGrp="1"/>
          </p:cNvSpPr>
          <p:nvPr>
            <p:ph idx="1"/>
          </p:nvPr>
        </p:nvSpPr>
        <p:spPr/>
        <p:txBody>
          <a:bodyPr/>
          <a:lstStyle/>
          <a:p>
            <a:r>
              <a:rPr lang="en-US" dirty="0">
                <a:solidFill>
                  <a:schemeClr val="tx1"/>
                </a:solidFill>
              </a:rPr>
              <a:t>decisions depend on application requirements</a:t>
            </a:r>
          </a:p>
          <a:p>
            <a:r>
              <a:rPr lang="en-US" dirty="0">
                <a:sym typeface="Symbol" panose="05050102010706020507" pitchFamily="18" charset="2"/>
              </a:rPr>
              <a:t> </a:t>
            </a:r>
            <a:r>
              <a:rPr lang="en-US" dirty="0">
                <a:solidFill>
                  <a:srgbClr val="0070C0"/>
                </a:solidFill>
              </a:rPr>
              <a:t>mixing deployment decisions with complex app logic in the code</a:t>
            </a:r>
          </a:p>
          <a:p>
            <a:pPr marL="0" indent="0">
              <a:buNone/>
            </a:pPr>
            <a:r>
              <a:rPr lang="en-US" dirty="0"/>
              <a:t>	</a:t>
            </a:r>
            <a:r>
              <a:rPr lang="en-US" dirty="0">
                <a:sym typeface="Symbol" panose="05050102010706020507" pitchFamily="18" charset="2"/>
              </a:rPr>
              <a:t>  </a:t>
            </a:r>
            <a:r>
              <a:rPr lang="en-US" dirty="0"/>
              <a:t>difficult to implement, debug, maintain, and evolve</a:t>
            </a:r>
          </a:p>
          <a:p>
            <a:pPr marL="0" indent="0">
              <a:buNone/>
            </a:pPr>
            <a:r>
              <a:rPr lang="en-US" dirty="0"/>
              <a:t>	</a:t>
            </a:r>
            <a:r>
              <a:rPr lang="en-US" dirty="0">
                <a:sym typeface="Symbol" panose="05050102010706020507" pitchFamily="18" charset="2"/>
              </a:rPr>
              <a:t>  </a:t>
            </a:r>
            <a:r>
              <a:rPr lang="en-US" dirty="0"/>
              <a:t>difficult to make deployment decisions</a:t>
            </a:r>
          </a:p>
          <a:p>
            <a:endParaRPr lang="en-US" dirty="0"/>
          </a:p>
          <a:p>
            <a:endParaRPr lang="en-US" dirty="0">
              <a:solidFill>
                <a:schemeClr val="tx1"/>
              </a:solidFill>
            </a:endParaRPr>
          </a:p>
          <a:p>
            <a:endParaRPr lang="en-US" dirty="0"/>
          </a:p>
        </p:txBody>
      </p:sp>
      <p:sp>
        <p:nvSpPr>
          <p:cNvPr id="9" name="Rectangle 8">
            <a:extLst>
              <a:ext uri="{FF2B5EF4-FFF2-40B4-BE49-F238E27FC236}">
                <a16:creationId xmlns:a16="http://schemas.microsoft.com/office/drawing/2014/main" id="{81FD6013-74EB-48F9-B5F0-0F5F7C194617}"/>
              </a:ext>
            </a:extLst>
          </p:cNvPr>
          <p:cNvSpPr/>
          <p:nvPr/>
        </p:nvSpPr>
        <p:spPr>
          <a:xfrm>
            <a:off x="1036320" y="4437434"/>
            <a:ext cx="9853575" cy="1384995"/>
          </a:xfrm>
          <a:prstGeom prst="rect">
            <a:avLst/>
          </a:prstGeom>
          <a:solidFill>
            <a:srgbClr val="FF6600"/>
          </a:solidFill>
        </p:spPr>
        <p:txBody>
          <a:bodyPr wrap="square">
            <a:spAutoFit/>
          </a:bodyPr>
          <a:lstStyle/>
          <a:p>
            <a:pPr algn="ctr"/>
            <a:r>
              <a:rPr lang="en-US" sz="2800" dirty="0">
                <a:solidFill>
                  <a:schemeClr val="bg1"/>
                </a:solidFill>
              </a:rPr>
              <a:t>Need a flexible system that allows them to easily create and modify distributed application deployments without needing to rewrite major parts of their application.</a:t>
            </a:r>
          </a:p>
        </p:txBody>
      </p:sp>
    </p:spTree>
    <p:extLst>
      <p:ext uri="{BB962C8B-B14F-4D97-AF65-F5344CB8AC3E}">
        <p14:creationId xmlns:p14="http://schemas.microsoft.com/office/powerpoint/2010/main" val="29461096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0">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0">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6600"/>
        </a:solidFill>
        <a:effectLst/>
      </p:bgPr>
    </p:bg>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283C403A-1CDA-4E3F-9B3B-6C102B6D3B4B}"/>
              </a:ext>
            </a:extLst>
          </p:cNvPr>
          <p:cNvSpPr>
            <a:spLocks noGrp="1"/>
          </p:cNvSpPr>
          <p:nvPr>
            <p:ph type="ctrTitle"/>
          </p:nvPr>
        </p:nvSpPr>
        <p:spPr/>
        <p:txBody>
          <a:bodyPr/>
          <a:lstStyle/>
          <a:p>
            <a:r>
              <a:rPr lang="en-US" dirty="0">
                <a:solidFill>
                  <a:schemeClr val="bg1"/>
                </a:solidFill>
              </a:rPr>
              <a:t>Sapphire</a:t>
            </a:r>
          </a:p>
        </p:txBody>
      </p:sp>
      <p:sp>
        <p:nvSpPr>
          <p:cNvPr id="5" name="Subtitle 4">
            <a:extLst>
              <a:ext uri="{FF2B5EF4-FFF2-40B4-BE49-F238E27FC236}">
                <a16:creationId xmlns:a16="http://schemas.microsoft.com/office/drawing/2014/main" id="{0A07FA2C-E79A-407B-BED2-FA45A7AA4107}"/>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62140901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9CE560-FB6F-429C-A682-978DE232C90A}"/>
              </a:ext>
            </a:extLst>
          </p:cNvPr>
          <p:cNvSpPr>
            <a:spLocks noGrp="1"/>
          </p:cNvSpPr>
          <p:nvPr>
            <p:ph type="title"/>
          </p:nvPr>
        </p:nvSpPr>
        <p:spPr/>
        <p:txBody>
          <a:bodyPr/>
          <a:lstStyle/>
          <a:p>
            <a:r>
              <a:rPr lang="en-US" dirty="0"/>
              <a:t>Goal</a:t>
            </a:r>
          </a:p>
        </p:txBody>
      </p:sp>
      <p:sp>
        <p:nvSpPr>
          <p:cNvPr id="3" name="Content Placeholder 2">
            <a:extLst>
              <a:ext uri="{FF2B5EF4-FFF2-40B4-BE49-F238E27FC236}">
                <a16:creationId xmlns:a16="http://schemas.microsoft.com/office/drawing/2014/main" id="{6C58542B-23B2-426E-80A5-CB9E4D9A2F4D}"/>
              </a:ext>
            </a:extLst>
          </p:cNvPr>
          <p:cNvSpPr>
            <a:spLocks noGrp="1"/>
          </p:cNvSpPr>
          <p:nvPr>
            <p:ph idx="1"/>
          </p:nvPr>
        </p:nvSpPr>
        <p:spPr/>
        <p:txBody>
          <a:bodyPr/>
          <a:lstStyle/>
          <a:p>
            <a:pPr marL="514350" indent="-514350">
              <a:buAutoNum type="arabicPeriod"/>
            </a:pPr>
            <a:r>
              <a:rPr lang="en-US" dirty="0">
                <a:solidFill>
                  <a:srgbClr val="FF6600"/>
                </a:solidFill>
              </a:rPr>
              <a:t>Create a distributed programming platform spanning devices and the cloud</a:t>
            </a:r>
          </a:p>
          <a:p>
            <a:pPr marL="818388" lvl="2" indent="-342900"/>
            <a:r>
              <a:rPr lang="en-US" sz="2400" dirty="0"/>
              <a:t>integrates the heterogeneous distributed environment</a:t>
            </a:r>
          </a:p>
          <a:p>
            <a:pPr marL="818388" lvl="2" indent="-342900"/>
            <a:r>
              <a:rPr lang="en-US" sz="2400" dirty="0"/>
              <a:t>simplifies communications, code/data mobility, and replication</a:t>
            </a:r>
          </a:p>
          <a:p>
            <a:pPr marL="514350" indent="-514350">
              <a:buAutoNum type="arabicPeriod"/>
            </a:pPr>
            <a:r>
              <a:rPr lang="en-US" dirty="0">
                <a:solidFill>
                  <a:srgbClr val="FF6600"/>
                </a:solidFill>
              </a:rPr>
              <a:t>Separate application logic from deployment logic. </a:t>
            </a:r>
          </a:p>
          <a:p>
            <a:pPr marL="818388" lvl="2" indent="-342900"/>
            <a:r>
              <a:rPr lang="en-US" sz="2400" dirty="0"/>
              <a:t>simplifies programming, evolution, and optimization</a:t>
            </a:r>
          </a:p>
          <a:p>
            <a:pPr marL="514350" indent="-514350">
              <a:buAutoNum type="arabicPeriod"/>
            </a:pPr>
            <a:r>
              <a:rPr lang="en-US" dirty="0">
                <a:solidFill>
                  <a:srgbClr val="FF6600"/>
                </a:solidFill>
              </a:rPr>
              <a:t>Facilitate system extension and customization</a:t>
            </a:r>
          </a:p>
          <a:p>
            <a:pPr marL="818388" lvl="2" indent="-342900"/>
            <a:r>
              <a:rPr lang="en-US" sz="2400" dirty="0"/>
              <a:t>delegates distribution management to an extensible deployment layer</a:t>
            </a:r>
          </a:p>
          <a:p>
            <a:pPr marL="818388" lvl="2" indent="-342900"/>
            <a:r>
              <a:rPr lang="en-US" sz="2400" dirty="0"/>
              <a:t>gives flexibility to easily make or change deployment options</a:t>
            </a:r>
          </a:p>
        </p:txBody>
      </p:sp>
    </p:spTree>
    <p:extLst>
      <p:ext uri="{BB962C8B-B14F-4D97-AF65-F5344CB8AC3E}">
        <p14:creationId xmlns:p14="http://schemas.microsoft.com/office/powerpoint/2010/main" val="317142344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9CE560-FB6F-429C-A682-978DE232C90A}"/>
              </a:ext>
            </a:extLst>
          </p:cNvPr>
          <p:cNvSpPr>
            <a:spLocks noGrp="1"/>
          </p:cNvSpPr>
          <p:nvPr>
            <p:ph type="title"/>
          </p:nvPr>
        </p:nvSpPr>
        <p:spPr/>
        <p:txBody>
          <a:bodyPr/>
          <a:lstStyle/>
          <a:p>
            <a:r>
              <a:rPr lang="en-US" dirty="0">
                <a:solidFill>
                  <a:srgbClr val="FF6600"/>
                </a:solidFill>
              </a:rPr>
              <a:t>Sapphire</a:t>
            </a:r>
          </a:p>
        </p:txBody>
      </p:sp>
      <p:sp>
        <p:nvSpPr>
          <p:cNvPr id="3" name="Content Placeholder 2">
            <a:extLst>
              <a:ext uri="{FF2B5EF4-FFF2-40B4-BE49-F238E27FC236}">
                <a16:creationId xmlns:a16="http://schemas.microsoft.com/office/drawing/2014/main" id="{6C58542B-23B2-426E-80A5-CB9E4D9A2F4D}"/>
              </a:ext>
            </a:extLst>
          </p:cNvPr>
          <p:cNvSpPr>
            <a:spLocks noGrp="1"/>
          </p:cNvSpPr>
          <p:nvPr>
            <p:ph idx="1"/>
          </p:nvPr>
        </p:nvSpPr>
        <p:spPr/>
        <p:txBody>
          <a:bodyPr>
            <a:normAutofit/>
          </a:bodyPr>
          <a:lstStyle/>
          <a:p>
            <a:pPr>
              <a:buFont typeface="Arial" panose="020B0604020202020204" pitchFamily="34" charset="0"/>
              <a:buChar char="•"/>
            </a:pPr>
            <a:r>
              <a:rPr lang="en-US" dirty="0"/>
              <a:t> is a general-purpose </a:t>
            </a:r>
            <a:r>
              <a:rPr lang="en-US" dirty="0">
                <a:solidFill>
                  <a:srgbClr val="FF6600"/>
                </a:solidFill>
              </a:rPr>
              <a:t>distributed programming platform </a:t>
            </a:r>
            <a:r>
              <a:rPr lang="en-US" dirty="0">
                <a:solidFill>
                  <a:schemeClr val="tx1"/>
                </a:solidFill>
              </a:rPr>
              <a:t>designed for </a:t>
            </a:r>
            <a:r>
              <a:rPr lang="en-US" dirty="0">
                <a:solidFill>
                  <a:srgbClr val="00B0F0"/>
                </a:solidFill>
              </a:rPr>
              <a:t>flexibility</a:t>
            </a:r>
            <a:r>
              <a:rPr lang="en-US" dirty="0">
                <a:solidFill>
                  <a:schemeClr val="tx1"/>
                </a:solidFill>
              </a:rPr>
              <a:t> and </a:t>
            </a:r>
            <a:r>
              <a:rPr lang="en-US" dirty="0">
                <a:solidFill>
                  <a:srgbClr val="00B0F0"/>
                </a:solidFill>
              </a:rPr>
              <a:t>extensibility</a:t>
            </a:r>
            <a:r>
              <a:rPr lang="en-US" dirty="0">
                <a:solidFill>
                  <a:schemeClr val="tx1"/>
                </a:solidFill>
              </a:rPr>
              <a:t> </a:t>
            </a:r>
          </a:p>
          <a:p>
            <a:pPr>
              <a:buFont typeface="Arial" panose="020B0604020202020204" pitchFamily="34" charset="0"/>
              <a:buChar char="•"/>
            </a:pPr>
            <a:r>
              <a:rPr lang="en-US" dirty="0">
                <a:solidFill>
                  <a:srgbClr val="FF6600"/>
                </a:solidFill>
              </a:rPr>
              <a:t> simplifies</a:t>
            </a:r>
            <a:r>
              <a:rPr lang="en-US" dirty="0"/>
              <a:t> the design and implementation of mobile/cloud apps</a:t>
            </a:r>
          </a:p>
          <a:p>
            <a:pPr>
              <a:buFont typeface="Arial" panose="020B0604020202020204" pitchFamily="34" charset="0"/>
              <a:buChar char="•"/>
            </a:pPr>
            <a:r>
              <a:rPr lang="en-US" dirty="0"/>
              <a:t> </a:t>
            </a:r>
            <a:r>
              <a:rPr lang="en-US" dirty="0">
                <a:solidFill>
                  <a:srgbClr val="FF6600"/>
                </a:solidFill>
              </a:rPr>
              <a:t>removes complexity </a:t>
            </a:r>
            <a:r>
              <a:rPr lang="en-US" dirty="0"/>
              <a:t>of managing a wide-area, multi-platform environment</a:t>
            </a:r>
          </a:p>
          <a:p>
            <a:pPr>
              <a:buFont typeface="Arial" panose="020B0604020202020204" pitchFamily="34" charset="0"/>
              <a:buChar char="•"/>
            </a:pPr>
            <a:r>
              <a:rPr lang="en-US" dirty="0"/>
              <a:t> provides developers with the </a:t>
            </a:r>
            <a:r>
              <a:rPr lang="en-US" dirty="0">
                <a:solidFill>
                  <a:srgbClr val="FF6600"/>
                </a:solidFill>
              </a:rPr>
              <a:t>fine-grained control</a:t>
            </a:r>
            <a:r>
              <a:rPr lang="en-US" dirty="0"/>
              <a:t> needed to meet critical application needs</a:t>
            </a:r>
          </a:p>
        </p:txBody>
      </p:sp>
    </p:spTree>
    <p:extLst>
      <p:ext uri="{BB962C8B-B14F-4D97-AF65-F5344CB8AC3E}">
        <p14:creationId xmlns:p14="http://schemas.microsoft.com/office/powerpoint/2010/main" val="181168553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1323E2-7287-40D8-B4DA-EDE6F2C38250}"/>
              </a:ext>
            </a:extLst>
          </p:cNvPr>
          <p:cNvSpPr>
            <a:spLocks noGrp="1"/>
          </p:cNvSpPr>
          <p:nvPr>
            <p:ph type="title"/>
          </p:nvPr>
        </p:nvSpPr>
        <p:spPr/>
        <p:txBody>
          <a:bodyPr/>
          <a:lstStyle/>
          <a:p>
            <a:r>
              <a:rPr lang="en-US" dirty="0"/>
              <a:t>Sapphire is … </a:t>
            </a:r>
          </a:p>
        </p:txBody>
      </p:sp>
      <p:sp>
        <p:nvSpPr>
          <p:cNvPr id="3" name="Content Placeholder 2">
            <a:extLst>
              <a:ext uri="{FF2B5EF4-FFF2-40B4-BE49-F238E27FC236}">
                <a16:creationId xmlns:a16="http://schemas.microsoft.com/office/drawing/2014/main" id="{4C5A2B0B-2AF9-4E95-8421-82A4F3F955BA}"/>
              </a:ext>
            </a:extLst>
          </p:cNvPr>
          <p:cNvSpPr>
            <a:spLocks noGrp="1"/>
          </p:cNvSpPr>
          <p:nvPr>
            <p:ph idx="1"/>
          </p:nvPr>
        </p:nvSpPr>
        <p:spPr/>
        <p:txBody>
          <a:bodyPr>
            <a:normAutofit/>
          </a:bodyPr>
          <a:lstStyle/>
          <a:p>
            <a:pPr>
              <a:buFont typeface="Arial" panose="020B0604020202020204" pitchFamily="34" charset="0"/>
              <a:buChar char="•"/>
            </a:pPr>
            <a:r>
              <a:rPr lang="en-US" sz="3200" dirty="0"/>
              <a:t> </a:t>
            </a:r>
            <a:r>
              <a:rPr lang="en-US" sz="3600" dirty="0"/>
              <a:t>for </a:t>
            </a:r>
            <a:r>
              <a:rPr lang="en-US" sz="3600" b="1" dirty="0">
                <a:solidFill>
                  <a:srgbClr val="FF6600"/>
                </a:solidFill>
              </a:rPr>
              <a:t>deploying</a:t>
            </a:r>
            <a:r>
              <a:rPr lang="en-US" sz="3600" dirty="0"/>
              <a:t> mobile/cloud applications</a:t>
            </a:r>
          </a:p>
          <a:p>
            <a:pPr>
              <a:buFont typeface="Arial" panose="020B0604020202020204" pitchFamily="34" charset="0"/>
              <a:buChar char="•"/>
            </a:pPr>
            <a:r>
              <a:rPr lang="en-US" sz="3600" dirty="0"/>
              <a:t> </a:t>
            </a:r>
            <a:r>
              <a:rPr lang="en-US" sz="3600" u="sng" dirty="0">
                <a:solidFill>
                  <a:srgbClr val="FF6600"/>
                </a:solidFill>
              </a:rPr>
              <a:t>not</a:t>
            </a:r>
            <a:r>
              <a:rPr lang="en-US" sz="3600" dirty="0"/>
              <a:t> for deploying backend services</a:t>
            </a:r>
          </a:p>
          <a:p>
            <a:pPr lvl="1">
              <a:buFont typeface="Arial" panose="020B0604020202020204" pitchFamily="34" charset="0"/>
              <a:buChar char="•"/>
            </a:pPr>
            <a:r>
              <a:rPr lang="en-US" sz="2800" dirty="0"/>
              <a:t>But can </a:t>
            </a:r>
            <a:r>
              <a:rPr lang="en-US" sz="2800" dirty="0">
                <a:solidFill>
                  <a:srgbClr val="FF6600"/>
                </a:solidFill>
              </a:rPr>
              <a:t>integrate</a:t>
            </a:r>
            <a:r>
              <a:rPr lang="en-US" sz="2800" dirty="0"/>
              <a:t> the backend services to the app</a:t>
            </a:r>
          </a:p>
          <a:p>
            <a:pPr>
              <a:buFont typeface="Arial" panose="020B0604020202020204" pitchFamily="34" charset="0"/>
              <a:buChar char="•"/>
            </a:pPr>
            <a:r>
              <a:rPr lang="en-US" sz="3600" dirty="0"/>
              <a:t> </a:t>
            </a:r>
            <a:r>
              <a:rPr lang="en-US" sz="3600" u="sng" dirty="0">
                <a:solidFill>
                  <a:srgbClr val="FF6600"/>
                </a:solidFill>
              </a:rPr>
              <a:t>not</a:t>
            </a:r>
            <a:r>
              <a:rPr lang="en-US" sz="3600" dirty="0"/>
              <a:t> for building user interfaces (UI)</a:t>
            </a:r>
          </a:p>
          <a:p>
            <a:pPr marL="201168" lvl="1" indent="0">
              <a:buNone/>
            </a:pPr>
            <a:endParaRPr lang="en-US" sz="2800" dirty="0"/>
          </a:p>
        </p:txBody>
      </p:sp>
    </p:spTree>
    <p:extLst>
      <p:ext uri="{BB962C8B-B14F-4D97-AF65-F5344CB8AC3E}">
        <p14:creationId xmlns:p14="http://schemas.microsoft.com/office/powerpoint/2010/main" val="218118707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2A309787-EB30-44E3-90E1-4AB49C712037}"/>
              </a:ext>
            </a:extLst>
          </p:cNvPr>
          <p:cNvPicPr>
            <a:picLocks noChangeAspect="1"/>
          </p:cNvPicPr>
          <p:nvPr/>
        </p:nvPicPr>
        <p:blipFill>
          <a:blip r:embed="rId2"/>
          <a:stretch>
            <a:fillRect/>
          </a:stretch>
        </p:blipFill>
        <p:spPr>
          <a:xfrm>
            <a:off x="2069167" y="4897663"/>
            <a:ext cx="1668444" cy="1421544"/>
          </a:xfrm>
          <a:prstGeom prst="rect">
            <a:avLst/>
          </a:prstGeom>
        </p:spPr>
      </p:pic>
      <p:sp>
        <p:nvSpPr>
          <p:cNvPr id="2" name="Title 1">
            <a:extLst>
              <a:ext uri="{FF2B5EF4-FFF2-40B4-BE49-F238E27FC236}">
                <a16:creationId xmlns:a16="http://schemas.microsoft.com/office/drawing/2014/main" id="{7D1686E7-9A2A-4600-B035-E911D81C8E7E}"/>
              </a:ext>
            </a:extLst>
          </p:cNvPr>
          <p:cNvSpPr>
            <a:spLocks noGrp="1"/>
          </p:cNvSpPr>
          <p:nvPr>
            <p:ph type="title"/>
          </p:nvPr>
        </p:nvSpPr>
        <p:spPr/>
        <p:txBody>
          <a:bodyPr/>
          <a:lstStyle/>
          <a:p>
            <a:r>
              <a:rPr lang="en-US" dirty="0">
                <a:solidFill>
                  <a:srgbClr val="FF6600"/>
                </a:solidFill>
              </a:rPr>
              <a:t>Sapphire Architecture</a:t>
            </a:r>
          </a:p>
        </p:txBody>
      </p:sp>
      <p:grpSp>
        <p:nvGrpSpPr>
          <p:cNvPr id="7" name="Group 6">
            <a:extLst>
              <a:ext uri="{FF2B5EF4-FFF2-40B4-BE49-F238E27FC236}">
                <a16:creationId xmlns:a16="http://schemas.microsoft.com/office/drawing/2014/main" id="{CA0F1DBE-C1E5-4BB5-A5D2-79B388F6DAE7}"/>
              </a:ext>
            </a:extLst>
          </p:cNvPr>
          <p:cNvGrpSpPr/>
          <p:nvPr/>
        </p:nvGrpSpPr>
        <p:grpSpPr>
          <a:xfrm>
            <a:off x="2069166" y="1651543"/>
            <a:ext cx="8114626" cy="3291840"/>
            <a:chOff x="1783754" y="1903003"/>
            <a:chExt cx="8114626" cy="3291840"/>
          </a:xfrm>
          <a:solidFill>
            <a:srgbClr val="89C3E5"/>
          </a:solidFill>
        </p:grpSpPr>
        <p:sp>
          <p:nvSpPr>
            <p:cNvPr id="4" name="Rectangle 3">
              <a:extLst>
                <a:ext uri="{FF2B5EF4-FFF2-40B4-BE49-F238E27FC236}">
                  <a16:creationId xmlns:a16="http://schemas.microsoft.com/office/drawing/2014/main" id="{8B78C575-A47C-4EC3-ABC1-BA186F8FB0DE}"/>
                </a:ext>
              </a:extLst>
            </p:cNvPr>
            <p:cNvSpPr/>
            <p:nvPr/>
          </p:nvSpPr>
          <p:spPr>
            <a:xfrm>
              <a:off x="1783754" y="1903003"/>
              <a:ext cx="8114626" cy="1097280"/>
            </a:xfrm>
            <a:prstGeom prst="rect">
              <a:avLst/>
            </a:prstGeom>
            <a:grpFill/>
          </p:spPr>
          <p:txBody>
            <a:bodyPr wrap="square" anchor="ctr">
              <a:spAutoFit/>
            </a:bodyPr>
            <a:lstStyle/>
            <a:p>
              <a:pPr algn="ctr"/>
              <a:r>
                <a:rPr lang="en-US" sz="4800" dirty="0">
                  <a:solidFill>
                    <a:schemeClr val="bg1"/>
                  </a:solidFill>
                </a:rPr>
                <a:t>Sapphire Application</a:t>
              </a:r>
            </a:p>
          </p:txBody>
        </p:sp>
        <p:sp>
          <p:nvSpPr>
            <p:cNvPr id="5" name="Rectangle 4">
              <a:extLst>
                <a:ext uri="{FF2B5EF4-FFF2-40B4-BE49-F238E27FC236}">
                  <a16:creationId xmlns:a16="http://schemas.microsoft.com/office/drawing/2014/main" id="{3D84C9BA-78C2-41C3-9D63-54EC36D509DD}"/>
                </a:ext>
              </a:extLst>
            </p:cNvPr>
            <p:cNvSpPr/>
            <p:nvPr/>
          </p:nvSpPr>
          <p:spPr>
            <a:xfrm>
              <a:off x="1783754" y="3000283"/>
              <a:ext cx="8114626" cy="1097280"/>
            </a:xfrm>
            <a:prstGeom prst="rect">
              <a:avLst/>
            </a:prstGeom>
            <a:solidFill>
              <a:srgbClr val="FF7C80"/>
            </a:solidFill>
            <a:ln>
              <a:noFill/>
            </a:ln>
          </p:spPr>
          <p:txBody>
            <a:bodyPr wrap="square" anchor="ctr">
              <a:spAutoFit/>
            </a:bodyPr>
            <a:lstStyle/>
            <a:p>
              <a:pPr algn="ctr"/>
              <a:r>
                <a:rPr lang="en-US" sz="4800" dirty="0">
                  <a:solidFill>
                    <a:schemeClr val="bg1"/>
                  </a:solidFill>
                </a:rPr>
                <a:t>Deployment Managers (DM)</a:t>
              </a:r>
            </a:p>
          </p:txBody>
        </p:sp>
        <p:sp>
          <p:nvSpPr>
            <p:cNvPr id="6" name="Rectangle 5">
              <a:extLst>
                <a:ext uri="{FF2B5EF4-FFF2-40B4-BE49-F238E27FC236}">
                  <a16:creationId xmlns:a16="http://schemas.microsoft.com/office/drawing/2014/main" id="{5CE764F8-0F66-41EA-B0AF-3FF32F058D10}"/>
                </a:ext>
              </a:extLst>
            </p:cNvPr>
            <p:cNvSpPr/>
            <p:nvPr/>
          </p:nvSpPr>
          <p:spPr>
            <a:xfrm>
              <a:off x="1783754" y="4097563"/>
              <a:ext cx="8114626" cy="1097280"/>
            </a:xfrm>
            <a:prstGeom prst="rect">
              <a:avLst/>
            </a:prstGeom>
            <a:solidFill>
              <a:srgbClr val="002060"/>
            </a:solidFill>
            <a:ln>
              <a:noFill/>
            </a:ln>
          </p:spPr>
          <p:txBody>
            <a:bodyPr wrap="square" anchor="ctr">
              <a:spAutoFit/>
            </a:bodyPr>
            <a:lstStyle/>
            <a:p>
              <a:pPr algn="ctr"/>
              <a:r>
                <a:rPr lang="en-US" sz="4800" dirty="0">
                  <a:solidFill>
                    <a:schemeClr val="bg1"/>
                  </a:solidFill>
                </a:rPr>
                <a:t>Deployment Kernel (DK)</a:t>
              </a:r>
            </a:p>
          </p:txBody>
        </p:sp>
      </p:grpSp>
      <p:pic>
        <p:nvPicPr>
          <p:cNvPr id="11" name="Picture 10">
            <a:extLst>
              <a:ext uri="{FF2B5EF4-FFF2-40B4-BE49-F238E27FC236}">
                <a16:creationId xmlns:a16="http://schemas.microsoft.com/office/drawing/2014/main" id="{4B4A359C-B3FD-4824-9906-61C311D4B9C4}"/>
              </a:ext>
            </a:extLst>
          </p:cNvPr>
          <p:cNvPicPr>
            <a:picLocks noChangeAspect="1"/>
          </p:cNvPicPr>
          <p:nvPr/>
        </p:nvPicPr>
        <p:blipFill>
          <a:blip r:embed="rId3"/>
          <a:stretch>
            <a:fillRect/>
          </a:stretch>
        </p:blipFill>
        <p:spPr>
          <a:xfrm>
            <a:off x="5125402" y="4943383"/>
            <a:ext cx="1695211" cy="1421545"/>
          </a:xfrm>
          <a:prstGeom prst="rect">
            <a:avLst/>
          </a:prstGeom>
        </p:spPr>
      </p:pic>
      <p:pic>
        <p:nvPicPr>
          <p:cNvPr id="12" name="Picture 11">
            <a:extLst>
              <a:ext uri="{FF2B5EF4-FFF2-40B4-BE49-F238E27FC236}">
                <a16:creationId xmlns:a16="http://schemas.microsoft.com/office/drawing/2014/main" id="{78BFA005-BE9D-4FEA-91D4-1739D423DE9D}"/>
              </a:ext>
            </a:extLst>
          </p:cNvPr>
          <p:cNvPicPr>
            <a:picLocks noChangeAspect="1"/>
          </p:cNvPicPr>
          <p:nvPr/>
        </p:nvPicPr>
        <p:blipFill>
          <a:blip r:embed="rId3"/>
          <a:stretch>
            <a:fillRect/>
          </a:stretch>
        </p:blipFill>
        <p:spPr>
          <a:xfrm>
            <a:off x="8488581" y="4897663"/>
            <a:ext cx="1695211" cy="1421545"/>
          </a:xfrm>
          <a:prstGeom prst="rect">
            <a:avLst/>
          </a:prstGeom>
        </p:spPr>
      </p:pic>
      <p:pic>
        <p:nvPicPr>
          <p:cNvPr id="13" name="Picture 12">
            <a:extLst>
              <a:ext uri="{FF2B5EF4-FFF2-40B4-BE49-F238E27FC236}">
                <a16:creationId xmlns:a16="http://schemas.microsoft.com/office/drawing/2014/main" id="{30ACB704-C8F7-4A98-B4D2-4189C15D8034}"/>
              </a:ext>
            </a:extLst>
          </p:cNvPr>
          <p:cNvPicPr>
            <a:picLocks noChangeAspect="1"/>
          </p:cNvPicPr>
          <p:nvPr/>
        </p:nvPicPr>
        <p:blipFill>
          <a:blip r:embed="rId4"/>
          <a:stretch>
            <a:fillRect/>
          </a:stretch>
        </p:blipFill>
        <p:spPr>
          <a:xfrm>
            <a:off x="10516552" y="1600200"/>
            <a:ext cx="1514475" cy="1828800"/>
          </a:xfrm>
          <a:prstGeom prst="rect">
            <a:avLst/>
          </a:prstGeom>
        </p:spPr>
      </p:pic>
      <p:pic>
        <p:nvPicPr>
          <p:cNvPr id="14" name="Picture 13">
            <a:extLst>
              <a:ext uri="{FF2B5EF4-FFF2-40B4-BE49-F238E27FC236}">
                <a16:creationId xmlns:a16="http://schemas.microsoft.com/office/drawing/2014/main" id="{2F26D529-E297-4CE4-B67D-15966454F0CD}"/>
              </a:ext>
            </a:extLst>
          </p:cNvPr>
          <p:cNvPicPr>
            <a:picLocks noChangeAspect="1"/>
          </p:cNvPicPr>
          <p:nvPr/>
        </p:nvPicPr>
        <p:blipFill>
          <a:blip r:embed="rId4"/>
          <a:stretch>
            <a:fillRect/>
          </a:stretch>
        </p:blipFill>
        <p:spPr>
          <a:xfrm>
            <a:off x="493732" y="1600200"/>
            <a:ext cx="1514475" cy="1828800"/>
          </a:xfrm>
          <a:prstGeom prst="rect">
            <a:avLst/>
          </a:prstGeom>
        </p:spPr>
      </p:pic>
    </p:spTree>
    <p:extLst>
      <p:ext uri="{BB962C8B-B14F-4D97-AF65-F5344CB8AC3E}">
        <p14:creationId xmlns:p14="http://schemas.microsoft.com/office/powerpoint/2010/main" val="103110142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2A309787-EB30-44E3-90E1-4AB49C712037}"/>
              </a:ext>
            </a:extLst>
          </p:cNvPr>
          <p:cNvPicPr>
            <a:picLocks noChangeAspect="1"/>
          </p:cNvPicPr>
          <p:nvPr/>
        </p:nvPicPr>
        <p:blipFill>
          <a:blip r:embed="rId2"/>
          <a:stretch>
            <a:fillRect/>
          </a:stretch>
        </p:blipFill>
        <p:spPr>
          <a:xfrm>
            <a:off x="2069167" y="4897663"/>
            <a:ext cx="1668444" cy="1421544"/>
          </a:xfrm>
          <a:prstGeom prst="rect">
            <a:avLst/>
          </a:prstGeom>
        </p:spPr>
      </p:pic>
      <p:sp>
        <p:nvSpPr>
          <p:cNvPr id="2" name="Title 1">
            <a:extLst>
              <a:ext uri="{FF2B5EF4-FFF2-40B4-BE49-F238E27FC236}">
                <a16:creationId xmlns:a16="http://schemas.microsoft.com/office/drawing/2014/main" id="{7D1686E7-9A2A-4600-B035-E911D81C8E7E}"/>
              </a:ext>
            </a:extLst>
          </p:cNvPr>
          <p:cNvSpPr>
            <a:spLocks noGrp="1"/>
          </p:cNvSpPr>
          <p:nvPr>
            <p:ph type="title"/>
          </p:nvPr>
        </p:nvSpPr>
        <p:spPr/>
        <p:txBody>
          <a:bodyPr/>
          <a:lstStyle/>
          <a:p>
            <a:r>
              <a:rPr lang="en-US" dirty="0">
                <a:solidFill>
                  <a:srgbClr val="FF6600"/>
                </a:solidFill>
              </a:rPr>
              <a:t>Sapphire Application </a:t>
            </a:r>
          </a:p>
        </p:txBody>
      </p:sp>
      <p:grpSp>
        <p:nvGrpSpPr>
          <p:cNvPr id="7" name="Group 6">
            <a:extLst>
              <a:ext uri="{FF2B5EF4-FFF2-40B4-BE49-F238E27FC236}">
                <a16:creationId xmlns:a16="http://schemas.microsoft.com/office/drawing/2014/main" id="{CA0F1DBE-C1E5-4BB5-A5D2-79B388F6DAE7}"/>
              </a:ext>
            </a:extLst>
          </p:cNvPr>
          <p:cNvGrpSpPr/>
          <p:nvPr/>
        </p:nvGrpSpPr>
        <p:grpSpPr>
          <a:xfrm>
            <a:off x="2069166" y="1647523"/>
            <a:ext cx="8114626" cy="3295860"/>
            <a:chOff x="1783754" y="1898983"/>
            <a:chExt cx="8114626" cy="3295860"/>
          </a:xfrm>
        </p:grpSpPr>
        <p:sp>
          <p:nvSpPr>
            <p:cNvPr id="6" name="Rectangle 5">
              <a:extLst>
                <a:ext uri="{FF2B5EF4-FFF2-40B4-BE49-F238E27FC236}">
                  <a16:creationId xmlns:a16="http://schemas.microsoft.com/office/drawing/2014/main" id="{5CE764F8-0F66-41EA-B0AF-3FF32F058D10}"/>
                </a:ext>
              </a:extLst>
            </p:cNvPr>
            <p:cNvSpPr/>
            <p:nvPr/>
          </p:nvSpPr>
          <p:spPr>
            <a:xfrm>
              <a:off x="1783754" y="4097563"/>
              <a:ext cx="8114626" cy="1097280"/>
            </a:xfrm>
            <a:prstGeom prst="rect">
              <a:avLst/>
            </a:prstGeom>
            <a:solidFill>
              <a:srgbClr val="002060"/>
            </a:solidFill>
          </p:spPr>
          <p:txBody>
            <a:bodyPr wrap="square" anchor="ctr">
              <a:spAutoFit/>
            </a:bodyPr>
            <a:lstStyle/>
            <a:p>
              <a:pPr algn="ctr"/>
              <a:r>
                <a:rPr lang="en-US" sz="4800" dirty="0">
                  <a:solidFill>
                    <a:schemeClr val="bg1"/>
                  </a:solidFill>
                </a:rPr>
                <a:t>Deployment Kernel (DK)</a:t>
              </a:r>
            </a:p>
          </p:txBody>
        </p:sp>
        <p:sp>
          <p:nvSpPr>
            <p:cNvPr id="4" name="Rectangle 3">
              <a:extLst>
                <a:ext uri="{FF2B5EF4-FFF2-40B4-BE49-F238E27FC236}">
                  <a16:creationId xmlns:a16="http://schemas.microsoft.com/office/drawing/2014/main" id="{8B78C575-A47C-4EC3-ABC1-BA186F8FB0DE}"/>
                </a:ext>
              </a:extLst>
            </p:cNvPr>
            <p:cNvSpPr/>
            <p:nvPr/>
          </p:nvSpPr>
          <p:spPr>
            <a:xfrm>
              <a:off x="1783754" y="1898983"/>
              <a:ext cx="8114626" cy="1097280"/>
            </a:xfrm>
            <a:custGeom>
              <a:avLst/>
              <a:gdLst>
                <a:gd name="connsiteX0" fmla="*/ 0 w 8114626"/>
                <a:gd name="connsiteY0" fmla="*/ 0 h 1097280"/>
                <a:gd name="connsiteX1" fmla="*/ 513926 w 8114626"/>
                <a:gd name="connsiteY1" fmla="*/ 0 h 1097280"/>
                <a:gd name="connsiteX2" fmla="*/ 1271291 w 8114626"/>
                <a:gd name="connsiteY2" fmla="*/ 0 h 1097280"/>
                <a:gd name="connsiteX3" fmla="*/ 1866364 w 8114626"/>
                <a:gd name="connsiteY3" fmla="*/ 0 h 1097280"/>
                <a:gd name="connsiteX4" fmla="*/ 2623729 w 8114626"/>
                <a:gd name="connsiteY4" fmla="*/ 0 h 1097280"/>
                <a:gd name="connsiteX5" fmla="*/ 3056509 w 8114626"/>
                <a:gd name="connsiteY5" fmla="*/ 0 h 1097280"/>
                <a:gd name="connsiteX6" fmla="*/ 3732728 w 8114626"/>
                <a:gd name="connsiteY6" fmla="*/ 0 h 1097280"/>
                <a:gd name="connsiteX7" fmla="*/ 4490093 w 8114626"/>
                <a:gd name="connsiteY7" fmla="*/ 0 h 1097280"/>
                <a:gd name="connsiteX8" fmla="*/ 4922873 w 8114626"/>
                <a:gd name="connsiteY8" fmla="*/ 0 h 1097280"/>
                <a:gd name="connsiteX9" fmla="*/ 5680238 w 8114626"/>
                <a:gd name="connsiteY9" fmla="*/ 0 h 1097280"/>
                <a:gd name="connsiteX10" fmla="*/ 6194165 w 8114626"/>
                <a:gd name="connsiteY10" fmla="*/ 0 h 1097280"/>
                <a:gd name="connsiteX11" fmla="*/ 6951530 w 8114626"/>
                <a:gd name="connsiteY11" fmla="*/ 0 h 1097280"/>
                <a:gd name="connsiteX12" fmla="*/ 8114626 w 8114626"/>
                <a:gd name="connsiteY12" fmla="*/ 0 h 1097280"/>
                <a:gd name="connsiteX13" fmla="*/ 8114626 w 8114626"/>
                <a:gd name="connsiteY13" fmla="*/ 515722 h 1097280"/>
                <a:gd name="connsiteX14" fmla="*/ 8114626 w 8114626"/>
                <a:gd name="connsiteY14" fmla="*/ 1097280 h 1097280"/>
                <a:gd name="connsiteX15" fmla="*/ 7276115 w 8114626"/>
                <a:gd name="connsiteY15" fmla="*/ 1097280 h 1097280"/>
                <a:gd name="connsiteX16" fmla="*/ 6437603 w 8114626"/>
                <a:gd name="connsiteY16" fmla="*/ 1097280 h 1097280"/>
                <a:gd name="connsiteX17" fmla="*/ 5923677 w 8114626"/>
                <a:gd name="connsiteY17" fmla="*/ 1097280 h 1097280"/>
                <a:gd name="connsiteX18" fmla="*/ 5085166 w 8114626"/>
                <a:gd name="connsiteY18" fmla="*/ 1097280 h 1097280"/>
                <a:gd name="connsiteX19" fmla="*/ 4327801 w 8114626"/>
                <a:gd name="connsiteY19" fmla="*/ 1097280 h 1097280"/>
                <a:gd name="connsiteX20" fmla="*/ 3813874 w 8114626"/>
                <a:gd name="connsiteY20" fmla="*/ 1097280 h 1097280"/>
                <a:gd name="connsiteX21" fmla="*/ 3137655 w 8114626"/>
                <a:gd name="connsiteY21" fmla="*/ 1097280 h 1097280"/>
                <a:gd name="connsiteX22" fmla="*/ 2380290 w 8114626"/>
                <a:gd name="connsiteY22" fmla="*/ 1097280 h 1097280"/>
                <a:gd name="connsiteX23" fmla="*/ 1785218 w 8114626"/>
                <a:gd name="connsiteY23" fmla="*/ 1097280 h 1097280"/>
                <a:gd name="connsiteX24" fmla="*/ 946706 w 8114626"/>
                <a:gd name="connsiteY24" fmla="*/ 1097280 h 1097280"/>
                <a:gd name="connsiteX25" fmla="*/ 0 w 8114626"/>
                <a:gd name="connsiteY25" fmla="*/ 1097280 h 1097280"/>
                <a:gd name="connsiteX26" fmla="*/ 0 w 8114626"/>
                <a:gd name="connsiteY26" fmla="*/ 548640 h 1097280"/>
                <a:gd name="connsiteX27" fmla="*/ 0 w 8114626"/>
                <a:gd name="connsiteY27" fmla="*/ 0 h 10972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8114626" h="1097280" extrusionOk="0">
                  <a:moveTo>
                    <a:pt x="0" y="0"/>
                  </a:moveTo>
                  <a:cubicBezTo>
                    <a:pt x="126541" y="-9115"/>
                    <a:pt x="332480" y="-10703"/>
                    <a:pt x="513926" y="0"/>
                  </a:cubicBezTo>
                  <a:cubicBezTo>
                    <a:pt x="695372" y="10703"/>
                    <a:pt x="1026014" y="10768"/>
                    <a:pt x="1271291" y="0"/>
                  </a:cubicBezTo>
                  <a:cubicBezTo>
                    <a:pt x="1516569" y="-10768"/>
                    <a:pt x="1658328" y="-10141"/>
                    <a:pt x="1866364" y="0"/>
                  </a:cubicBezTo>
                  <a:cubicBezTo>
                    <a:pt x="2074400" y="10141"/>
                    <a:pt x="2311275" y="-14146"/>
                    <a:pt x="2623729" y="0"/>
                  </a:cubicBezTo>
                  <a:cubicBezTo>
                    <a:pt x="2936183" y="14146"/>
                    <a:pt x="2915223" y="18967"/>
                    <a:pt x="3056509" y="0"/>
                  </a:cubicBezTo>
                  <a:cubicBezTo>
                    <a:pt x="3197795" y="-18967"/>
                    <a:pt x="3573782" y="-3811"/>
                    <a:pt x="3732728" y="0"/>
                  </a:cubicBezTo>
                  <a:cubicBezTo>
                    <a:pt x="3891674" y="3811"/>
                    <a:pt x="4315807" y="-15193"/>
                    <a:pt x="4490093" y="0"/>
                  </a:cubicBezTo>
                  <a:cubicBezTo>
                    <a:pt x="4664380" y="15193"/>
                    <a:pt x="4829035" y="14790"/>
                    <a:pt x="4922873" y="0"/>
                  </a:cubicBezTo>
                  <a:cubicBezTo>
                    <a:pt x="5016711" y="-14790"/>
                    <a:pt x="5461955" y="24386"/>
                    <a:pt x="5680238" y="0"/>
                  </a:cubicBezTo>
                  <a:cubicBezTo>
                    <a:pt x="5898521" y="-24386"/>
                    <a:pt x="6089574" y="-21229"/>
                    <a:pt x="6194165" y="0"/>
                  </a:cubicBezTo>
                  <a:cubicBezTo>
                    <a:pt x="6298756" y="21229"/>
                    <a:pt x="6679040" y="-15554"/>
                    <a:pt x="6951530" y="0"/>
                  </a:cubicBezTo>
                  <a:cubicBezTo>
                    <a:pt x="7224020" y="15554"/>
                    <a:pt x="7571852" y="-33810"/>
                    <a:pt x="8114626" y="0"/>
                  </a:cubicBezTo>
                  <a:cubicBezTo>
                    <a:pt x="8129494" y="240160"/>
                    <a:pt x="8098008" y="343755"/>
                    <a:pt x="8114626" y="515722"/>
                  </a:cubicBezTo>
                  <a:cubicBezTo>
                    <a:pt x="8131244" y="687689"/>
                    <a:pt x="8117799" y="865420"/>
                    <a:pt x="8114626" y="1097280"/>
                  </a:cubicBezTo>
                  <a:cubicBezTo>
                    <a:pt x="7728497" y="1119266"/>
                    <a:pt x="7569595" y="1104819"/>
                    <a:pt x="7276115" y="1097280"/>
                  </a:cubicBezTo>
                  <a:cubicBezTo>
                    <a:pt x="6982635" y="1089741"/>
                    <a:pt x="6800559" y="1055467"/>
                    <a:pt x="6437603" y="1097280"/>
                  </a:cubicBezTo>
                  <a:cubicBezTo>
                    <a:pt x="6074647" y="1139093"/>
                    <a:pt x="6164685" y="1106480"/>
                    <a:pt x="5923677" y="1097280"/>
                  </a:cubicBezTo>
                  <a:cubicBezTo>
                    <a:pt x="5682669" y="1088080"/>
                    <a:pt x="5383128" y="1097998"/>
                    <a:pt x="5085166" y="1097280"/>
                  </a:cubicBezTo>
                  <a:cubicBezTo>
                    <a:pt x="4787204" y="1096562"/>
                    <a:pt x="4541077" y="1121971"/>
                    <a:pt x="4327801" y="1097280"/>
                  </a:cubicBezTo>
                  <a:cubicBezTo>
                    <a:pt x="4114526" y="1072589"/>
                    <a:pt x="4016908" y="1089280"/>
                    <a:pt x="3813874" y="1097280"/>
                  </a:cubicBezTo>
                  <a:cubicBezTo>
                    <a:pt x="3610840" y="1105280"/>
                    <a:pt x="3321073" y="1100573"/>
                    <a:pt x="3137655" y="1097280"/>
                  </a:cubicBezTo>
                  <a:cubicBezTo>
                    <a:pt x="2954237" y="1093987"/>
                    <a:pt x="2654103" y="1061568"/>
                    <a:pt x="2380290" y="1097280"/>
                  </a:cubicBezTo>
                  <a:cubicBezTo>
                    <a:pt x="2106477" y="1132992"/>
                    <a:pt x="2073675" y="1108726"/>
                    <a:pt x="1785218" y="1097280"/>
                  </a:cubicBezTo>
                  <a:cubicBezTo>
                    <a:pt x="1496761" y="1085834"/>
                    <a:pt x="1278714" y="1087311"/>
                    <a:pt x="946706" y="1097280"/>
                  </a:cubicBezTo>
                  <a:cubicBezTo>
                    <a:pt x="614698" y="1107249"/>
                    <a:pt x="368107" y="1074612"/>
                    <a:pt x="0" y="1097280"/>
                  </a:cubicBezTo>
                  <a:cubicBezTo>
                    <a:pt x="-1702" y="883663"/>
                    <a:pt x="18300" y="750203"/>
                    <a:pt x="0" y="548640"/>
                  </a:cubicBezTo>
                  <a:cubicBezTo>
                    <a:pt x="-18300" y="347077"/>
                    <a:pt x="-6833" y="268609"/>
                    <a:pt x="0" y="0"/>
                  </a:cubicBezTo>
                  <a:close/>
                </a:path>
              </a:pathLst>
            </a:custGeom>
            <a:noFill/>
            <a:ln w="76200">
              <a:solidFill>
                <a:srgbClr val="89C3E5"/>
              </a:solidFill>
              <a:extLst>
                <a:ext uri="{C807C97D-BFC1-408E-A445-0C87EB9F89A2}">
                  <ask:lineSketchStyleProps xmlns:ask="http://schemas.microsoft.com/office/drawing/2018/sketchyshapes" sd="289878596">
                    <a:prstGeom prst="rect">
                      <a:avLst/>
                    </a:prstGeom>
                    <ask:type>
                      <ask:lineSketchFreehand/>
                    </ask:type>
                  </ask:lineSketchStyleProps>
                </a:ext>
              </a:extLst>
            </a:ln>
          </p:spPr>
          <p:txBody>
            <a:bodyPr wrap="square" anchor="ctr">
              <a:spAutoFit/>
            </a:bodyPr>
            <a:lstStyle/>
            <a:p>
              <a:pPr algn="ctr"/>
              <a:endParaRPr lang="en-US" sz="4800" dirty="0">
                <a:solidFill>
                  <a:schemeClr val="bg1"/>
                </a:solidFill>
              </a:endParaRPr>
            </a:p>
          </p:txBody>
        </p:sp>
      </p:grpSp>
      <p:pic>
        <p:nvPicPr>
          <p:cNvPr id="11" name="Picture 10">
            <a:extLst>
              <a:ext uri="{FF2B5EF4-FFF2-40B4-BE49-F238E27FC236}">
                <a16:creationId xmlns:a16="http://schemas.microsoft.com/office/drawing/2014/main" id="{4B4A359C-B3FD-4824-9906-61C311D4B9C4}"/>
              </a:ext>
            </a:extLst>
          </p:cNvPr>
          <p:cNvPicPr>
            <a:picLocks noChangeAspect="1"/>
          </p:cNvPicPr>
          <p:nvPr/>
        </p:nvPicPr>
        <p:blipFill>
          <a:blip r:embed="rId3"/>
          <a:stretch>
            <a:fillRect/>
          </a:stretch>
        </p:blipFill>
        <p:spPr>
          <a:xfrm>
            <a:off x="5125402" y="4943383"/>
            <a:ext cx="1695211" cy="1421545"/>
          </a:xfrm>
          <a:prstGeom prst="rect">
            <a:avLst/>
          </a:prstGeom>
        </p:spPr>
      </p:pic>
      <p:pic>
        <p:nvPicPr>
          <p:cNvPr id="12" name="Picture 11">
            <a:extLst>
              <a:ext uri="{FF2B5EF4-FFF2-40B4-BE49-F238E27FC236}">
                <a16:creationId xmlns:a16="http://schemas.microsoft.com/office/drawing/2014/main" id="{78BFA005-BE9D-4FEA-91D4-1739D423DE9D}"/>
              </a:ext>
            </a:extLst>
          </p:cNvPr>
          <p:cNvPicPr>
            <a:picLocks noChangeAspect="1"/>
          </p:cNvPicPr>
          <p:nvPr/>
        </p:nvPicPr>
        <p:blipFill>
          <a:blip r:embed="rId3"/>
          <a:stretch>
            <a:fillRect/>
          </a:stretch>
        </p:blipFill>
        <p:spPr>
          <a:xfrm>
            <a:off x="8488581" y="4920523"/>
            <a:ext cx="1695211" cy="1421545"/>
          </a:xfrm>
          <a:prstGeom prst="rect">
            <a:avLst/>
          </a:prstGeom>
        </p:spPr>
      </p:pic>
      <p:pic>
        <p:nvPicPr>
          <p:cNvPr id="14" name="Picture 13">
            <a:extLst>
              <a:ext uri="{FF2B5EF4-FFF2-40B4-BE49-F238E27FC236}">
                <a16:creationId xmlns:a16="http://schemas.microsoft.com/office/drawing/2014/main" id="{2F26D529-E297-4CE4-B67D-15966454F0CD}"/>
              </a:ext>
            </a:extLst>
          </p:cNvPr>
          <p:cNvPicPr>
            <a:picLocks noChangeAspect="1"/>
          </p:cNvPicPr>
          <p:nvPr/>
        </p:nvPicPr>
        <p:blipFill>
          <a:blip r:embed="rId4"/>
          <a:stretch>
            <a:fillRect/>
          </a:stretch>
        </p:blipFill>
        <p:spPr>
          <a:xfrm>
            <a:off x="493732" y="1600200"/>
            <a:ext cx="1514475" cy="1828800"/>
          </a:xfrm>
          <a:prstGeom prst="rect">
            <a:avLst/>
          </a:prstGeom>
        </p:spPr>
      </p:pic>
      <p:sp>
        <p:nvSpPr>
          <p:cNvPr id="18" name="TextBox 17">
            <a:extLst>
              <a:ext uri="{FF2B5EF4-FFF2-40B4-BE49-F238E27FC236}">
                <a16:creationId xmlns:a16="http://schemas.microsoft.com/office/drawing/2014/main" id="{72A2A1DD-DA65-450C-ADB6-72F65EC8E2DA}"/>
              </a:ext>
            </a:extLst>
          </p:cNvPr>
          <p:cNvSpPr txBox="1"/>
          <p:nvPr/>
        </p:nvSpPr>
        <p:spPr>
          <a:xfrm>
            <a:off x="8488100" y="1730422"/>
            <a:ext cx="1514475" cy="908864"/>
          </a:xfrm>
          <a:prstGeom prst="ellipse">
            <a:avLst/>
          </a:prstGeom>
          <a:noFill/>
          <a:ln w="57150">
            <a:solidFill>
              <a:srgbClr val="89C3E5"/>
            </a:solidFill>
          </a:ln>
        </p:spPr>
        <p:txBody>
          <a:bodyPr wrap="square" rtlCol="0">
            <a:spAutoFit/>
          </a:bodyPr>
          <a:lstStyle/>
          <a:p>
            <a:pPr algn="ctr"/>
            <a:r>
              <a:rPr lang="en-US" dirty="0">
                <a:solidFill>
                  <a:srgbClr val="89C3E5"/>
                </a:solidFill>
              </a:rPr>
              <a:t>Sapphire Object</a:t>
            </a:r>
          </a:p>
        </p:txBody>
      </p:sp>
      <p:sp>
        <p:nvSpPr>
          <p:cNvPr id="19" name="TextBox 18">
            <a:extLst>
              <a:ext uri="{FF2B5EF4-FFF2-40B4-BE49-F238E27FC236}">
                <a16:creationId xmlns:a16="http://schemas.microsoft.com/office/drawing/2014/main" id="{D67905E2-3F0B-451B-833F-22003FC68F54}"/>
              </a:ext>
            </a:extLst>
          </p:cNvPr>
          <p:cNvSpPr txBox="1"/>
          <p:nvPr/>
        </p:nvSpPr>
        <p:spPr>
          <a:xfrm>
            <a:off x="5215768" y="1741731"/>
            <a:ext cx="1514475" cy="908864"/>
          </a:xfrm>
          <a:prstGeom prst="ellipse">
            <a:avLst/>
          </a:prstGeom>
          <a:noFill/>
          <a:ln w="57150">
            <a:solidFill>
              <a:srgbClr val="89C3E5"/>
            </a:solidFill>
          </a:ln>
        </p:spPr>
        <p:txBody>
          <a:bodyPr wrap="square" rtlCol="0">
            <a:spAutoFit/>
          </a:bodyPr>
          <a:lstStyle/>
          <a:p>
            <a:pPr algn="ctr"/>
            <a:r>
              <a:rPr lang="en-US" dirty="0">
                <a:solidFill>
                  <a:srgbClr val="89C3E5"/>
                </a:solidFill>
              </a:rPr>
              <a:t>Sapphire Object</a:t>
            </a:r>
          </a:p>
        </p:txBody>
      </p:sp>
      <p:sp>
        <p:nvSpPr>
          <p:cNvPr id="20" name="TextBox 19">
            <a:extLst>
              <a:ext uri="{FF2B5EF4-FFF2-40B4-BE49-F238E27FC236}">
                <a16:creationId xmlns:a16="http://schemas.microsoft.com/office/drawing/2014/main" id="{A37CDA70-649C-4791-9390-7CB994BAC86E}"/>
              </a:ext>
            </a:extLst>
          </p:cNvPr>
          <p:cNvSpPr txBox="1"/>
          <p:nvPr/>
        </p:nvSpPr>
        <p:spPr>
          <a:xfrm>
            <a:off x="2146150" y="1741731"/>
            <a:ext cx="1514475" cy="908864"/>
          </a:xfrm>
          <a:prstGeom prst="ellipse">
            <a:avLst/>
          </a:prstGeom>
          <a:noFill/>
          <a:ln w="57150">
            <a:solidFill>
              <a:srgbClr val="89C3E5"/>
            </a:solidFill>
          </a:ln>
        </p:spPr>
        <p:txBody>
          <a:bodyPr wrap="square" rtlCol="0">
            <a:spAutoFit/>
          </a:bodyPr>
          <a:lstStyle/>
          <a:p>
            <a:pPr algn="ctr"/>
            <a:r>
              <a:rPr lang="en-US" dirty="0">
                <a:solidFill>
                  <a:srgbClr val="89C3E5"/>
                </a:solidFill>
              </a:rPr>
              <a:t>Sapphire Object</a:t>
            </a:r>
          </a:p>
        </p:txBody>
      </p:sp>
      <p:sp>
        <p:nvSpPr>
          <p:cNvPr id="21" name="Rectangle 20">
            <a:extLst>
              <a:ext uri="{FF2B5EF4-FFF2-40B4-BE49-F238E27FC236}">
                <a16:creationId xmlns:a16="http://schemas.microsoft.com/office/drawing/2014/main" id="{F48E7BE2-8571-451E-9067-BB20EBB02704}"/>
              </a:ext>
            </a:extLst>
          </p:cNvPr>
          <p:cNvSpPr/>
          <p:nvPr/>
        </p:nvSpPr>
        <p:spPr>
          <a:xfrm>
            <a:off x="2069166" y="2817403"/>
            <a:ext cx="8114626" cy="1097280"/>
          </a:xfrm>
          <a:prstGeom prst="rect">
            <a:avLst/>
          </a:prstGeom>
          <a:solidFill>
            <a:srgbClr val="FF7C80"/>
          </a:solidFill>
        </p:spPr>
        <p:txBody>
          <a:bodyPr wrap="square" anchor="ctr">
            <a:spAutoFit/>
          </a:bodyPr>
          <a:lstStyle/>
          <a:p>
            <a:pPr algn="ctr"/>
            <a:r>
              <a:rPr lang="en-US" sz="4800" dirty="0">
                <a:solidFill>
                  <a:schemeClr val="bg1"/>
                </a:solidFill>
              </a:rPr>
              <a:t>Deployment Managers (DM)</a:t>
            </a:r>
          </a:p>
        </p:txBody>
      </p:sp>
      <p:sp>
        <p:nvSpPr>
          <p:cNvPr id="8" name="TextBox 7">
            <a:extLst>
              <a:ext uri="{FF2B5EF4-FFF2-40B4-BE49-F238E27FC236}">
                <a16:creationId xmlns:a16="http://schemas.microsoft.com/office/drawing/2014/main" id="{C962F2F0-D1C4-4EDE-8A5A-438AD23DEEF9}"/>
              </a:ext>
            </a:extLst>
          </p:cNvPr>
          <p:cNvSpPr txBox="1"/>
          <p:nvPr/>
        </p:nvSpPr>
        <p:spPr>
          <a:xfrm>
            <a:off x="2045970" y="2828833"/>
            <a:ext cx="8145443" cy="3536095"/>
          </a:xfrm>
          <a:prstGeom prst="rect">
            <a:avLst/>
          </a:prstGeom>
          <a:solidFill>
            <a:srgbClr val="FFFFFF">
              <a:alpha val="80000"/>
            </a:srgbClr>
          </a:solidFill>
        </p:spPr>
        <p:txBody>
          <a:bodyPr wrap="square" rtlCol="0">
            <a:spAutoFit/>
          </a:bodyPr>
          <a:lstStyle/>
          <a:p>
            <a:endParaRPr lang="en-US" dirty="0"/>
          </a:p>
        </p:txBody>
      </p:sp>
      <p:sp>
        <p:nvSpPr>
          <p:cNvPr id="9" name="Arrow: Down 8">
            <a:extLst>
              <a:ext uri="{FF2B5EF4-FFF2-40B4-BE49-F238E27FC236}">
                <a16:creationId xmlns:a16="http://schemas.microsoft.com/office/drawing/2014/main" id="{A98D326F-8A3E-4752-806F-3588AD5D30FB}"/>
              </a:ext>
            </a:extLst>
          </p:cNvPr>
          <p:cNvSpPr/>
          <p:nvPr/>
        </p:nvSpPr>
        <p:spPr>
          <a:xfrm rot="5400000">
            <a:off x="10732600" y="1519209"/>
            <a:ext cx="846158" cy="1268584"/>
          </a:xfrm>
          <a:prstGeom prst="downArrow">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58721267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5BFB96-F105-45DF-A34D-771F883E7294}"/>
              </a:ext>
            </a:extLst>
          </p:cNvPr>
          <p:cNvSpPr>
            <a:spLocks noGrp="1"/>
          </p:cNvSpPr>
          <p:nvPr>
            <p:ph type="title"/>
          </p:nvPr>
        </p:nvSpPr>
        <p:spPr/>
        <p:txBody>
          <a:bodyPr/>
          <a:lstStyle/>
          <a:p>
            <a:r>
              <a:rPr lang="en-US" dirty="0">
                <a:solidFill>
                  <a:srgbClr val="FF6600"/>
                </a:solidFill>
              </a:rPr>
              <a:t>Sapphire Application </a:t>
            </a:r>
          </a:p>
        </p:txBody>
      </p:sp>
      <p:sp>
        <p:nvSpPr>
          <p:cNvPr id="3" name="Content Placeholder 2">
            <a:extLst>
              <a:ext uri="{FF2B5EF4-FFF2-40B4-BE49-F238E27FC236}">
                <a16:creationId xmlns:a16="http://schemas.microsoft.com/office/drawing/2014/main" id="{B39FCEDE-7DA6-4F4F-BC19-260416EC573F}"/>
              </a:ext>
            </a:extLst>
          </p:cNvPr>
          <p:cNvSpPr>
            <a:spLocks noGrp="1"/>
          </p:cNvSpPr>
          <p:nvPr>
            <p:ph idx="1"/>
          </p:nvPr>
        </p:nvSpPr>
        <p:spPr/>
        <p:txBody>
          <a:bodyPr/>
          <a:lstStyle/>
          <a:p>
            <a:r>
              <a:rPr lang="en-US" dirty="0"/>
              <a:t>Partitioned into </a:t>
            </a:r>
            <a:r>
              <a:rPr lang="en-US" b="1" dirty="0">
                <a:solidFill>
                  <a:srgbClr val="FF6600"/>
                </a:solidFill>
                <a:effectLst>
                  <a:outerShdw blurRad="38100" dist="38100" dir="2700000" algn="tl">
                    <a:srgbClr val="000000">
                      <a:alpha val="43137"/>
                    </a:srgbClr>
                  </a:outerShdw>
                </a:effectLst>
              </a:rPr>
              <a:t>Sapphire Objects</a:t>
            </a:r>
            <a:r>
              <a:rPr lang="en-US" dirty="0"/>
              <a:t>, which:</a:t>
            </a:r>
          </a:p>
          <a:p>
            <a:pPr>
              <a:buFont typeface="Arial" panose="020B0604020202020204" pitchFamily="34" charset="0"/>
              <a:buChar char="•"/>
            </a:pPr>
            <a:r>
              <a:rPr lang="en-US" dirty="0"/>
              <a:t> Run in a single address space with RPC</a:t>
            </a:r>
          </a:p>
          <a:p>
            <a:pPr>
              <a:buFont typeface="Arial" panose="020B0604020202020204" pitchFamily="34" charset="0"/>
              <a:buChar char="•"/>
            </a:pPr>
            <a:r>
              <a:rPr lang="en-US" dirty="0"/>
              <a:t> Execute anywhere and move transparently</a:t>
            </a:r>
          </a:p>
          <a:p>
            <a:pPr>
              <a:buFont typeface="Arial" panose="020B0604020202020204" pitchFamily="34" charset="0"/>
              <a:buChar char="•"/>
            </a:pPr>
            <a:r>
              <a:rPr lang="en-US" dirty="0"/>
              <a:t> Provide a </a:t>
            </a:r>
            <a:r>
              <a:rPr lang="en-US" u="sng" dirty="0">
                <a:solidFill>
                  <a:srgbClr val="FF6600"/>
                </a:solidFill>
              </a:rPr>
              <a:t>unit of distribution</a:t>
            </a:r>
            <a:r>
              <a:rPr lang="en-US" dirty="0"/>
              <a:t> for deployment managers</a:t>
            </a:r>
          </a:p>
        </p:txBody>
      </p:sp>
      <p:pic>
        <p:nvPicPr>
          <p:cNvPr id="5" name="Content Placeholder 3">
            <a:extLst>
              <a:ext uri="{FF2B5EF4-FFF2-40B4-BE49-F238E27FC236}">
                <a16:creationId xmlns:a16="http://schemas.microsoft.com/office/drawing/2014/main" id="{D95FA598-1D4F-4FD8-AA0B-D9292330E0C3}"/>
              </a:ext>
            </a:extLst>
          </p:cNvPr>
          <p:cNvPicPr>
            <a:picLocks noChangeAspect="1"/>
          </p:cNvPicPr>
          <p:nvPr/>
        </p:nvPicPr>
        <p:blipFill rotWithShape="1">
          <a:blip r:embed="rId3"/>
          <a:srcRect t="2025" b="41321"/>
          <a:stretch/>
        </p:blipFill>
        <p:spPr>
          <a:xfrm>
            <a:off x="5909309" y="4366419"/>
            <a:ext cx="6115049" cy="2018445"/>
          </a:xfrm>
          <a:prstGeom prst="rect">
            <a:avLst/>
          </a:prstGeom>
        </p:spPr>
      </p:pic>
    </p:spTree>
    <p:extLst>
      <p:ext uri="{BB962C8B-B14F-4D97-AF65-F5344CB8AC3E}">
        <p14:creationId xmlns:p14="http://schemas.microsoft.com/office/powerpoint/2010/main" val="204909865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2A309787-EB30-44E3-90E1-4AB49C712037}"/>
              </a:ext>
            </a:extLst>
          </p:cNvPr>
          <p:cNvPicPr>
            <a:picLocks noChangeAspect="1"/>
          </p:cNvPicPr>
          <p:nvPr/>
        </p:nvPicPr>
        <p:blipFill>
          <a:blip r:embed="rId2"/>
          <a:stretch>
            <a:fillRect/>
          </a:stretch>
        </p:blipFill>
        <p:spPr>
          <a:xfrm>
            <a:off x="2069167" y="4897663"/>
            <a:ext cx="1668444" cy="1421544"/>
          </a:xfrm>
          <a:prstGeom prst="rect">
            <a:avLst/>
          </a:prstGeom>
        </p:spPr>
      </p:pic>
      <p:sp>
        <p:nvSpPr>
          <p:cNvPr id="2" name="Title 1">
            <a:extLst>
              <a:ext uri="{FF2B5EF4-FFF2-40B4-BE49-F238E27FC236}">
                <a16:creationId xmlns:a16="http://schemas.microsoft.com/office/drawing/2014/main" id="{7D1686E7-9A2A-4600-B035-E911D81C8E7E}"/>
              </a:ext>
            </a:extLst>
          </p:cNvPr>
          <p:cNvSpPr>
            <a:spLocks noGrp="1"/>
          </p:cNvSpPr>
          <p:nvPr>
            <p:ph type="title"/>
          </p:nvPr>
        </p:nvSpPr>
        <p:spPr/>
        <p:txBody>
          <a:bodyPr/>
          <a:lstStyle/>
          <a:p>
            <a:r>
              <a:rPr lang="en-US" dirty="0">
                <a:solidFill>
                  <a:srgbClr val="FF6600"/>
                </a:solidFill>
              </a:rPr>
              <a:t>Deployment Kernel</a:t>
            </a:r>
          </a:p>
        </p:txBody>
      </p:sp>
      <p:grpSp>
        <p:nvGrpSpPr>
          <p:cNvPr id="7" name="Group 6">
            <a:extLst>
              <a:ext uri="{FF2B5EF4-FFF2-40B4-BE49-F238E27FC236}">
                <a16:creationId xmlns:a16="http://schemas.microsoft.com/office/drawing/2014/main" id="{CA0F1DBE-C1E5-4BB5-A5D2-79B388F6DAE7}"/>
              </a:ext>
            </a:extLst>
          </p:cNvPr>
          <p:cNvGrpSpPr/>
          <p:nvPr/>
        </p:nvGrpSpPr>
        <p:grpSpPr>
          <a:xfrm>
            <a:off x="2069166" y="1647523"/>
            <a:ext cx="8114626" cy="3295860"/>
            <a:chOff x="1783754" y="1898983"/>
            <a:chExt cx="8114626" cy="3295860"/>
          </a:xfrm>
        </p:grpSpPr>
        <p:sp>
          <p:nvSpPr>
            <p:cNvPr id="6" name="Rectangle 5">
              <a:extLst>
                <a:ext uri="{FF2B5EF4-FFF2-40B4-BE49-F238E27FC236}">
                  <a16:creationId xmlns:a16="http://schemas.microsoft.com/office/drawing/2014/main" id="{5CE764F8-0F66-41EA-B0AF-3FF32F058D10}"/>
                </a:ext>
              </a:extLst>
            </p:cNvPr>
            <p:cNvSpPr/>
            <p:nvPr/>
          </p:nvSpPr>
          <p:spPr>
            <a:xfrm>
              <a:off x="1783754" y="4097563"/>
              <a:ext cx="8114626" cy="1097280"/>
            </a:xfrm>
            <a:prstGeom prst="rect">
              <a:avLst/>
            </a:prstGeom>
            <a:solidFill>
              <a:srgbClr val="002060"/>
            </a:solidFill>
          </p:spPr>
          <p:txBody>
            <a:bodyPr wrap="square" anchor="ctr">
              <a:spAutoFit/>
            </a:bodyPr>
            <a:lstStyle/>
            <a:p>
              <a:pPr algn="ctr"/>
              <a:r>
                <a:rPr lang="en-US" sz="4800" dirty="0">
                  <a:solidFill>
                    <a:schemeClr val="bg1"/>
                  </a:solidFill>
                </a:rPr>
                <a:t>Deployment Kernel (DK)</a:t>
              </a:r>
            </a:p>
          </p:txBody>
        </p:sp>
        <p:sp>
          <p:nvSpPr>
            <p:cNvPr id="4" name="Rectangle 3">
              <a:extLst>
                <a:ext uri="{FF2B5EF4-FFF2-40B4-BE49-F238E27FC236}">
                  <a16:creationId xmlns:a16="http://schemas.microsoft.com/office/drawing/2014/main" id="{8B78C575-A47C-4EC3-ABC1-BA186F8FB0DE}"/>
                </a:ext>
              </a:extLst>
            </p:cNvPr>
            <p:cNvSpPr/>
            <p:nvPr/>
          </p:nvSpPr>
          <p:spPr>
            <a:xfrm>
              <a:off x="1783754" y="1898983"/>
              <a:ext cx="8114626" cy="1097280"/>
            </a:xfrm>
            <a:custGeom>
              <a:avLst/>
              <a:gdLst>
                <a:gd name="connsiteX0" fmla="*/ 0 w 8114626"/>
                <a:gd name="connsiteY0" fmla="*/ 0 h 1097280"/>
                <a:gd name="connsiteX1" fmla="*/ 513926 w 8114626"/>
                <a:gd name="connsiteY1" fmla="*/ 0 h 1097280"/>
                <a:gd name="connsiteX2" fmla="*/ 1271291 w 8114626"/>
                <a:gd name="connsiteY2" fmla="*/ 0 h 1097280"/>
                <a:gd name="connsiteX3" fmla="*/ 1866364 w 8114626"/>
                <a:gd name="connsiteY3" fmla="*/ 0 h 1097280"/>
                <a:gd name="connsiteX4" fmla="*/ 2623729 w 8114626"/>
                <a:gd name="connsiteY4" fmla="*/ 0 h 1097280"/>
                <a:gd name="connsiteX5" fmla="*/ 3056509 w 8114626"/>
                <a:gd name="connsiteY5" fmla="*/ 0 h 1097280"/>
                <a:gd name="connsiteX6" fmla="*/ 3732728 w 8114626"/>
                <a:gd name="connsiteY6" fmla="*/ 0 h 1097280"/>
                <a:gd name="connsiteX7" fmla="*/ 4490093 w 8114626"/>
                <a:gd name="connsiteY7" fmla="*/ 0 h 1097280"/>
                <a:gd name="connsiteX8" fmla="*/ 4922873 w 8114626"/>
                <a:gd name="connsiteY8" fmla="*/ 0 h 1097280"/>
                <a:gd name="connsiteX9" fmla="*/ 5680238 w 8114626"/>
                <a:gd name="connsiteY9" fmla="*/ 0 h 1097280"/>
                <a:gd name="connsiteX10" fmla="*/ 6194165 w 8114626"/>
                <a:gd name="connsiteY10" fmla="*/ 0 h 1097280"/>
                <a:gd name="connsiteX11" fmla="*/ 6951530 w 8114626"/>
                <a:gd name="connsiteY11" fmla="*/ 0 h 1097280"/>
                <a:gd name="connsiteX12" fmla="*/ 8114626 w 8114626"/>
                <a:gd name="connsiteY12" fmla="*/ 0 h 1097280"/>
                <a:gd name="connsiteX13" fmla="*/ 8114626 w 8114626"/>
                <a:gd name="connsiteY13" fmla="*/ 515722 h 1097280"/>
                <a:gd name="connsiteX14" fmla="*/ 8114626 w 8114626"/>
                <a:gd name="connsiteY14" fmla="*/ 1097280 h 1097280"/>
                <a:gd name="connsiteX15" fmla="*/ 7276115 w 8114626"/>
                <a:gd name="connsiteY15" fmla="*/ 1097280 h 1097280"/>
                <a:gd name="connsiteX16" fmla="*/ 6437603 w 8114626"/>
                <a:gd name="connsiteY16" fmla="*/ 1097280 h 1097280"/>
                <a:gd name="connsiteX17" fmla="*/ 5923677 w 8114626"/>
                <a:gd name="connsiteY17" fmla="*/ 1097280 h 1097280"/>
                <a:gd name="connsiteX18" fmla="*/ 5085166 w 8114626"/>
                <a:gd name="connsiteY18" fmla="*/ 1097280 h 1097280"/>
                <a:gd name="connsiteX19" fmla="*/ 4327801 w 8114626"/>
                <a:gd name="connsiteY19" fmla="*/ 1097280 h 1097280"/>
                <a:gd name="connsiteX20" fmla="*/ 3813874 w 8114626"/>
                <a:gd name="connsiteY20" fmla="*/ 1097280 h 1097280"/>
                <a:gd name="connsiteX21" fmla="*/ 3137655 w 8114626"/>
                <a:gd name="connsiteY21" fmla="*/ 1097280 h 1097280"/>
                <a:gd name="connsiteX22" fmla="*/ 2380290 w 8114626"/>
                <a:gd name="connsiteY22" fmla="*/ 1097280 h 1097280"/>
                <a:gd name="connsiteX23" fmla="*/ 1785218 w 8114626"/>
                <a:gd name="connsiteY23" fmla="*/ 1097280 h 1097280"/>
                <a:gd name="connsiteX24" fmla="*/ 946706 w 8114626"/>
                <a:gd name="connsiteY24" fmla="*/ 1097280 h 1097280"/>
                <a:gd name="connsiteX25" fmla="*/ 0 w 8114626"/>
                <a:gd name="connsiteY25" fmla="*/ 1097280 h 1097280"/>
                <a:gd name="connsiteX26" fmla="*/ 0 w 8114626"/>
                <a:gd name="connsiteY26" fmla="*/ 548640 h 1097280"/>
                <a:gd name="connsiteX27" fmla="*/ 0 w 8114626"/>
                <a:gd name="connsiteY27" fmla="*/ 0 h 10972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8114626" h="1097280" extrusionOk="0">
                  <a:moveTo>
                    <a:pt x="0" y="0"/>
                  </a:moveTo>
                  <a:cubicBezTo>
                    <a:pt x="126541" y="-9115"/>
                    <a:pt x="332480" y="-10703"/>
                    <a:pt x="513926" y="0"/>
                  </a:cubicBezTo>
                  <a:cubicBezTo>
                    <a:pt x="695372" y="10703"/>
                    <a:pt x="1026014" y="10768"/>
                    <a:pt x="1271291" y="0"/>
                  </a:cubicBezTo>
                  <a:cubicBezTo>
                    <a:pt x="1516569" y="-10768"/>
                    <a:pt x="1658328" y="-10141"/>
                    <a:pt x="1866364" y="0"/>
                  </a:cubicBezTo>
                  <a:cubicBezTo>
                    <a:pt x="2074400" y="10141"/>
                    <a:pt x="2311275" y="-14146"/>
                    <a:pt x="2623729" y="0"/>
                  </a:cubicBezTo>
                  <a:cubicBezTo>
                    <a:pt x="2936183" y="14146"/>
                    <a:pt x="2915223" y="18967"/>
                    <a:pt x="3056509" y="0"/>
                  </a:cubicBezTo>
                  <a:cubicBezTo>
                    <a:pt x="3197795" y="-18967"/>
                    <a:pt x="3573782" y="-3811"/>
                    <a:pt x="3732728" y="0"/>
                  </a:cubicBezTo>
                  <a:cubicBezTo>
                    <a:pt x="3891674" y="3811"/>
                    <a:pt x="4315807" y="-15193"/>
                    <a:pt x="4490093" y="0"/>
                  </a:cubicBezTo>
                  <a:cubicBezTo>
                    <a:pt x="4664380" y="15193"/>
                    <a:pt x="4829035" y="14790"/>
                    <a:pt x="4922873" y="0"/>
                  </a:cubicBezTo>
                  <a:cubicBezTo>
                    <a:pt x="5016711" y="-14790"/>
                    <a:pt x="5461955" y="24386"/>
                    <a:pt x="5680238" y="0"/>
                  </a:cubicBezTo>
                  <a:cubicBezTo>
                    <a:pt x="5898521" y="-24386"/>
                    <a:pt x="6089574" y="-21229"/>
                    <a:pt x="6194165" y="0"/>
                  </a:cubicBezTo>
                  <a:cubicBezTo>
                    <a:pt x="6298756" y="21229"/>
                    <a:pt x="6679040" y="-15554"/>
                    <a:pt x="6951530" y="0"/>
                  </a:cubicBezTo>
                  <a:cubicBezTo>
                    <a:pt x="7224020" y="15554"/>
                    <a:pt x="7571852" y="-33810"/>
                    <a:pt x="8114626" y="0"/>
                  </a:cubicBezTo>
                  <a:cubicBezTo>
                    <a:pt x="8129494" y="240160"/>
                    <a:pt x="8098008" y="343755"/>
                    <a:pt x="8114626" y="515722"/>
                  </a:cubicBezTo>
                  <a:cubicBezTo>
                    <a:pt x="8131244" y="687689"/>
                    <a:pt x="8117799" y="865420"/>
                    <a:pt x="8114626" y="1097280"/>
                  </a:cubicBezTo>
                  <a:cubicBezTo>
                    <a:pt x="7728497" y="1119266"/>
                    <a:pt x="7569595" y="1104819"/>
                    <a:pt x="7276115" y="1097280"/>
                  </a:cubicBezTo>
                  <a:cubicBezTo>
                    <a:pt x="6982635" y="1089741"/>
                    <a:pt x="6800559" y="1055467"/>
                    <a:pt x="6437603" y="1097280"/>
                  </a:cubicBezTo>
                  <a:cubicBezTo>
                    <a:pt x="6074647" y="1139093"/>
                    <a:pt x="6164685" y="1106480"/>
                    <a:pt x="5923677" y="1097280"/>
                  </a:cubicBezTo>
                  <a:cubicBezTo>
                    <a:pt x="5682669" y="1088080"/>
                    <a:pt x="5383128" y="1097998"/>
                    <a:pt x="5085166" y="1097280"/>
                  </a:cubicBezTo>
                  <a:cubicBezTo>
                    <a:pt x="4787204" y="1096562"/>
                    <a:pt x="4541077" y="1121971"/>
                    <a:pt x="4327801" y="1097280"/>
                  </a:cubicBezTo>
                  <a:cubicBezTo>
                    <a:pt x="4114526" y="1072589"/>
                    <a:pt x="4016908" y="1089280"/>
                    <a:pt x="3813874" y="1097280"/>
                  </a:cubicBezTo>
                  <a:cubicBezTo>
                    <a:pt x="3610840" y="1105280"/>
                    <a:pt x="3321073" y="1100573"/>
                    <a:pt x="3137655" y="1097280"/>
                  </a:cubicBezTo>
                  <a:cubicBezTo>
                    <a:pt x="2954237" y="1093987"/>
                    <a:pt x="2654103" y="1061568"/>
                    <a:pt x="2380290" y="1097280"/>
                  </a:cubicBezTo>
                  <a:cubicBezTo>
                    <a:pt x="2106477" y="1132992"/>
                    <a:pt x="2073675" y="1108726"/>
                    <a:pt x="1785218" y="1097280"/>
                  </a:cubicBezTo>
                  <a:cubicBezTo>
                    <a:pt x="1496761" y="1085834"/>
                    <a:pt x="1278714" y="1087311"/>
                    <a:pt x="946706" y="1097280"/>
                  </a:cubicBezTo>
                  <a:cubicBezTo>
                    <a:pt x="614698" y="1107249"/>
                    <a:pt x="368107" y="1074612"/>
                    <a:pt x="0" y="1097280"/>
                  </a:cubicBezTo>
                  <a:cubicBezTo>
                    <a:pt x="-1702" y="883663"/>
                    <a:pt x="18300" y="750203"/>
                    <a:pt x="0" y="548640"/>
                  </a:cubicBezTo>
                  <a:cubicBezTo>
                    <a:pt x="-18300" y="347077"/>
                    <a:pt x="-6833" y="268609"/>
                    <a:pt x="0" y="0"/>
                  </a:cubicBezTo>
                  <a:close/>
                </a:path>
              </a:pathLst>
            </a:custGeom>
            <a:noFill/>
            <a:ln w="76200">
              <a:solidFill>
                <a:srgbClr val="89C3E5"/>
              </a:solidFill>
              <a:extLst>
                <a:ext uri="{C807C97D-BFC1-408E-A445-0C87EB9F89A2}">
                  <ask:lineSketchStyleProps xmlns:ask="http://schemas.microsoft.com/office/drawing/2018/sketchyshapes" sd="289878596">
                    <a:prstGeom prst="rect">
                      <a:avLst/>
                    </a:prstGeom>
                    <ask:type>
                      <ask:lineSketchFreehand/>
                    </ask:type>
                  </ask:lineSketchStyleProps>
                </a:ext>
              </a:extLst>
            </a:ln>
          </p:spPr>
          <p:txBody>
            <a:bodyPr wrap="square" anchor="ctr">
              <a:spAutoFit/>
            </a:bodyPr>
            <a:lstStyle/>
            <a:p>
              <a:pPr algn="ctr"/>
              <a:endParaRPr lang="en-US" sz="4800" dirty="0">
                <a:solidFill>
                  <a:schemeClr val="bg1"/>
                </a:solidFill>
              </a:endParaRPr>
            </a:p>
          </p:txBody>
        </p:sp>
      </p:grpSp>
      <p:pic>
        <p:nvPicPr>
          <p:cNvPr id="11" name="Picture 10">
            <a:extLst>
              <a:ext uri="{FF2B5EF4-FFF2-40B4-BE49-F238E27FC236}">
                <a16:creationId xmlns:a16="http://schemas.microsoft.com/office/drawing/2014/main" id="{4B4A359C-B3FD-4824-9906-61C311D4B9C4}"/>
              </a:ext>
            </a:extLst>
          </p:cNvPr>
          <p:cNvPicPr>
            <a:picLocks noChangeAspect="1"/>
          </p:cNvPicPr>
          <p:nvPr/>
        </p:nvPicPr>
        <p:blipFill>
          <a:blip r:embed="rId3"/>
          <a:stretch>
            <a:fillRect/>
          </a:stretch>
        </p:blipFill>
        <p:spPr>
          <a:xfrm>
            <a:off x="5125402" y="4943383"/>
            <a:ext cx="1695211" cy="1421545"/>
          </a:xfrm>
          <a:prstGeom prst="rect">
            <a:avLst/>
          </a:prstGeom>
        </p:spPr>
      </p:pic>
      <p:pic>
        <p:nvPicPr>
          <p:cNvPr id="12" name="Picture 11">
            <a:extLst>
              <a:ext uri="{FF2B5EF4-FFF2-40B4-BE49-F238E27FC236}">
                <a16:creationId xmlns:a16="http://schemas.microsoft.com/office/drawing/2014/main" id="{78BFA005-BE9D-4FEA-91D4-1739D423DE9D}"/>
              </a:ext>
            </a:extLst>
          </p:cNvPr>
          <p:cNvPicPr>
            <a:picLocks noChangeAspect="1"/>
          </p:cNvPicPr>
          <p:nvPr/>
        </p:nvPicPr>
        <p:blipFill>
          <a:blip r:embed="rId3"/>
          <a:stretch>
            <a:fillRect/>
          </a:stretch>
        </p:blipFill>
        <p:spPr>
          <a:xfrm>
            <a:off x="8488581" y="4920523"/>
            <a:ext cx="1695211" cy="1421545"/>
          </a:xfrm>
          <a:prstGeom prst="rect">
            <a:avLst/>
          </a:prstGeom>
        </p:spPr>
      </p:pic>
      <p:pic>
        <p:nvPicPr>
          <p:cNvPr id="14" name="Picture 13">
            <a:extLst>
              <a:ext uri="{FF2B5EF4-FFF2-40B4-BE49-F238E27FC236}">
                <a16:creationId xmlns:a16="http://schemas.microsoft.com/office/drawing/2014/main" id="{2F26D529-E297-4CE4-B67D-15966454F0CD}"/>
              </a:ext>
            </a:extLst>
          </p:cNvPr>
          <p:cNvPicPr>
            <a:picLocks noChangeAspect="1"/>
          </p:cNvPicPr>
          <p:nvPr/>
        </p:nvPicPr>
        <p:blipFill>
          <a:blip r:embed="rId4"/>
          <a:stretch>
            <a:fillRect/>
          </a:stretch>
        </p:blipFill>
        <p:spPr>
          <a:xfrm>
            <a:off x="493732" y="1600200"/>
            <a:ext cx="1514475" cy="1828800"/>
          </a:xfrm>
          <a:prstGeom prst="rect">
            <a:avLst/>
          </a:prstGeom>
        </p:spPr>
      </p:pic>
      <p:sp>
        <p:nvSpPr>
          <p:cNvPr id="18" name="TextBox 17">
            <a:extLst>
              <a:ext uri="{FF2B5EF4-FFF2-40B4-BE49-F238E27FC236}">
                <a16:creationId xmlns:a16="http://schemas.microsoft.com/office/drawing/2014/main" id="{72A2A1DD-DA65-450C-ADB6-72F65EC8E2DA}"/>
              </a:ext>
            </a:extLst>
          </p:cNvPr>
          <p:cNvSpPr txBox="1"/>
          <p:nvPr/>
        </p:nvSpPr>
        <p:spPr>
          <a:xfrm>
            <a:off x="8488100" y="1730422"/>
            <a:ext cx="1514475" cy="908864"/>
          </a:xfrm>
          <a:prstGeom prst="ellipse">
            <a:avLst/>
          </a:prstGeom>
          <a:noFill/>
          <a:ln w="57150">
            <a:solidFill>
              <a:srgbClr val="89C3E5"/>
            </a:solidFill>
          </a:ln>
        </p:spPr>
        <p:txBody>
          <a:bodyPr wrap="square" rtlCol="0">
            <a:spAutoFit/>
          </a:bodyPr>
          <a:lstStyle/>
          <a:p>
            <a:pPr algn="ctr"/>
            <a:r>
              <a:rPr lang="en-US" dirty="0">
                <a:solidFill>
                  <a:srgbClr val="89C3E5"/>
                </a:solidFill>
              </a:rPr>
              <a:t>Sapphire Object</a:t>
            </a:r>
          </a:p>
        </p:txBody>
      </p:sp>
      <p:sp>
        <p:nvSpPr>
          <p:cNvPr id="19" name="TextBox 18">
            <a:extLst>
              <a:ext uri="{FF2B5EF4-FFF2-40B4-BE49-F238E27FC236}">
                <a16:creationId xmlns:a16="http://schemas.microsoft.com/office/drawing/2014/main" id="{D67905E2-3F0B-451B-833F-22003FC68F54}"/>
              </a:ext>
            </a:extLst>
          </p:cNvPr>
          <p:cNvSpPr txBox="1"/>
          <p:nvPr/>
        </p:nvSpPr>
        <p:spPr>
          <a:xfrm>
            <a:off x="5215768" y="1741731"/>
            <a:ext cx="1514475" cy="908864"/>
          </a:xfrm>
          <a:prstGeom prst="ellipse">
            <a:avLst/>
          </a:prstGeom>
          <a:noFill/>
          <a:ln w="57150">
            <a:solidFill>
              <a:srgbClr val="89C3E5"/>
            </a:solidFill>
          </a:ln>
        </p:spPr>
        <p:txBody>
          <a:bodyPr wrap="square" rtlCol="0">
            <a:spAutoFit/>
          </a:bodyPr>
          <a:lstStyle/>
          <a:p>
            <a:pPr algn="ctr"/>
            <a:r>
              <a:rPr lang="en-US" dirty="0">
                <a:solidFill>
                  <a:srgbClr val="89C3E5"/>
                </a:solidFill>
              </a:rPr>
              <a:t>Sapphire Object</a:t>
            </a:r>
          </a:p>
        </p:txBody>
      </p:sp>
      <p:sp>
        <p:nvSpPr>
          <p:cNvPr id="20" name="TextBox 19">
            <a:extLst>
              <a:ext uri="{FF2B5EF4-FFF2-40B4-BE49-F238E27FC236}">
                <a16:creationId xmlns:a16="http://schemas.microsoft.com/office/drawing/2014/main" id="{A37CDA70-649C-4791-9390-7CB994BAC86E}"/>
              </a:ext>
            </a:extLst>
          </p:cNvPr>
          <p:cNvSpPr txBox="1"/>
          <p:nvPr/>
        </p:nvSpPr>
        <p:spPr>
          <a:xfrm>
            <a:off x="2146150" y="1741731"/>
            <a:ext cx="1514475" cy="908864"/>
          </a:xfrm>
          <a:prstGeom prst="ellipse">
            <a:avLst/>
          </a:prstGeom>
          <a:noFill/>
          <a:ln w="57150">
            <a:solidFill>
              <a:srgbClr val="89C3E5"/>
            </a:solidFill>
          </a:ln>
        </p:spPr>
        <p:txBody>
          <a:bodyPr wrap="square" rtlCol="0">
            <a:spAutoFit/>
          </a:bodyPr>
          <a:lstStyle/>
          <a:p>
            <a:pPr algn="ctr"/>
            <a:r>
              <a:rPr lang="en-US" dirty="0">
                <a:solidFill>
                  <a:srgbClr val="89C3E5"/>
                </a:solidFill>
              </a:rPr>
              <a:t>Sapphire Object</a:t>
            </a:r>
          </a:p>
        </p:txBody>
      </p:sp>
      <p:sp>
        <p:nvSpPr>
          <p:cNvPr id="21" name="Rectangle 20">
            <a:extLst>
              <a:ext uri="{FF2B5EF4-FFF2-40B4-BE49-F238E27FC236}">
                <a16:creationId xmlns:a16="http://schemas.microsoft.com/office/drawing/2014/main" id="{F48E7BE2-8571-451E-9067-BB20EBB02704}"/>
              </a:ext>
            </a:extLst>
          </p:cNvPr>
          <p:cNvSpPr/>
          <p:nvPr/>
        </p:nvSpPr>
        <p:spPr>
          <a:xfrm>
            <a:off x="2069166" y="2817403"/>
            <a:ext cx="8114626" cy="1097280"/>
          </a:xfrm>
          <a:prstGeom prst="rect">
            <a:avLst/>
          </a:prstGeom>
          <a:solidFill>
            <a:srgbClr val="FF7C80"/>
          </a:solidFill>
        </p:spPr>
        <p:txBody>
          <a:bodyPr wrap="square" anchor="ctr">
            <a:spAutoFit/>
          </a:bodyPr>
          <a:lstStyle/>
          <a:p>
            <a:pPr algn="ctr"/>
            <a:r>
              <a:rPr lang="en-US" sz="4800" dirty="0">
                <a:solidFill>
                  <a:schemeClr val="bg1"/>
                </a:solidFill>
              </a:rPr>
              <a:t>Deployment Managers (DM)</a:t>
            </a:r>
          </a:p>
        </p:txBody>
      </p:sp>
      <p:sp>
        <p:nvSpPr>
          <p:cNvPr id="22" name="Arrow: Down 21">
            <a:extLst>
              <a:ext uri="{FF2B5EF4-FFF2-40B4-BE49-F238E27FC236}">
                <a16:creationId xmlns:a16="http://schemas.microsoft.com/office/drawing/2014/main" id="{AF82C5E8-ABCB-4127-BCEE-1B2CAFFF3E78}"/>
              </a:ext>
            </a:extLst>
          </p:cNvPr>
          <p:cNvSpPr/>
          <p:nvPr/>
        </p:nvSpPr>
        <p:spPr>
          <a:xfrm rot="5400000">
            <a:off x="10634725" y="3760451"/>
            <a:ext cx="846158" cy="1268584"/>
          </a:xfrm>
          <a:prstGeom prst="downArrow">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TextBox 23">
            <a:extLst>
              <a:ext uri="{FF2B5EF4-FFF2-40B4-BE49-F238E27FC236}">
                <a16:creationId xmlns:a16="http://schemas.microsoft.com/office/drawing/2014/main" id="{88F4271F-564B-4895-9851-60E3A05985FF}"/>
              </a:ext>
            </a:extLst>
          </p:cNvPr>
          <p:cNvSpPr txBox="1"/>
          <p:nvPr/>
        </p:nvSpPr>
        <p:spPr>
          <a:xfrm>
            <a:off x="1996602" y="4893760"/>
            <a:ext cx="8145443" cy="1371600"/>
          </a:xfrm>
          <a:prstGeom prst="rect">
            <a:avLst/>
          </a:prstGeom>
          <a:solidFill>
            <a:srgbClr val="FFFFFF">
              <a:alpha val="80000"/>
            </a:srgbClr>
          </a:solidFill>
        </p:spPr>
        <p:txBody>
          <a:bodyPr wrap="square" rtlCol="0">
            <a:spAutoFit/>
          </a:bodyPr>
          <a:lstStyle/>
          <a:p>
            <a:endParaRPr lang="en-US" dirty="0"/>
          </a:p>
        </p:txBody>
      </p:sp>
      <p:sp>
        <p:nvSpPr>
          <p:cNvPr id="25" name="TextBox 24">
            <a:extLst>
              <a:ext uri="{FF2B5EF4-FFF2-40B4-BE49-F238E27FC236}">
                <a16:creationId xmlns:a16="http://schemas.microsoft.com/office/drawing/2014/main" id="{07C55AAF-15B0-4845-A594-C5BE3F4FCB02}"/>
              </a:ext>
            </a:extLst>
          </p:cNvPr>
          <p:cNvSpPr txBox="1"/>
          <p:nvPr/>
        </p:nvSpPr>
        <p:spPr>
          <a:xfrm>
            <a:off x="2076787" y="1586865"/>
            <a:ext cx="8145443" cy="2286000"/>
          </a:xfrm>
          <a:prstGeom prst="rect">
            <a:avLst/>
          </a:prstGeom>
          <a:solidFill>
            <a:srgbClr val="FFFFFF">
              <a:alpha val="69804"/>
            </a:srgbClr>
          </a:solidFill>
        </p:spPr>
        <p:txBody>
          <a:bodyPr wrap="square" rtlCol="0">
            <a:spAutoFit/>
          </a:bodyPr>
          <a:lstStyle/>
          <a:p>
            <a:endParaRPr lang="en-US" dirty="0"/>
          </a:p>
        </p:txBody>
      </p:sp>
    </p:spTree>
    <p:extLst>
      <p:ext uri="{BB962C8B-B14F-4D97-AF65-F5344CB8AC3E}">
        <p14:creationId xmlns:p14="http://schemas.microsoft.com/office/powerpoint/2010/main" val="218834419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2A309787-EB30-44E3-90E1-4AB49C712037}"/>
              </a:ext>
            </a:extLst>
          </p:cNvPr>
          <p:cNvPicPr>
            <a:picLocks noChangeAspect="1"/>
          </p:cNvPicPr>
          <p:nvPr/>
        </p:nvPicPr>
        <p:blipFill>
          <a:blip r:embed="rId3"/>
          <a:stretch>
            <a:fillRect/>
          </a:stretch>
        </p:blipFill>
        <p:spPr>
          <a:xfrm>
            <a:off x="2069167" y="4897663"/>
            <a:ext cx="1668444" cy="1421544"/>
          </a:xfrm>
          <a:prstGeom prst="rect">
            <a:avLst/>
          </a:prstGeom>
        </p:spPr>
      </p:pic>
      <p:sp>
        <p:nvSpPr>
          <p:cNvPr id="2" name="Title 1">
            <a:extLst>
              <a:ext uri="{FF2B5EF4-FFF2-40B4-BE49-F238E27FC236}">
                <a16:creationId xmlns:a16="http://schemas.microsoft.com/office/drawing/2014/main" id="{7D1686E7-9A2A-4600-B035-E911D81C8E7E}"/>
              </a:ext>
            </a:extLst>
          </p:cNvPr>
          <p:cNvSpPr>
            <a:spLocks noGrp="1"/>
          </p:cNvSpPr>
          <p:nvPr>
            <p:ph type="title"/>
          </p:nvPr>
        </p:nvSpPr>
        <p:spPr/>
        <p:txBody>
          <a:bodyPr/>
          <a:lstStyle/>
          <a:p>
            <a:r>
              <a:rPr lang="en-US" dirty="0">
                <a:solidFill>
                  <a:srgbClr val="FF6600"/>
                </a:solidFill>
              </a:rPr>
              <a:t>Deployment Kernel</a:t>
            </a:r>
          </a:p>
        </p:txBody>
      </p:sp>
      <p:sp>
        <p:nvSpPr>
          <p:cNvPr id="4" name="Rectangle 3">
            <a:extLst>
              <a:ext uri="{FF2B5EF4-FFF2-40B4-BE49-F238E27FC236}">
                <a16:creationId xmlns:a16="http://schemas.microsoft.com/office/drawing/2014/main" id="{8B78C575-A47C-4EC3-ABC1-BA186F8FB0DE}"/>
              </a:ext>
            </a:extLst>
          </p:cNvPr>
          <p:cNvSpPr/>
          <p:nvPr/>
        </p:nvSpPr>
        <p:spPr>
          <a:xfrm>
            <a:off x="2069166" y="1647523"/>
            <a:ext cx="8114626" cy="1097280"/>
          </a:xfrm>
          <a:custGeom>
            <a:avLst/>
            <a:gdLst>
              <a:gd name="connsiteX0" fmla="*/ 0 w 8114626"/>
              <a:gd name="connsiteY0" fmla="*/ 0 h 1097280"/>
              <a:gd name="connsiteX1" fmla="*/ 513926 w 8114626"/>
              <a:gd name="connsiteY1" fmla="*/ 0 h 1097280"/>
              <a:gd name="connsiteX2" fmla="*/ 1271291 w 8114626"/>
              <a:gd name="connsiteY2" fmla="*/ 0 h 1097280"/>
              <a:gd name="connsiteX3" fmla="*/ 1866364 w 8114626"/>
              <a:gd name="connsiteY3" fmla="*/ 0 h 1097280"/>
              <a:gd name="connsiteX4" fmla="*/ 2623729 w 8114626"/>
              <a:gd name="connsiteY4" fmla="*/ 0 h 1097280"/>
              <a:gd name="connsiteX5" fmla="*/ 3056509 w 8114626"/>
              <a:gd name="connsiteY5" fmla="*/ 0 h 1097280"/>
              <a:gd name="connsiteX6" fmla="*/ 3732728 w 8114626"/>
              <a:gd name="connsiteY6" fmla="*/ 0 h 1097280"/>
              <a:gd name="connsiteX7" fmla="*/ 4490093 w 8114626"/>
              <a:gd name="connsiteY7" fmla="*/ 0 h 1097280"/>
              <a:gd name="connsiteX8" fmla="*/ 4922873 w 8114626"/>
              <a:gd name="connsiteY8" fmla="*/ 0 h 1097280"/>
              <a:gd name="connsiteX9" fmla="*/ 5680238 w 8114626"/>
              <a:gd name="connsiteY9" fmla="*/ 0 h 1097280"/>
              <a:gd name="connsiteX10" fmla="*/ 6194165 w 8114626"/>
              <a:gd name="connsiteY10" fmla="*/ 0 h 1097280"/>
              <a:gd name="connsiteX11" fmla="*/ 6951530 w 8114626"/>
              <a:gd name="connsiteY11" fmla="*/ 0 h 1097280"/>
              <a:gd name="connsiteX12" fmla="*/ 8114626 w 8114626"/>
              <a:gd name="connsiteY12" fmla="*/ 0 h 1097280"/>
              <a:gd name="connsiteX13" fmla="*/ 8114626 w 8114626"/>
              <a:gd name="connsiteY13" fmla="*/ 515722 h 1097280"/>
              <a:gd name="connsiteX14" fmla="*/ 8114626 w 8114626"/>
              <a:gd name="connsiteY14" fmla="*/ 1097280 h 1097280"/>
              <a:gd name="connsiteX15" fmla="*/ 7276115 w 8114626"/>
              <a:gd name="connsiteY15" fmla="*/ 1097280 h 1097280"/>
              <a:gd name="connsiteX16" fmla="*/ 6437603 w 8114626"/>
              <a:gd name="connsiteY16" fmla="*/ 1097280 h 1097280"/>
              <a:gd name="connsiteX17" fmla="*/ 5923677 w 8114626"/>
              <a:gd name="connsiteY17" fmla="*/ 1097280 h 1097280"/>
              <a:gd name="connsiteX18" fmla="*/ 5085166 w 8114626"/>
              <a:gd name="connsiteY18" fmla="*/ 1097280 h 1097280"/>
              <a:gd name="connsiteX19" fmla="*/ 4327801 w 8114626"/>
              <a:gd name="connsiteY19" fmla="*/ 1097280 h 1097280"/>
              <a:gd name="connsiteX20" fmla="*/ 3813874 w 8114626"/>
              <a:gd name="connsiteY20" fmla="*/ 1097280 h 1097280"/>
              <a:gd name="connsiteX21" fmla="*/ 3137655 w 8114626"/>
              <a:gd name="connsiteY21" fmla="*/ 1097280 h 1097280"/>
              <a:gd name="connsiteX22" fmla="*/ 2380290 w 8114626"/>
              <a:gd name="connsiteY22" fmla="*/ 1097280 h 1097280"/>
              <a:gd name="connsiteX23" fmla="*/ 1785218 w 8114626"/>
              <a:gd name="connsiteY23" fmla="*/ 1097280 h 1097280"/>
              <a:gd name="connsiteX24" fmla="*/ 946706 w 8114626"/>
              <a:gd name="connsiteY24" fmla="*/ 1097280 h 1097280"/>
              <a:gd name="connsiteX25" fmla="*/ 0 w 8114626"/>
              <a:gd name="connsiteY25" fmla="*/ 1097280 h 1097280"/>
              <a:gd name="connsiteX26" fmla="*/ 0 w 8114626"/>
              <a:gd name="connsiteY26" fmla="*/ 548640 h 1097280"/>
              <a:gd name="connsiteX27" fmla="*/ 0 w 8114626"/>
              <a:gd name="connsiteY27" fmla="*/ 0 h 10972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8114626" h="1097280" extrusionOk="0">
                <a:moveTo>
                  <a:pt x="0" y="0"/>
                </a:moveTo>
                <a:cubicBezTo>
                  <a:pt x="126541" y="-9115"/>
                  <a:pt x="332480" y="-10703"/>
                  <a:pt x="513926" y="0"/>
                </a:cubicBezTo>
                <a:cubicBezTo>
                  <a:pt x="695372" y="10703"/>
                  <a:pt x="1026014" y="10768"/>
                  <a:pt x="1271291" y="0"/>
                </a:cubicBezTo>
                <a:cubicBezTo>
                  <a:pt x="1516569" y="-10768"/>
                  <a:pt x="1658328" y="-10141"/>
                  <a:pt x="1866364" y="0"/>
                </a:cubicBezTo>
                <a:cubicBezTo>
                  <a:pt x="2074400" y="10141"/>
                  <a:pt x="2311275" y="-14146"/>
                  <a:pt x="2623729" y="0"/>
                </a:cubicBezTo>
                <a:cubicBezTo>
                  <a:pt x="2936183" y="14146"/>
                  <a:pt x="2915223" y="18967"/>
                  <a:pt x="3056509" y="0"/>
                </a:cubicBezTo>
                <a:cubicBezTo>
                  <a:pt x="3197795" y="-18967"/>
                  <a:pt x="3573782" y="-3811"/>
                  <a:pt x="3732728" y="0"/>
                </a:cubicBezTo>
                <a:cubicBezTo>
                  <a:pt x="3891674" y="3811"/>
                  <a:pt x="4315807" y="-15193"/>
                  <a:pt x="4490093" y="0"/>
                </a:cubicBezTo>
                <a:cubicBezTo>
                  <a:pt x="4664380" y="15193"/>
                  <a:pt x="4829035" y="14790"/>
                  <a:pt x="4922873" y="0"/>
                </a:cubicBezTo>
                <a:cubicBezTo>
                  <a:pt x="5016711" y="-14790"/>
                  <a:pt x="5461955" y="24386"/>
                  <a:pt x="5680238" y="0"/>
                </a:cubicBezTo>
                <a:cubicBezTo>
                  <a:pt x="5898521" y="-24386"/>
                  <a:pt x="6089574" y="-21229"/>
                  <a:pt x="6194165" y="0"/>
                </a:cubicBezTo>
                <a:cubicBezTo>
                  <a:pt x="6298756" y="21229"/>
                  <a:pt x="6679040" y="-15554"/>
                  <a:pt x="6951530" y="0"/>
                </a:cubicBezTo>
                <a:cubicBezTo>
                  <a:pt x="7224020" y="15554"/>
                  <a:pt x="7571852" y="-33810"/>
                  <a:pt x="8114626" y="0"/>
                </a:cubicBezTo>
                <a:cubicBezTo>
                  <a:pt x="8129494" y="240160"/>
                  <a:pt x="8098008" y="343755"/>
                  <a:pt x="8114626" y="515722"/>
                </a:cubicBezTo>
                <a:cubicBezTo>
                  <a:pt x="8131244" y="687689"/>
                  <a:pt x="8117799" y="865420"/>
                  <a:pt x="8114626" y="1097280"/>
                </a:cubicBezTo>
                <a:cubicBezTo>
                  <a:pt x="7728497" y="1119266"/>
                  <a:pt x="7569595" y="1104819"/>
                  <a:pt x="7276115" y="1097280"/>
                </a:cubicBezTo>
                <a:cubicBezTo>
                  <a:pt x="6982635" y="1089741"/>
                  <a:pt x="6800559" y="1055467"/>
                  <a:pt x="6437603" y="1097280"/>
                </a:cubicBezTo>
                <a:cubicBezTo>
                  <a:pt x="6074647" y="1139093"/>
                  <a:pt x="6164685" y="1106480"/>
                  <a:pt x="5923677" y="1097280"/>
                </a:cubicBezTo>
                <a:cubicBezTo>
                  <a:pt x="5682669" y="1088080"/>
                  <a:pt x="5383128" y="1097998"/>
                  <a:pt x="5085166" y="1097280"/>
                </a:cubicBezTo>
                <a:cubicBezTo>
                  <a:pt x="4787204" y="1096562"/>
                  <a:pt x="4541077" y="1121971"/>
                  <a:pt x="4327801" y="1097280"/>
                </a:cubicBezTo>
                <a:cubicBezTo>
                  <a:pt x="4114526" y="1072589"/>
                  <a:pt x="4016908" y="1089280"/>
                  <a:pt x="3813874" y="1097280"/>
                </a:cubicBezTo>
                <a:cubicBezTo>
                  <a:pt x="3610840" y="1105280"/>
                  <a:pt x="3321073" y="1100573"/>
                  <a:pt x="3137655" y="1097280"/>
                </a:cubicBezTo>
                <a:cubicBezTo>
                  <a:pt x="2954237" y="1093987"/>
                  <a:pt x="2654103" y="1061568"/>
                  <a:pt x="2380290" y="1097280"/>
                </a:cubicBezTo>
                <a:cubicBezTo>
                  <a:pt x="2106477" y="1132992"/>
                  <a:pt x="2073675" y="1108726"/>
                  <a:pt x="1785218" y="1097280"/>
                </a:cubicBezTo>
                <a:cubicBezTo>
                  <a:pt x="1496761" y="1085834"/>
                  <a:pt x="1278714" y="1087311"/>
                  <a:pt x="946706" y="1097280"/>
                </a:cubicBezTo>
                <a:cubicBezTo>
                  <a:pt x="614698" y="1107249"/>
                  <a:pt x="368107" y="1074612"/>
                  <a:pt x="0" y="1097280"/>
                </a:cubicBezTo>
                <a:cubicBezTo>
                  <a:pt x="-1702" y="883663"/>
                  <a:pt x="18300" y="750203"/>
                  <a:pt x="0" y="548640"/>
                </a:cubicBezTo>
                <a:cubicBezTo>
                  <a:pt x="-18300" y="347077"/>
                  <a:pt x="-6833" y="268609"/>
                  <a:pt x="0" y="0"/>
                </a:cubicBezTo>
                <a:close/>
              </a:path>
            </a:pathLst>
          </a:custGeom>
          <a:noFill/>
          <a:ln w="76200">
            <a:solidFill>
              <a:srgbClr val="89C3E5"/>
            </a:solidFill>
            <a:extLst>
              <a:ext uri="{C807C97D-BFC1-408E-A445-0C87EB9F89A2}">
                <ask:lineSketchStyleProps xmlns:ask="http://schemas.microsoft.com/office/drawing/2018/sketchyshapes" sd="289878596">
                  <a:prstGeom prst="rect">
                    <a:avLst/>
                  </a:prstGeom>
                  <ask:type>
                    <ask:lineSketchFreehand/>
                  </ask:type>
                </ask:lineSketchStyleProps>
              </a:ext>
            </a:extLst>
          </a:ln>
        </p:spPr>
        <p:txBody>
          <a:bodyPr wrap="square" anchor="ctr">
            <a:spAutoFit/>
          </a:bodyPr>
          <a:lstStyle/>
          <a:p>
            <a:pPr algn="ctr"/>
            <a:endParaRPr lang="en-US" sz="4800" dirty="0">
              <a:solidFill>
                <a:schemeClr val="bg1"/>
              </a:solidFill>
            </a:endParaRPr>
          </a:p>
        </p:txBody>
      </p:sp>
      <p:sp>
        <p:nvSpPr>
          <p:cNvPr id="6" name="Rectangle 5">
            <a:extLst>
              <a:ext uri="{FF2B5EF4-FFF2-40B4-BE49-F238E27FC236}">
                <a16:creationId xmlns:a16="http://schemas.microsoft.com/office/drawing/2014/main" id="{5CE764F8-0F66-41EA-B0AF-3FF32F058D10}"/>
              </a:ext>
            </a:extLst>
          </p:cNvPr>
          <p:cNvSpPr/>
          <p:nvPr/>
        </p:nvSpPr>
        <p:spPr>
          <a:xfrm>
            <a:off x="2069166" y="3875481"/>
            <a:ext cx="1668444" cy="1015663"/>
          </a:xfrm>
          <a:prstGeom prst="rect">
            <a:avLst/>
          </a:prstGeom>
          <a:solidFill>
            <a:srgbClr val="002060"/>
          </a:solidFill>
          <a:ln>
            <a:solidFill>
              <a:srgbClr val="002060"/>
            </a:solidFill>
          </a:ln>
        </p:spPr>
        <p:txBody>
          <a:bodyPr wrap="square" anchor="ctr">
            <a:spAutoFit/>
          </a:bodyPr>
          <a:lstStyle/>
          <a:p>
            <a:pPr algn="ctr"/>
            <a:r>
              <a:rPr lang="en-US" sz="3000" dirty="0">
                <a:solidFill>
                  <a:schemeClr val="bg1"/>
                </a:solidFill>
              </a:rPr>
              <a:t>DK Server</a:t>
            </a:r>
          </a:p>
        </p:txBody>
      </p:sp>
      <p:pic>
        <p:nvPicPr>
          <p:cNvPr id="11" name="Picture 10">
            <a:extLst>
              <a:ext uri="{FF2B5EF4-FFF2-40B4-BE49-F238E27FC236}">
                <a16:creationId xmlns:a16="http://schemas.microsoft.com/office/drawing/2014/main" id="{4B4A359C-B3FD-4824-9906-61C311D4B9C4}"/>
              </a:ext>
            </a:extLst>
          </p:cNvPr>
          <p:cNvPicPr>
            <a:picLocks noChangeAspect="1"/>
          </p:cNvPicPr>
          <p:nvPr/>
        </p:nvPicPr>
        <p:blipFill>
          <a:blip r:embed="rId4"/>
          <a:stretch>
            <a:fillRect/>
          </a:stretch>
        </p:blipFill>
        <p:spPr>
          <a:xfrm>
            <a:off x="5125402" y="4897663"/>
            <a:ext cx="1695211" cy="1421545"/>
          </a:xfrm>
          <a:prstGeom prst="rect">
            <a:avLst/>
          </a:prstGeom>
        </p:spPr>
      </p:pic>
      <p:pic>
        <p:nvPicPr>
          <p:cNvPr id="12" name="Picture 11">
            <a:extLst>
              <a:ext uri="{FF2B5EF4-FFF2-40B4-BE49-F238E27FC236}">
                <a16:creationId xmlns:a16="http://schemas.microsoft.com/office/drawing/2014/main" id="{78BFA005-BE9D-4FEA-91D4-1739D423DE9D}"/>
              </a:ext>
            </a:extLst>
          </p:cNvPr>
          <p:cNvPicPr>
            <a:picLocks noChangeAspect="1"/>
          </p:cNvPicPr>
          <p:nvPr/>
        </p:nvPicPr>
        <p:blipFill>
          <a:blip r:embed="rId4"/>
          <a:stretch>
            <a:fillRect/>
          </a:stretch>
        </p:blipFill>
        <p:spPr>
          <a:xfrm>
            <a:off x="8477151" y="4897663"/>
            <a:ext cx="1695211" cy="1421545"/>
          </a:xfrm>
          <a:prstGeom prst="rect">
            <a:avLst/>
          </a:prstGeom>
        </p:spPr>
      </p:pic>
      <p:pic>
        <p:nvPicPr>
          <p:cNvPr id="14" name="Picture 13">
            <a:extLst>
              <a:ext uri="{FF2B5EF4-FFF2-40B4-BE49-F238E27FC236}">
                <a16:creationId xmlns:a16="http://schemas.microsoft.com/office/drawing/2014/main" id="{2F26D529-E297-4CE4-B67D-15966454F0CD}"/>
              </a:ext>
            </a:extLst>
          </p:cNvPr>
          <p:cNvPicPr>
            <a:picLocks noChangeAspect="1"/>
          </p:cNvPicPr>
          <p:nvPr/>
        </p:nvPicPr>
        <p:blipFill>
          <a:blip r:embed="rId5"/>
          <a:stretch>
            <a:fillRect/>
          </a:stretch>
        </p:blipFill>
        <p:spPr>
          <a:xfrm>
            <a:off x="493732" y="1600200"/>
            <a:ext cx="1514475" cy="1828800"/>
          </a:xfrm>
          <a:prstGeom prst="rect">
            <a:avLst/>
          </a:prstGeom>
        </p:spPr>
      </p:pic>
      <p:sp>
        <p:nvSpPr>
          <p:cNvPr id="18" name="Rectangle 17">
            <a:extLst>
              <a:ext uri="{FF2B5EF4-FFF2-40B4-BE49-F238E27FC236}">
                <a16:creationId xmlns:a16="http://schemas.microsoft.com/office/drawing/2014/main" id="{D9BB0663-527B-4864-9703-0396AF4CD6DF}"/>
              </a:ext>
            </a:extLst>
          </p:cNvPr>
          <p:cNvSpPr/>
          <p:nvPr/>
        </p:nvSpPr>
        <p:spPr>
          <a:xfrm>
            <a:off x="5125401" y="3870570"/>
            <a:ext cx="1695211" cy="1015663"/>
          </a:xfrm>
          <a:prstGeom prst="rect">
            <a:avLst/>
          </a:prstGeom>
          <a:solidFill>
            <a:srgbClr val="002060"/>
          </a:solidFill>
          <a:ln>
            <a:solidFill>
              <a:srgbClr val="002060"/>
            </a:solidFill>
          </a:ln>
        </p:spPr>
        <p:txBody>
          <a:bodyPr wrap="square" anchor="ctr">
            <a:spAutoFit/>
          </a:bodyPr>
          <a:lstStyle/>
          <a:p>
            <a:pPr algn="ctr"/>
            <a:r>
              <a:rPr lang="en-US" sz="3000" dirty="0">
                <a:solidFill>
                  <a:schemeClr val="bg1"/>
                </a:solidFill>
              </a:rPr>
              <a:t>DK Server</a:t>
            </a:r>
          </a:p>
        </p:txBody>
      </p:sp>
      <p:sp>
        <p:nvSpPr>
          <p:cNvPr id="19" name="Rectangle 18">
            <a:extLst>
              <a:ext uri="{FF2B5EF4-FFF2-40B4-BE49-F238E27FC236}">
                <a16:creationId xmlns:a16="http://schemas.microsoft.com/office/drawing/2014/main" id="{C7D445EB-0154-4D86-A1E1-6A11868FBB3A}"/>
              </a:ext>
            </a:extLst>
          </p:cNvPr>
          <p:cNvSpPr/>
          <p:nvPr/>
        </p:nvSpPr>
        <p:spPr>
          <a:xfrm>
            <a:off x="8474960" y="3863661"/>
            <a:ext cx="1695211" cy="1015663"/>
          </a:xfrm>
          <a:prstGeom prst="rect">
            <a:avLst/>
          </a:prstGeom>
          <a:solidFill>
            <a:srgbClr val="002060"/>
          </a:solidFill>
          <a:ln>
            <a:solidFill>
              <a:srgbClr val="002060"/>
            </a:solidFill>
          </a:ln>
        </p:spPr>
        <p:txBody>
          <a:bodyPr wrap="square" anchor="ctr">
            <a:spAutoFit/>
          </a:bodyPr>
          <a:lstStyle/>
          <a:p>
            <a:pPr algn="ctr"/>
            <a:r>
              <a:rPr lang="en-US" sz="3000" dirty="0">
                <a:solidFill>
                  <a:schemeClr val="bg1"/>
                </a:solidFill>
              </a:rPr>
              <a:t>OTS Server</a:t>
            </a:r>
          </a:p>
        </p:txBody>
      </p:sp>
      <p:cxnSp>
        <p:nvCxnSpPr>
          <p:cNvPr id="9" name="Straight Arrow Connector 8">
            <a:extLst>
              <a:ext uri="{FF2B5EF4-FFF2-40B4-BE49-F238E27FC236}">
                <a16:creationId xmlns:a16="http://schemas.microsoft.com/office/drawing/2014/main" id="{6AD69BBD-B1EB-4235-8406-538AAFFFE535}"/>
              </a:ext>
            </a:extLst>
          </p:cNvPr>
          <p:cNvCxnSpPr/>
          <p:nvPr/>
        </p:nvCxnSpPr>
        <p:spPr>
          <a:xfrm>
            <a:off x="3916402" y="4491990"/>
            <a:ext cx="929918" cy="0"/>
          </a:xfrm>
          <a:prstGeom prst="straightConnector1">
            <a:avLst/>
          </a:prstGeom>
          <a:ln w="76200">
            <a:solidFill>
              <a:srgbClr val="002060"/>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0B1B55B4-F68A-4BB2-9D8C-12B3A1F9E491}"/>
              </a:ext>
            </a:extLst>
          </p:cNvPr>
          <p:cNvCxnSpPr/>
          <p:nvPr/>
        </p:nvCxnSpPr>
        <p:spPr>
          <a:xfrm>
            <a:off x="7169468" y="4495800"/>
            <a:ext cx="929918" cy="0"/>
          </a:xfrm>
          <a:prstGeom prst="straightConnector1">
            <a:avLst/>
          </a:prstGeom>
          <a:ln w="76200">
            <a:solidFill>
              <a:srgbClr val="002060"/>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21" name="TextBox 20">
            <a:extLst>
              <a:ext uri="{FF2B5EF4-FFF2-40B4-BE49-F238E27FC236}">
                <a16:creationId xmlns:a16="http://schemas.microsoft.com/office/drawing/2014/main" id="{C49D3B27-8E15-4746-A3EB-A973B3FE26C2}"/>
              </a:ext>
            </a:extLst>
          </p:cNvPr>
          <p:cNvSpPr txBox="1"/>
          <p:nvPr/>
        </p:nvSpPr>
        <p:spPr>
          <a:xfrm>
            <a:off x="8488100" y="1730422"/>
            <a:ext cx="1514475" cy="908864"/>
          </a:xfrm>
          <a:prstGeom prst="ellipse">
            <a:avLst/>
          </a:prstGeom>
          <a:noFill/>
          <a:ln w="57150">
            <a:solidFill>
              <a:srgbClr val="89C3E5"/>
            </a:solidFill>
          </a:ln>
        </p:spPr>
        <p:txBody>
          <a:bodyPr wrap="square" rtlCol="0">
            <a:spAutoFit/>
          </a:bodyPr>
          <a:lstStyle/>
          <a:p>
            <a:pPr algn="ctr"/>
            <a:r>
              <a:rPr lang="en-US" dirty="0">
                <a:solidFill>
                  <a:srgbClr val="89C3E5"/>
                </a:solidFill>
              </a:rPr>
              <a:t>Sapphire Object</a:t>
            </a:r>
          </a:p>
        </p:txBody>
      </p:sp>
      <p:sp>
        <p:nvSpPr>
          <p:cNvPr id="22" name="TextBox 21">
            <a:extLst>
              <a:ext uri="{FF2B5EF4-FFF2-40B4-BE49-F238E27FC236}">
                <a16:creationId xmlns:a16="http://schemas.microsoft.com/office/drawing/2014/main" id="{ECA92EBC-FDA2-4336-92FD-494B4CBD945C}"/>
              </a:ext>
            </a:extLst>
          </p:cNvPr>
          <p:cNvSpPr txBox="1"/>
          <p:nvPr/>
        </p:nvSpPr>
        <p:spPr>
          <a:xfrm>
            <a:off x="5215768" y="1741731"/>
            <a:ext cx="1514475" cy="908864"/>
          </a:xfrm>
          <a:prstGeom prst="ellipse">
            <a:avLst/>
          </a:prstGeom>
          <a:noFill/>
          <a:ln w="57150">
            <a:solidFill>
              <a:srgbClr val="89C3E5"/>
            </a:solidFill>
          </a:ln>
        </p:spPr>
        <p:txBody>
          <a:bodyPr wrap="square" rtlCol="0">
            <a:spAutoFit/>
          </a:bodyPr>
          <a:lstStyle/>
          <a:p>
            <a:pPr algn="ctr"/>
            <a:r>
              <a:rPr lang="en-US" dirty="0">
                <a:solidFill>
                  <a:srgbClr val="89C3E5"/>
                </a:solidFill>
              </a:rPr>
              <a:t>Sapphire Object</a:t>
            </a:r>
          </a:p>
        </p:txBody>
      </p:sp>
      <p:sp>
        <p:nvSpPr>
          <p:cNvPr id="23" name="TextBox 22">
            <a:extLst>
              <a:ext uri="{FF2B5EF4-FFF2-40B4-BE49-F238E27FC236}">
                <a16:creationId xmlns:a16="http://schemas.microsoft.com/office/drawing/2014/main" id="{43D25A6A-F116-47CD-91E2-CBC4C15AC9C9}"/>
              </a:ext>
            </a:extLst>
          </p:cNvPr>
          <p:cNvSpPr txBox="1"/>
          <p:nvPr/>
        </p:nvSpPr>
        <p:spPr>
          <a:xfrm>
            <a:off x="2146150" y="1741731"/>
            <a:ext cx="1514475" cy="908864"/>
          </a:xfrm>
          <a:prstGeom prst="ellipse">
            <a:avLst/>
          </a:prstGeom>
          <a:noFill/>
          <a:ln w="57150">
            <a:solidFill>
              <a:srgbClr val="89C3E5"/>
            </a:solidFill>
          </a:ln>
        </p:spPr>
        <p:txBody>
          <a:bodyPr wrap="square" rtlCol="0">
            <a:spAutoFit/>
          </a:bodyPr>
          <a:lstStyle/>
          <a:p>
            <a:pPr algn="ctr"/>
            <a:r>
              <a:rPr lang="en-US" dirty="0">
                <a:solidFill>
                  <a:srgbClr val="89C3E5"/>
                </a:solidFill>
              </a:rPr>
              <a:t>Sapphire Object</a:t>
            </a:r>
          </a:p>
        </p:txBody>
      </p:sp>
      <p:sp>
        <p:nvSpPr>
          <p:cNvPr id="24" name="Rectangle 23">
            <a:extLst>
              <a:ext uri="{FF2B5EF4-FFF2-40B4-BE49-F238E27FC236}">
                <a16:creationId xmlns:a16="http://schemas.microsoft.com/office/drawing/2014/main" id="{F598BA95-CC3B-45F4-A6CA-A4719187B235}"/>
              </a:ext>
            </a:extLst>
          </p:cNvPr>
          <p:cNvSpPr/>
          <p:nvPr/>
        </p:nvSpPr>
        <p:spPr>
          <a:xfrm>
            <a:off x="2069166" y="2783113"/>
            <a:ext cx="8114626" cy="1097280"/>
          </a:xfrm>
          <a:prstGeom prst="rect">
            <a:avLst/>
          </a:prstGeom>
          <a:solidFill>
            <a:srgbClr val="FF7C80"/>
          </a:solidFill>
        </p:spPr>
        <p:txBody>
          <a:bodyPr wrap="square" anchor="ctr">
            <a:spAutoFit/>
          </a:bodyPr>
          <a:lstStyle/>
          <a:p>
            <a:pPr algn="ctr"/>
            <a:r>
              <a:rPr lang="en-US" sz="4800" dirty="0">
                <a:solidFill>
                  <a:schemeClr val="bg1"/>
                </a:solidFill>
              </a:rPr>
              <a:t>Deployment Managers (DM)</a:t>
            </a:r>
          </a:p>
        </p:txBody>
      </p:sp>
      <p:sp>
        <p:nvSpPr>
          <p:cNvPr id="25" name="TextBox 24">
            <a:extLst>
              <a:ext uri="{FF2B5EF4-FFF2-40B4-BE49-F238E27FC236}">
                <a16:creationId xmlns:a16="http://schemas.microsoft.com/office/drawing/2014/main" id="{82028DA9-DFDF-4054-B0B6-3D06B58DA04B}"/>
              </a:ext>
            </a:extLst>
          </p:cNvPr>
          <p:cNvSpPr txBox="1"/>
          <p:nvPr/>
        </p:nvSpPr>
        <p:spPr>
          <a:xfrm>
            <a:off x="2076787" y="1586865"/>
            <a:ext cx="8145443" cy="2286000"/>
          </a:xfrm>
          <a:prstGeom prst="rect">
            <a:avLst/>
          </a:prstGeom>
          <a:solidFill>
            <a:srgbClr val="FFFFFF">
              <a:alpha val="69804"/>
            </a:srgbClr>
          </a:solidFill>
        </p:spPr>
        <p:txBody>
          <a:bodyPr wrap="square" rtlCol="0">
            <a:spAutoFit/>
          </a:bodyPr>
          <a:lstStyle/>
          <a:p>
            <a:endParaRPr lang="en-US" dirty="0"/>
          </a:p>
        </p:txBody>
      </p:sp>
      <p:sp>
        <p:nvSpPr>
          <p:cNvPr id="26" name="TextBox 25">
            <a:extLst>
              <a:ext uri="{FF2B5EF4-FFF2-40B4-BE49-F238E27FC236}">
                <a16:creationId xmlns:a16="http://schemas.microsoft.com/office/drawing/2014/main" id="{44FC8086-E2E1-400E-9701-BD135552673F}"/>
              </a:ext>
            </a:extLst>
          </p:cNvPr>
          <p:cNvSpPr txBox="1"/>
          <p:nvPr/>
        </p:nvSpPr>
        <p:spPr>
          <a:xfrm>
            <a:off x="1996602" y="4893760"/>
            <a:ext cx="8145443" cy="1371600"/>
          </a:xfrm>
          <a:prstGeom prst="rect">
            <a:avLst/>
          </a:prstGeom>
          <a:solidFill>
            <a:srgbClr val="FFFFFF">
              <a:alpha val="80000"/>
            </a:srgbClr>
          </a:solidFill>
        </p:spPr>
        <p:txBody>
          <a:bodyPr wrap="square" rtlCol="0">
            <a:spAutoFit/>
          </a:bodyPr>
          <a:lstStyle/>
          <a:p>
            <a:endParaRPr lang="en-US" dirty="0"/>
          </a:p>
        </p:txBody>
      </p:sp>
      <p:sp>
        <p:nvSpPr>
          <p:cNvPr id="28" name="Arrow: Down 27">
            <a:extLst>
              <a:ext uri="{FF2B5EF4-FFF2-40B4-BE49-F238E27FC236}">
                <a16:creationId xmlns:a16="http://schemas.microsoft.com/office/drawing/2014/main" id="{E2376743-EC57-4E94-8A44-BBB0109DA082}"/>
              </a:ext>
            </a:extLst>
          </p:cNvPr>
          <p:cNvSpPr/>
          <p:nvPr/>
        </p:nvSpPr>
        <p:spPr>
          <a:xfrm rot="5400000">
            <a:off x="10634725" y="3760451"/>
            <a:ext cx="846158" cy="1268584"/>
          </a:xfrm>
          <a:prstGeom prst="downArrow">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28592576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9BC0F5-D3B5-4D16-A00E-A54084DB3FA2}"/>
              </a:ext>
            </a:extLst>
          </p:cNvPr>
          <p:cNvSpPr>
            <a:spLocks noGrp="1"/>
          </p:cNvSpPr>
          <p:nvPr>
            <p:ph type="title"/>
          </p:nvPr>
        </p:nvSpPr>
        <p:spPr/>
        <p:txBody>
          <a:bodyPr>
            <a:normAutofit/>
          </a:bodyPr>
          <a:lstStyle/>
          <a:p>
            <a:r>
              <a:rPr lang="en-US" dirty="0">
                <a:solidFill>
                  <a:srgbClr val="FF6600"/>
                </a:solidFill>
              </a:rPr>
              <a:t>Deployment Kernel</a:t>
            </a:r>
          </a:p>
        </p:txBody>
      </p:sp>
      <p:sp>
        <p:nvSpPr>
          <p:cNvPr id="3" name="Content Placeholder 2">
            <a:extLst>
              <a:ext uri="{FF2B5EF4-FFF2-40B4-BE49-F238E27FC236}">
                <a16:creationId xmlns:a16="http://schemas.microsoft.com/office/drawing/2014/main" id="{ECFD02EA-5F0C-4BBF-B3FF-AF149CC7310B}"/>
              </a:ext>
            </a:extLst>
          </p:cNvPr>
          <p:cNvSpPr>
            <a:spLocks noGrp="1"/>
          </p:cNvSpPr>
          <p:nvPr>
            <p:ph idx="1"/>
          </p:nvPr>
        </p:nvSpPr>
        <p:spPr/>
        <p:txBody>
          <a:bodyPr/>
          <a:lstStyle/>
          <a:p>
            <a:pPr>
              <a:buFont typeface="Arial" panose="020B0604020202020204" pitchFamily="34" charset="0"/>
              <a:buChar char="•"/>
            </a:pPr>
            <a:r>
              <a:rPr lang="en-US" dirty="0"/>
              <a:t> Is a </a:t>
            </a:r>
            <a:r>
              <a:rPr lang="en-US" dirty="0">
                <a:solidFill>
                  <a:srgbClr val="00B050"/>
                </a:solidFill>
              </a:rPr>
              <a:t>flexible</a:t>
            </a:r>
            <a:r>
              <a:rPr lang="en-US" dirty="0"/>
              <a:t> and </a:t>
            </a:r>
            <a:r>
              <a:rPr lang="en-US" dirty="0">
                <a:solidFill>
                  <a:srgbClr val="00B050"/>
                </a:solidFill>
              </a:rPr>
              <a:t>extensible</a:t>
            </a:r>
            <a:r>
              <a:rPr lang="en-US" dirty="0"/>
              <a:t> distributed runtime system</a:t>
            </a:r>
          </a:p>
          <a:p>
            <a:pPr>
              <a:buFont typeface="Arial" panose="020B0604020202020204" pitchFamily="34" charset="0"/>
              <a:buChar char="•"/>
            </a:pPr>
            <a:r>
              <a:rPr lang="en-US" dirty="0"/>
              <a:t> Provides </a:t>
            </a:r>
            <a:r>
              <a:rPr lang="en-US" u="sng" dirty="0">
                <a:solidFill>
                  <a:srgbClr val="FF6600"/>
                </a:solidFill>
              </a:rPr>
              <a:t>best-effort distribution services</a:t>
            </a:r>
            <a:r>
              <a:rPr lang="en-US" dirty="0"/>
              <a:t>, including:</a:t>
            </a:r>
          </a:p>
          <a:p>
            <a:pPr lvl="1">
              <a:buFont typeface="Arial" panose="020B0604020202020204" pitchFamily="34" charset="0"/>
              <a:buChar char="•"/>
            </a:pPr>
            <a:r>
              <a:rPr lang="en-US" dirty="0"/>
              <a:t> Sapphire Object tracking, mobility and replication</a:t>
            </a:r>
          </a:p>
          <a:p>
            <a:pPr lvl="1">
              <a:buFont typeface="Arial" panose="020B0604020202020204" pitchFamily="34" charset="0"/>
              <a:buChar char="•"/>
            </a:pPr>
            <a:r>
              <a:rPr lang="en-US" dirty="0"/>
              <a:t> Making and routing RPC to Sapphire objects</a:t>
            </a:r>
          </a:p>
          <a:p>
            <a:pPr lvl="1">
              <a:buFont typeface="Arial" panose="020B0604020202020204" pitchFamily="34" charset="0"/>
              <a:buChar char="•"/>
            </a:pPr>
            <a:r>
              <a:rPr lang="en-US" dirty="0"/>
              <a:t> </a:t>
            </a:r>
            <a:r>
              <a:rPr lang="en-US" dirty="0">
                <a:solidFill>
                  <a:srgbClr val="00B050"/>
                </a:solidFill>
              </a:rPr>
              <a:t>Managing, distributing and running </a:t>
            </a:r>
            <a:r>
              <a:rPr lang="en-US" dirty="0"/>
              <a:t>deployment managers.</a:t>
            </a:r>
          </a:p>
        </p:txBody>
      </p:sp>
    </p:spTree>
    <p:extLst>
      <p:ext uri="{BB962C8B-B14F-4D97-AF65-F5344CB8AC3E}">
        <p14:creationId xmlns:p14="http://schemas.microsoft.com/office/powerpoint/2010/main" val="167049018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2A309787-EB30-44E3-90E1-4AB49C712037}"/>
              </a:ext>
            </a:extLst>
          </p:cNvPr>
          <p:cNvPicPr>
            <a:picLocks noChangeAspect="1"/>
          </p:cNvPicPr>
          <p:nvPr/>
        </p:nvPicPr>
        <p:blipFill>
          <a:blip r:embed="rId3"/>
          <a:stretch>
            <a:fillRect/>
          </a:stretch>
        </p:blipFill>
        <p:spPr>
          <a:xfrm>
            <a:off x="2069167" y="4897663"/>
            <a:ext cx="1668444" cy="1421544"/>
          </a:xfrm>
          <a:prstGeom prst="rect">
            <a:avLst/>
          </a:prstGeom>
        </p:spPr>
      </p:pic>
      <p:sp>
        <p:nvSpPr>
          <p:cNvPr id="2" name="Title 1">
            <a:extLst>
              <a:ext uri="{FF2B5EF4-FFF2-40B4-BE49-F238E27FC236}">
                <a16:creationId xmlns:a16="http://schemas.microsoft.com/office/drawing/2014/main" id="{7D1686E7-9A2A-4600-B035-E911D81C8E7E}"/>
              </a:ext>
            </a:extLst>
          </p:cNvPr>
          <p:cNvSpPr>
            <a:spLocks noGrp="1"/>
          </p:cNvSpPr>
          <p:nvPr>
            <p:ph type="title"/>
          </p:nvPr>
        </p:nvSpPr>
        <p:spPr/>
        <p:txBody>
          <a:bodyPr/>
          <a:lstStyle/>
          <a:p>
            <a:r>
              <a:rPr lang="en-US" dirty="0">
                <a:solidFill>
                  <a:srgbClr val="FF6600"/>
                </a:solidFill>
              </a:rPr>
              <a:t>Deployment Managers</a:t>
            </a:r>
          </a:p>
        </p:txBody>
      </p:sp>
      <p:sp>
        <p:nvSpPr>
          <p:cNvPr id="4" name="Rectangle 3">
            <a:extLst>
              <a:ext uri="{FF2B5EF4-FFF2-40B4-BE49-F238E27FC236}">
                <a16:creationId xmlns:a16="http://schemas.microsoft.com/office/drawing/2014/main" id="{8B78C575-A47C-4EC3-ABC1-BA186F8FB0DE}"/>
              </a:ext>
            </a:extLst>
          </p:cNvPr>
          <p:cNvSpPr/>
          <p:nvPr/>
        </p:nvSpPr>
        <p:spPr>
          <a:xfrm>
            <a:off x="2069166" y="1647523"/>
            <a:ext cx="8114626" cy="1097280"/>
          </a:xfrm>
          <a:custGeom>
            <a:avLst/>
            <a:gdLst>
              <a:gd name="connsiteX0" fmla="*/ 0 w 8114626"/>
              <a:gd name="connsiteY0" fmla="*/ 0 h 1097280"/>
              <a:gd name="connsiteX1" fmla="*/ 513926 w 8114626"/>
              <a:gd name="connsiteY1" fmla="*/ 0 h 1097280"/>
              <a:gd name="connsiteX2" fmla="*/ 1271291 w 8114626"/>
              <a:gd name="connsiteY2" fmla="*/ 0 h 1097280"/>
              <a:gd name="connsiteX3" fmla="*/ 1866364 w 8114626"/>
              <a:gd name="connsiteY3" fmla="*/ 0 h 1097280"/>
              <a:gd name="connsiteX4" fmla="*/ 2623729 w 8114626"/>
              <a:gd name="connsiteY4" fmla="*/ 0 h 1097280"/>
              <a:gd name="connsiteX5" fmla="*/ 3056509 w 8114626"/>
              <a:gd name="connsiteY5" fmla="*/ 0 h 1097280"/>
              <a:gd name="connsiteX6" fmla="*/ 3732728 w 8114626"/>
              <a:gd name="connsiteY6" fmla="*/ 0 h 1097280"/>
              <a:gd name="connsiteX7" fmla="*/ 4490093 w 8114626"/>
              <a:gd name="connsiteY7" fmla="*/ 0 h 1097280"/>
              <a:gd name="connsiteX8" fmla="*/ 4922873 w 8114626"/>
              <a:gd name="connsiteY8" fmla="*/ 0 h 1097280"/>
              <a:gd name="connsiteX9" fmla="*/ 5680238 w 8114626"/>
              <a:gd name="connsiteY9" fmla="*/ 0 h 1097280"/>
              <a:gd name="connsiteX10" fmla="*/ 6194165 w 8114626"/>
              <a:gd name="connsiteY10" fmla="*/ 0 h 1097280"/>
              <a:gd name="connsiteX11" fmla="*/ 6951530 w 8114626"/>
              <a:gd name="connsiteY11" fmla="*/ 0 h 1097280"/>
              <a:gd name="connsiteX12" fmla="*/ 8114626 w 8114626"/>
              <a:gd name="connsiteY12" fmla="*/ 0 h 1097280"/>
              <a:gd name="connsiteX13" fmla="*/ 8114626 w 8114626"/>
              <a:gd name="connsiteY13" fmla="*/ 515722 h 1097280"/>
              <a:gd name="connsiteX14" fmla="*/ 8114626 w 8114626"/>
              <a:gd name="connsiteY14" fmla="*/ 1097280 h 1097280"/>
              <a:gd name="connsiteX15" fmla="*/ 7276115 w 8114626"/>
              <a:gd name="connsiteY15" fmla="*/ 1097280 h 1097280"/>
              <a:gd name="connsiteX16" fmla="*/ 6437603 w 8114626"/>
              <a:gd name="connsiteY16" fmla="*/ 1097280 h 1097280"/>
              <a:gd name="connsiteX17" fmla="*/ 5923677 w 8114626"/>
              <a:gd name="connsiteY17" fmla="*/ 1097280 h 1097280"/>
              <a:gd name="connsiteX18" fmla="*/ 5085166 w 8114626"/>
              <a:gd name="connsiteY18" fmla="*/ 1097280 h 1097280"/>
              <a:gd name="connsiteX19" fmla="*/ 4327801 w 8114626"/>
              <a:gd name="connsiteY19" fmla="*/ 1097280 h 1097280"/>
              <a:gd name="connsiteX20" fmla="*/ 3813874 w 8114626"/>
              <a:gd name="connsiteY20" fmla="*/ 1097280 h 1097280"/>
              <a:gd name="connsiteX21" fmla="*/ 3137655 w 8114626"/>
              <a:gd name="connsiteY21" fmla="*/ 1097280 h 1097280"/>
              <a:gd name="connsiteX22" fmla="*/ 2380290 w 8114626"/>
              <a:gd name="connsiteY22" fmla="*/ 1097280 h 1097280"/>
              <a:gd name="connsiteX23" fmla="*/ 1785218 w 8114626"/>
              <a:gd name="connsiteY23" fmla="*/ 1097280 h 1097280"/>
              <a:gd name="connsiteX24" fmla="*/ 946706 w 8114626"/>
              <a:gd name="connsiteY24" fmla="*/ 1097280 h 1097280"/>
              <a:gd name="connsiteX25" fmla="*/ 0 w 8114626"/>
              <a:gd name="connsiteY25" fmla="*/ 1097280 h 1097280"/>
              <a:gd name="connsiteX26" fmla="*/ 0 w 8114626"/>
              <a:gd name="connsiteY26" fmla="*/ 548640 h 1097280"/>
              <a:gd name="connsiteX27" fmla="*/ 0 w 8114626"/>
              <a:gd name="connsiteY27" fmla="*/ 0 h 10972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8114626" h="1097280" extrusionOk="0">
                <a:moveTo>
                  <a:pt x="0" y="0"/>
                </a:moveTo>
                <a:cubicBezTo>
                  <a:pt x="126541" y="-9115"/>
                  <a:pt x="332480" y="-10703"/>
                  <a:pt x="513926" y="0"/>
                </a:cubicBezTo>
                <a:cubicBezTo>
                  <a:pt x="695372" y="10703"/>
                  <a:pt x="1026014" y="10768"/>
                  <a:pt x="1271291" y="0"/>
                </a:cubicBezTo>
                <a:cubicBezTo>
                  <a:pt x="1516569" y="-10768"/>
                  <a:pt x="1658328" y="-10141"/>
                  <a:pt x="1866364" y="0"/>
                </a:cubicBezTo>
                <a:cubicBezTo>
                  <a:pt x="2074400" y="10141"/>
                  <a:pt x="2311275" y="-14146"/>
                  <a:pt x="2623729" y="0"/>
                </a:cubicBezTo>
                <a:cubicBezTo>
                  <a:pt x="2936183" y="14146"/>
                  <a:pt x="2915223" y="18967"/>
                  <a:pt x="3056509" y="0"/>
                </a:cubicBezTo>
                <a:cubicBezTo>
                  <a:pt x="3197795" y="-18967"/>
                  <a:pt x="3573782" y="-3811"/>
                  <a:pt x="3732728" y="0"/>
                </a:cubicBezTo>
                <a:cubicBezTo>
                  <a:pt x="3891674" y="3811"/>
                  <a:pt x="4315807" y="-15193"/>
                  <a:pt x="4490093" y="0"/>
                </a:cubicBezTo>
                <a:cubicBezTo>
                  <a:pt x="4664380" y="15193"/>
                  <a:pt x="4829035" y="14790"/>
                  <a:pt x="4922873" y="0"/>
                </a:cubicBezTo>
                <a:cubicBezTo>
                  <a:pt x="5016711" y="-14790"/>
                  <a:pt x="5461955" y="24386"/>
                  <a:pt x="5680238" y="0"/>
                </a:cubicBezTo>
                <a:cubicBezTo>
                  <a:pt x="5898521" y="-24386"/>
                  <a:pt x="6089574" y="-21229"/>
                  <a:pt x="6194165" y="0"/>
                </a:cubicBezTo>
                <a:cubicBezTo>
                  <a:pt x="6298756" y="21229"/>
                  <a:pt x="6679040" y="-15554"/>
                  <a:pt x="6951530" y="0"/>
                </a:cubicBezTo>
                <a:cubicBezTo>
                  <a:pt x="7224020" y="15554"/>
                  <a:pt x="7571852" y="-33810"/>
                  <a:pt x="8114626" y="0"/>
                </a:cubicBezTo>
                <a:cubicBezTo>
                  <a:pt x="8129494" y="240160"/>
                  <a:pt x="8098008" y="343755"/>
                  <a:pt x="8114626" y="515722"/>
                </a:cubicBezTo>
                <a:cubicBezTo>
                  <a:pt x="8131244" y="687689"/>
                  <a:pt x="8117799" y="865420"/>
                  <a:pt x="8114626" y="1097280"/>
                </a:cubicBezTo>
                <a:cubicBezTo>
                  <a:pt x="7728497" y="1119266"/>
                  <a:pt x="7569595" y="1104819"/>
                  <a:pt x="7276115" y="1097280"/>
                </a:cubicBezTo>
                <a:cubicBezTo>
                  <a:pt x="6982635" y="1089741"/>
                  <a:pt x="6800559" y="1055467"/>
                  <a:pt x="6437603" y="1097280"/>
                </a:cubicBezTo>
                <a:cubicBezTo>
                  <a:pt x="6074647" y="1139093"/>
                  <a:pt x="6164685" y="1106480"/>
                  <a:pt x="5923677" y="1097280"/>
                </a:cubicBezTo>
                <a:cubicBezTo>
                  <a:pt x="5682669" y="1088080"/>
                  <a:pt x="5383128" y="1097998"/>
                  <a:pt x="5085166" y="1097280"/>
                </a:cubicBezTo>
                <a:cubicBezTo>
                  <a:pt x="4787204" y="1096562"/>
                  <a:pt x="4541077" y="1121971"/>
                  <a:pt x="4327801" y="1097280"/>
                </a:cubicBezTo>
                <a:cubicBezTo>
                  <a:pt x="4114526" y="1072589"/>
                  <a:pt x="4016908" y="1089280"/>
                  <a:pt x="3813874" y="1097280"/>
                </a:cubicBezTo>
                <a:cubicBezTo>
                  <a:pt x="3610840" y="1105280"/>
                  <a:pt x="3321073" y="1100573"/>
                  <a:pt x="3137655" y="1097280"/>
                </a:cubicBezTo>
                <a:cubicBezTo>
                  <a:pt x="2954237" y="1093987"/>
                  <a:pt x="2654103" y="1061568"/>
                  <a:pt x="2380290" y="1097280"/>
                </a:cubicBezTo>
                <a:cubicBezTo>
                  <a:pt x="2106477" y="1132992"/>
                  <a:pt x="2073675" y="1108726"/>
                  <a:pt x="1785218" y="1097280"/>
                </a:cubicBezTo>
                <a:cubicBezTo>
                  <a:pt x="1496761" y="1085834"/>
                  <a:pt x="1278714" y="1087311"/>
                  <a:pt x="946706" y="1097280"/>
                </a:cubicBezTo>
                <a:cubicBezTo>
                  <a:pt x="614698" y="1107249"/>
                  <a:pt x="368107" y="1074612"/>
                  <a:pt x="0" y="1097280"/>
                </a:cubicBezTo>
                <a:cubicBezTo>
                  <a:pt x="-1702" y="883663"/>
                  <a:pt x="18300" y="750203"/>
                  <a:pt x="0" y="548640"/>
                </a:cubicBezTo>
                <a:cubicBezTo>
                  <a:pt x="-18300" y="347077"/>
                  <a:pt x="-6833" y="268609"/>
                  <a:pt x="0" y="0"/>
                </a:cubicBezTo>
                <a:close/>
              </a:path>
            </a:pathLst>
          </a:custGeom>
          <a:noFill/>
          <a:ln w="76200">
            <a:solidFill>
              <a:srgbClr val="89C3E5"/>
            </a:solidFill>
            <a:extLst>
              <a:ext uri="{C807C97D-BFC1-408E-A445-0C87EB9F89A2}">
                <ask:lineSketchStyleProps xmlns:ask="http://schemas.microsoft.com/office/drawing/2018/sketchyshapes" sd="289878596">
                  <a:prstGeom prst="rect">
                    <a:avLst/>
                  </a:prstGeom>
                  <ask:type>
                    <ask:lineSketchFreehand/>
                  </ask:type>
                </ask:lineSketchStyleProps>
              </a:ext>
            </a:extLst>
          </a:ln>
        </p:spPr>
        <p:txBody>
          <a:bodyPr wrap="square" anchor="ctr">
            <a:spAutoFit/>
          </a:bodyPr>
          <a:lstStyle/>
          <a:p>
            <a:pPr algn="ctr"/>
            <a:endParaRPr lang="en-US" sz="4800" dirty="0">
              <a:solidFill>
                <a:schemeClr val="bg1"/>
              </a:solidFill>
            </a:endParaRPr>
          </a:p>
        </p:txBody>
      </p:sp>
      <p:sp>
        <p:nvSpPr>
          <p:cNvPr id="6" name="Rectangle 5">
            <a:extLst>
              <a:ext uri="{FF2B5EF4-FFF2-40B4-BE49-F238E27FC236}">
                <a16:creationId xmlns:a16="http://schemas.microsoft.com/office/drawing/2014/main" id="{5CE764F8-0F66-41EA-B0AF-3FF32F058D10}"/>
              </a:ext>
            </a:extLst>
          </p:cNvPr>
          <p:cNvSpPr/>
          <p:nvPr/>
        </p:nvSpPr>
        <p:spPr>
          <a:xfrm>
            <a:off x="2069166" y="3875481"/>
            <a:ext cx="1668444" cy="1015663"/>
          </a:xfrm>
          <a:prstGeom prst="rect">
            <a:avLst/>
          </a:prstGeom>
          <a:solidFill>
            <a:srgbClr val="002060"/>
          </a:solidFill>
          <a:ln>
            <a:solidFill>
              <a:srgbClr val="002060"/>
            </a:solidFill>
          </a:ln>
        </p:spPr>
        <p:txBody>
          <a:bodyPr wrap="square" anchor="ctr">
            <a:spAutoFit/>
          </a:bodyPr>
          <a:lstStyle/>
          <a:p>
            <a:pPr algn="ctr"/>
            <a:r>
              <a:rPr lang="en-US" sz="3000" dirty="0">
                <a:solidFill>
                  <a:schemeClr val="bg1"/>
                </a:solidFill>
              </a:rPr>
              <a:t>DK Server</a:t>
            </a:r>
          </a:p>
        </p:txBody>
      </p:sp>
      <p:pic>
        <p:nvPicPr>
          <p:cNvPr id="11" name="Picture 10">
            <a:extLst>
              <a:ext uri="{FF2B5EF4-FFF2-40B4-BE49-F238E27FC236}">
                <a16:creationId xmlns:a16="http://schemas.microsoft.com/office/drawing/2014/main" id="{4B4A359C-B3FD-4824-9906-61C311D4B9C4}"/>
              </a:ext>
            </a:extLst>
          </p:cNvPr>
          <p:cNvPicPr>
            <a:picLocks noChangeAspect="1"/>
          </p:cNvPicPr>
          <p:nvPr/>
        </p:nvPicPr>
        <p:blipFill>
          <a:blip r:embed="rId4"/>
          <a:stretch>
            <a:fillRect/>
          </a:stretch>
        </p:blipFill>
        <p:spPr>
          <a:xfrm>
            <a:off x="5125402" y="4897663"/>
            <a:ext cx="1695211" cy="1421545"/>
          </a:xfrm>
          <a:prstGeom prst="rect">
            <a:avLst/>
          </a:prstGeom>
        </p:spPr>
      </p:pic>
      <p:pic>
        <p:nvPicPr>
          <p:cNvPr id="12" name="Picture 11">
            <a:extLst>
              <a:ext uri="{FF2B5EF4-FFF2-40B4-BE49-F238E27FC236}">
                <a16:creationId xmlns:a16="http://schemas.microsoft.com/office/drawing/2014/main" id="{78BFA005-BE9D-4FEA-91D4-1739D423DE9D}"/>
              </a:ext>
            </a:extLst>
          </p:cNvPr>
          <p:cNvPicPr>
            <a:picLocks noChangeAspect="1"/>
          </p:cNvPicPr>
          <p:nvPr/>
        </p:nvPicPr>
        <p:blipFill>
          <a:blip r:embed="rId4"/>
          <a:stretch>
            <a:fillRect/>
          </a:stretch>
        </p:blipFill>
        <p:spPr>
          <a:xfrm>
            <a:off x="8477151" y="4897663"/>
            <a:ext cx="1695211" cy="1421545"/>
          </a:xfrm>
          <a:prstGeom prst="rect">
            <a:avLst/>
          </a:prstGeom>
        </p:spPr>
      </p:pic>
      <p:pic>
        <p:nvPicPr>
          <p:cNvPr id="14" name="Picture 13">
            <a:extLst>
              <a:ext uri="{FF2B5EF4-FFF2-40B4-BE49-F238E27FC236}">
                <a16:creationId xmlns:a16="http://schemas.microsoft.com/office/drawing/2014/main" id="{2F26D529-E297-4CE4-B67D-15966454F0CD}"/>
              </a:ext>
            </a:extLst>
          </p:cNvPr>
          <p:cNvPicPr>
            <a:picLocks noChangeAspect="1"/>
          </p:cNvPicPr>
          <p:nvPr/>
        </p:nvPicPr>
        <p:blipFill>
          <a:blip r:embed="rId5"/>
          <a:stretch>
            <a:fillRect/>
          </a:stretch>
        </p:blipFill>
        <p:spPr>
          <a:xfrm>
            <a:off x="493732" y="1600200"/>
            <a:ext cx="1514475" cy="1828800"/>
          </a:xfrm>
          <a:prstGeom prst="rect">
            <a:avLst/>
          </a:prstGeom>
        </p:spPr>
      </p:pic>
      <p:sp>
        <p:nvSpPr>
          <p:cNvPr id="18" name="Rectangle 17">
            <a:extLst>
              <a:ext uri="{FF2B5EF4-FFF2-40B4-BE49-F238E27FC236}">
                <a16:creationId xmlns:a16="http://schemas.microsoft.com/office/drawing/2014/main" id="{D9BB0663-527B-4864-9703-0396AF4CD6DF}"/>
              </a:ext>
            </a:extLst>
          </p:cNvPr>
          <p:cNvSpPr/>
          <p:nvPr/>
        </p:nvSpPr>
        <p:spPr>
          <a:xfrm>
            <a:off x="5125401" y="3870570"/>
            <a:ext cx="1695211" cy="1015663"/>
          </a:xfrm>
          <a:prstGeom prst="rect">
            <a:avLst/>
          </a:prstGeom>
          <a:solidFill>
            <a:srgbClr val="002060"/>
          </a:solidFill>
          <a:ln>
            <a:solidFill>
              <a:srgbClr val="002060"/>
            </a:solidFill>
          </a:ln>
        </p:spPr>
        <p:txBody>
          <a:bodyPr wrap="square" anchor="ctr">
            <a:spAutoFit/>
          </a:bodyPr>
          <a:lstStyle/>
          <a:p>
            <a:pPr algn="ctr"/>
            <a:r>
              <a:rPr lang="en-US" sz="3000" dirty="0">
                <a:solidFill>
                  <a:schemeClr val="bg1"/>
                </a:solidFill>
              </a:rPr>
              <a:t>DK Server</a:t>
            </a:r>
          </a:p>
        </p:txBody>
      </p:sp>
      <p:sp>
        <p:nvSpPr>
          <p:cNvPr id="19" name="Rectangle 18">
            <a:extLst>
              <a:ext uri="{FF2B5EF4-FFF2-40B4-BE49-F238E27FC236}">
                <a16:creationId xmlns:a16="http://schemas.microsoft.com/office/drawing/2014/main" id="{C7D445EB-0154-4D86-A1E1-6A11868FBB3A}"/>
              </a:ext>
            </a:extLst>
          </p:cNvPr>
          <p:cNvSpPr/>
          <p:nvPr/>
        </p:nvSpPr>
        <p:spPr>
          <a:xfrm>
            <a:off x="8474960" y="3863661"/>
            <a:ext cx="1695211" cy="1015663"/>
          </a:xfrm>
          <a:prstGeom prst="rect">
            <a:avLst/>
          </a:prstGeom>
          <a:solidFill>
            <a:srgbClr val="002060"/>
          </a:solidFill>
          <a:ln>
            <a:solidFill>
              <a:srgbClr val="002060"/>
            </a:solidFill>
          </a:ln>
        </p:spPr>
        <p:txBody>
          <a:bodyPr wrap="square" anchor="ctr">
            <a:spAutoFit/>
          </a:bodyPr>
          <a:lstStyle/>
          <a:p>
            <a:pPr algn="ctr"/>
            <a:r>
              <a:rPr lang="en-US" sz="3000" dirty="0">
                <a:solidFill>
                  <a:schemeClr val="bg1"/>
                </a:solidFill>
              </a:rPr>
              <a:t>OTS Server</a:t>
            </a:r>
          </a:p>
        </p:txBody>
      </p:sp>
      <p:cxnSp>
        <p:nvCxnSpPr>
          <p:cNvPr id="9" name="Straight Arrow Connector 8">
            <a:extLst>
              <a:ext uri="{FF2B5EF4-FFF2-40B4-BE49-F238E27FC236}">
                <a16:creationId xmlns:a16="http://schemas.microsoft.com/office/drawing/2014/main" id="{6AD69BBD-B1EB-4235-8406-538AAFFFE535}"/>
              </a:ext>
            </a:extLst>
          </p:cNvPr>
          <p:cNvCxnSpPr/>
          <p:nvPr/>
        </p:nvCxnSpPr>
        <p:spPr>
          <a:xfrm>
            <a:off x="3916402" y="4491990"/>
            <a:ext cx="929918" cy="0"/>
          </a:xfrm>
          <a:prstGeom prst="straightConnector1">
            <a:avLst/>
          </a:prstGeom>
          <a:ln w="76200">
            <a:solidFill>
              <a:srgbClr val="002060"/>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0B1B55B4-F68A-4BB2-9D8C-12B3A1F9E491}"/>
              </a:ext>
            </a:extLst>
          </p:cNvPr>
          <p:cNvCxnSpPr/>
          <p:nvPr/>
        </p:nvCxnSpPr>
        <p:spPr>
          <a:xfrm>
            <a:off x="7169468" y="4495800"/>
            <a:ext cx="929918" cy="0"/>
          </a:xfrm>
          <a:prstGeom prst="straightConnector1">
            <a:avLst/>
          </a:prstGeom>
          <a:ln w="76200">
            <a:solidFill>
              <a:srgbClr val="002060"/>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21" name="TextBox 20">
            <a:extLst>
              <a:ext uri="{FF2B5EF4-FFF2-40B4-BE49-F238E27FC236}">
                <a16:creationId xmlns:a16="http://schemas.microsoft.com/office/drawing/2014/main" id="{C49D3B27-8E15-4746-A3EB-A973B3FE26C2}"/>
              </a:ext>
            </a:extLst>
          </p:cNvPr>
          <p:cNvSpPr txBox="1"/>
          <p:nvPr/>
        </p:nvSpPr>
        <p:spPr>
          <a:xfrm>
            <a:off x="8488100" y="1730422"/>
            <a:ext cx="1514475" cy="908864"/>
          </a:xfrm>
          <a:prstGeom prst="ellipse">
            <a:avLst/>
          </a:prstGeom>
          <a:noFill/>
          <a:ln w="57150">
            <a:solidFill>
              <a:srgbClr val="89C3E5"/>
            </a:solidFill>
          </a:ln>
        </p:spPr>
        <p:txBody>
          <a:bodyPr wrap="square" rtlCol="0">
            <a:spAutoFit/>
          </a:bodyPr>
          <a:lstStyle/>
          <a:p>
            <a:pPr algn="ctr"/>
            <a:r>
              <a:rPr lang="en-US" dirty="0">
                <a:solidFill>
                  <a:srgbClr val="89C3E5"/>
                </a:solidFill>
              </a:rPr>
              <a:t>Sapphire Object</a:t>
            </a:r>
          </a:p>
        </p:txBody>
      </p:sp>
      <p:sp>
        <p:nvSpPr>
          <p:cNvPr id="22" name="TextBox 21">
            <a:extLst>
              <a:ext uri="{FF2B5EF4-FFF2-40B4-BE49-F238E27FC236}">
                <a16:creationId xmlns:a16="http://schemas.microsoft.com/office/drawing/2014/main" id="{ECA92EBC-FDA2-4336-92FD-494B4CBD945C}"/>
              </a:ext>
            </a:extLst>
          </p:cNvPr>
          <p:cNvSpPr txBox="1"/>
          <p:nvPr/>
        </p:nvSpPr>
        <p:spPr>
          <a:xfrm>
            <a:off x="5215768" y="1741731"/>
            <a:ext cx="1514475" cy="908864"/>
          </a:xfrm>
          <a:prstGeom prst="ellipse">
            <a:avLst/>
          </a:prstGeom>
          <a:noFill/>
          <a:ln w="57150">
            <a:solidFill>
              <a:srgbClr val="89C3E5"/>
            </a:solidFill>
          </a:ln>
        </p:spPr>
        <p:txBody>
          <a:bodyPr wrap="square" rtlCol="0">
            <a:spAutoFit/>
          </a:bodyPr>
          <a:lstStyle/>
          <a:p>
            <a:pPr algn="ctr"/>
            <a:r>
              <a:rPr lang="en-US" dirty="0">
                <a:solidFill>
                  <a:srgbClr val="89C3E5"/>
                </a:solidFill>
              </a:rPr>
              <a:t>Sapphire Object</a:t>
            </a:r>
          </a:p>
        </p:txBody>
      </p:sp>
      <p:sp>
        <p:nvSpPr>
          <p:cNvPr id="23" name="TextBox 22">
            <a:extLst>
              <a:ext uri="{FF2B5EF4-FFF2-40B4-BE49-F238E27FC236}">
                <a16:creationId xmlns:a16="http://schemas.microsoft.com/office/drawing/2014/main" id="{43D25A6A-F116-47CD-91E2-CBC4C15AC9C9}"/>
              </a:ext>
            </a:extLst>
          </p:cNvPr>
          <p:cNvSpPr txBox="1"/>
          <p:nvPr/>
        </p:nvSpPr>
        <p:spPr>
          <a:xfrm>
            <a:off x="2146150" y="1741731"/>
            <a:ext cx="1514475" cy="908864"/>
          </a:xfrm>
          <a:prstGeom prst="ellipse">
            <a:avLst/>
          </a:prstGeom>
          <a:noFill/>
          <a:ln w="57150">
            <a:solidFill>
              <a:srgbClr val="89C3E5"/>
            </a:solidFill>
          </a:ln>
        </p:spPr>
        <p:txBody>
          <a:bodyPr wrap="square" rtlCol="0">
            <a:spAutoFit/>
          </a:bodyPr>
          <a:lstStyle/>
          <a:p>
            <a:pPr algn="ctr"/>
            <a:r>
              <a:rPr lang="en-US" dirty="0">
                <a:solidFill>
                  <a:srgbClr val="89C3E5"/>
                </a:solidFill>
              </a:rPr>
              <a:t>Sapphire Object</a:t>
            </a:r>
          </a:p>
        </p:txBody>
      </p:sp>
      <p:sp>
        <p:nvSpPr>
          <p:cNvPr id="24" name="Rectangle 23">
            <a:extLst>
              <a:ext uri="{FF2B5EF4-FFF2-40B4-BE49-F238E27FC236}">
                <a16:creationId xmlns:a16="http://schemas.microsoft.com/office/drawing/2014/main" id="{F598BA95-CC3B-45F4-A6CA-A4719187B235}"/>
              </a:ext>
            </a:extLst>
          </p:cNvPr>
          <p:cNvSpPr/>
          <p:nvPr/>
        </p:nvSpPr>
        <p:spPr>
          <a:xfrm>
            <a:off x="2069166" y="2783113"/>
            <a:ext cx="8114626" cy="1097280"/>
          </a:xfrm>
          <a:prstGeom prst="rect">
            <a:avLst/>
          </a:prstGeom>
          <a:solidFill>
            <a:srgbClr val="FF7C80"/>
          </a:solidFill>
        </p:spPr>
        <p:txBody>
          <a:bodyPr wrap="square" anchor="ctr">
            <a:spAutoFit/>
          </a:bodyPr>
          <a:lstStyle/>
          <a:p>
            <a:pPr algn="ctr"/>
            <a:r>
              <a:rPr lang="en-US" sz="4800" dirty="0">
                <a:solidFill>
                  <a:schemeClr val="bg1"/>
                </a:solidFill>
              </a:rPr>
              <a:t>Deployment Managers (DM)</a:t>
            </a:r>
          </a:p>
        </p:txBody>
      </p:sp>
      <p:sp>
        <p:nvSpPr>
          <p:cNvPr id="25" name="TextBox 24">
            <a:extLst>
              <a:ext uri="{FF2B5EF4-FFF2-40B4-BE49-F238E27FC236}">
                <a16:creationId xmlns:a16="http://schemas.microsoft.com/office/drawing/2014/main" id="{82028DA9-DFDF-4054-B0B6-3D06B58DA04B}"/>
              </a:ext>
            </a:extLst>
          </p:cNvPr>
          <p:cNvSpPr txBox="1"/>
          <p:nvPr/>
        </p:nvSpPr>
        <p:spPr>
          <a:xfrm>
            <a:off x="2076787" y="1586865"/>
            <a:ext cx="8145443" cy="1188720"/>
          </a:xfrm>
          <a:prstGeom prst="rect">
            <a:avLst/>
          </a:prstGeom>
          <a:solidFill>
            <a:srgbClr val="FFFFFF">
              <a:alpha val="69804"/>
            </a:srgbClr>
          </a:solidFill>
        </p:spPr>
        <p:txBody>
          <a:bodyPr wrap="square" rtlCol="0">
            <a:spAutoFit/>
          </a:bodyPr>
          <a:lstStyle/>
          <a:p>
            <a:endParaRPr lang="en-US" dirty="0"/>
          </a:p>
        </p:txBody>
      </p:sp>
      <p:sp>
        <p:nvSpPr>
          <p:cNvPr id="26" name="TextBox 25">
            <a:extLst>
              <a:ext uri="{FF2B5EF4-FFF2-40B4-BE49-F238E27FC236}">
                <a16:creationId xmlns:a16="http://schemas.microsoft.com/office/drawing/2014/main" id="{44FC8086-E2E1-400E-9701-BD135552673F}"/>
              </a:ext>
            </a:extLst>
          </p:cNvPr>
          <p:cNvSpPr txBox="1"/>
          <p:nvPr/>
        </p:nvSpPr>
        <p:spPr>
          <a:xfrm>
            <a:off x="2034063" y="3886912"/>
            <a:ext cx="8145443" cy="2468880"/>
          </a:xfrm>
          <a:prstGeom prst="rect">
            <a:avLst/>
          </a:prstGeom>
          <a:solidFill>
            <a:srgbClr val="FFFFFF">
              <a:alpha val="80000"/>
            </a:srgbClr>
          </a:solidFill>
        </p:spPr>
        <p:txBody>
          <a:bodyPr wrap="square" rtlCol="0">
            <a:spAutoFit/>
          </a:bodyPr>
          <a:lstStyle/>
          <a:p>
            <a:endParaRPr lang="en-US" dirty="0"/>
          </a:p>
        </p:txBody>
      </p:sp>
      <p:sp>
        <p:nvSpPr>
          <p:cNvPr id="27" name="Arrow: Down 26">
            <a:extLst>
              <a:ext uri="{FF2B5EF4-FFF2-40B4-BE49-F238E27FC236}">
                <a16:creationId xmlns:a16="http://schemas.microsoft.com/office/drawing/2014/main" id="{822C1965-2945-4DFC-94ED-43BCACD25872}"/>
              </a:ext>
            </a:extLst>
          </p:cNvPr>
          <p:cNvSpPr/>
          <p:nvPr/>
        </p:nvSpPr>
        <p:spPr>
          <a:xfrm rot="5400000">
            <a:off x="10732600" y="2697461"/>
            <a:ext cx="846158" cy="1268584"/>
          </a:xfrm>
          <a:prstGeom prst="downArrow">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73254870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2A309787-EB30-44E3-90E1-4AB49C712037}"/>
              </a:ext>
            </a:extLst>
          </p:cNvPr>
          <p:cNvPicPr>
            <a:picLocks noChangeAspect="1"/>
          </p:cNvPicPr>
          <p:nvPr/>
        </p:nvPicPr>
        <p:blipFill>
          <a:blip r:embed="rId3"/>
          <a:stretch>
            <a:fillRect/>
          </a:stretch>
        </p:blipFill>
        <p:spPr>
          <a:xfrm>
            <a:off x="2069167" y="4897663"/>
            <a:ext cx="1668444" cy="1421544"/>
          </a:xfrm>
          <a:prstGeom prst="rect">
            <a:avLst/>
          </a:prstGeom>
        </p:spPr>
      </p:pic>
      <p:sp>
        <p:nvSpPr>
          <p:cNvPr id="2" name="Title 1">
            <a:extLst>
              <a:ext uri="{FF2B5EF4-FFF2-40B4-BE49-F238E27FC236}">
                <a16:creationId xmlns:a16="http://schemas.microsoft.com/office/drawing/2014/main" id="{7D1686E7-9A2A-4600-B035-E911D81C8E7E}"/>
              </a:ext>
            </a:extLst>
          </p:cNvPr>
          <p:cNvSpPr>
            <a:spLocks noGrp="1"/>
          </p:cNvSpPr>
          <p:nvPr>
            <p:ph type="title"/>
          </p:nvPr>
        </p:nvSpPr>
        <p:spPr/>
        <p:txBody>
          <a:bodyPr/>
          <a:lstStyle/>
          <a:p>
            <a:r>
              <a:rPr lang="en-US" dirty="0">
                <a:solidFill>
                  <a:srgbClr val="FF6600"/>
                </a:solidFill>
              </a:rPr>
              <a:t>Deployment Managers</a:t>
            </a:r>
          </a:p>
        </p:txBody>
      </p:sp>
      <p:sp>
        <p:nvSpPr>
          <p:cNvPr id="4" name="Rectangle 3">
            <a:extLst>
              <a:ext uri="{FF2B5EF4-FFF2-40B4-BE49-F238E27FC236}">
                <a16:creationId xmlns:a16="http://schemas.microsoft.com/office/drawing/2014/main" id="{8B78C575-A47C-4EC3-ABC1-BA186F8FB0DE}"/>
              </a:ext>
            </a:extLst>
          </p:cNvPr>
          <p:cNvSpPr/>
          <p:nvPr/>
        </p:nvSpPr>
        <p:spPr>
          <a:xfrm>
            <a:off x="2069166" y="1647523"/>
            <a:ext cx="8114626" cy="1097280"/>
          </a:xfrm>
          <a:custGeom>
            <a:avLst/>
            <a:gdLst>
              <a:gd name="connsiteX0" fmla="*/ 0 w 8114626"/>
              <a:gd name="connsiteY0" fmla="*/ 0 h 1097280"/>
              <a:gd name="connsiteX1" fmla="*/ 513926 w 8114626"/>
              <a:gd name="connsiteY1" fmla="*/ 0 h 1097280"/>
              <a:gd name="connsiteX2" fmla="*/ 1271291 w 8114626"/>
              <a:gd name="connsiteY2" fmla="*/ 0 h 1097280"/>
              <a:gd name="connsiteX3" fmla="*/ 1866364 w 8114626"/>
              <a:gd name="connsiteY3" fmla="*/ 0 h 1097280"/>
              <a:gd name="connsiteX4" fmla="*/ 2623729 w 8114626"/>
              <a:gd name="connsiteY4" fmla="*/ 0 h 1097280"/>
              <a:gd name="connsiteX5" fmla="*/ 3056509 w 8114626"/>
              <a:gd name="connsiteY5" fmla="*/ 0 h 1097280"/>
              <a:gd name="connsiteX6" fmla="*/ 3732728 w 8114626"/>
              <a:gd name="connsiteY6" fmla="*/ 0 h 1097280"/>
              <a:gd name="connsiteX7" fmla="*/ 4490093 w 8114626"/>
              <a:gd name="connsiteY7" fmla="*/ 0 h 1097280"/>
              <a:gd name="connsiteX8" fmla="*/ 4922873 w 8114626"/>
              <a:gd name="connsiteY8" fmla="*/ 0 h 1097280"/>
              <a:gd name="connsiteX9" fmla="*/ 5680238 w 8114626"/>
              <a:gd name="connsiteY9" fmla="*/ 0 h 1097280"/>
              <a:gd name="connsiteX10" fmla="*/ 6194165 w 8114626"/>
              <a:gd name="connsiteY10" fmla="*/ 0 h 1097280"/>
              <a:gd name="connsiteX11" fmla="*/ 6951530 w 8114626"/>
              <a:gd name="connsiteY11" fmla="*/ 0 h 1097280"/>
              <a:gd name="connsiteX12" fmla="*/ 8114626 w 8114626"/>
              <a:gd name="connsiteY12" fmla="*/ 0 h 1097280"/>
              <a:gd name="connsiteX13" fmla="*/ 8114626 w 8114626"/>
              <a:gd name="connsiteY13" fmla="*/ 515722 h 1097280"/>
              <a:gd name="connsiteX14" fmla="*/ 8114626 w 8114626"/>
              <a:gd name="connsiteY14" fmla="*/ 1097280 h 1097280"/>
              <a:gd name="connsiteX15" fmla="*/ 7276115 w 8114626"/>
              <a:gd name="connsiteY15" fmla="*/ 1097280 h 1097280"/>
              <a:gd name="connsiteX16" fmla="*/ 6437603 w 8114626"/>
              <a:gd name="connsiteY16" fmla="*/ 1097280 h 1097280"/>
              <a:gd name="connsiteX17" fmla="*/ 5923677 w 8114626"/>
              <a:gd name="connsiteY17" fmla="*/ 1097280 h 1097280"/>
              <a:gd name="connsiteX18" fmla="*/ 5085166 w 8114626"/>
              <a:gd name="connsiteY18" fmla="*/ 1097280 h 1097280"/>
              <a:gd name="connsiteX19" fmla="*/ 4327801 w 8114626"/>
              <a:gd name="connsiteY19" fmla="*/ 1097280 h 1097280"/>
              <a:gd name="connsiteX20" fmla="*/ 3813874 w 8114626"/>
              <a:gd name="connsiteY20" fmla="*/ 1097280 h 1097280"/>
              <a:gd name="connsiteX21" fmla="*/ 3137655 w 8114626"/>
              <a:gd name="connsiteY21" fmla="*/ 1097280 h 1097280"/>
              <a:gd name="connsiteX22" fmla="*/ 2380290 w 8114626"/>
              <a:gd name="connsiteY22" fmla="*/ 1097280 h 1097280"/>
              <a:gd name="connsiteX23" fmla="*/ 1785218 w 8114626"/>
              <a:gd name="connsiteY23" fmla="*/ 1097280 h 1097280"/>
              <a:gd name="connsiteX24" fmla="*/ 946706 w 8114626"/>
              <a:gd name="connsiteY24" fmla="*/ 1097280 h 1097280"/>
              <a:gd name="connsiteX25" fmla="*/ 0 w 8114626"/>
              <a:gd name="connsiteY25" fmla="*/ 1097280 h 1097280"/>
              <a:gd name="connsiteX26" fmla="*/ 0 w 8114626"/>
              <a:gd name="connsiteY26" fmla="*/ 548640 h 1097280"/>
              <a:gd name="connsiteX27" fmla="*/ 0 w 8114626"/>
              <a:gd name="connsiteY27" fmla="*/ 0 h 10972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8114626" h="1097280" extrusionOk="0">
                <a:moveTo>
                  <a:pt x="0" y="0"/>
                </a:moveTo>
                <a:cubicBezTo>
                  <a:pt x="126541" y="-9115"/>
                  <a:pt x="332480" y="-10703"/>
                  <a:pt x="513926" y="0"/>
                </a:cubicBezTo>
                <a:cubicBezTo>
                  <a:pt x="695372" y="10703"/>
                  <a:pt x="1026014" y="10768"/>
                  <a:pt x="1271291" y="0"/>
                </a:cubicBezTo>
                <a:cubicBezTo>
                  <a:pt x="1516569" y="-10768"/>
                  <a:pt x="1658328" y="-10141"/>
                  <a:pt x="1866364" y="0"/>
                </a:cubicBezTo>
                <a:cubicBezTo>
                  <a:pt x="2074400" y="10141"/>
                  <a:pt x="2311275" y="-14146"/>
                  <a:pt x="2623729" y="0"/>
                </a:cubicBezTo>
                <a:cubicBezTo>
                  <a:pt x="2936183" y="14146"/>
                  <a:pt x="2915223" y="18967"/>
                  <a:pt x="3056509" y="0"/>
                </a:cubicBezTo>
                <a:cubicBezTo>
                  <a:pt x="3197795" y="-18967"/>
                  <a:pt x="3573782" y="-3811"/>
                  <a:pt x="3732728" y="0"/>
                </a:cubicBezTo>
                <a:cubicBezTo>
                  <a:pt x="3891674" y="3811"/>
                  <a:pt x="4315807" y="-15193"/>
                  <a:pt x="4490093" y="0"/>
                </a:cubicBezTo>
                <a:cubicBezTo>
                  <a:pt x="4664380" y="15193"/>
                  <a:pt x="4829035" y="14790"/>
                  <a:pt x="4922873" y="0"/>
                </a:cubicBezTo>
                <a:cubicBezTo>
                  <a:pt x="5016711" y="-14790"/>
                  <a:pt x="5461955" y="24386"/>
                  <a:pt x="5680238" y="0"/>
                </a:cubicBezTo>
                <a:cubicBezTo>
                  <a:pt x="5898521" y="-24386"/>
                  <a:pt x="6089574" y="-21229"/>
                  <a:pt x="6194165" y="0"/>
                </a:cubicBezTo>
                <a:cubicBezTo>
                  <a:pt x="6298756" y="21229"/>
                  <a:pt x="6679040" y="-15554"/>
                  <a:pt x="6951530" y="0"/>
                </a:cubicBezTo>
                <a:cubicBezTo>
                  <a:pt x="7224020" y="15554"/>
                  <a:pt x="7571852" y="-33810"/>
                  <a:pt x="8114626" y="0"/>
                </a:cubicBezTo>
                <a:cubicBezTo>
                  <a:pt x="8129494" y="240160"/>
                  <a:pt x="8098008" y="343755"/>
                  <a:pt x="8114626" y="515722"/>
                </a:cubicBezTo>
                <a:cubicBezTo>
                  <a:pt x="8131244" y="687689"/>
                  <a:pt x="8117799" y="865420"/>
                  <a:pt x="8114626" y="1097280"/>
                </a:cubicBezTo>
                <a:cubicBezTo>
                  <a:pt x="7728497" y="1119266"/>
                  <a:pt x="7569595" y="1104819"/>
                  <a:pt x="7276115" y="1097280"/>
                </a:cubicBezTo>
                <a:cubicBezTo>
                  <a:pt x="6982635" y="1089741"/>
                  <a:pt x="6800559" y="1055467"/>
                  <a:pt x="6437603" y="1097280"/>
                </a:cubicBezTo>
                <a:cubicBezTo>
                  <a:pt x="6074647" y="1139093"/>
                  <a:pt x="6164685" y="1106480"/>
                  <a:pt x="5923677" y="1097280"/>
                </a:cubicBezTo>
                <a:cubicBezTo>
                  <a:pt x="5682669" y="1088080"/>
                  <a:pt x="5383128" y="1097998"/>
                  <a:pt x="5085166" y="1097280"/>
                </a:cubicBezTo>
                <a:cubicBezTo>
                  <a:pt x="4787204" y="1096562"/>
                  <a:pt x="4541077" y="1121971"/>
                  <a:pt x="4327801" y="1097280"/>
                </a:cubicBezTo>
                <a:cubicBezTo>
                  <a:pt x="4114526" y="1072589"/>
                  <a:pt x="4016908" y="1089280"/>
                  <a:pt x="3813874" y="1097280"/>
                </a:cubicBezTo>
                <a:cubicBezTo>
                  <a:pt x="3610840" y="1105280"/>
                  <a:pt x="3321073" y="1100573"/>
                  <a:pt x="3137655" y="1097280"/>
                </a:cubicBezTo>
                <a:cubicBezTo>
                  <a:pt x="2954237" y="1093987"/>
                  <a:pt x="2654103" y="1061568"/>
                  <a:pt x="2380290" y="1097280"/>
                </a:cubicBezTo>
                <a:cubicBezTo>
                  <a:pt x="2106477" y="1132992"/>
                  <a:pt x="2073675" y="1108726"/>
                  <a:pt x="1785218" y="1097280"/>
                </a:cubicBezTo>
                <a:cubicBezTo>
                  <a:pt x="1496761" y="1085834"/>
                  <a:pt x="1278714" y="1087311"/>
                  <a:pt x="946706" y="1097280"/>
                </a:cubicBezTo>
                <a:cubicBezTo>
                  <a:pt x="614698" y="1107249"/>
                  <a:pt x="368107" y="1074612"/>
                  <a:pt x="0" y="1097280"/>
                </a:cubicBezTo>
                <a:cubicBezTo>
                  <a:pt x="-1702" y="883663"/>
                  <a:pt x="18300" y="750203"/>
                  <a:pt x="0" y="548640"/>
                </a:cubicBezTo>
                <a:cubicBezTo>
                  <a:pt x="-18300" y="347077"/>
                  <a:pt x="-6833" y="268609"/>
                  <a:pt x="0" y="0"/>
                </a:cubicBezTo>
                <a:close/>
              </a:path>
            </a:pathLst>
          </a:custGeom>
          <a:noFill/>
          <a:ln w="76200">
            <a:solidFill>
              <a:srgbClr val="89C3E5"/>
            </a:solidFill>
            <a:extLst>
              <a:ext uri="{C807C97D-BFC1-408E-A445-0C87EB9F89A2}">
                <ask:lineSketchStyleProps xmlns:ask="http://schemas.microsoft.com/office/drawing/2018/sketchyshapes" sd="289878596">
                  <a:prstGeom prst="rect">
                    <a:avLst/>
                  </a:prstGeom>
                  <ask:type>
                    <ask:lineSketchFreehand/>
                  </ask:type>
                </ask:lineSketchStyleProps>
              </a:ext>
            </a:extLst>
          </a:ln>
        </p:spPr>
        <p:txBody>
          <a:bodyPr wrap="square" anchor="ctr">
            <a:spAutoFit/>
          </a:bodyPr>
          <a:lstStyle/>
          <a:p>
            <a:pPr algn="ctr"/>
            <a:endParaRPr lang="en-US" sz="4800" dirty="0">
              <a:solidFill>
                <a:schemeClr val="bg1"/>
              </a:solidFill>
            </a:endParaRPr>
          </a:p>
        </p:txBody>
      </p:sp>
      <p:sp>
        <p:nvSpPr>
          <p:cNvPr id="6" name="Rectangle 5">
            <a:extLst>
              <a:ext uri="{FF2B5EF4-FFF2-40B4-BE49-F238E27FC236}">
                <a16:creationId xmlns:a16="http://schemas.microsoft.com/office/drawing/2014/main" id="{5CE764F8-0F66-41EA-B0AF-3FF32F058D10}"/>
              </a:ext>
            </a:extLst>
          </p:cNvPr>
          <p:cNvSpPr/>
          <p:nvPr/>
        </p:nvSpPr>
        <p:spPr>
          <a:xfrm>
            <a:off x="2069166" y="3875481"/>
            <a:ext cx="1668444" cy="1015663"/>
          </a:xfrm>
          <a:prstGeom prst="rect">
            <a:avLst/>
          </a:prstGeom>
          <a:solidFill>
            <a:srgbClr val="002060"/>
          </a:solidFill>
          <a:ln>
            <a:solidFill>
              <a:srgbClr val="002060"/>
            </a:solidFill>
          </a:ln>
        </p:spPr>
        <p:txBody>
          <a:bodyPr wrap="square" anchor="ctr">
            <a:spAutoFit/>
          </a:bodyPr>
          <a:lstStyle/>
          <a:p>
            <a:pPr algn="ctr"/>
            <a:r>
              <a:rPr lang="en-US" sz="3000" dirty="0">
                <a:solidFill>
                  <a:schemeClr val="bg1"/>
                </a:solidFill>
              </a:rPr>
              <a:t>DK Server</a:t>
            </a:r>
          </a:p>
        </p:txBody>
      </p:sp>
      <p:pic>
        <p:nvPicPr>
          <p:cNvPr id="11" name="Picture 10">
            <a:extLst>
              <a:ext uri="{FF2B5EF4-FFF2-40B4-BE49-F238E27FC236}">
                <a16:creationId xmlns:a16="http://schemas.microsoft.com/office/drawing/2014/main" id="{4B4A359C-B3FD-4824-9906-61C311D4B9C4}"/>
              </a:ext>
            </a:extLst>
          </p:cNvPr>
          <p:cNvPicPr>
            <a:picLocks noChangeAspect="1"/>
          </p:cNvPicPr>
          <p:nvPr/>
        </p:nvPicPr>
        <p:blipFill>
          <a:blip r:embed="rId4"/>
          <a:stretch>
            <a:fillRect/>
          </a:stretch>
        </p:blipFill>
        <p:spPr>
          <a:xfrm>
            <a:off x="5125402" y="4897663"/>
            <a:ext cx="1695211" cy="1421545"/>
          </a:xfrm>
          <a:prstGeom prst="rect">
            <a:avLst/>
          </a:prstGeom>
        </p:spPr>
      </p:pic>
      <p:pic>
        <p:nvPicPr>
          <p:cNvPr id="12" name="Picture 11">
            <a:extLst>
              <a:ext uri="{FF2B5EF4-FFF2-40B4-BE49-F238E27FC236}">
                <a16:creationId xmlns:a16="http://schemas.microsoft.com/office/drawing/2014/main" id="{78BFA005-BE9D-4FEA-91D4-1739D423DE9D}"/>
              </a:ext>
            </a:extLst>
          </p:cNvPr>
          <p:cNvPicPr>
            <a:picLocks noChangeAspect="1"/>
          </p:cNvPicPr>
          <p:nvPr/>
        </p:nvPicPr>
        <p:blipFill>
          <a:blip r:embed="rId4"/>
          <a:stretch>
            <a:fillRect/>
          </a:stretch>
        </p:blipFill>
        <p:spPr>
          <a:xfrm>
            <a:off x="8477151" y="4897663"/>
            <a:ext cx="1695211" cy="1421545"/>
          </a:xfrm>
          <a:prstGeom prst="rect">
            <a:avLst/>
          </a:prstGeom>
        </p:spPr>
      </p:pic>
      <p:pic>
        <p:nvPicPr>
          <p:cNvPr id="14" name="Picture 13">
            <a:extLst>
              <a:ext uri="{FF2B5EF4-FFF2-40B4-BE49-F238E27FC236}">
                <a16:creationId xmlns:a16="http://schemas.microsoft.com/office/drawing/2014/main" id="{2F26D529-E297-4CE4-B67D-15966454F0CD}"/>
              </a:ext>
            </a:extLst>
          </p:cNvPr>
          <p:cNvPicPr>
            <a:picLocks noChangeAspect="1"/>
          </p:cNvPicPr>
          <p:nvPr/>
        </p:nvPicPr>
        <p:blipFill>
          <a:blip r:embed="rId5"/>
          <a:stretch>
            <a:fillRect/>
          </a:stretch>
        </p:blipFill>
        <p:spPr>
          <a:xfrm>
            <a:off x="493732" y="1600200"/>
            <a:ext cx="1514475" cy="1828800"/>
          </a:xfrm>
          <a:prstGeom prst="rect">
            <a:avLst/>
          </a:prstGeom>
        </p:spPr>
      </p:pic>
      <p:sp>
        <p:nvSpPr>
          <p:cNvPr id="3" name="TextBox 2">
            <a:extLst>
              <a:ext uri="{FF2B5EF4-FFF2-40B4-BE49-F238E27FC236}">
                <a16:creationId xmlns:a16="http://schemas.microsoft.com/office/drawing/2014/main" id="{072E93E8-9F09-47D6-87A3-4306C48CE41E}"/>
              </a:ext>
            </a:extLst>
          </p:cNvPr>
          <p:cNvSpPr txBox="1"/>
          <p:nvPr/>
        </p:nvSpPr>
        <p:spPr>
          <a:xfrm>
            <a:off x="8488100" y="1730422"/>
            <a:ext cx="1514475" cy="908864"/>
          </a:xfrm>
          <a:prstGeom prst="ellipse">
            <a:avLst/>
          </a:prstGeom>
          <a:noFill/>
          <a:ln w="57150">
            <a:solidFill>
              <a:srgbClr val="89C3E5"/>
            </a:solidFill>
          </a:ln>
        </p:spPr>
        <p:txBody>
          <a:bodyPr wrap="square" rtlCol="0">
            <a:spAutoFit/>
          </a:bodyPr>
          <a:lstStyle/>
          <a:p>
            <a:pPr algn="ctr"/>
            <a:r>
              <a:rPr lang="en-US" dirty="0">
                <a:solidFill>
                  <a:srgbClr val="89C3E5"/>
                </a:solidFill>
              </a:rPr>
              <a:t>Sapphire Object</a:t>
            </a:r>
          </a:p>
        </p:txBody>
      </p:sp>
      <p:sp>
        <p:nvSpPr>
          <p:cNvPr id="16" name="TextBox 15">
            <a:extLst>
              <a:ext uri="{FF2B5EF4-FFF2-40B4-BE49-F238E27FC236}">
                <a16:creationId xmlns:a16="http://schemas.microsoft.com/office/drawing/2014/main" id="{F4538106-88C1-4E28-8D72-299AB15500FA}"/>
              </a:ext>
            </a:extLst>
          </p:cNvPr>
          <p:cNvSpPr txBox="1"/>
          <p:nvPr/>
        </p:nvSpPr>
        <p:spPr>
          <a:xfrm>
            <a:off x="5215768" y="1741731"/>
            <a:ext cx="1514475" cy="908864"/>
          </a:xfrm>
          <a:prstGeom prst="ellipse">
            <a:avLst/>
          </a:prstGeom>
          <a:noFill/>
          <a:ln w="57150">
            <a:solidFill>
              <a:srgbClr val="89C3E5"/>
            </a:solidFill>
          </a:ln>
        </p:spPr>
        <p:txBody>
          <a:bodyPr wrap="square" rtlCol="0">
            <a:spAutoFit/>
          </a:bodyPr>
          <a:lstStyle/>
          <a:p>
            <a:pPr algn="ctr"/>
            <a:r>
              <a:rPr lang="en-US" dirty="0">
                <a:solidFill>
                  <a:srgbClr val="89C3E5"/>
                </a:solidFill>
              </a:rPr>
              <a:t>Sapphire Object</a:t>
            </a:r>
          </a:p>
        </p:txBody>
      </p:sp>
      <p:sp>
        <p:nvSpPr>
          <p:cNvPr id="17" name="TextBox 16">
            <a:extLst>
              <a:ext uri="{FF2B5EF4-FFF2-40B4-BE49-F238E27FC236}">
                <a16:creationId xmlns:a16="http://schemas.microsoft.com/office/drawing/2014/main" id="{DD50B996-874D-46A3-9367-B5E6D1DD0406}"/>
              </a:ext>
            </a:extLst>
          </p:cNvPr>
          <p:cNvSpPr txBox="1"/>
          <p:nvPr/>
        </p:nvSpPr>
        <p:spPr>
          <a:xfrm>
            <a:off x="2146150" y="1741731"/>
            <a:ext cx="1514475" cy="908864"/>
          </a:xfrm>
          <a:prstGeom prst="ellipse">
            <a:avLst/>
          </a:prstGeom>
          <a:noFill/>
          <a:ln w="57150">
            <a:solidFill>
              <a:srgbClr val="89C3E5"/>
            </a:solidFill>
          </a:ln>
        </p:spPr>
        <p:txBody>
          <a:bodyPr wrap="square" rtlCol="0">
            <a:spAutoFit/>
          </a:bodyPr>
          <a:lstStyle/>
          <a:p>
            <a:pPr algn="ctr"/>
            <a:r>
              <a:rPr lang="en-US" dirty="0">
                <a:solidFill>
                  <a:srgbClr val="89C3E5"/>
                </a:solidFill>
              </a:rPr>
              <a:t>Sapphire Object</a:t>
            </a:r>
          </a:p>
        </p:txBody>
      </p:sp>
      <p:sp>
        <p:nvSpPr>
          <p:cNvPr id="18" name="Rectangle 17">
            <a:extLst>
              <a:ext uri="{FF2B5EF4-FFF2-40B4-BE49-F238E27FC236}">
                <a16:creationId xmlns:a16="http://schemas.microsoft.com/office/drawing/2014/main" id="{D9BB0663-527B-4864-9703-0396AF4CD6DF}"/>
              </a:ext>
            </a:extLst>
          </p:cNvPr>
          <p:cNvSpPr/>
          <p:nvPr/>
        </p:nvSpPr>
        <p:spPr>
          <a:xfrm>
            <a:off x="5125401" y="3870570"/>
            <a:ext cx="1695211" cy="1015663"/>
          </a:xfrm>
          <a:prstGeom prst="rect">
            <a:avLst/>
          </a:prstGeom>
          <a:solidFill>
            <a:srgbClr val="002060"/>
          </a:solidFill>
          <a:ln>
            <a:solidFill>
              <a:srgbClr val="002060"/>
            </a:solidFill>
          </a:ln>
        </p:spPr>
        <p:txBody>
          <a:bodyPr wrap="square" anchor="ctr">
            <a:spAutoFit/>
          </a:bodyPr>
          <a:lstStyle/>
          <a:p>
            <a:pPr algn="ctr"/>
            <a:r>
              <a:rPr lang="en-US" sz="3000" dirty="0">
                <a:solidFill>
                  <a:schemeClr val="bg1"/>
                </a:solidFill>
              </a:rPr>
              <a:t>DK Server</a:t>
            </a:r>
          </a:p>
        </p:txBody>
      </p:sp>
      <p:sp>
        <p:nvSpPr>
          <p:cNvPr id="19" name="Rectangle 18">
            <a:extLst>
              <a:ext uri="{FF2B5EF4-FFF2-40B4-BE49-F238E27FC236}">
                <a16:creationId xmlns:a16="http://schemas.microsoft.com/office/drawing/2014/main" id="{C7D445EB-0154-4D86-A1E1-6A11868FBB3A}"/>
              </a:ext>
            </a:extLst>
          </p:cNvPr>
          <p:cNvSpPr/>
          <p:nvPr/>
        </p:nvSpPr>
        <p:spPr>
          <a:xfrm>
            <a:off x="8474960" y="3863661"/>
            <a:ext cx="1695211" cy="1015663"/>
          </a:xfrm>
          <a:prstGeom prst="rect">
            <a:avLst/>
          </a:prstGeom>
          <a:solidFill>
            <a:srgbClr val="002060"/>
          </a:solidFill>
          <a:ln>
            <a:solidFill>
              <a:srgbClr val="002060"/>
            </a:solidFill>
          </a:ln>
        </p:spPr>
        <p:txBody>
          <a:bodyPr wrap="square" anchor="ctr">
            <a:spAutoFit/>
          </a:bodyPr>
          <a:lstStyle/>
          <a:p>
            <a:pPr algn="ctr"/>
            <a:r>
              <a:rPr lang="en-US" sz="3000" dirty="0">
                <a:solidFill>
                  <a:schemeClr val="bg1"/>
                </a:solidFill>
              </a:rPr>
              <a:t>OTS Server</a:t>
            </a:r>
          </a:p>
        </p:txBody>
      </p:sp>
      <p:cxnSp>
        <p:nvCxnSpPr>
          <p:cNvPr id="9" name="Straight Arrow Connector 8">
            <a:extLst>
              <a:ext uri="{FF2B5EF4-FFF2-40B4-BE49-F238E27FC236}">
                <a16:creationId xmlns:a16="http://schemas.microsoft.com/office/drawing/2014/main" id="{6AD69BBD-B1EB-4235-8406-538AAFFFE535}"/>
              </a:ext>
            </a:extLst>
          </p:cNvPr>
          <p:cNvCxnSpPr/>
          <p:nvPr/>
        </p:nvCxnSpPr>
        <p:spPr>
          <a:xfrm>
            <a:off x="3916402" y="4491990"/>
            <a:ext cx="929918" cy="0"/>
          </a:xfrm>
          <a:prstGeom prst="straightConnector1">
            <a:avLst/>
          </a:prstGeom>
          <a:ln w="76200">
            <a:solidFill>
              <a:srgbClr val="002060"/>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0B1B55B4-F68A-4BB2-9D8C-12B3A1F9E491}"/>
              </a:ext>
            </a:extLst>
          </p:cNvPr>
          <p:cNvCxnSpPr/>
          <p:nvPr/>
        </p:nvCxnSpPr>
        <p:spPr>
          <a:xfrm>
            <a:off x="7169468" y="4495800"/>
            <a:ext cx="929918" cy="0"/>
          </a:xfrm>
          <a:prstGeom prst="straightConnector1">
            <a:avLst/>
          </a:prstGeom>
          <a:ln w="76200">
            <a:solidFill>
              <a:srgbClr val="002060"/>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8" name="Straight Arrow Connector 27">
            <a:extLst>
              <a:ext uri="{FF2B5EF4-FFF2-40B4-BE49-F238E27FC236}">
                <a16:creationId xmlns:a16="http://schemas.microsoft.com/office/drawing/2014/main" id="{6968DF10-54D5-4417-802B-019159F51604}"/>
              </a:ext>
            </a:extLst>
          </p:cNvPr>
          <p:cNvCxnSpPr>
            <a:cxnSpLocks/>
            <a:stCxn id="3" idx="4"/>
          </p:cNvCxnSpPr>
          <p:nvPr/>
        </p:nvCxnSpPr>
        <p:spPr>
          <a:xfrm flipH="1">
            <a:off x="9207402" y="2639286"/>
            <a:ext cx="37936" cy="1362817"/>
          </a:xfrm>
          <a:prstGeom prst="straightConnector1">
            <a:avLst/>
          </a:prstGeom>
          <a:ln w="76200">
            <a:solidFill>
              <a:srgbClr val="FF9900"/>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22" name="TextBox 21">
            <a:extLst>
              <a:ext uri="{FF2B5EF4-FFF2-40B4-BE49-F238E27FC236}">
                <a16:creationId xmlns:a16="http://schemas.microsoft.com/office/drawing/2014/main" id="{E98D48B8-E12E-494B-864A-509C44488C17}"/>
              </a:ext>
            </a:extLst>
          </p:cNvPr>
          <p:cNvSpPr txBox="1"/>
          <p:nvPr/>
        </p:nvSpPr>
        <p:spPr>
          <a:xfrm>
            <a:off x="8121630" y="2911788"/>
            <a:ext cx="2001204" cy="830997"/>
          </a:xfrm>
          <a:prstGeom prst="rect">
            <a:avLst/>
          </a:prstGeom>
          <a:solidFill>
            <a:srgbClr val="FF7C80"/>
          </a:solidFill>
          <a:ln>
            <a:noFill/>
          </a:ln>
        </p:spPr>
        <p:txBody>
          <a:bodyPr wrap="square" rtlCol="0">
            <a:spAutoFit/>
          </a:bodyPr>
          <a:lstStyle/>
          <a:p>
            <a:pPr algn="ctr"/>
            <a:r>
              <a:rPr lang="en-US" sz="2400" dirty="0">
                <a:solidFill>
                  <a:schemeClr val="bg1"/>
                </a:solidFill>
              </a:rPr>
              <a:t>Code-offloading</a:t>
            </a:r>
          </a:p>
        </p:txBody>
      </p:sp>
      <p:cxnSp>
        <p:nvCxnSpPr>
          <p:cNvPr id="25" name="Straight Arrow Connector 24">
            <a:extLst>
              <a:ext uri="{FF2B5EF4-FFF2-40B4-BE49-F238E27FC236}">
                <a16:creationId xmlns:a16="http://schemas.microsoft.com/office/drawing/2014/main" id="{A117B0F2-BA2A-418A-87E1-1AC73ADA520C}"/>
              </a:ext>
            </a:extLst>
          </p:cNvPr>
          <p:cNvCxnSpPr>
            <a:cxnSpLocks/>
          </p:cNvCxnSpPr>
          <p:nvPr/>
        </p:nvCxnSpPr>
        <p:spPr>
          <a:xfrm>
            <a:off x="5971405" y="2756233"/>
            <a:ext cx="1" cy="1158608"/>
          </a:xfrm>
          <a:prstGeom prst="straightConnector1">
            <a:avLst/>
          </a:prstGeom>
          <a:ln w="76200">
            <a:solidFill>
              <a:srgbClr val="FF9900"/>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21" name="TextBox 20">
            <a:extLst>
              <a:ext uri="{FF2B5EF4-FFF2-40B4-BE49-F238E27FC236}">
                <a16:creationId xmlns:a16="http://schemas.microsoft.com/office/drawing/2014/main" id="{E04EDE53-D3A5-40DE-88BE-EA34B10F3E9F}"/>
              </a:ext>
            </a:extLst>
          </p:cNvPr>
          <p:cNvSpPr txBox="1"/>
          <p:nvPr/>
        </p:nvSpPr>
        <p:spPr>
          <a:xfrm>
            <a:off x="4972403" y="3125521"/>
            <a:ext cx="2001204" cy="461665"/>
          </a:xfrm>
          <a:prstGeom prst="rect">
            <a:avLst/>
          </a:prstGeom>
          <a:solidFill>
            <a:srgbClr val="FF7C80"/>
          </a:solidFill>
          <a:ln>
            <a:noFill/>
          </a:ln>
        </p:spPr>
        <p:txBody>
          <a:bodyPr wrap="square" rtlCol="0">
            <a:spAutoFit/>
          </a:bodyPr>
          <a:lstStyle/>
          <a:p>
            <a:pPr algn="ctr"/>
            <a:r>
              <a:rPr lang="en-US" sz="2400" dirty="0">
                <a:solidFill>
                  <a:schemeClr val="bg1"/>
                </a:solidFill>
              </a:rPr>
              <a:t>Replication</a:t>
            </a:r>
          </a:p>
        </p:txBody>
      </p:sp>
      <p:cxnSp>
        <p:nvCxnSpPr>
          <p:cNvPr id="23" name="Straight Arrow Connector 22">
            <a:extLst>
              <a:ext uri="{FF2B5EF4-FFF2-40B4-BE49-F238E27FC236}">
                <a16:creationId xmlns:a16="http://schemas.microsoft.com/office/drawing/2014/main" id="{B96728E8-7084-4B5A-A0B5-30A946F2AB33}"/>
              </a:ext>
            </a:extLst>
          </p:cNvPr>
          <p:cNvCxnSpPr>
            <a:cxnSpLocks/>
          </p:cNvCxnSpPr>
          <p:nvPr/>
        </p:nvCxnSpPr>
        <p:spPr>
          <a:xfrm flipH="1">
            <a:off x="2903387" y="2779093"/>
            <a:ext cx="11783" cy="1084568"/>
          </a:xfrm>
          <a:prstGeom prst="straightConnector1">
            <a:avLst/>
          </a:prstGeom>
          <a:ln w="76200">
            <a:solidFill>
              <a:srgbClr val="FF9900"/>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97C773D6-35E4-49C4-B0C6-B43BE2D1E9A2}"/>
              </a:ext>
            </a:extLst>
          </p:cNvPr>
          <p:cNvSpPr txBox="1"/>
          <p:nvPr/>
        </p:nvSpPr>
        <p:spPr>
          <a:xfrm>
            <a:off x="2255312" y="3085025"/>
            <a:ext cx="2001204" cy="461665"/>
          </a:xfrm>
          <a:prstGeom prst="rect">
            <a:avLst/>
          </a:prstGeom>
          <a:solidFill>
            <a:srgbClr val="FF7C80"/>
          </a:solidFill>
          <a:ln>
            <a:noFill/>
          </a:ln>
        </p:spPr>
        <p:txBody>
          <a:bodyPr wrap="square" rtlCol="0">
            <a:spAutoFit/>
          </a:bodyPr>
          <a:lstStyle/>
          <a:p>
            <a:pPr algn="ctr"/>
            <a:r>
              <a:rPr lang="en-US" sz="2400" dirty="0">
                <a:solidFill>
                  <a:schemeClr val="bg1"/>
                </a:solidFill>
              </a:rPr>
              <a:t>Lease Caching</a:t>
            </a:r>
          </a:p>
        </p:txBody>
      </p:sp>
      <p:sp>
        <p:nvSpPr>
          <p:cNvPr id="35" name="TextBox 34">
            <a:extLst>
              <a:ext uri="{FF2B5EF4-FFF2-40B4-BE49-F238E27FC236}">
                <a16:creationId xmlns:a16="http://schemas.microsoft.com/office/drawing/2014/main" id="{B33F28FC-900F-4429-9EFD-CAA4837C4A61}"/>
              </a:ext>
            </a:extLst>
          </p:cNvPr>
          <p:cNvSpPr txBox="1"/>
          <p:nvPr/>
        </p:nvSpPr>
        <p:spPr>
          <a:xfrm>
            <a:off x="2076787" y="1586865"/>
            <a:ext cx="8145443" cy="1097280"/>
          </a:xfrm>
          <a:prstGeom prst="rect">
            <a:avLst/>
          </a:prstGeom>
          <a:solidFill>
            <a:srgbClr val="FFFFFF">
              <a:alpha val="69804"/>
            </a:srgbClr>
          </a:solidFill>
        </p:spPr>
        <p:txBody>
          <a:bodyPr wrap="square" rtlCol="0">
            <a:spAutoFit/>
          </a:bodyPr>
          <a:lstStyle/>
          <a:p>
            <a:endParaRPr lang="en-US" dirty="0"/>
          </a:p>
        </p:txBody>
      </p:sp>
      <p:sp>
        <p:nvSpPr>
          <p:cNvPr id="36" name="TextBox 35">
            <a:extLst>
              <a:ext uri="{FF2B5EF4-FFF2-40B4-BE49-F238E27FC236}">
                <a16:creationId xmlns:a16="http://schemas.microsoft.com/office/drawing/2014/main" id="{125961E5-416C-4DF2-A5E3-4B323F78C920}"/>
              </a:ext>
            </a:extLst>
          </p:cNvPr>
          <p:cNvSpPr txBox="1"/>
          <p:nvPr/>
        </p:nvSpPr>
        <p:spPr>
          <a:xfrm>
            <a:off x="2038349" y="3868572"/>
            <a:ext cx="8145443" cy="2468880"/>
          </a:xfrm>
          <a:prstGeom prst="rect">
            <a:avLst/>
          </a:prstGeom>
          <a:solidFill>
            <a:srgbClr val="FFFFFF">
              <a:alpha val="80000"/>
            </a:srgbClr>
          </a:solidFill>
        </p:spPr>
        <p:txBody>
          <a:bodyPr wrap="square" rtlCol="0">
            <a:spAutoFit/>
          </a:bodyPr>
          <a:lstStyle/>
          <a:p>
            <a:endParaRPr lang="en-US" dirty="0"/>
          </a:p>
        </p:txBody>
      </p:sp>
      <p:sp>
        <p:nvSpPr>
          <p:cNvPr id="5" name="Rectangle 4">
            <a:extLst>
              <a:ext uri="{FF2B5EF4-FFF2-40B4-BE49-F238E27FC236}">
                <a16:creationId xmlns:a16="http://schemas.microsoft.com/office/drawing/2014/main" id="{3D84C9BA-78C2-41C3-9D63-54EC36D509DD}"/>
              </a:ext>
            </a:extLst>
          </p:cNvPr>
          <p:cNvSpPr/>
          <p:nvPr/>
        </p:nvSpPr>
        <p:spPr>
          <a:xfrm>
            <a:off x="2069166" y="2779093"/>
            <a:ext cx="8114626" cy="1097280"/>
          </a:xfrm>
          <a:custGeom>
            <a:avLst/>
            <a:gdLst>
              <a:gd name="connsiteX0" fmla="*/ 0 w 8114626"/>
              <a:gd name="connsiteY0" fmla="*/ 0 h 1097280"/>
              <a:gd name="connsiteX1" fmla="*/ 676219 w 8114626"/>
              <a:gd name="connsiteY1" fmla="*/ 0 h 1097280"/>
              <a:gd name="connsiteX2" fmla="*/ 1271291 w 8114626"/>
              <a:gd name="connsiteY2" fmla="*/ 0 h 1097280"/>
              <a:gd name="connsiteX3" fmla="*/ 1704071 w 8114626"/>
              <a:gd name="connsiteY3" fmla="*/ 0 h 1097280"/>
              <a:gd name="connsiteX4" fmla="*/ 2380290 w 8114626"/>
              <a:gd name="connsiteY4" fmla="*/ 0 h 1097280"/>
              <a:gd name="connsiteX5" fmla="*/ 3056509 w 8114626"/>
              <a:gd name="connsiteY5" fmla="*/ 0 h 1097280"/>
              <a:gd name="connsiteX6" fmla="*/ 3570435 w 8114626"/>
              <a:gd name="connsiteY6" fmla="*/ 0 h 1097280"/>
              <a:gd name="connsiteX7" fmla="*/ 4084362 w 8114626"/>
              <a:gd name="connsiteY7" fmla="*/ 0 h 1097280"/>
              <a:gd name="connsiteX8" fmla="*/ 4598288 w 8114626"/>
              <a:gd name="connsiteY8" fmla="*/ 0 h 1097280"/>
              <a:gd name="connsiteX9" fmla="*/ 5112214 w 8114626"/>
              <a:gd name="connsiteY9" fmla="*/ 0 h 1097280"/>
              <a:gd name="connsiteX10" fmla="*/ 5869579 w 8114626"/>
              <a:gd name="connsiteY10" fmla="*/ 0 h 1097280"/>
              <a:gd name="connsiteX11" fmla="*/ 6708091 w 8114626"/>
              <a:gd name="connsiteY11" fmla="*/ 0 h 1097280"/>
              <a:gd name="connsiteX12" fmla="*/ 7384310 w 8114626"/>
              <a:gd name="connsiteY12" fmla="*/ 0 h 1097280"/>
              <a:gd name="connsiteX13" fmla="*/ 8114626 w 8114626"/>
              <a:gd name="connsiteY13" fmla="*/ 0 h 1097280"/>
              <a:gd name="connsiteX14" fmla="*/ 8114626 w 8114626"/>
              <a:gd name="connsiteY14" fmla="*/ 559613 h 1097280"/>
              <a:gd name="connsiteX15" fmla="*/ 8114626 w 8114626"/>
              <a:gd name="connsiteY15" fmla="*/ 1097280 h 1097280"/>
              <a:gd name="connsiteX16" fmla="*/ 7600700 w 8114626"/>
              <a:gd name="connsiteY16" fmla="*/ 1097280 h 1097280"/>
              <a:gd name="connsiteX17" fmla="*/ 6843335 w 8114626"/>
              <a:gd name="connsiteY17" fmla="*/ 1097280 h 1097280"/>
              <a:gd name="connsiteX18" fmla="*/ 6410555 w 8114626"/>
              <a:gd name="connsiteY18" fmla="*/ 1097280 h 1097280"/>
              <a:gd name="connsiteX19" fmla="*/ 5815482 w 8114626"/>
              <a:gd name="connsiteY19" fmla="*/ 1097280 h 1097280"/>
              <a:gd name="connsiteX20" fmla="*/ 5382702 w 8114626"/>
              <a:gd name="connsiteY20" fmla="*/ 1097280 h 1097280"/>
              <a:gd name="connsiteX21" fmla="*/ 4706483 w 8114626"/>
              <a:gd name="connsiteY21" fmla="*/ 1097280 h 1097280"/>
              <a:gd name="connsiteX22" fmla="*/ 4111411 w 8114626"/>
              <a:gd name="connsiteY22" fmla="*/ 1097280 h 1097280"/>
              <a:gd name="connsiteX23" fmla="*/ 3272899 w 8114626"/>
              <a:gd name="connsiteY23" fmla="*/ 1097280 h 1097280"/>
              <a:gd name="connsiteX24" fmla="*/ 2840119 w 8114626"/>
              <a:gd name="connsiteY24" fmla="*/ 1097280 h 1097280"/>
              <a:gd name="connsiteX25" fmla="*/ 2245047 w 8114626"/>
              <a:gd name="connsiteY25" fmla="*/ 1097280 h 1097280"/>
              <a:gd name="connsiteX26" fmla="*/ 1568828 w 8114626"/>
              <a:gd name="connsiteY26" fmla="*/ 1097280 h 1097280"/>
              <a:gd name="connsiteX27" fmla="*/ 1136048 w 8114626"/>
              <a:gd name="connsiteY27" fmla="*/ 1097280 h 1097280"/>
              <a:gd name="connsiteX28" fmla="*/ 0 w 8114626"/>
              <a:gd name="connsiteY28" fmla="*/ 1097280 h 1097280"/>
              <a:gd name="connsiteX29" fmla="*/ 0 w 8114626"/>
              <a:gd name="connsiteY29" fmla="*/ 559613 h 1097280"/>
              <a:gd name="connsiteX30" fmla="*/ 0 w 8114626"/>
              <a:gd name="connsiteY30" fmla="*/ 0 h 10972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8114626" h="1097280" extrusionOk="0">
                <a:moveTo>
                  <a:pt x="0" y="0"/>
                </a:moveTo>
                <a:cubicBezTo>
                  <a:pt x="187138" y="-30126"/>
                  <a:pt x="478860" y="-4989"/>
                  <a:pt x="676219" y="0"/>
                </a:cubicBezTo>
                <a:cubicBezTo>
                  <a:pt x="873578" y="4989"/>
                  <a:pt x="1045434" y="-8336"/>
                  <a:pt x="1271291" y="0"/>
                </a:cubicBezTo>
                <a:cubicBezTo>
                  <a:pt x="1497148" y="8336"/>
                  <a:pt x="1558144" y="-17941"/>
                  <a:pt x="1704071" y="0"/>
                </a:cubicBezTo>
                <a:cubicBezTo>
                  <a:pt x="1849998" y="17941"/>
                  <a:pt x="2120374" y="1445"/>
                  <a:pt x="2380290" y="0"/>
                </a:cubicBezTo>
                <a:cubicBezTo>
                  <a:pt x="2640206" y="-1445"/>
                  <a:pt x="2833468" y="23518"/>
                  <a:pt x="3056509" y="0"/>
                </a:cubicBezTo>
                <a:cubicBezTo>
                  <a:pt x="3279550" y="-23518"/>
                  <a:pt x="3459746" y="5987"/>
                  <a:pt x="3570435" y="0"/>
                </a:cubicBezTo>
                <a:cubicBezTo>
                  <a:pt x="3681124" y="-5987"/>
                  <a:pt x="3961443" y="14285"/>
                  <a:pt x="4084362" y="0"/>
                </a:cubicBezTo>
                <a:cubicBezTo>
                  <a:pt x="4207281" y="-14285"/>
                  <a:pt x="4491152" y="-11122"/>
                  <a:pt x="4598288" y="0"/>
                </a:cubicBezTo>
                <a:cubicBezTo>
                  <a:pt x="4705424" y="11122"/>
                  <a:pt x="4954861" y="9361"/>
                  <a:pt x="5112214" y="0"/>
                </a:cubicBezTo>
                <a:cubicBezTo>
                  <a:pt x="5269567" y="-9361"/>
                  <a:pt x="5518428" y="-22377"/>
                  <a:pt x="5869579" y="0"/>
                </a:cubicBezTo>
                <a:cubicBezTo>
                  <a:pt x="6220731" y="22377"/>
                  <a:pt x="6488641" y="1161"/>
                  <a:pt x="6708091" y="0"/>
                </a:cubicBezTo>
                <a:cubicBezTo>
                  <a:pt x="6927541" y="-1161"/>
                  <a:pt x="7182733" y="24580"/>
                  <a:pt x="7384310" y="0"/>
                </a:cubicBezTo>
                <a:cubicBezTo>
                  <a:pt x="7585887" y="-24580"/>
                  <a:pt x="7802561" y="19480"/>
                  <a:pt x="8114626" y="0"/>
                </a:cubicBezTo>
                <a:cubicBezTo>
                  <a:pt x="8122813" y="275032"/>
                  <a:pt x="8134681" y="287185"/>
                  <a:pt x="8114626" y="559613"/>
                </a:cubicBezTo>
                <a:cubicBezTo>
                  <a:pt x="8094571" y="832041"/>
                  <a:pt x="8100397" y="974863"/>
                  <a:pt x="8114626" y="1097280"/>
                </a:cubicBezTo>
                <a:cubicBezTo>
                  <a:pt x="7896583" y="1090753"/>
                  <a:pt x="7801267" y="1076912"/>
                  <a:pt x="7600700" y="1097280"/>
                </a:cubicBezTo>
                <a:cubicBezTo>
                  <a:pt x="7400133" y="1117648"/>
                  <a:pt x="7190170" y="1072510"/>
                  <a:pt x="6843335" y="1097280"/>
                </a:cubicBezTo>
                <a:cubicBezTo>
                  <a:pt x="6496501" y="1122050"/>
                  <a:pt x="6589463" y="1096516"/>
                  <a:pt x="6410555" y="1097280"/>
                </a:cubicBezTo>
                <a:cubicBezTo>
                  <a:pt x="6231647" y="1098044"/>
                  <a:pt x="6026797" y="1100247"/>
                  <a:pt x="5815482" y="1097280"/>
                </a:cubicBezTo>
                <a:cubicBezTo>
                  <a:pt x="5604167" y="1094313"/>
                  <a:pt x="5470832" y="1083179"/>
                  <a:pt x="5382702" y="1097280"/>
                </a:cubicBezTo>
                <a:cubicBezTo>
                  <a:pt x="5294572" y="1111381"/>
                  <a:pt x="4974941" y="1125190"/>
                  <a:pt x="4706483" y="1097280"/>
                </a:cubicBezTo>
                <a:cubicBezTo>
                  <a:pt x="4438025" y="1069370"/>
                  <a:pt x="4337094" y="1078447"/>
                  <a:pt x="4111411" y="1097280"/>
                </a:cubicBezTo>
                <a:cubicBezTo>
                  <a:pt x="3885728" y="1116113"/>
                  <a:pt x="3681768" y="1083264"/>
                  <a:pt x="3272899" y="1097280"/>
                </a:cubicBezTo>
                <a:cubicBezTo>
                  <a:pt x="2864030" y="1111296"/>
                  <a:pt x="3027468" y="1092915"/>
                  <a:pt x="2840119" y="1097280"/>
                </a:cubicBezTo>
                <a:cubicBezTo>
                  <a:pt x="2652770" y="1101645"/>
                  <a:pt x="2480171" y="1077831"/>
                  <a:pt x="2245047" y="1097280"/>
                </a:cubicBezTo>
                <a:cubicBezTo>
                  <a:pt x="2009923" y="1116729"/>
                  <a:pt x="1840160" y="1102162"/>
                  <a:pt x="1568828" y="1097280"/>
                </a:cubicBezTo>
                <a:cubicBezTo>
                  <a:pt x="1297496" y="1092398"/>
                  <a:pt x="1342614" y="1093226"/>
                  <a:pt x="1136048" y="1097280"/>
                </a:cubicBezTo>
                <a:cubicBezTo>
                  <a:pt x="929482" y="1101334"/>
                  <a:pt x="282808" y="1087878"/>
                  <a:pt x="0" y="1097280"/>
                </a:cubicBezTo>
                <a:cubicBezTo>
                  <a:pt x="-10717" y="984444"/>
                  <a:pt x="14348" y="799545"/>
                  <a:pt x="0" y="559613"/>
                </a:cubicBezTo>
                <a:cubicBezTo>
                  <a:pt x="-14348" y="319681"/>
                  <a:pt x="12218" y="206726"/>
                  <a:pt x="0" y="0"/>
                </a:cubicBezTo>
                <a:close/>
              </a:path>
            </a:pathLst>
          </a:custGeom>
          <a:noFill/>
          <a:ln w="76200">
            <a:solidFill>
              <a:srgbClr val="FF7C80"/>
            </a:solidFill>
            <a:extLst>
              <a:ext uri="{C807C97D-BFC1-408E-A445-0C87EB9F89A2}">
                <ask:lineSketchStyleProps xmlns:ask="http://schemas.microsoft.com/office/drawing/2018/sketchyshapes" sd="4069495798">
                  <a:prstGeom prst="rect">
                    <a:avLst/>
                  </a:prstGeom>
                  <ask:type>
                    <ask:lineSketchFreehand/>
                  </ask:type>
                </ask:lineSketchStyleProps>
              </a:ext>
            </a:extLst>
          </a:ln>
        </p:spPr>
        <p:txBody>
          <a:bodyPr wrap="square" anchor="ctr">
            <a:spAutoFit/>
          </a:bodyPr>
          <a:lstStyle/>
          <a:p>
            <a:pPr algn="ctr"/>
            <a:endParaRPr lang="en-US" sz="4800" dirty="0">
              <a:solidFill>
                <a:schemeClr val="bg1"/>
              </a:solidFill>
            </a:endParaRPr>
          </a:p>
        </p:txBody>
      </p:sp>
      <p:sp>
        <p:nvSpPr>
          <p:cNvPr id="37" name="Arrow: Down 36">
            <a:extLst>
              <a:ext uri="{FF2B5EF4-FFF2-40B4-BE49-F238E27FC236}">
                <a16:creationId xmlns:a16="http://schemas.microsoft.com/office/drawing/2014/main" id="{90CE4E62-2DE0-4742-8EDB-E8278021770F}"/>
              </a:ext>
            </a:extLst>
          </p:cNvPr>
          <p:cNvSpPr/>
          <p:nvPr/>
        </p:nvSpPr>
        <p:spPr>
          <a:xfrm rot="5400000">
            <a:off x="10732600" y="2701245"/>
            <a:ext cx="846158" cy="1268584"/>
          </a:xfrm>
          <a:prstGeom prst="downArrow">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75704503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D809C9-C6AE-440F-A229-A0B2E884BEDA}"/>
              </a:ext>
            </a:extLst>
          </p:cNvPr>
          <p:cNvSpPr>
            <a:spLocks noGrp="1"/>
          </p:cNvSpPr>
          <p:nvPr>
            <p:ph type="title"/>
          </p:nvPr>
        </p:nvSpPr>
        <p:spPr/>
        <p:txBody>
          <a:bodyPr/>
          <a:lstStyle/>
          <a:p>
            <a:r>
              <a:rPr lang="en-US" dirty="0">
                <a:solidFill>
                  <a:srgbClr val="FF6600"/>
                </a:solidFill>
              </a:rPr>
              <a:t>Deployment Managers (DMs)</a:t>
            </a:r>
          </a:p>
        </p:txBody>
      </p:sp>
      <p:sp>
        <p:nvSpPr>
          <p:cNvPr id="3" name="Content Placeholder 2">
            <a:extLst>
              <a:ext uri="{FF2B5EF4-FFF2-40B4-BE49-F238E27FC236}">
                <a16:creationId xmlns:a16="http://schemas.microsoft.com/office/drawing/2014/main" id="{5D9D5137-710D-41B1-9297-26CF52BF0179}"/>
              </a:ext>
            </a:extLst>
          </p:cNvPr>
          <p:cNvSpPr>
            <a:spLocks noGrp="1"/>
          </p:cNvSpPr>
          <p:nvPr>
            <p:ph idx="1"/>
          </p:nvPr>
        </p:nvSpPr>
        <p:spPr/>
        <p:txBody>
          <a:bodyPr/>
          <a:lstStyle/>
          <a:p>
            <a:pPr>
              <a:buFont typeface="Arial" panose="020B0604020202020204" pitchFamily="34" charset="0"/>
              <a:buChar char="•"/>
            </a:pPr>
            <a:r>
              <a:rPr lang="en-US" dirty="0"/>
              <a:t> Extend the functions and guarantees of the deployment kernel</a:t>
            </a:r>
          </a:p>
          <a:p>
            <a:pPr>
              <a:buFont typeface="Arial" panose="020B0604020202020204" pitchFamily="34" charset="0"/>
              <a:buChar char="•"/>
            </a:pPr>
            <a:r>
              <a:rPr lang="en-US" dirty="0"/>
              <a:t> Interpose on Sapphire object events</a:t>
            </a:r>
          </a:p>
          <a:p>
            <a:pPr>
              <a:buFont typeface="Arial" panose="020B0604020202020204" pitchFamily="34" charset="0"/>
              <a:buChar char="•"/>
            </a:pPr>
            <a:r>
              <a:rPr lang="en-US" dirty="0"/>
              <a:t> Customize and control the behavior of individual SOs in the distributed mobile/cloud environment</a:t>
            </a:r>
          </a:p>
          <a:p>
            <a:pPr>
              <a:buFont typeface="Arial" panose="020B0604020202020204" pitchFamily="34" charset="0"/>
              <a:buChar char="•"/>
            </a:pPr>
            <a:r>
              <a:rPr lang="en-US" dirty="0">
                <a:solidFill>
                  <a:srgbClr val="FF6600"/>
                </a:solidFill>
              </a:rPr>
              <a:t> Easy to choose and change</a:t>
            </a:r>
            <a:r>
              <a:rPr lang="en-US" dirty="0"/>
              <a:t> </a:t>
            </a:r>
            <a:r>
              <a:rPr lang="en-US" u="sng" dirty="0">
                <a:solidFill>
                  <a:schemeClr val="tx1"/>
                </a:solidFill>
              </a:rPr>
              <a:t>without</a:t>
            </a:r>
            <a:r>
              <a:rPr lang="en-US" dirty="0"/>
              <a:t> modifying the application</a:t>
            </a:r>
          </a:p>
        </p:txBody>
      </p:sp>
    </p:spTree>
    <p:extLst>
      <p:ext uri="{BB962C8B-B14F-4D97-AF65-F5344CB8AC3E}">
        <p14:creationId xmlns:p14="http://schemas.microsoft.com/office/powerpoint/2010/main" val="255112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801B4A-D562-4C42-A993-17480FB4DC27}"/>
              </a:ext>
            </a:extLst>
          </p:cNvPr>
          <p:cNvSpPr>
            <a:spLocks noGrp="1"/>
          </p:cNvSpPr>
          <p:nvPr>
            <p:ph type="title"/>
          </p:nvPr>
        </p:nvSpPr>
        <p:spPr/>
        <p:txBody>
          <a:bodyPr/>
          <a:lstStyle/>
          <a:p>
            <a:r>
              <a:rPr lang="en-US" dirty="0"/>
              <a:t>DM Design Examples</a:t>
            </a:r>
          </a:p>
        </p:txBody>
      </p:sp>
      <p:sp>
        <p:nvSpPr>
          <p:cNvPr id="3" name="Content Placeholder 2">
            <a:extLst>
              <a:ext uri="{FF2B5EF4-FFF2-40B4-BE49-F238E27FC236}">
                <a16:creationId xmlns:a16="http://schemas.microsoft.com/office/drawing/2014/main" id="{C421F843-24C9-4CC3-AB1E-0E43950E160E}"/>
              </a:ext>
            </a:extLst>
          </p:cNvPr>
          <p:cNvSpPr>
            <a:spLocks noGrp="1"/>
          </p:cNvSpPr>
          <p:nvPr>
            <p:ph idx="1"/>
          </p:nvPr>
        </p:nvSpPr>
        <p:spPr/>
        <p:txBody>
          <a:bodyPr/>
          <a:lstStyle/>
          <a:p>
            <a:pPr marL="0" indent="0">
              <a:buNone/>
            </a:pPr>
            <a:r>
              <a:rPr lang="en-US" dirty="0"/>
              <a:t>the design and implementation of classes of DMs from the Library</a:t>
            </a:r>
          </a:p>
          <a:p>
            <a:pPr>
              <a:buFont typeface="Arial" panose="020B0604020202020204" pitchFamily="34" charset="0"/>
              <a:buChar char="•"/>
            </a:pPr>
            <a:r>
              <a:rPr lang="en-US" dirty="0"/>
              <a:t> Code-offloading</a:t>
            </a:r>
          </a:p>
          <a:p>
            <a:pPr>
              <a:buFont typeface="Arial" panose="020B0604020202020204" pitchFamily="34" charset="0"/>
              <a:buChar char="•"/>
            </a:pPr>
            <a:r>
              <a:rPr lang="en-US" dirty="0"/>
              <a:t> Peer-to-peer</a:t>
            </a:r>
          </a:p>
          <a:p>
            <a:pPr>
              <a:buFont typeface="Arial" panose="020B0604020202020204" pitchFamily="34" charset="0"/>
              <a:buChar char="•"/>
            </a:pPr>
            <a:r>
              <a:rPr lang="en-US" dirty="0"/>
              <a:t> Replication</a:t>
            </a:r>
          </a:p>
          <a:p>
            <a:pPr>
              <a:buFont typeface="Arial" panose="020B0604020202020204" pitchFamily="34" charset="0"/>
              <a:buChar char="•"/>
            </a:pPr>
            <a:r>
              <a:rPr lang="en-US" dirty="0"/>
              <a:t> Scalability</a:t>
            </a:r>
          </a:p>
          <a:p>
            <a:pPr>
              <a:buFont typeface="Arial" panose="020B0604020202020204" pitchFamily="34" charset="0"/>
              <a:buChar char="•"/>
            </a:pPr>
            <a:r>
              <a:rPr lang="en-US" dirty="0"/>
              <a:t> Discussion</a:t>
            </a:r>
          </a:p>
        </p:txBody>
      </p:sp>
    </p:spTree>
    <p:extLst>
      <p:ext uri="{BB962C8B-B14F-4D97-AF65-F5344CB8AC3E}">
        <p14:creationId xmlns:p14="http://schemas.microsoft.com/office/powerpoint/2010/main" val="141040511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A32944-5722-47E6-BC97-09B5A4745C1E}"/>
              </a:ext>
            </a:extLst>
          </p:cNvPr>
          <p:cNvSpPr>
            <a:spLocks noGrp="1"/>
          </p:cNvSpPr>
          <p:nvPr>
            <p:ph type="title"/>
          </p:nvPr>
        </p:nvSpPr>
        <p:spPr/>
        <p:txBody>
          <a:bodyPr/>
          <a:lstStyle/>
          <a:p>
            <a:r>
              <a:rPr lang="en-US" dirty="0"/>
              <a:t>DM Library</a:t>
            </a:r>
          </a:p>
        </p:txBody>
      </p:sp>
      <p:pic>
        <p:nvPicPr>
          <p:cNvPr id="4" name="Content Placeholder 3">
            <a:extLst>
              <a:ext uri="{FF2B5EF4-FFF2-40B4-BE49-F238E27FC236}">
                <a16:creationId xmlns:a16="http://schemas.microsoft.com/office/drawing/2014/main" id="{B0620B56-2897-40CB-BC94-68FAF79B9AD2}"/>
              </a:ext>
            </a:extLst>
          </p:cNvPr>
          <p:cNvPicPr>
            <a:picLocks noGrp="1" noChangeAspect="1"/>
          </p:cNvPicPr>
          <p:nvPr>
            <p:ph idx="1"/>
          </p:nvPr>
        </p:nvPicPr>
        <p:blipFill>
          <a:blip r:embed="rId3"/>
          <a:stretch>
            <a:fillRect/>
          </a:stretch>
        </p:blipFill>
        <p:spPr>
          <a:xfrm>
            <a:off x="1734833" y="1579563"/>
            <a:ext cx="8782659" cy="4627562"/>
          </a:xfrm>
          <a:prstGeom prst="rect">
            <a:avLst/>
          </a:prstGeom>
        </p:spPr>
      </p:pic>
      <p:pic>
        <p:nvPicPr>
          <p:cNvPr id="5" name="Picture 4">
            <a:extLst>
              <a:ext uri="{FF2B5EF4-FFF2-40B4-BE49-F238E27FC236}">
                <a16:creationId xmlns:a16="http://schemas.microsoft.com/office/drawing/2014/main" id="{5BFB7197-4EB0-460A-871E-0848B9CFB076}"/>
              </a:ext>
            </a:extLst>
          </p:cNvPr>
          <p:cNvPicPr>
            <a:picLocks noChangeAspect="1"/>
          </p:cNvPicPr>
          <p:nvPr/>
        </p:nvPicPr>
        <p:blipFill>
          <a:blip r:embed="rId4">
            <a:clrChange>
              <a:clrFrom>
                <a:srgbClr val="FFFFFF"/>
              </a:clrFrom>
              <a:clrTo>
                <a:srgbClr val="FFFFFF">
                  <a:alpha val="0"/>
                </a:srgbClr>
              </a:clrTo>
            </a:clrChange>
          </a:blip>
          <a:stretch>
            <a:fillRect/>
          </a:stretch>
        </p:blipFill>
        <p:spPr>
          <a:xfrm>
            <a:off x="1906905" y="5392737"/>
            <a:ext cx="8378190" cy="618011"/>
          </a:xfrm>
          <a:prstGeom prst="rect">
            <a:avLst/>
          </a:prstGeom>
        </p:spPr>
      </p:pic>
    </p:spTree>
    <p:extLst>
      <p:ext uri="{BB962C8B-B14F-4D97-AF65-F5344CB8AC3E}">
        <p14:creationId xmlns:p14="http://schemas.microsoft.com/office/powerpoint/2010/main" val="30017939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A31F97-2A2F-4039-997F-4B95232C6001}"/>
              </a:ext>
            </a:extLst>
          </p:cNvPr>
          <p:cNvSpPr>
            <a:spLocks noGrp="1"/>
          </p:cNvSpPr>
          <p:nvPr>
            <p:ph type="title"/>
          </p:nvPr>
        </p:nvSpPr>
        <p:spPr/>
        <p:txBody>
          <a:bodyPr>
            <a:normAutofit/>
          </a:bodyPr>
          <a:lstStyle/>
          <a:p>
            <a:r>
              <a:rPr lang="en-US" dirty="0"/>
              <a:t>DM API</a:t>
            </a:r>
          </a:p>
        </p:txBody>
      </p:sp>
      <p:sp>
        <p:nvSpPr>
          <p:cNvPr id="3" name="Content Placeholder 2">
            <a:extLst>
              <a:ext uri="{FF2B5EF4-FFF2-40B4-BE49-F238E27FC236}">
                <a16:creationId xmlns:a16="http://schemas.microsoft.com/office/drawing/2014/main" id="{82B9D5A1-9964-4887-96AB-7BD1C33D365F}"/>
              </a:ext>
            </a:extLst>
          </p:cNvPr>
          <p:cNvSpPr>
            <a:spLocks noGrp="1"/>
          </p:cNvSpPr>
          <p:nvPr>
            <p:ph idx="1"/>
          </p:nvPr>
        </p:nvSpPr>
        <p:spPr>
          <a:xfrm>
            <a:off x="1097278" y="1579428"/>
            <a:ext cx="10652761" cy="4627395"/>
          </a:xfrm>
        </p:spPr>
        <p:txBody>
          <a:bodyPr>
            <a:normAutofit/>
          </a:bodyPr>
          <a:lstStyle/>
          <a:p>
            <a:r>
              <a:rPr lang="en-US" sz="2400" dirty="0"/>
              <a:t>Deployment manager components, which the DK creates, deploys and invokes:</a:t>
            </a:r>
          </a:p>
          <a:p>
            <a:pPr>
              <a:buFont typeface="Arial" panose="020B0604020202020204" pitchFamily="34" charset="0"/>
              <a:buChar char="•"/>
            </a:pPr>
            <a:r>
              <a:rPr lang="en-US" sz="3200" dirty="0"/>
              <a:t>  </a:t>
            </a:r>
            <a:r>
              <a:rPr lang="en-US" sz="3200" b="1" dirty="0">
                <a:solidFill>
                  <a:srgbClr val="FF6600"/>
                </a:solidFill>
              </a:rPr>
              <a:t>Proxy</a:t>
            </a:r>
            <a:r>
              <a:rPr lang="en-US" sz="3200" dirty="0"/>
              <a:t>: </a:t>
            </a:r>
            <a:r>
              <a:rPr lang="en-US" dirty="0"/>
              <a:t>co-located with remote references to the Sapphire Object</a:t>
            </a:r>
          </a:p>
          <a:p>
            <a:pPr lvl="2">
              <a:buFont typeface="Arial" panose="020B0604020202020204" pitchFamily="34" charset="0"/>
              <a:buChar char="•"/>
            </a:pPr>
            <a:r>
              <a:rPr lang="en-US" sz="2400" dirty="0"/>
              <a:t>responsible for </a:t>
            </a:r>
            <a:r>
              <a:rPr lang="en-US" sz="2400" i="1" dirty="0">
                <a:solidFill>
                  <a:srgbClr val="00B0F0"/>
                </a:solidFill>
              </a:rPr>
              <a:t>caller-side</a:t>
            </a:r>
            <a:r>
              <a:rPr lang="en-US" sz="2400" dirty="0"/>
              <a:t> tasks </a:t>
            </a:r>
            <a:r>
              <a:rPr lang="en-US" sz="1800" dirty="0"/>
              <a:t>– e.g. routing method calls</a:t>
            </a:r>
          </a:p>
          <a:p>
            <a:pPr>
              <a:buFont typeface="Arial" panose="020B0604020202020204" pitchFamily="34" charset="0"/>
              <a:buChar char="•"/>
            </a:pPr>
            <a:r>
              <a:rPr lang="en-US" sz="3200" dirty="0">
                <a:solidFill>
                  <a:srgbClr val="FF6600"/>
                </a:solidFill>
              </a:rPr>
              <a:t> </a:t>
            </a:r>
            <a:r>
              <a:rPr lang="en-US" sz="3200" b="1" dirty="0">
                <a:solidFill>
                  <a:srgbClr val="FF6600"/>
                </a:solidFill>
              </a:rPr>
              <a:t>Instance Manager</a:t>
            </a:r>
            <a:r>
              <a:rPr lang="en-US" sz="3200" dirty="0"/>
              <a:t>: </a:t>
            </a:r>
            <a:r>
              <a:rPr lang="en-US" dirty="0"/>
              <a:t>co-located with the Sapphire Object</a:t>
            </a:r>
          </a:p>
          <a:p>
            <a:pPr lvl="2">
              <a:buFont typeface="Arial" panose="020B0604020202020204" pitchFamily="34" charset="0"/>
              <a:buChar char="•"/>
            </a:pPr>
            <a:r>
              <a:rPr lang="en-US" sz="2400" dirty="0"/>
              <a:t>responsible for </a:t>
            </a:r>
            <a:r>
              <a:rPr lang="en-US" sz="2400" i="1" dirty="0" err="1">
                <a:solidFill>
                  <a:srgbClr val="00B0F0"/>
                </a:solidFill>
              </a:rPr>
              <a:t>callee</a:t>
            </a:r>
            <a:r>
              <a:rPr lang="en-US" sz="2400" i="1" dirty="0">
                <a:solidFill>
                  <a:srgbClr val="00B0F0"/>
                </a:solidFill>
              </a:rPr>
              <a:t>-side</a:t>
            </a:r>
            <a:r>
              <a:rPr lang="en-US" sz="2400" dirty="0"/>
              <a:t> tasks </a:t>
            </a:r>
            <a:r>
              <a:rPr lang="en-US" sz="1800" dirty="0"/>
              <a:t>– e.g. keeping replicas of the SO synchronized</a:t>
            </a:r>
          </a:p>
          <a:p>
            <a:pPr>
              <a:buFont typeface="Arial" panose="020B0604020202020204" pitchFamily="34" charset="0"/>
              <a:buChar char="•"/>
            </a:pPr>
            <a:r>
              <a:rPr lang="en-US" sz="3200" dirty="0">
                <a:solidFill>
                  <a:srgbClr val="FF6600"/>
                </a:solidFill>
              </a:rPr>
              <a:t> </a:t>
            </a:r>
            <a:r>
              <a:rPr lang="en-US" sz="3200" b="1" dirty="0">
                <a:solidFill>
                  <a:srgbClr val="FF6600"/>
                </a:solidFill>
              </a:rPr>
              <a:t>Coordinator</a:t>
            </a:r>
            <a:r>
              <a:rPr lang="en-US" sz="3200" dirty="0"/>
              <a:t>: </a:t>
            </a:r>
            <a:r>
              <a:rPr lang="en-US" dirty="0"/>
              <a:t>co-located with fault-tolerant OTS </a:t>
            </a:r>
            <a:r>
              <a:rPr lang="en-US" sz="2000" dirty="0"/>
              <a:t>(Object Tracking Service)</a:t>
            </a:r>
            <a:endParaRPr lang="en-US" sz="3200" dirty="0"/>
          </a:p>
          <a:p>
            <a:pPr lvl="2">
              <a:buFont typeface="Arial" panose="020B0604020202020204" pitchFamily="34" charset="0"/>
              <a:buChar char="•"/>
            </a:pPr>
            <a:r>
              <a:rPr lang="en-US" sz="2400" dirty="0"/>
              <a:t>responsible for </a:t>
            </a:r>
            <a:r>
              <a:rPr lang="en-US" sz="2400" i="1" dirty="0">
                <a:solidFill>
                  <a:srgbClr val="00B0F0"/>
                </a:solidFill>
              </a:rPr>
              <a:t>centralized</a:t>
            </a:r>
            <a:r>
              <a:rPr lang="en-US" sz="2400" dirty="0"/>
              <a:t> tasks </a:t>
            </a:r>
            <a:r>
              <a:rPr lang="en-US" sz="1800" dirty="0"/>
              <a:t>– e.g. failure handling</a:t>
            </a:r>
            <a:endParaRPr lang="en-US" sz="2400" dirty="0"/>
          </a:p>
        </p:txBody>
      </p:sp>
    </p:spTree>
    <p:extLst>
      <p:ext uri="{BB962C8B-B14F-4D97-AF65-F5344CB8AC3E}">
        <p14:creationId xmlns:p14="http://schemas.microsoft.com/office/powerpoint/2010/main" val="112233453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301186-745C-4763-B1D5-9C4A5550194F}"/>
              </a:ext>
            </a:extLst>
          </p:cNvPr>
          <p:cNvSpPr>
            <a:spLocks noGrp="1"/>
          </p:cNvSpPr>
          <p:nvPr>
            <p:ph type="title"/>
          </p:nvPr>
        </p:nvSpPr>
        <p:spPr/>
        <p:txBody>
          <a:bodyPr/>
          <a:lstStyle/>
          <a:p>
            <a:r>
              <a:rPr lang="en-US" dirty="0"/>
              <a:t>Example Deployment</a:t>
            </a:r>
          </a:p>
        </p:txBody>
      </p:sp>
      <p:sp>
        <p:nvSpPr>
          <p:cNvPr id="6" name="Rectangle 5">
            <a:extLst>
              <a:ext uri="{FF2B5EF4-FFF2-40B4-BE49-F238E27FC236}">
                <a16:creationId xmlns:a16="http://schemas.microsoft.com/office/drawing/2014/main" id="{50EDE318-890F-4CAD-8371-5AEF986D3ABB}"/>
              </a:ext>
            </a:extLst>
          </p:cNvPr>
          <p:cNvSpPr/>
          <p:nvPr/>
        </p:nvSpPr>
        <p:spPr>
          <a:xfrm>
            <a:off x="2019638" y="5516366"/>
            <a:ext cx="5421292" cy="461665"/>
          </a:xfrm>
          <a:prstGeom prst="rect">
            <a:avLst/>
          </a:prstGeom>
          <a:solidFill>
            <a:srgbClr val="002060"/>
          </a:solidFill>
          <a:ln>
            <a:solidFill>
              <a:srgbClr val="002060"/>
            </a:solidFill>
          </a:ln>
        </p:spPr>
        <p:txBody>
          <a:bodyPr wrap="square" anchor="ctr">
            <a:spAutoFit/>
          </a:bodyPr>
          <a:lstStyle/>
          <a:p>
            <a:pPr algn="ctr"/>
            <a:r>
              <a:rPr lang="en-US" sz="2400" dirty="0">
                <a:solidFill>
                  <a:schemeClr val="bg1"/>
                </a:solidFill>
              </a:rPr>
              <a:t>Deployment Kernel (DK)</a:t>
            </a:r>
          </a:p>
        </p:txBody>
      </p:sp>
      <p:sp>
        <p:nvSpPr>
          <p:cNvPr id="17" name="TextBox 16">
            <a:extLst>
              <a:ext uri="{FF2B5EF4-FFF2-40B4-BE49-F238E27FC236}">
                <a16:creationId xmlns:a16="http://schemas.microsoft.com/office/drawing/2014/main" id="{E6989BEA-466D-4B40-BBB3-206B9550F551}"/>
              </a:ext>
            </a:extLst>
          </p:cNvPr>
          <p:cNvSpPr txBox="1"/>
          <p:nvPr/>
        </p:nvSpPr>
        <p:spPr>
          <a:xfrm>
            <a:off x="8138724" y="2937354"/>
            <a:ext cx="1611630" cy="400110"/>
          </a:xfrm>
          <a:prstGeom prst="rect">
            <a:avLst/>
          </a:prstGeom>
          <a:solidFill>
            <a:srgbClr val="FF7C80"/>
          </a:solidFill>
          <a:ln>
            <a:noFill/>
          </a:ln>
        </p:spPr>
        <p:txBody>
          <a:bodyPr wrap="square" rtlCol="0">
            <a:spAutoFit/>
          </a:bodyPr>
          <a:lstStyle/>
          <a:p>
            <a:pPr algn="ctr"/>
            <a:r>
              <a:rPr lang="en-US" sz="2000" dirty="0">
                <a:solidFill>
                  <a:schemeClr val="bg1"/>
                </a:solidFill>
              </a:rPr>
              <a:t>Coordinator</a:t>
            </a:r>
          </a:p>
        </p:txBody>
      </p:sp>
      <p:sp>
        <p:nvSpPr>
          <p:cNvPr id="21" name="TextBox 20">
            <a:extLst>
              <a:ext uri="{FF2B5EF4-FFF2-40B4-BE49-F238E27FC236}">
                <a16:creationId xmlns:a16="http://schemas.microsoft.com/office/drawing/2014/main" id="{C7427F7D-FA02-4DE5-9B4D-561160918641}"/>
              </a:ext>
            </a:extLst>
          </p:cNvPr>
          <p:cNvSpPr txBox="1"/>
          <p:nvPr/>
        </p:nvSpPr>
        <p:spPr>
          <a:xfrm>
            <a:off x="2255312" y="3438245"/>
            <a:ext cx="1145181" cy="400110"/>
          </a:xfrm>
          <a:prstGeom prst="rect">
            <a:avLst/>
          </a:prstGeom>
          <a:solidFill>
            <a:srgbClr val="FF7C80"/>
          </a:solidFill>
          <a:ln>
            <a:noFill/>
          </a:ln>
        </p:spPr>
        <p:txBody>
          <a:bodyPr wrap="square" rtlCol="0">
            <a:spAutoFit/>
          </a:bodyPr>
          <a:lstStyle/>
          <a:p>
            <a:pPr algn="ctr"/>
            <a:r>
              <a:rPr lang="en-US" sz="2000" dirty="0">
                <a:solidFill>
                  <a:schemeClr val="bg1"/>
                </a:solidFill>
              </a:rPr>
              <a:t>Proxy</a:t>
            </a:r>
          </a:p>
        </p:txBody>
      </p:sp>
      <p:sp>
        <p:nvSpPr>
          <p:cNvPr id="24" name="Rectangle 23">
            <a:extLst>
              <a:ext uri="{FF2B5EF4-FFF2-40B4-BE49-F238E27FC236}">
                <a16:creationId xmlns:a16="http://schemas.microsoft.com/office/drawing/2014/main" id="{E9E8DD62-2362-4474-9B8C-60D48C5CAD6D}"/>
              </a:ext>
            </a:extLst>
          </p:cNvPr>
          <p:cNvSpPr/>
          <p:nvPr/>
        </p:nvSpPr>
        <p:spPr>
          <a:xfrm>
            <a:off x="2048357" y="1778428"/>
            <a:ext cx="2573677" cy="3657600"/>
          </a:xfrm>
          <a:custGeom>
            <a:avLst/>
            <a:gdLst>
              <a:gd name="connsiteX0" fmla="*/ 0 w 2573677"/>
              <a:gd name="connsiteY0" fmla="*/ 0 h 3657600"/>
              <a:gd name="connsiteX1" fmla="*/ 643419 w 2573677"/>
              <a:gd name="connsiteY1" fmla="*/ 0 h 3657600"/>
              <a:gd name="connsiteX2" fmla="*/ 1261102 w 2573677"/>
              <a:gd name="connsiteY2" fmla="*/ 0 h 3657600"/>
              <a:gd name="connsiteX3" fmla="*/ 1827311 w 2573677"/>
              <a:gd name="connsiteY3" fmla="*/ 0 h 3657600"/>
              <a:gd name="connsiteX4" fmla="*/ 2573677 w 2573677"/>
              <a:gd name="connsiteY4" fmla="*/ 0 h 3657600"/>
              <a:gd name="connsiteX5" fmla="*/ 2573677 w 2573677"/>
              <a:gd name="connsiteY5" fmla="*/ 609600 h 3657600"/>
              <a:gd name="connsiteX6" fmla="*/ 2573677 w 2573677"/>
              <a:gd name="connsiteY6" fmla="*/ 1292352 h 3657600"/>
              <a:gd name="connsiteX7" fmla="*/ 2573677 w 2573677"/>
              <a:gd name="connsiteY7" fmla="*/ 1828800 h 3657600"/>
              <a:gd name="connsiteX8" fmla="*/ 2573677 w 2573677"/>
              <a:gd name="connsiteY8" fmla="*/ 2401824 h 3657600"/>
              <a:gd name="connsiteX9" fmla="*/ 2573677 w 2573677"/>
              <a:gd name="connsiteY9" fmla="*/ 2938272 h 3657600"/>
              <a:gd name="connsiteX10" fmla="*/ 2573677 w 2573677"/>
              <a:gd name="connsiteY10" fmla="*/ 3657600 h 3657600"/>
              <a:gd name="connsiteX11" fmla="*/ 1930258 w 2573677"/>
              <a:gd name="connsiteY11" fmla="*/ 3657600 h 3657600"/>
              <a:gd name="connsiteX12" fmla="*/ 1338312 w 2573677"/>
              <a:gd name="connsiteY12" fmla="*/ 3657600 h 3657600"/>
              <a:gd name="connsiteX13" fmla="*/ 772103 w 2573677"/>
              <a:gd name="connsiteY13" fmla="*/ 3657600 h 3657600"/>
              <a:gd name="connsiteX14" fmla="*/ 0 w 2573677"/>
              <a:gd name="connsiteY14" fmla="*/ 3657600 h 3657600"/>
              <a:gd name="connsiteX15" fmla="*/ 0 w 2573677"/>
              <a:gd name="connsiteY15" fmla="*/ 3157728 h 3657600"/>
              <a:gd name="connsiteX16" fmla="*/ 0 w 2573677"/>
              <a:gd name="connsiteY16" fmla="*/ 2474976 h 3657600"/>
              <a:gd name="connsiteX17" fmla="*/ 0 w 2573677"/>
              <a:gd name="connsiteY17" fmla="*/ 1828800 h 3657600"/>
              <a:gd name="connsiteX18" fmla="*/ 0 w 2573677"/>
              <a:gd name="connsiteY18" fmla="*/ 1146048 h 3657600"/>
              <a:gd name="connsiteX19" fmla="*/ 0 w 2573677"/>
              <a:gd name="connsiteY19" fmla="*/ 536448 h 3657600"/>
              <a:gd name="connsiteX20" fmla="*/ 0 w 2573677"/>
              <a:gd name="connsiteY20" fmla="*/ 0 h 3657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2573677" h="3657600" extrusionOk="0">
                <a:moveTo>
                  <a:pt x="0" y="0"/>
                </a:moveTo>
                <a:cubicBezTo>
                  <a:pt x="264691" y="-8103"/>
                  <a:pt x="437977" y="-31749"/>
                  <a:pt x="643419" y="0"/>
                </a:cubicBezTo>
                <a:cubicBezTo>
                  <a:pt x="848861" y="31749"/>
                  <a:pt x="1032813" y="8736"/>
                  <a:pt x="1261102" y="0"/>
                </a:cubicBezTo>
                <a:cubicBezTo>
                  <a:pt x="1489391" y="-8736"/>
                  <a:pt x="1579203" y="17911"/>
                  <a:pt x="1827311" y="0"/>
                </a:cubicBezTo>
                <a:cubicBezTo>
                  <a:pt x="2075419" y="-17911"/>
                  <a:pt x="2418760" y="23448"/>
                  <a:pt x="2573677" y="0"/>
                </a:cubicBezTo>
                <a:cubicBezTo>
                  <a:pt x="2588048" y="163808"/>
                  <a:pt x="2547039" y="404894"/>
                  <a:pt x="2573677" y="609600"/>
                </a:cubicBezTo>
                <a:cubicBezTo>
                  <a:pt x="2600315" y="814306"/>
                  <a:pt x="2579300" y="1038130"/>
                  <a:pt x="2573677" y="1292352"/>
                </a:cubicBezTo>
                <a:cubicBezTo>
                  <a:pt x="2568054" y="1546574"/>
                  <a:pt x="2597384" y="1716110"/>
                  <a:pt x="2573677" y="1828800"/>
                </a:cubicBezTo>
                <a:cubicBezTo>
                  <a:pt x="2549970" y="1941490"/>
                  <a:pt x="2595308" y="2262277"/>
                  <a:pt x="2573677" y="2401824"/>
                </a:cubicBezTo>
                <a:cubicBezTo>
                  <a:pt x="2552046" y="2541371"/>
                  <a:pt x="2570342" y="2690177"/>
                  <a:pt x="2573677" y="2938272"/>
                </a:cubicBezTo>
                <a:cubicBezTo>
                  <a:pt x="2577012" y="3186367"/>
                  <a:pt x="2562104" y="3362308"/>
                  <a:pt x="2573677" y="3657600"/>
                </a:cubicBezTo>
                <a:cubicBezTo>
                  <a:pt x="2317033" y="3640354"/>
                  <a:pt x="2211724" y="3683271"/>
                  <a:pt x="1930258" y="3657600"/>
                </a:cubicBezTo>
                <a:cubicBezTo>
                  <a:pt x="1648792" y="3631929"/>
                  <a:pt x="1543616" y="3670193"/>
                  <a:pt x="1338312" y="3657600"/>
                </a:cubicBezTo>
                <a:cubicBezTo>
                  <a:pt x="1133008" y="3645007"/>
                  <a:pt x="918278" y="3633980"/>
                  <a:pt x="772103" y="3657600"/>
                </a:cubicBezTo>
                <a:cubicBezTo>
                  <a:pt x="625928" y="3681220"/>
                  <a:pt x="170419" y="3678705"/>
                  <a:pt x="0" y="3657600"/>
                </a:cubicBezTo>
                <a:cubicBezTo>
                  <a:pt x="12984" y="3494354"/>
                  <a:pt x="13420" y="3316577"/>
                  <a:pt x="0" y="3157728"/>
                </a:cubicBezTo>
                <a:cubicBezTo>
                  <a:pt x="-13420" y="2998879"/>
                  <a:pt x="-5653" y="2654695"/>
                  <a:pt x="0" y="2474976"/>
                </a:cubicBezTo>
                <a:cubicBezTo>
                  <a:pt x="5653" y="2295257"/>
                  <a:pt x="31009" y="2097140"/>
                  <a:pt x="0" y="1828800"/>
                </a:cubicBezTo>
                <a:cubicBezTo>
                  <a:pt x="-31009" y="1560460"/>
                  <a:pt x="-2473" y="1464560"/>
                  <a:pt x="0" y="1146048"/>
                </a:cubicBezTo>
                <a:cubicBezTo>
                  <a:pt x="2473" y="827536"/>
                  <a:pt x="-14880" y="659121"/>
                  <a:pt x="0" y="536448"/>
                </a:cubicBezTo>
                <a:cubicBezTo>
                  <a:pt x="14880" y="413775"/>
                  <a:pt x="25545" y="257673"/>
                  <a:pt x="0" y="0"/>
                </a:cubicBezTo>
                <a:close/>
              </a:path>
            </a:pathLst>
          </a:custGeom>
          <a:noFill/>
          <a:ln w="76200">
            <a:solidFill>
              <a:srgbClr val="FF7C80"/>
            </a:solidFill>
            <a:extLst>
              <a:ext uri="{C807C97D-BFC1-408E-A445-0C87EB9F89A2}">
                <ask:lineSketchStyleProps xmlns:ask="http://schemas.microsoft.com/office/drawing/2018/sketchyshapes" sd="4069495798">
                  <a:prstGeom prst="rect">
                    <a:avLst/>
                  </a:prstGeom>
                  <ask:type>
                    <ask:lineSketchFreehand/>
                  </ask:type>
                </ask:lineSketchStyleProps>
              </a:ext>
            </a:extLst>
          </a:ln>
        </p:spPr>
        <p:txBody>
          <a:bodyPr wrap="square" anchor="ctr">
            <a:spAutoFit/>
          </a:bodyPr>
          <a:lstStyle/>
          <a:p>
            <a:pPr algn="ctr"/>
            <a:endParaRPr lang="en-US" sz="4800" dirty="0">
              <a:solidFill>
                <a:schemeClr val="bg1"/>
              </a:solidFill>
            </a:endParaRPr>
          </a:p>
        </p:txBody>
      </p:sp>
      <p:sp>
        <p:nvSpPr>
          <p:cNvPr id="26" name="Rectangle 25">
            <a:extLst>
              <a:ext uri="{FF2B5EF4-FFF2-40B4-BE49-F238E27FC236}">
                <a16:creationId xmlns:a16="http://schemas.microsoft.com/office/drawing/2014/main" id="{9EE1CB94-8AF7-4FA7-B722-E72EDD7586F6}"/>
              </a:ext>
            </a:extLst>
          </p:cNvPr>
          <p:cNvSpPr/>
          <p:nvPr/>
        </p:nvSpPr>
        <p:spPr>
          <a:xfrm>
            <a:off x="7555230" y="5516366"/>
            <a:ext cx="2628561" cy="461665"/>
          </a:xfrm>
          <a:prstGeom prst="rect">
            <a:avLst/>
          </a:prstGeom>
          <a:solidFill>
            <a:srgbClr val="002060"/>
          </a:solidFill>
          <a:ln>
            <a:solidFill>
              <a:srgbClr val="002060"/>
            </a:solidFill>
          </a:ln>
        </p:spPr>
        <p:txBody>
          <a:bodyPr wrap="square" anchor="ctr">
            <a:spAutoFit/>
          </a:bodyPr>
          <a:lstStyle/>
          <a:p>
            <a:pPr algn="ctr"/>
            <a:r>
              <a:rPr lang="en-US" sz="2400" dirty="0">
                <a:solidFill>
                  <a:schemeClr val="bg1"/>
                </a:solidFill>
              </a:rPr>
              <a:t>DK-FT</a:t>
            </a:r>
          </a:p>
        </p:txBody>
      </p:sp>
      <p:sp>
        <p:nvSpPr>
          <p:cNvPr id="30" name="TextBox 29">
            <a:extLst>
              <a:ext uri="{FF2B5EF4-FFF2-40B4-BE49-F238E27FC236}">
                <a16:creationId xmlns:a16="http://schemas.microsoft.com/office/drawing/2014/main" id="{B0362EC1-BCEF-46B8-AF54-5E47776FEE3C}"/>
              </a:ext>
            </a:extLst>
          </p:cNvPr>
          <p:cNvSpPr txBox="1"/>
          <p:nvPr/>
        </p:nvSpPr>
        <p:spPr>
          <a:xfrm>
            <a:off x="5925284" y="4527933"/>
            <a:ext cx="1145181" cy="707886"/>
          </a:xfrm>
          <a:prstGeom prst="rect">
            <a:avLst/>
          </a:prstGeom>
          <a:solidFill>
            <a:srgbClr val="FF7C80"/>
          </a:solidFill>
          <a:ln>
            <a:noFill/>
          </a:ln>
        </p:spPr>
        <p:txBody>
          <a:bodyPr wrap="square" rtlCol="0">
            <a:spAutoFit/>
          </a:bodyPr>
          <a:lstStyle/>
          <a:p>
            <a:pPr algn="ctr"/>
            <a:r>
              <a:rPr lang="en-US" sz="2000" dirty="0">
                <a:solidFill>
                  <a:schemeClr val="bg1"/>
                </a:solidFill>
              </a:rPr>
              <a:t>Instance Manager</a:t>
            </a:r>
          </a:p>
        </p:txBody>
      </p:sp>
      <p:sp>
        <p:nvSpPr>
          <p:cNvPr id="34" name="TextBox 33">
            <a:extLst>
              <a:ext uri="{FF2B5EF4-FFF2-40B4-BE49-F238E27FC236}">
                <a16:creationId xmlns:a16="http://schemas.microsoft.com/office/drawing/2014/main" id="{C551418A-B95F-43CE-87DD-0E69CED12C4F}"/>
              </a:ext>
            </a:extLst>
          </p:cNvPr>
          <p:cNvSpPr txBox="1"/>
          <p:nvPr/>
        </p:nvSpPr>
        <p:spPr>
          <a:xfrm>
            <a:off x="6143042" y="4008114"/>
            <a:ext cx="709663" cy="519351"/>
          </a:xfrm>
          <a:prstGeom prst="ellipse">
            <a:avLst/>
          </a:prstGeom>
          <a:solidFill>
            <a:srgbClr val="89C3E5"/>
          </a:solidFill>
          <a:ln w="57150">
            <a:solidFill>
              <a:srgbClr val="89C3E5"/>
            </a:solidFill>
          </a:ln>
        </p:spPr>
        <p:txBody>
          <a:bodyPr wrap="square" rtlCol="0">
            <a:spAutoFit/>
          </a:bodyPr>
          <a:lstStyle/>
          <a:p>
            <a:pPr algn="ctr"/>
            <a:r>
              <a:rPr lang="en-US" dirty="0">
                <a:solidFill>
                  <a:schemeClr val="bg1"/>
                </a:solidFill>
              </a:rPr>
              <a:t>SO</a:t>
            </a:r>
          </a:p>
        </p:txBody>
      </p:sp>
      <p:cxnSp>
        <p:nvCxnSpPr>
          <p:cNvPr id="40" name="Straight Arrow Connector 39">
            <a:extLst>
              <a:ext uri="{FF2B5EF4-FFF2-40B4-BE49-F238E27FC236}">
                <a16:creationId xmlns:a16="http://schemas.microsoft.com/office/drawing/2014/main" id="{2D1C007E-50F3-4445-816C-CC0E72F1349C}"/>
              </a:ext>
            </a:extLst>
          </p:cNvPr>
          <p:cNvCxnSpPr>
            <a:cxnSpLocks/>
          </p:cNvCxnSpPr>
          <p:nvPr/>
        </p:nvCxnSpPr>
        <p:spPr>
          <a:xfrm>
            <a:off x="3472948" y="5138728"/>
            <a:ext cx="2323420" cy="33026"/>
          </a:xfrm>
          <a:prstGeom prst="straightConnector1">
            <a:avLst/>
          </a:prstGeom>
          <a:ln w="38100">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37" name="Rectangle 36">
            <a:extLst>
              <a:ext uri="{FF2B5EF4-FFF2-40B4-BE49-F238E27FC236}">
                <a16:creationId xmlns:a16="http://schemas.microsoft.com/office/drawing/2014/main" id="{7CDC7F2F-569D-4191-A194-5BDAE8F6C7D3}"/>
              </a:ext>
            </a:extLst>
          </p:cNvPr>
          <p:cNvSpPr/>
          <p:nvPr/>
        </p:nvSpPr>
        <p:spPr>
          <a:xfrm>
            <a:off x="7569846" y="1746985"/>
            <a:ext cx="2573797" cy="3657600"/>
          </a:xfrm>
          <a:custGeom>
            <a:avLst/>
            <a:gdLst>
              <a:gd name="connsiteX0" fmla="*/ 0 w 2573797"/>
              <a:gd name="connsiteY0" fmla="*/ 0 h 3657600"/>
              <a:gd name="connsiteX1" fmla="*/ 643449 w 2573797"/>
              <a:gd name="connsiteY1" fmla="*/ 0 h 3657600"/>
              <a:gd name="connsiteX2" fmla="*/ 1261161 w 2573797"/>
              <a:gd name="connsiteY2" fmla="*/ 0 h 3657600"/>
              <a:gd name="connsiteX3" fmla="*/ 1827396 w 2573797"/>
              <a:gd name="connsiteY3" fmla="*/ 0 h 3657600"/>
              <a:gd name="connsiteX4" fmla="*/ 2573797 w 2573797"/>
              <a:gd name="connsiteY4" fmla="*/ 0 h 3657600"/>
              <a:gd name="connsiteX5" fmla="*/ 2573797 w 2573797"/>
              <a:gd name="connsiteY5" fmla="*/ 609600 h 3657600"/>
              <a:gd name="connsiteX6" fmla="*/ 2573797 w 2573797"/>
              <a:gd name="connsiteY6" fmla="*/ 1292352 h 3657600"/>
              <a:gd name="connsiteX7" fmla="*/ 2573797 w 2573797"/>
              <a:gd name="connsiteY7" fmla="*/ 1828800 h 3657600"/>
              <a:gd name="connsiteX8" fmla="*/ 2573797 w 2573797"/>
              <a:gd name="connsiteY8" fmla="*/ 2401824 h 3657600"/>
              <a:gd name="connsiteX9" fmla="*/ 2573797 w 2573797"/>
              <a:gd name="connsiteY9" fmla="*/ 2938272 h 3657600"/>
              <a:gd name="connsiteX10" fmla="*/ 2573797 w 2573797"/>
              <a:gd name="connsiteY10" fmla="*/ 3657600 h 3657600"/>
              <a:gd name="connsiteX11" fmla="*/ 1930348 w 2573797"/>
              <a:gd name="connsiteY11" fmla="*/ 3657600 h 3657600"/>
              <a:gd name="connsiteX12" fmla="*/ 1338374 w 2573797"/>
              <a:gd name="connsiteY12" fmla="*/ 3657600 h 3657600"/>
              <a:gd name="connsiteX13" fmla="*/ 772139 w 2573797"/>
              <a:gd name="connsiteY13" fmla="*/ 3657600 h 3657600"/>
              <a:gd name="connsiteX14" fmla="*/ 0 w 2573797"/>
              <a:gd name="connsiteY14" fmla="*/ 3657600 h 3657600"/>
              <a:gd name="connsiteX15" fmla="*/ 0 w 2573797"/>
              <a:gd name="connsiteY15" fmla="*/ 3157728 h 3657600"/>
              <a:gd name="connsiteX16" fmla="*/ 0 w 2573797"/>
              <a:gd name="connsiteY16" fmla="*/ 2474976 h 3657600"/>
              <a:gd name="connsiteX17" fmla="*/ 0 w 2573797"/>
              <a:gd name="connsiteY17" fmla="*/ 1828800 h 3657600"/>
              <a:gd name="connsiteX18" fmla="*/ 0 w 2573797"/>
              <a:gd name="connsiteY18" fmla="*/ 1146048 h 3657600"/>
              <a:gd name="connsiteX19" fmla="*/ 0 w 2573797"/>
              <a:gd name="connsiteY19" fmla="*/ 536448 h 3657600"/>
              <a:gd name="connsiteX20" fmla="*/ 0 w 2573797"/>
              <a:gd name="connsiteY20" fmla="*/ 0 h 3657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2573797" h="3657600" extrusionOk="0">
                <a:moveTo>
                  <a:pt x="0" y="0"/>
                </a:moveTo>
                <a:cubicBezTo>
                  <a:pt x="273035" y="19752"/>
                  <a:pt x="421315" y="18067"/>
                  <a:pt x="643449" y="0"/>
                </a:cubicBezTo>
                <a:cubicBezTo>
                  <a:pt x="865583" y="-18067"/>
                  <a:pt x="1022565" y="24889"/>
                  <a:pt x="1261161" y="0"/>
                </a:cubicBezTo>
                <a:cubicBezTo>
                  <a:pt x="1499757" y="-24889"/>
                  <a:pt x="1663324" y="-22875"/>
                  <a:pt x="1827396" y="0"/>
                </a:cubicBezTo>
                <a:cubicBezTo>
                  <a:pt x="1991469" y="22875"/>
                  <a:pt x="2234913" y="3492"/>
                  <a:pt x="2573797" y="0"/>
                </a:cubicBezTo>
                <a:cubicBezTo>
                  <a:pt x="2588168" y="163808"/>
                  <a:pt x="2547159" y="404894"/>
                  <a:pt x="2573797" y="609600"/>
                </a:cubicBezTo>
                <a:cubicBezTo>
                  <a:pt x="2600435" y="814306"/>
                  <a:pt x="2579420" y="1038130"/>
                  <a:pt x="2573797" y="1292352"/>
                </a:cubicBezTo>
                <a:cubicBezTo>
                  <a:pt x="2568174" y="1546574"/>
                  <a:pt x="2597504" y="1716110"/>
                  <a:pt x="2573797" y="1828800"/>
                </a:cubicBezTo>
                <a:cubicBezTo>
                  <a:pt x="2550090" y="1941490"/>
                  <a:pt x="2595428" y="2262277"/>
                  <a:pt x="2573797" y="2401824"/>
                </a:cubicBezTo>
                <a:cubicBezTo>
                  <a:pt x="2552166" y="2541371"/>
                  <a:pt x="2570462" y="2690177"/>
                  <a:pt x="2573797" y="2938272"/>
                </a:cubicBezTo>
                <a:cubicBezTo>
                  <a:pt x="2577132" y="3186367"/>
                  <a:pt x="2562224" y="3362308"/>
                  <a:pt x="2573797" y="3657600"/>
                </a:cubicBezTo>
                <a:cubicBezTo>
                  <a:pt x="2277759" y="3642357"/>
                  <a:pt x="2159437" y="3664943"/>
                  <a:pt x="1930348" y="3657600"/>
                </a:cubicBezTo>
                <a:cubicBezTo>
                  <a:pt x="1701259" y="3650257"/>
                  <a:pt x="1478306" y="3666154"/>
                  <a:pt x="1338374" y="3657600"/>
                </a:cubicBezTo>
                <a:cubicBezTo>
                  <a:pt x="1198442" y="3649046"/>
                  <a:pt x="1015757" y="3676373"/>
                  <a:pt x="772139" y="3657600"/>
                </a:cubicBezTo>
                <a:cubicBezTo>
                  <a:pt x="528521" y="3638827"/>
                  <a:pt x="242635" y="3621629"/>
                  <a:pt x="0" y="3657600"/>
                </a:cubicBezTo>
                <a:cubicBezTo>
                  <a:pt x="12984" y="3494354"/>
                  <a:pt x="13420" y="3316577"/>
                  <a:pt x="0" y="3157728"/>
                </a:cubicBezTo>
                <a:cubicBezTo>
                  <a:pt x="-13420" y="2998879"/>
                  <a:pt x="-5653" y="2654695"/>
                  <a:pt x="0" y="2474976"/>
                </a:cubicBezTo>
                <a:cubicBezTo>
                  <a:pt x="5653" y="2295257"/>
                  <a:pt x="31009" y="2097140"/>
                  <a:pt x="0" y="1828800"/>
                </a:cubicBezTo>
                <a:cubicBezTo>
                  <a:pt x="-31009" y="1560460"/>
                  <a:pt x="-2473" y="1464560"/>
                  <a:pt x="0" y="1146048"/>
                </a:cubicBezTo>
                <a:cubicBezTo>
                  <a:pt x="2473" y="827536"/>
                  <a:pt x="-14880" y="659121"/>
                  <a:pt x="0" y="536448"/>
                </a:cubicBezTo>
                <a:cubicBezTo>
                  <a:pt x="14880" y="413775"/>
                  <a:pt x="25545" y="257673"/>
                  <a:pt x="0" y="0"/>
                </a:cubicBezTo>
                <a:close/>
              </a:path>
            </a:pathLst>
          </a:custGeom>
          <a:noFill/>
          <a:ln w="76200">
            <a:solidFill>
              <a:srgbClr val="FF7C80"/>
            </a:solidFill>
            <a:extLst>
              <a:ext uri="{C807C97D-BFC1-408E-A445-0C87EB9F89A2}">
                <ask:lineSketchStyleProps xmlns:ask="http://schemas.microsoft.com/office/drawing/2018/sketchyshapes" sd="4069495798">
                  <a:prstGeom prst="rect">
                    <a:avLst/>
                  </a:prstGeom>
                  <ask:type>
                    <ask:lineSketchFreehand/>
                  </ask:type>
                </ask:lineSketchStyleProps>
              </a:ext>
            </a:extLst>
          </a:ln>
        </p:spPr>
        <p:txBody>
          <a:bodyPr wrap="square" anchor="ctr">
            <a:spAutoFit/>
          </a:bodyPr>
          <a:lstStyle/>
          <a:p>
            <a:pPr algn="ctr"/>
            <a:endParaRPr lang="en-US" sz="4800" dirty="0">
              <a:solidFill>
                <a:schemeClr val="bg1"/>
              </a:solidFill>
            </a:endParaRPr>
          </a:p>
        </p:txBody>
      </p:sp>
      <p:sp>
        <p:nvSpPr>
          <p:cNvPr id="38" name="Rectangle 37">
            <a:extLst>
              <a:ext uri="{FF2B5EF4-FFF2-40B4-BE49-F238E27FC236}">
                <a16:creationId xmlns:a16="http://schemas.microsoft.com/office/drawing/2014/main" id="{F501FB04-B401-4137-8BA0-63CD377F4ED7}"/>
              </a:ext>
            </a:extLst>
          </p:cNvPr>
          <p:cNvSpPr/>
          <p:nvPr/>
        </p:nvSpPr>
        <p:spPr>
          <a:xfrm>
            <a:off x="4750950" y="1746985"/>
            <a:ext cx="2689980" cy="3657600"/>
          </a:xfrm>
          <a:custGeom>
            <a:avLst/>
            <a:gdLst>
              <a:gd name="connsiteX0" fmla="*/ 0 w 2689980"/>
              <a:gd name="connsiteY0" fmla="*/ 0 h 3657600"/>
              <a:gd name="connsiteX1" fmla="*/ 672495 w 2689980"/>
              <a:gd name="connsiteY1" fmla="*/ 0 h 3657600"/>
              <a:gd name="connsiteX2" fmla="*/ 1318090 w 2689980"/>
              <a:gd name="connsiteY2" fmla="*/ 0 h 3657600"/>
              <a:gd name="connsiteX3" fmla="*/ 1909886 w 2689980"/>
              <a:gd name="connsiteY3" fmla="*/ 0 h 3657600"/>
              <a:gd name="connsiteX4" fmla="*/ 2689980 w 2689980"/>
              <a:gd name="connsiteY4" fmla="*/ 0 h 3657600"/>
              <a:gd name="connsiteX5" fmla="*/ 2689980 w 2689980"/>
              <a:gd name="connsiteY5" fmla="*/ 609600 h 3657600"/>
              <a:gd name="connsiteX6" fmla="*/ 2689980 w 2689980"/>
              <a:gd name="connsiteY6" fmla="*/ 1292352 h 3657600"/>
              <a:gd name="connsiteX7" fmla="*/ 2689980 w 2689980"/>
              <a:gd name="connsiteY7" fmla="*/ 1828800 h 3657600"/>
              <a:gd name="connsiteX8" fmla="*/ 2689980 w 2689980"/>
              <a:gd name="connsiteY8" fmla="*/ 2401824 h 3657600"/>
              <a:gd name="connsiteX9" fmla="*/ 2689980 w 2689980"/>
              <a:gd name="connsiteY9" fmla="*/ 2938272 h 3657600"/>
              <a:gd name="connsiteX10" fmla="*/ 2689980 w 2689980"/>
              <a:gd name="connsiteY10" fmla="*/ 3657600 h 3657600"/>
              <a:gd name="connsiteX11" fmla="*/ 2017485 w 2689980"/>
              <a:gd name="connsiteY11" fmla="*/ 3657600 h 3657600"/>
              <a:gd name="connsiteX12" fmla="*/ 1398790 w 2689980"/>
              <a:gd name="connsiteY12" fmla="*/ 3657600 h 3657600"/>
              <a:gd name="connsiteX13" fmla="*/ 806994 w 2689980"/>
              <a:gd name="connsiteY13" fmla="*/ 3657600 h 3657600"/>
              <a:gd name="connsiteX14" fmla="*/ 0 w 2689980"/>
              <a:gd name="connsiteY14" fmla="*/ 3657600 h 3657600"/>
              <a:gd name="connsiteX15" fmla="*/ 0 w 2689980"/>
              <a:gd name="connsiteY15" fmla="*/ 3157728 h 3657600"/>
              <a:gd name="connsiteX16" fmla="*/ 0 w 2689980"/>
              <a:gd name="connsiteY16" fmla="*/ 2474976 h 3657600"/>
              <a:gd name="connsiteX17" fmla="*/ 0 w 2689980"/>
              <a:gd name="connsiteY17" fmla="*/ 1828800 h 3657600"/>
              <a:gd name="connsiteX18" fmla="*/ 0 w 2689980"/>
              <a:gd name="connsiteY18" fmla="*/ 1146048 h 3657600"/>
              <a:gd name="connsiteX19" fmla="*/ 0 w 2689980"/>
              <a:gd name="connsiteY19" fmla="*/ 536448 h 3657600"/>
              <a:gd name="connsiteX20" fmla="*/ 0 w 2689980"/>
              <a:gd name="connsiteY20" fmla="*/ 0 h 3657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2689980" h="3657600" extrusionOk="0">
                <a:moveTo>
                  <a:pt x="0" y="0"/>
                </a:moveTo>
                <a:cubicBezTo>
                  <a:pt x="213012" y="-23377"/>
                  <a:pt x="429127" y="31098"/>
                  <a:pt x="672495" y="0"/>
                </a:cubicBezTo>
                <a:cubicBezTo>
                  <a:pt x="915863" y="-31098"/>
                  <a:pt x="1047531" y="2224"/>
                  <a:pt x="1318090" y="0"/>
                </a:cubicBezTo>
                <a:cubicBezTo>
                  <a:pt x="1588650" y="-2224"/>
                  <a:pt x="1697801" y="-9477"/>
                  <a:pt x="1909886" y="0"/>
                </a:cubicBezTo>
                <a:cubicBezTo>
                  <a:pt x="2121971" y="9477"/>
                  <a:pt x="2414054" y="-19924"/>
                  <a:pt x="2689980" y="0"/>
                </a:cubicBezTo>
                <a:cubicBezTo>
                  <a:pt x="2704351" y="163808"/>
                  <a:pt x="2663342" y="404894"/>
                  <a:pt x="2689980" y="609600"/>
                </a:cubicBezTo>
                <a:cubicBezTo>
                  <a:pt x="2716618" y="814306"/>
                  <a:pt x="2695603" y="1038130"/>
                  <a:pt x="2689980" y="1292352"/>
                </a:cubicBezTo>
                <a:cubicBezTo>
                  <a:pt x="2684357" y="1546574"/>
                  <a:pt x="2713687" y="1716110"/>
                  <a:pt x="2689980" y="1828800"/>
                </a:cubicBezTo>
                <a:cubicBezTo>
                  <a:pt x="2666273" y="1941490"/>
                  <a:pt x="2711611" y="2262277"/>
                  <a:pt x="2689980" y="2401824"/>
                </a:cubicBezTo>
                <a:cubicBezTo>
                  <a:pt x="2668349" y="2541371"/>
                  <a:pt x="2686645" y="2690177"/>
                  <a:pt x="2689980" y="2938272"/>
                </a:cubicBezTo>
                <a:cubicBezTo>
                  <a:pt x="2693315" y="3186367"/>
                  <a:pt x="2678407" y="3362308"/>
                  <a:pt x="2689980" y="3657600"/>
                </a:cubicBezTo>
                <a:cubicBezTo>
                  <a:pt x="2452031" y="3632354"/>
                  <a:pt x="2242023" y="3674570"/>
                  <a:pt x="2017485" y="3657600"/>
                </a:cubicBezTo>
                <a:cubicBezTo>
                  <a:pt x="1792947" y="3640630"/>
                  <a:pt x="1529121" y="3651571"/>
                  <a:pt x="1398790" y="3657600"/>
                </a:cubicBezTo>
                <a:cubicBezTo>
                  <a:pt x="1268460" y="3663629"/>
                  <a:pt x="976636" y="3644796"/>
                  <a:pt x="806994" y="3657600"/>
                </a:cubicBezTo>
                <a:cubicBezTo>
                  <a:pt x="637352" y="3670404"/>
                  <a:pt x="195096" y="3640267"/>
                  <a:pt x="0" y="3657600"/>
                </a:cubicBezTo>
                <a:cubicBezTo>
                  <a:pt x="12984" y="3494354"/>
                  <a:pt x="13420" y="3316577"/>
                  <a:pt x="0" y="3157728"/>
                </a:cubicBezTo>
                <a:cubicBezTo>
                  <a:pt x="-13420" y="2998879"/>
                  <a:pt x="-5653" y="2654695"/>
                  <a:pt x="0" y="2474976"/>
                </a:cubicBezTo>
                <a:cubicBezTo>
                  <a:pt x="5653" y="2295257"/>
                  <a:pt x="31009" y="2097140"/>
                  <a:pt x="0" y="1828800"/>
                </a:cubicBezTo>
                <a:cubicBezTo>
                  <a:pt x="-31009" y="1560460"/>
                  <a:pt x="-2473" y="1464560"/>
                  <a:pt x="0" y="1146048"/>
                </a:cubicBezTo>
                <a:cubicBezTo>
                  <a:pt x="2473" y="827536"/>
                  <a:pt x="-14880" y="659121"/>
                  <a:pt x="0" y="536448"/>
                </a:cubicBezTo>
                <a:cubicBezTo>
                  <a:pt x="14880" y="413775"/>
                  <a:pt x="25545" y="257673"/>
                  <a:pt x="0" y="0"/>
                </a:cubicBezTo>
                <a:close/>
              </a:path>
            </a:pathLst>
          </a:custGeom>
          <a:noFill/>
          <a:ln w="76200">
            <a:solidFill>
              <a:srgbClr val="FF7C80"/>
            </a:solidFill>
            <a:extLst>
              <a:ext uri="{C807C97D-BFC1-408E-A445-0C87EB9F89A2}">
                <ask:lineSketchStyleProps xmlns:ask="http://schemas.microsoft.com/office/drawing/2018/sketchyshapes" sd="4069495798">
                  <a:prstGeom prst="rect">
                    <a:avLst/>
                  </a:prstGeom>
                  <ask:type>
                    <ask:lineSketchFreehand/>
                  </ask:type>
                </ask:lineSketchStyleProps>
              </a:ext>
            </a:extLst>
          </a:ln>
        </p:spPr>
        <p:txBody>
          <a:bodyPr wrap="square" anchor="ctr">
            <a:spAutoFit/>
          </a:bodyPr>
          <a:lstStyle/>
          <a:p>
            <a:pPr algn="ctr"/>
            <a:endParaRPr lang="en-US" sz="4800" dirty="0">
              <a:solidFill>
                <a:schemeClr val="bg1"/>
              </a:solidFill>
            </a:endParaRPr>
          </a:p>
        </p:txBody>
      </p:sp>
      <p:sp>
        <p:nvSpPr>
          <p:cNvPr id="3" name="TextBox 2">
            <a:extLst>
              <a:ext uri="{FF2B5EF4-FFF2-40B4-BE49-F238E27FC236}">
                <a16:creationId xmlns:a16="http://schemas.microsoft.com/office/drawing/2014/main" id="{3D653DB6-6FCA-4C78-9750-0628BAC5F8C1}"/>
              </a:ext>
            </a:extLst>
          </p:cNvPr>
          <p:cNvSpPr txBox="1"/>
          <p:nvPr/>
        </p:nvSpPr>
        <p:spPr>
          <a:xfrm>
            <a:off x="2594678" y="1887821"/>
            <a:ext cx="1611630" cy="461665"/>
          </a:xfrm>
          <a:prstGeom prst="rect">
            <a:avLst/>
          </a:prstGeom>
          <a:noFill/>
        </p:spPr>
        <p:txBody>
          <a:bodyPr wrap="square" rtlCol="0">
            <a:spAutoFit/>
          </a:bodyPr>
          <a:lstStyle/>
          <a:p>
            <a:pPr algn="ctr"/>
            <a:r>
              <a:rPr lang="en-US" sz="2400" dirty="0">
                <a:solidFill>
                  <a:srgbClr val="00B0F0"/>
                </a:solidFill>
              </a:rPr>
              <a:t>References</a:t>
            </a:r>
            <a:endParaRPr lang="en-US" dirty="0">
              <a:solidFill>
                <a:srgbClr val="00B0F0"/>
              </a:solidFill>
            </a:endParaRPr>
          </a:p>
        </p:txBody>
      </p:sp>
      <p:sp>
        <p:nvSpPr>
          <p:cNvPr id="39" name="TextBox 38">
            <a:extLst>
              <a:ext uri="{FF2B5EF4-FFF2-40B4-BE49-F238E27FC236}">
                <a16:creationId xmlns:a16="http://schemas.microsoft.com/office/drawing/2014/main" id="{E43024C9-55EB-412D-801A-0B4CA75D5AD5}"/>
              </a:ext>
            </a:extLst>
          </p:cNvPr>
          <p:cNvSpPr txBox="1"/>
          <p:nvPr/>
        </p:nvSpPr>
        <p:spPr>
          <a:xfrm>
            <a:off x="5290125" y="1798771"/>
            <a:ext cx="1611630" cy="461665"/>
          </a:xfrm>
          <a:prstGeom prst="rect">
            <a:avLst/>
          </a:prstGeom>
          <a:noFill/>
        </p:spPr>
        <p:txBody>
          <a:bodyPr wrap="square" rtlCol="0">
            <a:spAutoFit/>
          </a:bodyPr>
          <a:lstStyle/>
          <a:p>
            <a:pPr algn="ctr"/>
            <a:r>
              <a:rPr lang="en-US" sz="2400" dirty="0">
                <a:solidFill>
                  <a:srgbClr val="00B0F0"/>
                </a:solidFill>
              </a:rPr>
              <a:t>Instance A</a:t>
            </a:r>
            <a:endParaRPr lang="en-US" dirty="0">
              <a:solidFill>
                <a:srgbClr val="00B0F0"/>
              </a:solidFill>
            </a:endParaRPr>
          </a:p>
        </p:txBody>
      </p:sp>
      <p:sp>
        <p:nvSpPr>
          <p:cNvPr id="41" name="TextBox 40">
            <a:extLst>
              <a:ext uri="{FF2B5EF4-FFF2-40B4-BE49-F238E27FC236}">
                <a16:creationId xmlns:a16="http://schemas.microsoft.com/office/drawing/2014/main" id="{1919B0C2-DC13-4DB8-8082-F0E5FF9D8397}"/>
              </a:ext>
            </a:extLst>
          </p:cNvPr>
          <p:cNvSpPr txBox="1"/>
          <p:nvPr/>
        </p:nvSpPr>
        <p:spPr>
          <a:xfrm>
            <a:off x="7985692" y="1913548"/>
            <a:ext cx="1611630" cy="461665"/>
          </a:xfrm>
          <a:prstGeom prst="rect">
            <a:avLst/>
          </a:prstGeom>
          <a:noFill/>
        </p:spPr>
        <p:txBody>
          <a:bodyPr wrap="square" rtlCol="0">
            <a:spAutoFit/>
          </a:bodyPr>
          <a:lstStyle/>
          <a:p>
            <a:pPr algn="ctr"/>
            <a:r>
              <a:rPr lang="en-US" sz="2400" dirty="0">
                <a:solidFill>
                  <a:srgbClr val="00B0F0"/>
                </a:solidFill>
              </a:rPr>
              <a:t>Centralized</a:t>
            </a:r>
            <a:endParaRPr lang="en-US" dirty="0">
              <a:solidFill>
                <a:srgbClr val="00B0F0"/>
              </a:solidFill>
            </a:endParaRPr>
          </a:p>
        </p:txBody>
      </p:sp>
      <p:sp>
        <p:nvSpPr>
          <p:cNvPr id="42" name="TextBox 41">
            <a:extLst>
              <a:ext uri="{FF2B5EF4-FFF2-40B4-BE49-F238E27FC236}">
                <a16:creationId xmlns:a16="http://schemas.microsoft.com/office/drawing/2014/main" id="{C8557455-B589-48B0-A186-9662DDE8B1DD}"/>
              </a:ext>
            </a:extLst>
          </p:cNvPr>
          <p:cNvSpPr txBox="1"/>
          <p:nvPr/>
        </p:nvSpPr>
        <p:spPr>
          <a:xfrm>
            <a:off x="3353376" y="2800558"/>
            <a:ext cx="1145181" cy="400110"/>
          </a:xfrm>
          <a:prstGeom prst="rect">
            <a:avLst/>
          </a:prstGeom>
          <a:solidFill>
            <a:srgbClr val="FF7C80"/>
          </a:solidFill>
          <a:ln>
            <a:noFill/>
          </a:ln>
        </p:spPr>
        <p:txBody>
          <a:bodyPr wrap="square" rtlCol="0">
            <a:spAutoFit/>
          </a:bodyPr>
          <a:lstStyle/>
          <a:p>
            <a:pPr algn="ctr"/>
            <a:r>
              <a:rPr lang="en-US" sz="2000" dirty="0">
                <a:solidFill>
                  <a:schemeClr val="bg1"/>
                </a:solidFill>
              </a:rPr>
              <a:t>Proxy</a:t>
            </a:r>
          </a:p>
        </p:txBody>
      </p:sp>
      <p:sp>
        <p:nvSpPr>
          <p:cNvPr id="43" name="TextBox 42">
            <a:extLst>
              <a:ext uri="{FF2B5EF4-FFF2-40B4-BE49-F238E27FC236}">
                <a16:creationId xmlns:a16="http://schemas.microsoft.com/office/drawing/2014/main" id="{D13F7C53-42BC-4F17-A62B-FCF60A88F4AD}"/>
              </a:ext>
            </a:extLst>
          </p:cNvPr>
          <p:cNvSpPr txBox="1"/>
          <p:nvPr/>
        </p:nvSpPr>
        <p:spPr>
          <a:xfrm>
            <a:off x="3719620" y="2355784"/>
            <a:ext cx="740185" cy="476071"/>
          </a:xfrm>
          <a:prstGeom prst="ellipse">
            <a:avLst/>
          </a:prstGeom>
          <a:solidFill>
            <a:srgbClr val="89C3E5"/>
          </a:solidFill>
          <a:ln w="57150">
            <a:solidFill>
              <a:srgbClr val="89C3E5"/>
            </a:solidFill>
          </a:ln>
        </p:spPr>
        <p:txBody>
          <a:bodyPr wrap="square" rtlCol="0">
            <a:spAutoFit/>
          </a:bodyPr>
          <a:lstStyle/>
          <a:p>
            <a:pPr algn="ctr"/>
            <a:r>
              <a:rPr lang="en-US" sz="1600" dirty="0">
                <a:solidFill>
                  <a:schemeClr val="bg1"/>
                </a:solidFill>
              </a:rPr>
              <a:t>stub</a:t>
            </a:r>
          </a:p>
        </p:txBody>
      </p:sp>
      <p:sp>
        <p:nvSpPr>
          <p:cNvPr id="45" name="TextBox 44">
            <a:extLst>
              <a:ext uri="{FF2B5EF4-FFF2-40B4-BE49-F238E27FC236}">
                <a16:creationId xmlns:a16="http://schemas.microsoft.com/office/drawing/2014/main" id="{CED12AC3-E39D-4784-BB3B-E1BEFB933E8E}"/>
              </a:ext>
            </a:extLst>
          </p:cNvPr>
          <p:cNvSpPr txBox="1"/>
          <p:nvPr/>
        </p:nvSpPr>
        <p:spPr>
          <a:xfrm>
            <a:off x="2330774" y="3001247"/>
            <a:ext cx="789616" cy="476071"/>
          </a:xfrm>
          <a:prstGeom prst="ellipse">
            <a:avLst/>
          </a:prstGeom>
          <a:solidFill>
            <a:srgbClr val="89C3E5"/>
          </a:solidFill>
          <a:ln w="57150">
            <a:solidFill>
              <a:srgbClr val="89C3E5"/>
            </a:solidFill>
          </a:ln>
        </p:spPr>
        <p:txBody>
          <a:bodyPr wrap="square" rtlCol="0">
            <a:spAutoFit/>
          </a:bodyPr>
          <a:lstStyle/>
          <a:p>
            <a:pPr algn="ctr"/>
            <a:r>
              <a:rPr lang="en-US" sz="1600" dirty="0">
                <a:solidFill>
                  <a:schemeClr val="bg1"/>
                </a:solidFill>
              </a:rPr>
              <a:t>stub</a:t>
            </a:r>
          </a:p>
        </p:txBody>
      </p:sp>
      <p:sp>
        <p:nvSpPr>
          <p:cNvPr id="46" name="TextBox 45">
            <a:extLst>
              <a:ext uri="{FF2B5EF4-FFF2-40B4-BE49-F238E27FC236}">
                <a16:creationId xmlns:a16="http://schemas.microsoft.com/office/drawing/2014/main" id="{4CB70501-1B75-4DE9-9B56-4A5C334728D0}"/>
              </a:ext>
            </a:extLst>
          </p:cNvPr>
          <p:cNvSpPr txBox="1"/>
          <p:nvPr/>
        </p:nvSpPr>
        <p:spPr>
          <a:xfrm>
            <a:off x="5173910" y="2831034"/>
            <a:ext cx="1237118" cy="707886"/>
          </a:xfrm>
          <a:prstGeom prst="rect">
            <a:avLst/>
          </a:prstGeom>
          <a:solidFill>
            <a:srgbClr val="FF7C80"/>
          </a:solidFill>
          <a:ln>
            <a:noFill/>
          </a:ln>
        </p:spPr>
        <p:txBody>
          <a:bodyPr wrap="square" rtlCol="0">
            <a:spAutoFit/>
          </a:bodyPr>
          <a:lstStyle/>
          <a:p>
            <a:pPr algn="ctr"/>
            <a:r>
              <a:rPr lang="en-US" sz="2000" dirty="0">
                <a:solidFill>
                  <a:schemeClr val="bg1"/>
                </a:solidFill>
              </a:rPr>
              <a:t>Instance Manager</a:t>
            </a:r>
          </a:p>
        </p:txBody>
      </p:sp>
      <p:sp>
        <p:nvSpPr>
          <p:cNvPr id="48" name="TextBox 47">
            <a:extLst>
              <a:ext uri="{FF2B5EF4-FFF2-40B4-BE49-F238E27FC236}">
                <a16:creationId xmlns:a16="http://schemas.microsoft.com/office/drawing/2014/main" id="{00906F26-B1E8-47CF-BF72-84193923D7F8}"/>
              </a:ext>
            </a:extLst>
          </p:cNvPr>
          <p:cNvSpPr txBox="1"/>
          <p:nvPr/>
        </p:nvSpPr>
        <p:spPr>
          <a:xfrm>
            <a:off x="5437637" y="2381152"/>
            <a:ext cx="709663" cy="519351"/>
          </a:xfrm>
          <a:prstGeom prst="ellipse">
            <a:avLst/>
          </a:prstGeom>
          <a:solidFill>
            <a:srgbClr val="89C3E5"/>
          </a:solidFill>
          <a:ln w="57150">
            <a:solidFill>
              <a:srgbClr val="89C3E5"/>
            </a:solidFill>
          </a:ln>
        </p:spPr>
        <p:txBody>
          <a:bodyPr wrap="square" rtlCol="0">
            <a:spAutoFit/>
          </a:bodyPr>
          <a:lstStyle/>
          <a:p>
            <a:pPr algn="ctr"/>
            <a:r>
              <a:rPr lang="en-US" dirty="0">
                <a:solidFill>
                  <a:schemeClr val="bg1"/>
                </a:solidFill>
              </a:rPr>
              <a:t>SO</a:t>
            </a:r>
          </a:p>
        </p:txBody>
      </p:sp>
      <p:sp>
        <p:nvSpPr>
          <p:cNvPr id="49" name="TextBox 48">
            <a:extLst>
              <a:ext uri="{FF2B5EF4-FFF2-40B4-BE49-F238E27FC236}">
                <a16:creationId xmlns:a16="http://schemas.microsoft.com/office/drawing/2014/main" id="{5DB05CFF-A2D8-4EEE-9B69-FD9881C9A12A}"/>
              </a:ext>
            </a:extLst>
          </p:cNvPr>
          <p:cNvSpPr txBox="1"/>
          <p:nvPr/>
        </p:nvSpPr>
        <p:spPr>
          <a:xfrm>
            <a:off x="3297547" y="4390505"/>
            <a:ext cx="1145181" cy="400110"/>
          </a:xfrm>
          <a:prstGeom prst="rect">
            <a:avLst/>
          </a:prstGeom>
          <a:solidFill>
            <a:srgbClr val="FF7C80"/>
          </a:solidFill>
          <a:ln>
            <a:noFill/>
          </a:ln>
        </p:spPr>
        <p:txBody>
          <a:bodyPr wrap="square" rtlCol="0">
            <a:spAutoFit/>
          </a:bodyPr>
          <a:lstStyle/>
          <a:p>
            <a:pPr algn="ctr"/>
            <a:r>
              <a:rPr lang="en-US" sz="2000" dirty="0">
                <a:solidFill>
                  <a:schemeClr val="bg1"/>
                </a:solidFill>
              </a:rPr>
              <a:t>Proxy</a:t>
            </a:r>
          </a:p>
        </p:txBody>
      </p:sp>
      <p:sp>
        <p:nvSpPr>
          <p:cNvPr id="50" name="TextBox 49">
            <a:extLst>
              <a:ext uri="{FF2B5EF4-FFF2-40B4-BE49-F238E27FC236}">
                <a16:creationId xmlns:a16="http://schemas.microsoft.com/office/drawing/2014/main" id="{83EEC0A3-611B-4331-887A-3524B8BEB21A}"/>
              </a:ext>
            </a:extLst>
          </p:cNvPr>
          <p:cNvSpPr txBox="1"/>
          <p:nvPr/>
        </p:nvSpPr>
        <p:spPr>
          <a:xfrm>
            <a:off x="3373009" y="3953507"/>
            <a:ext cx="789616" cy="476071"/>
          </a:xfrm>
          <a:prstGeom prst="ellipse">
            <a:avLst/>
          </a:prstGeom>
          <a:solidFill>
            <a:srgbClr val="89C3E5"/>
          </a:solidFill>
          <a:ln w="57150">
            <a:solidFill>
              <a:srgbClr val="89C3E5"/>
            </a:solidFill>
          </a:ln>
        </p:spPr>
        <p:txBody>
          <a:bodyPr wrap="square" rtlCol="0">
            <a:spAutoFit/>
          </a:bodyPr>
          <a:lstStyle/>
          <a:p>
            <a:pPr algn="ctr"/>
            <a:r>
              <a:rPr lang="en-US" sz="1600" dirty="0">
                <a:solidFill>
                  <a:schemeClr val="bg1"/>
                </a:solidFill>
              </a:rPr>
              <a:t>stub</a:t>
            </a:r>
          </a:p>
        </p:txBody>
      </p:sp>
      <p:sp>
        <p:nvSpPr>
          <p:cNvPr id="53" name="TextBox 52">
            <a:extLst>
              <a:ext uri="{FF2B5EF4-FFF2-40B4-BE49-F238E27FC236}">
                <a16:creationId xmlns:a16="http://schemas.microsoft.com/office/drawing/2014/main" id="{2FFB794D-FCD9-4093-8482-22ABE28C2093}"/>
              </a:ext>
            </a:extLst>
          </p:cNvPr>
          <p:cNvSpPr txBox="1"/>
          <p:nvPr/>
        </p:nvSpPr>
        <p:spPr>
          <a:xfrm>
            <a:off x="2238693" y="4917408"/>
            <a:ext cx="1145181" cy="400110"/>
          </a:xfrm>
          <a:prstGeom prst="rect">
            <a:avLst/>
          </a:prstGeom>
          <a:solidFill>
            <a:srgbClr val="FF7C80"/>
          </a:solidFill>
          <a:ln>
            <a:noFill/>
          </a:ln>
        </p:spPr>
        <p:txBody>
          <a:bodyPr wrap="square" rtlCol="0">
            <a:spAutoFit/>
          </a:bodyPr>
          <a:lstStyle/>
          <a:p>
            <a:pPr algn="ctr"/>
            <a:r>
              <a:rPr lang="en-US" sz="2000" dirty="0">
                <a:solidFill>
                  <a:schemeClr val="bg1"/>
                </a:solidFill>
              </a:rPr>
              <a:t>Proxy</a:t>
            </a:r>
          </a:p>
        </p:txBody>
      </p:sp>
      <p:sp>
        <p:nvSpPr>
          <p:cNvPr id="54" name="TextBox 53">
            <a:extLst>
              <a:ext uri="{FF2B5EF4-FFF2-40B4-BE49-F238E27FC236}">
                <a16:creationId xmlns:a16="http://schemas.microsoft.com/office/drawing/2014/main" id="{0838D41B-4F0A-4576-A3D0-3B0012569FDF}"/>
              </a:ext>
            </a:extLst>
          </p:cNvPr>
          <p:cNvSpPr txBox="1"/>
          <p:nvPr/>
        </p:nvSpPr>
        <p:spPr>
          <a:xfrm>
            <a:off x="2314155" y="4480410"/>
            <a:ext cx="789616" cy="476071"/>
          </a:xfrm>
          <a:prstGeom prst="ellipse">
            <a:avLst/>
          </a:prstGeom>
          <a:solidFill>
            <a:srgbClr val="89C3E5"/>
          </a:solidFill>
          <a:ln w="57150">
            <a:solidFill>
              <a:srgbClr val="89C3E5"/>
            </a:solidFill>
          </a:ln>
        </p:spPr>
        <p:txBody>
          <a:bodyPr wrap="square" rtlCol="0">
            <a:spAutoFit/>
          </a:bodyPr>
          <a:lstStyle/>
          <a:p>
            <a:pPr algn="ctr"/>
            <a:r>
              <a:rPr lang="en-US" sz="1600" dirty="0">
                <a:solidFill>
                  <a:schemeClr val="bg1"/>
                </a:solidFill>
              </a:rPr>
              <a:t>stub</a:t>
            </a:r>
          </a:p>
        </p:txBody>
      </p:sp>
      <p:cxnSp>
        <p:nvCxnSpPr>
          <p:cNvPr id="55" name="Straight Arrow Connector 54">
            <a:extLst>
              <a:ext uri="{FF2B5EF4-FFF2-40B4-BE49-F238E27FC236}">
                <a16:creationId xmlns:a16="http://schemas.microsoft.com/office/drawing/2014/main" id="{4E063568-C735-41A9-9D2E-3C9C456C0B47}"/>
              </a:ext>
            </a:extLst>
          </p:cNvPr>
          <p:cNvCxnSpPr>
            <a:cxnSpLocks/>
          </p:cNvCxnSpPr>
          <p:nvPr/>
        </p:nvCxnSpPr>
        <p:spPr>
          <a:xfrm>
            <a:off x="4389058" y="2937354"/>
            <a:ext cx="714059" cy="151876"/>
          </a:xfrm>
          <a:prstGeom prst="straightConnector1">
            <a:avLst/>
          </a:prstGeom>
          <a:ln w="38100">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56" name="Straight Arrow Connector 55">
            <a:extLst>
              <a:ext uri="{FF2B5EF4-FFF2-40B4-BE49-F238E27FC236}">
                <a16:creationId xmlns:a16="http://schemas.microsoft.com/office/drawing/2014/main" id="{D1751A2D-FC3A-47E2-9769-AF32D14E2201}"/>
              </a:ext>
            </a:extLst>
          </p:cNvPr>
          <p:cNvCxnSpPr>
            <a:cxnSpLocks/>
            <a:stCxn id="21" idx="3"/>
          </p:cNvCxnSpPr>
          <p:nvPr/>
        </p:nvCxnSpPr>
        <p:spPr>
          <a:xfrm flipV="1">
            <a:off x="3400493" y="3508412"/>
            <a:ext cx="1702624" cy="129888"/>
          </a:xfrm>
          <a:prstGeom prst="straightConnector1">
            <a:avLst/>
          </a:prstGeom>
          <a:ln w="38100">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57" name="Straight Arrow Connector 56">
            <a:extLst>
              <a:ext uri="{FF2B5EF4-FFF2-40B4-BE49-F238E27FC236}">
                <a16:creationId xmlns:a16="http://schemas.microsoft.com/office/drawing/2014/main" id="{7958D66C-85F1-4F8A-A235-C4B7A32A1AFB}"/>
              </a:ext>
            </a:extLst>
          </p:cNvPr>
          <p:cNvCxnSpPr>
            <a:cxnSpLocks/>
          </p:cNvCxnSpPr>
          <p:nvPr/>
        </p:nvCxnSpPr>
        <p:spPr>
          <a:xfrm>
            <a:off x="5603855" y="3601588"/>
            <a:ext cx="376009" cy="834681"/>
          </a:xfrm>
          <a:prstGeom prst="straightConnector1">
            <a:avLst/>
          </a:prstGeom>
          <a:ln w="38100">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58" name="TextBox 57">
            <a:extLst>
              <a:ext uri="{FF2B5EF4-FFF2-40B4-BE49-F238E27FC236}">
                <a16:creationId xmlns:a16="http://schemas.microsoft.com/office/drawing/2014/main" id="{ABCED26E-475A-46DF-9589-0F77E16139B2}"/>
              </a:ext>
            </a:extLst>
          </p:cNvPr>
          <p:cNvSpPr txBox="1"/>
          <p:nvPr/>
        </p:nvSpPr>
        <p:spPr>
          <a:xfrm>
            <a:off x="5876046" y="2368256"/>
            <a:ext cx="1611630" cy="400110"/>
          </a:xfrm>
          <a:prstGeom prst="rect">
            <a:avLst/>
          </a:prstGeom>
          <a:noFill/>
        </p:spPr>
        <p:txBody>
          <a:bodyPr wrap="square" rtlCol="0">
            <a:spAutoFit/>
          </a:bodyPr>
          <a:lstStyle/>
          <a:p>
            <a:pPr algn="ctr"/>
            <a:r>
              <a:rPr lang="en-US" sz="2000" dirty="0"/>
              <a:t>Replica1</a:t>
            </a:r>
            <a:endParaRPr lang="en-US" sz="1600" dirty="0"/>
          </a:p>
        </p:txBody>
      </p:sp>
      <p:sp>
        <p:nvSpPr>
          <p:cNvPr id="59" name="TextBox 58">
            <a:extLst>
              <a:ext uri="{FF2B5EF4-FFF2-40B4-BE49-F238E27FC236}">
                <a16:creationId xmlns:a16="http://schemas.microsoft.com/office/drawing/2014/main" id="{CF23D369-1AF6-4573-BDD6-EE8E8A9A2924}"/>
              </a:ext>
            </a:extLst>
          </p:cNvPr>
          <p:cNvSpPr txBox="1"/>
          <p:nvPr/>
        </p:nvSpPr>
        <p:spPr>
          <a:xfrm>
            <a:off x="6076054" y="3689141"/>
            <a:ext cx="1611630" cy="400110"/>
          </a:xfrm>
          <a:prstGeom prst="rect">
            <a:avLst/>
          </a:prstGeom>
          <a:noFill/>
        </p:spPr>
        <p:txBody>
          <a:bodyPr wrap="square" rtlCol="0">
            <a:spAutoFit/>
          </a:bodyPr>
          <a:lstStyle/>
          <a:p>
            <a:pPr algn="ctr"/>
            <a:r>
              <a:rPr lang="en-US" sz="2000" dirty="0"/>
              <a:t>Replica2</a:t>
            </a:r>
            <a:endParaRPr lang="en-US" sz="1600" dirty="0"/>
          </a:p>
        </p:txBody>
      </p:sp>
      <p:cxnSp>
        <p:nvCxnSpPr>
          <p:cNvPr id="44" name="Straight Arrow Connector 43">
            <a:extLst>
              <a:ext uri="{FF2B5EF4-FFF2-40B4-BE49-F238E27FC236}">
                <a16:creationId xmlns:a16="http://schemas.microsoft.com/office/drawing/2014/main" id="{D036C025-633A-4ECB-BBBD-12475368D991}"/>
              </a:ext>
            </a:extLst>
          </p:cNvPr>
          <p:cNvCxnSpPr>
            <a:cxnSpLocks/>
          </p:cNvCxnSpPr>
          <p:nvPr/>
        </p:nvCxnSpPr>
        <p:spPr>
          <a:xfrm flipV="1">
            <a:off x="7178040" y="3495564"/>
            <a:ext cx="1691470" cy="1519106"/>
          </a:xfrm>
          <a:prstGeom prst="straightConnector1">
            <a:avLst/>
          </a:prstGeom>
          <a:ln w="38100">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076E5758-8927-4002-B7F2-26C841C64ECE}"/>
              </a:ext>
            </a:extLst>
          </p:cNvPr>
          <p:cNvCxnSpPr>
            <a:cxnSpLocks/>
          </p:cNvCxnSpPr>
          <p:nvPr/>
        </p:nvCxnSpPr>
        <p:spPr>
          <a:xfrm flipV="1">
            <a:off x="6475486" y="3148713"/>
            <a:ext cx="1534322" cy="2239"/>
          </a:xfrm>
          <a:prstGeom prst="straightConnector1">
            <a:avLst/>
          </a:prstGeom>
          <a:ln w="38100">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95112C99-81F1-4CEB-AC2A-BB7C5854DF9C}"/>
              </a:ext>
            </a:extLst>
          </p:cNvPr>
          <p:cNvCxnSpPr>
            <a:cxnSpLocks/>
          </p:cNvCxnSpPr>
          <p:nvPr/>
        </p:nvCxnSpPr>
        <p:spPr>
          <a:xfrm>
            <a:off x="4512273" y="4647303"/>
            <a:ext cx="1291302" cy="121588"/>
          </a:xfrm>
          <a:prstGeom prst="straightConnector1">
            <a:avLst/>
          </a:prstGeom>
          <a:ln w="38100">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66" name="Rectangle 65">
            <a:extLst>
              <a:ext uri="{FF2B5EF4-FFF2-40B4-BE49-F238E27FC236}">
                <a16:creationId xmlns:a16="http://schemas.microsoft.com/office/drawing/2014/main" id="{7F1050F0-A369-4AFD-B3F7-261358F0EFAD}"/>
              </a:ext>
            </a:extLst>
          </p:cNvPr>
          <p:cNvSpPr/>
          <p:nvPr/>
        </p:nvSpPr>
        <p:spPr>
          <a:xfrm>
            <a:off x="7641963" y="5956028"/>
            <a:ext cx="2573797" cy="369332"/>
          </a:xfrm>
          <a:prstGeom prst="rect">
            <a:avLst/>
          </a:prstGeom>
        </p:spPr>
        <p:txBody>
          <a:bodyPr wrap="square">
            <a:spAutoFit/>
          </a:bodyPr>
          <a:lstStyle/>
          <a:p>
            <a:r>
              <a:rPr lang="en-US" dirty="0"/>
              <a:t>= fault-tolerant DK nodes</a:t>
            </a:r>
          </a:p>
        </p:txBody>
      </p:sp>
    </p:spTree>
    <p:extLst>
      <p:ext uri="{BB962C8B-B14F-4D97-AF65-F5344CB8AC3E}">
        <p14:creationId xmlns:p14="http://schemas.microsoft.com/office/powerpoint/2010/main" val="222700176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8B9D7C-AEB4-48E0-A108-770E43128529}"/>
              </a:ext>
            </a:extLst>
          </p:cNvPr>
          <p:cNvSpPr>
            <a:spLocks noGrp="1"/>
          </p:cNvSpPr>
          <p:nvPr>
            <p:ph type="title"/>
          </p:nvPr>
        </p:nvSpPr>
        <p:spPr/>
        <p:txBody>
          <a:bodyPr/>
          <a:lstStyle/>
          <a:p>
            <a:r>
              <a:rPr lang="en-US" dirty="0"/>
              <a:t>Upcalls</a:t>
            </a:r>
          </a:p>
        </p:txBody>
      </p:sp>
      <p:sp>
        <p:nvSpPr>
          <p:cNvPr id="3" name="Content Placeholder 2">
            <a:extLst>
              <a:ext uri="{FF2B5EF4-FFF2-40B4-BE49-F238E27FC236}">
                <a16:creationId xmlns:a16="http://schemas.microsoft.com/office/drawing/2014/main" id="{39B7D946-3A1B-4E30-A876-573F412794AA}"/>
              </a:ext>
            </a:extLst>
          </p:cNvPr>
          <p:cNvSpPr>
            <a:spLocks noGrp="1"/>
          </p:cNvSpPr>
          <p:nvPr>
            <p:ph idx="1"/>
          </p:nvPr>
        </p:nvSpPr>
        <p:spPr>
          <a:xfrm>
            <a:off x="1097280" y="1579428"/>
            <a:ext cx="4640580" cy="4627395"/>
          </a:xfrm>
        </p:spPr>
        <p:txBody>
          <a:bodyPr>
            <a:normAutofit/>
          </a:bodyPr>
          <a:lstStyle/>
          <a:p>
            <a:pPr>
              <a:buFont typeface="Arial" panose="020B0604020202020204" pitchFamily="34" charset="0"/>
              <a:buChar char="•"/>
            </a:pPr>
            <a:r>
              <a:rPr lang="en-US" dirty="0"/>
              <a:t> The DK invokes DM components using upcalls</a:t>
            </a:r>
          </a:p>
          <a:p>
            <a:pPr>
              <a:buFont typeface="Arial" panose="020B0604020202020204" pitchFamily="34" charset="0"/>
              <a:buChar char="•"/>
            </a:pPr>
            <a:r>
              <a:rPr lang="en-US" dirty="0"/>
              <a:t> Each component receives a different set of upcalls according to the component’s responsibilities</a:t>
            </a:r>
          </a:p>
        </p:txBody>
      </p:sp>
      <p:pic>
        <p:nvPicPr>
          <p:cNvPr id="4" name="Picture 3">
            <a:extLst>
              <a:ext uri="{FF2B5EF4-FFF2-40B4-BE49-F238E27FC236}">
                <a16:creationId xmlns:a16="http://schemas.microsoft.com/office/drawing/2014/main" id="{A0C655DC-6292-464E-8779-F525A17FA8BE}"/>
              </a:ext>
            </a:extLst>
          </p:cNvPr>
          <p:cNvPicPr>
            <a:picLocks noChangeAspect="1"/>
          </p:cNvPicPr>
          <p:nvPr/>
        </p:nvPicPr>
        <p:blipFill>
          <a:blip r:embed="rId3">
            <a:duotone>
              <a:schemeClr val="accent1">
                <a:shade val="45000"/>
                <a:satMod val="135000"/>
              </a:schemeClr>
              <a:prstClr val="white"/>
            </a:duotone>
          </a:blip>
          <a:stretch>
            <a:fillRect/>
          </a:stretch>
        </p:blipFill>
        <p:spPr>
          <a:xfrm>
            <a:off x="5657850" y="1937385"/>
            <a:ext cx="6057900" cy="3600450"/>
          </a:xfrm>
          <a:prstGeom prst="rect">
            <a:avLst/>
          </a:prstGeom>
        </p:spPr>
      </p:pic>
    </p:spTree>
    <p:extLst>
      <p:ext uri="{BB962C8B-B14F-4D97-AF65-F5344CB8AC3E}">
        <p14:creationId xmlns:p14="http://schemas.microsoft.com/office/powerpoint/2010/main" val="55484177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D7E991-E1E8-4F79-AA13-6E55B68DBE85}"/>
              </a:ext>
            </a:extLst>
          </p:cNvPr>
          <p:cNvSpPr>
            <a:spLocks noGrp="1"/>
          </p:cNvSpPr>
          <p:nvPr>
            <p:ph type="title"/>
          </p:nvPr>
        </p:nvSpPr>
        <p:spPr/>
        <p:txBody>
          <a:bodyPr/>
          <a:lstStyle/>
          <a:p>
            <a:r>
              <a:rPr lang="en-US" dirty="0"/>
              <a:t>DK API for DM</a:t>
            </a:r>
          </a:p>
        </p:txBody>
      </p:sp>
      <p:sp>
        <p:nvSpPr>
          <p:cNvPr id="3" name="Content Placeholder 2">
            <a:extLst>
              <a:ext uri="{FF2B5EF4-FFF2-40B4-BE49-F238E27FC236}">
                <a16:creationId xmlns:a16="http://schemas.microsoft.com/office/drawing/2014/main" id="{134AC889-2193-43EB-BDB1-8A450ABCD718}"/>
              </a:ext>
            </a:extLst>
          </p:cNvPr>
          <p:cNvSpPr>
            <a:spLocks noGrp="1"/>
          </p:cNvSpPr>
          <p:nvPr>
            <p:ph idx="1"/>
          </p:nvPr>
        </p:nvSpPr>
        <p:spPr>
          <a:xfrm>
            <a:off x="1097280" y="1579428"/>
            <a:ext cx="5749290" cy="4627395"/>
          </a:xfrm>
        </p:spPr>
        <p:txBody>
          <a:bodyPr/>
          <a:lstStyle/>
          <a:p>
            <a:pPr marL="0" indent="0">
              <a:buNone/>
            </a:pPr>
            <a:r>
              <a:rPr lang="en-US" dirty="0"/>
              <a:t>In each upcall, the DM component can</a:t>
            </a:r>
          </a:p>
          <a:p>
            <a:pPr>
              <a:buFont typeface="Arial" panose="020B0604020202020204" pitchFamily="34" charset="0"/>
              <a:buChar char="•"/>
            </a:pPr>
            <a:r>
              <a:rPr lang="en-US" dirty="0"/>
              <a:t> perform management tasks on the SO using a set of primitives </a:t>
            </a:r>
          </a:p>
          <a:p>
            <a:pPr>
              <a:buFont typeface="Arial" panose="020B0604020202020204" pitchFamily="34" charset="0"/>
              <a:buChar char="•"/>
            </a:pPr>
            <a:r>
              <a:rPr lang="en-US" dirty="0"/>
              <a:t> communicate directly with each other through a transparent RPC mechanism</a:t>
            </a:r>
          </a:p>
        </p:txBody>
      </p:sp>
      <p:pic>
        <p:nvPicPr>
          <p:cNvPr id="4" name="Picture 3">
            <a:extLst>
              <a:ext uri="{FF2B5EF4-FFF2-40B4-BE49-F238E27FC236}">
                <a16:creationId xmlns:a16="http://schemas.microsoft.com/office/drawing/2014/main" id="{000C9C36-97EC-4C9B-AAFE-BD2A9D003AB1}"/>
              </a:ext>
            </a:extLst>
          </p:cNvPr>
          <p:cNvPicPr>
            <a:picLocks noChangeAspect="1"/>
          </p:cNvPicPr>
          <p:nvPr/>
        </p:nvPicPr>
        <p:blipFill>
          <a:blip r:embed="rId3">
            <a:duotone>
              <a:prstClr val="black"/>
              <a:schemeClr val="accent6">
                <a:tint val="45000"/>
                <a:satMod val="400000"/>
              </a:schemeClr>
            </a:duotone>
            <a:extLst>
              <a:ext uri="{BEBA8EAE-BF5A-486C-A8C5-ECC9F3942E4B}">
                <a14:imgProps xmlns:a14="http://schemas.microsoft.com/office/drawing/2010/main">
                  <a14:imgLayer r:embed="rId4">
                    <a14:imgEffect>
                      <a14:colorTemperature colorTemp="4700"/>
                    </a14:imgEffect>
                  </a14:imgLayer>
                </a14:imgProps>
              </a:ext>
            </a:extLst>
          </a:blip>
          <a:stretch>
            <a:fillRect/>
          </a:stretch>
        </p:blipFill>
        <p:spPr>
          <a:xfrm>
            <a:off x="7459979" y="415623"/>
            <a:ext cx="4038600" cy="5791200"/>
          </a:xfrm>
          <a:prstGeom prst="rect">
            <a:avLst/>
          </a:prstGeom>
        </p:spPr>
      </p:pic>
    </p:spTree>
    <p:extLst>
      <p:ext uri="{BB962C8B-B14F-4D97-AF65-F5344CB8AC3E}">
        <p14:creationId xmlns:p14="http://schemas.microsoft.com/office/powerpoint/2010/main" val="73088307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D0501A-F4C3-4844-BE71-ABE5D5876718}"/>
              </a:ext>
            </a:extLst>
          </p:cNvPr>
          <p:cNvSpPr>
            <a:spLocks noGrp="1"/>
          </p:cNvSpPr>
          <p:nvPr>
            <p:ph type="title"/>
          </p:nvPr>
        </p:nvSpPr>
        <p:spPr/>
        <p:txBody>
          <a:bodyPr/>
          <a:lstStyle/>
          <a:p>
            <a:r>
              <a:rPr lang="en-US" dirty="0">
                <a:solidFill>
                  <a:srgbClr val="FF6600"/>
                </a:solidFill>
              </a:rPr>
              <a:t>Programming Model</a:t>
            </a:r>
          </a:p>
        </p:txBody>
      </p:sp>
      <p:pic>
        <p:nvPicPr>
          <p:cNvPr id="4" name="Content Placeholder 3">
            <a:extLst>
              <a:ext uri="{FF2B5EF4-FFF2-40B4-BE49-F238E27FC236}">
                <a16:creationId xmlns:a16="http://schemas.microsoft.com/office/drawing/2014/main" id="{A59F0F04-E811-4348-AB3F-3AEB5E98BC28}"/>
              </a:ext>
            </a:extLst>
          </p:cNvPr>
          <p:cNvPicPr>
            <a:picLocks noGrp="1" noChangeAspect="1"/>
          </p:cNvPicPr>
          <p:nvPr>
            <p:ph idx="1"/>
          </p:nvPr>
        </p:nvPicPr>
        <p:blipFill>
          <a:blip r:embed="rId3"/>
          <a:stretch>
            <a:fillRect/>
          </a:stretch>
        </p:blipFill>
        <p:spPr>
          <a:xfrm>
            <a:off x="5760719" y="1602423"/>
            <a:ext cx="6032357" cy="4627562"/>
          </a:xfrm>
          <a:prstGeom prst="rect">
            <a:avLst/>
          </a:prstGeom>
        </p:spPr>
      </p:pic>
      <p:sp>
        <p:nvSpPr>
          <p:cNvPr id="5" name="TextBox 4">
            <a:extLst>
              <a:ext uri="{FF2B5EF4-FFF2-40B4-BE49-F238E27FC236}">
                <a16:creationId xmlns:a16="http://schemas.microsoft.com/office/drawing/2014/main" id="{F516107E-DF52-4A0E-A4BE-F4443F56E472}"/>
              </a:ext>
            </a:extLst>
          </p:cNvPr>
          <p:cNvSpPr txBox="1"/>
          <p:nvPr/>
        </p:nvSpPr>
        <p:spPr>
          <a:xfrm>
            <a:off x="6972300" y="1602423"/>
            <a:ext cx="1428750" cy="369332"/>
          </a:xfrm>
          <a:prstGeom prst="rect">
            <a:avLst/>
          </a:prstGeom>
          <a:solidFill>
            <a:srgbClr val="FF0000">
              <a:alpha val="30196"/>
            </a:srgbClr>
          </a:solidFill>
        </p:spPr>
        <p:txBody>
          <a:bodyPr wrap="square" rtlCol="0">
            <a:spAutoFit/>
          </a:bodyPr>
          <a:lstStyle/>
          <a:p>
            <a:endParaRPr lang="en-US" dirty="0">
              <a:solidFill>
                <a:srgbClr val="FF0000"/>
              </a:solidFill>
            </a:endParaRPr>
          </a:p>
        </p:txBody>
      </p:sp>
      <p:sp>
        <p:nvSpPr>
          <p:cNvPr id="6" name="TextBox 5">
            <a:extLst>
              <a:ext uri="{FF2B5EF4-FFF2-40B4-BE49-F238E27FC236}">
                <a16:creationId xmlns:a16="http://schemas.microsoft.com/office/drawing/2014/main" id="{91CCA21E-983D-4472-81D7-011FC9861A44}"/>
              </a:ext>
            </a:extLst>
          </p:cNvPr>
          <p:cNvSpPr txBox="1"/>
          <p:nvPr/>
        </p:nvSpPr>
        <p:spPr>
          <a:xfrm>
            <a:off x="8507730" y="1602423"/>
            <a:ext cx="464820" cy="369332"/>
          </a:xfrm>
          <a:prstGeom prst="rect">
            <a:avLst/>
          </a:prstGeom>
          <a:solidFill>
            <a:srgbClr val="00B0F0">
              <a:alpha val="30196"/>
            </a:srgbClr>
          </a:solidFill>
        </p:spPr>
        <p:txBody>
          <a:bodyPr wrap="square" rtlCol="0">
            <a:spAutoFit/>
          </a:bodyPr>
          <a:lstStyle/>
          <a:p>
            <a:endParaRPr lang="en-US" dirty="0"/>
          </a:p>
        </p:txBody>
      </p:sp>
      <p:sp>
        <p:nvSpPr>
          <p:cNvPr id="7" name="TextBox 6">
            <a:extLst>
              <a:ext uri="{FF2B5EF4-FFF2-40B4-BE49-F238E27FC236}">
                <a16:creationId xmlns:a16="http://schemas.microsoft.com/office/drawing/2014/main" id="{976809E7-453B-48AE-8471-E186FCA4924C}"/>
              </a:ext>
            </a:extLst>
          </p:cNvPr>
          <p:cNvSpPr txBox="1"/>
          <p:nvPr/>
        </p:nvSpPr>
        <p:spPr>
          <a:xfrm>
            <a:off x="9578902" y="1602423"/>
            <a:ext cx="1919677" cy="369332"/>
          </a:xfrm>
          <a:prstGeom prst="rect">
            <a:avLst/>
          </a:prstGeom>
          <a:solidFill>
            <a:srgbClr val="FFC000">
              <a:alpha val="30196"/>
            </a:srgbClr>
          </a:solidFill>
        </p:spPr>
        <p:txBody>
          <a:bodyPr wrap="square" rtlCol="0">
            <a:spAutoFit/>
          </a:bodyPr>
          <a:lstStyle/>
          <a:p>
            <a:endParaRPr lang="en-US" dirty="0"/>
          </a:p>
        </p:txBody>
      </p:sp>
      <p:sp>
        <p:nvSpPr>
          <p:cNvPr id="8" name="TextBox 7">
            <a:extLst>
              <a:ext uri="{FF2B5EF4-FFF2-40B4-BE49-F238E27FC236}">
                <a16:creationId xmlns:a16="http://schemas.microsoft.com/office/drawing/2014/main" id="{63436FFA-1BA6-4117-A75F-0A4109CC964B}"/>
              </a:ext>
            </a:extLst>
          </p:cNvPr>
          <p:cNvSpPr txBox="1"/>
          <p:nvPr/>
        </p:nvSpPr>
        <p:spPr>
          <a:xfrm>
            <a:off x="9007403" y="1602423"/>
            <a:ext cx="464820" cy="369332"/>
          </a:xfrm>
          <a:prstGeom prst="rect">
            <a:avLst/>
          </a:prstGeom>
          <a:solidFill>
            <a:srgbClr val="CC66FF">
              <a:alpha val="30196"/>
            </a:srgbClr>
          </a:solidFill>
        </p:spPr>
        <p:txBody>
          <a:bodyPr wrap="square" rtlCol="0">
            <a:spAutoFit/>
          </a:bodyPr>
          <a:lstStyle/>
          <a:p>
            <a:endParaRPr lang="en-US" dirty="0"/>
          </a:p>
        </p:txBody>
      </p:sp>
      <p:sp>
        <p:nvSpPr>
          <p:cNvPr id="9" name="TextBox 8">
            <a:extLst>
              <a:ext uri="{FF2B5EF4-FFF2-40B4-BE49-F238E27FC236}">
                <a16:creationId xmlns:a16="http://schemas.microsoft.com/office/drawing/2014/main" id="{45017E17-0312-4B24-A56F-343FE66DD231}"/>
              </a:ext>
            </a:extLst>
          </p:cNvPr>
          <p:cNvSpPr txBox="1"/>
          <p:nvPr/>
        </p:nvSpPr>
        <p:spPr>
          <a:xfrm>
            <a:off x="11040038" y="1233091"/>
            <a:ext cx="525780" cy="369332"/>
          </a:xfrm>
          <a:prstGeom prst="rect">
            <a:avLst/>
          </a:prstGeom>
          <a:noFill/>
        </p:spPr>
        <p:txBody>
          <a:bodyPr wrap="square" rtlCol="0">
            <a:spAutoFit/>
          </a:bodyPr>
          <a:lstStyle/>
          <a:p>
            <a:r>
              <a:rPr lang="en-US" dirty="0">
                <a:solidFill>
                  <a:srgbClr val="FFC000"/>
                </a:solidFill>
              </a:rPr>
              <a:t>DM</a:t>
            </a:r>
          </a:p>
        </p:txBody>
      </p:sp>
      <p:sp>
        <p:nvSpPr>
          <p:cNvPr id="11" name="TextBox 10">
            <a:extLst>
              <a:ext uri="{FF2B5EF4-FFF2-40B4-BE49-F238E27FC236}">
                <a16:creationId xmlns:a16="http://schemas.microsoft.com/office/drawing/2014/main" id="{DCF39F8C-6E58-4C0D-A2A4-9C62068C8169}"/>
              </a:ext>
            </a:extLst>
          </p:cNvPr>
          <p:cNvSpPr txBox="1"/>
          <p:nvPr/>
        </p:nvSpPr>
        <p:spPr>
          <a:xfrm>
            <a:off x="9152041" y="1269889"/>
            <a:ext cx="1261110" cy="369332"/>
          </a:xfrm>
          <a:prstGeom prst="rect">
            <a:avLst/>
          </a:prstGeom>
          <a:noFill/>
        </p:spPr>
        <p:txBody>
          <a:bodyPr wrap="square" rtlCol="0">
            <a:spAutoFit/>
          </a:bodyPr>
          <a:lstStyle/>
          <a:p>
            <a:r>
              <a:rPr lang="en-US" dirty="0">
                <a:solidFill>
                  <a:srgbClr val="CC66FF"/>
                </a:solidFill>
              </a:rPr>
              <a:t>Specify DM</a:t>
            </a:r>
          </a:p>
        </p:txBody>
      </p:sp>
      <p:sp>
        <p:nvSpPr>
          <p:cNvPr id="12" name="TextBox 11">
            <a:extLst>
              <a:ext uri="{FF2B5EF4-FFF2-40B4-BE49-F238E27FC236}">
                <a16:creationId xmlns:a16="http://schemas.microsoft.com/office/drawing/2014/main" id="{DE0C9F38-8297-465C-ABE8-F4CEDFF14622}"/>
              </a:ext>
            </a:extLst>
          </p:cNvPr>
          <p:cNvSpPr txBox="1"/>
          <p:nvPr/>
        </p:nvSpPr>
        <p:spPr>
          <a:xfrm>
            <a:off x="8486413" y="1971755"/>
            <a:ext cx="2530337" cy="369332"/>
          </a:xfrm>
          <a:prstGeom prst="rect">
            <a:avLst/>
          </a:prstGeom>
          <a:noFill/>
        </p:spPr>
        <p:txBody>
          <a:bodyPr wrap="square" rtlCol="0">
            <a:spAutoFit/>
          </a:bodyPr>
          <a:lstStyle/>
          <a:p>
            <a:r>
              <a:rPr lang="en-US" dirty="0">
                <a:solidFill>
                  <a:srgbClr val="00B0F0"/>
                </a:solidFill>
              </a:rPr>
              <a:t>Internal Java Obj – string</a:t>
            </a:r>
          </a:p>
        </p:txBody>
      </p:sp>
      <p:sp>
        <p:nvSpPr>
          <p:cNvPr id="13" name="Rectangle 12">
            <a:extLst>
              <a:ext uri="{FF2B5EF4-FFF2-40B4-BE49-F238E27FC236}">
                <a16:creationId xmlns:a16="http://schemas.microsoft.com/office/drawing/2014/main" id="{2634EABF-17AB-480A-9261-F41AD209D84A}"/>
              </a:ext>
            </a:extLst>
          </p:cNvPr>
          <p:cNvSpPr/>
          <p:nvPr/>
        </p:nvSpPr>
        <p:spPr>
          <a:xfrm>
            <a:off x="6869710" y="1177556"/>
            <a:ext cx="1787669" cy="369332"/>
          </a:xfrm>
          <a:prstGeom prst="rect">
            <a:avLst/>
          </a:prstGeom>
        </p:spPr>
        <p:txBody>
          <a:bodyPr wrap="none">
            <a:spAutoFit/>
          </a:bodyPr>
          <a:lstStyle/>
          <a:p>
            <a:r>
              <a:rPr lang="en-US" dirty="0">
                <a:solidFill>
                  <a:srgbClr val="FF0000"/>
                </a:solidFill>
              </a:rPr>
              <a:t>Sapphire Objects</a:t>
            </a:r>
          </a:p>
        </p:txBody>
      </p:sp>
      <p:sp>
        <p:nvSpPr>
          <p:cNvPr id="15" name="Content Placeholder 2">
            <a:extLst>
              <a:ext uri="{FF2B5EF4-FFF2-40B4-BE49-F238E27FC236}">
                <a16:creationId xmlns:a16="http://schemas.microsoft.com/office/drawing/2014/main" id="{B6ACA602-16F3-4C68-9F47-11E9A8A29781}"/>
              </a:ext>
            </a:extLst>
          </p:cNvPr>
          <p:cNvSpPr txBox="1">
            <a:spLocks/>
          </p:cNvSpPr>
          <p:nvPr/>
        </p:nvSpPr>
        <p:spPr>
          <a:xfrm>
            <a:off x="1097280" y="1579428"/>
            <a:ext cx="4436181" cy="4627395"/>
          </a:xfrm>
          <a:prstGeom prst="rect">
            <a:avLst/>
          </a:prstGeom>
        </p:spPr>
        <p:txBody>
          <a:bodyPr vert="horz" lIns="0" tIns="45720" rIns="0" bIns="45720" rtlCol="0">
            <a:normAutofit/>
          </a:bodyPr>
          <a:lstStyle>
            <a:lvl1pPr marL="91440" indent="-91440" algn="l" defTabSz="914400" rtl="0" eaLnBrk="1" latinLnBrk="0" hangingPunct="1">
              <a:lnSpc>
                <a:spcPct val="110000"/>
              </a:lnSpc>
              <a:spcBef>
                <a:spcPts val="1200"/>
              </a:spcBef>
              <a:spcAft>
                <a:spcPts val="200"/>
              </a:spcAft>
              <a:buClr>
                <a:schemeClr val="accent1"/>
              </a:buClr>
              <a:buSzPct val="100000"/>
              <a:buFont typeface="Calibri" panose="020F0502020204030204" pitchFamily="34" charset="0"/>
              <a:buChar char=" "/>
              <a:defRPr sz="28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100000"/>
              </a:lnSpc>
              <a:spcBef>
                <a:spcPts val="200"/>
              </a:spcBef>
              <a:spcAft>
                <a:spcPts val="400"/>
              </a:spcAft>
              <a:buClrTx/>
              <a:buFont typeface="Calibri" pitchFamily="34" charset="0"/>
              <a:buChar char="◦"/>
              <a:defRPr sz="24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100000"/>
              </a:lnSpc>
              <a:spcBef>
                <a:spcPts val="200"/>
              </a:spcBef>
              <a:spcAft>
                <a:spcPts val="400"/>
              </a:spcAft>
              <a:buClrTx/>
              <a:buFont typeface="Calibri" pitchFamily="34" charset="0"/>
              <a:buChar char="◦"/>
              <a:defRPr sz="20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100000"/>
              </a:lnSpc>
              <a:spcBef>
                <a:spcPts val="200"/>
              </a:spcBef>
              <a:spcAft>
                <a:spcPts val="400"/>
              </a:spcAft>
              <a:buClrTx/>
              <a:buFont typeface="Calibri" pitchFamily="34" charset="0"/>
              <a:buChar char="◦"/>
              <a:defRPr sz="20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100000"/>
              </a:lnSpc>
              <a:spcBef>
                <a:spcPts val="200"/>
              </a:spcBef>
              <a:spcAft>
                <a:spcPts val="400"/>
              </a:spcAft>
              <a:buClrTx/>
              <a:buFont typeface="Calibri" pitchFamily="34" charset="0"/>
              <a:buChar char="◦"/>
              <a:defRPr sz="20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a:buFont typeface="Arial" panose="020B0604020202020204" pitchFamily="34" charset="0"/>
              <a:buChar char="•"/>
            </a:pPr>
            <a:r>
              <a:rPr lang="en-US" dirty="0"/>
              <a:t> is object-based</a:t>
            </a:r>
          </a:p>
          <a:p>
            <a:pPr lvl="1">
              <a:buFont typeface="Arial" panose="020B0604020202020204" pitchFamily="34" charset="0"/>
              <a:buChar char="•"/>
            </a:pPr>
            <a:r>
              <a:rPr lang="en-US" sz="2000" dirty="0"/>
              <a:t>Can be integrated with any OOP</a:t>
            </a:r>
          </a:p>
          <a:p>
            <a:pPr>
              <a:buFont typeface="Arial" panose="020B0604020202020204" pitchFamily="34" charset="0"/>
              <a:buChar char="•"/>
            </a:pPr>
            <a:r>
              <a:rPr lang="en-US" dirty="0"/>
              <a:t> </a:t>
            </a:r>
            <a:r>
              <a:rPr lang="en-US" dirty="0">
                <a:solidFill>
                  <a:srgbClr val="FF0000"/>
                </a:solidFill>
              </a:rPr>
              <a:t>Defining SO</a:t>
            </a:r>
          </a:p>
          <a:p>
            <a:pPr>
              <a:buFont typeface="Arial" panose="020B0604020202020204" pitchFamily="34" charset="0"/>
              <a:buChar char="•"/>
            </a:pPr>
            <a:r>
              <a:rPr lang="en-US" dirty="0"/>
              <a:t> </a:t>
            </a:r>
            <a:r>
              <a:rPr lang="en-US" dirty="0">
                <a:solidFill>
                  <a:srgbClr val="00CC99"/>
                </a:solidFill>
              </a:rPr>
              <a:t>Calling SO</a:t>
            </a:r>
          </a:p>
          <a:p>
            <a:pPr>
              <a:buFont typeface="Arial" panose="020B0604020202020204" pitchFamily="34" charset="0"/>
              <a:buChar char="•"/>
            </a:pPr>
            <a:r>
              <a:rPr lang="en-US" dirty="0"/>
              <a:t> </a:t>
            </a:r>
            <a:r>
              <a:rPr lang="en-US" dirty="0">
                <a:solidFill>
                  <a:srgbClr val="CC66FF"/>
                </a:solidFill>
              </a:rPr>
              <a:t>Choosing Deployment Managers</a:t>
            </a:r>
          </a:p>
          <a:p>
            <a:pPr>
              <a:buFont typeface="Arial" panose="020B0604020202020204" pitchFamily="34" charset="0"/>
              <a:buChar char="•"/>
            </a:pPr>
            <a:endParaRPr lang="en-US" dirty="0"/>
          </a:p>
        </p:txBody>
      </p:sp>
      <p:sp>
        <p:nvSpPr>
          <p:cNvPr id="16" name="TextBox 15">
            <a:extLst>
              <a:ext uri="{FF2B5EF4-FFF2-40B4-BE49-F238E27FC236}">
                <a16:creationId xmlns:a16="http://schemas.microsoft.com/office/drawing/2014/main" id="{E9A86B71-B131-417E-8969-768C7F39DE77}"/>
              </a:ext>
            </a:extLst>
          </p:cNvPr>
          <p:cNvSpPr txBox="1"/>
          <p:nvPr/>
        </p:nvSpPr>
        <p:spPr>
          <a:xfrm>
            <a:off x="8155022" y="3369231"/>
            <a:ext cx="1423880" cy="369332"/>
          </a:xfrm>
          <a:prstGeom prst="rect">
            <a:avLst/>
          </a:prstGeom>
          <a:solidFill>
            <a:srgbClr val="00CC99">
              <a:alpha val="30196"/>
            </a:srgbClr>
          </a:solidFill>
        </p:spPr>
        <p:txBody>
          <a:bodyPr wrap="square" rtlCol="0">
            <a:spAutoFit/>
          </a:bodyPr>
          <a:lstStyle/>
          <a:p>
            <a:endParaRPr lang="en-US" dirty="0"/>
          </a:p>
        </p:txBody>
      </p:sp>
      <p:sp>
        <p:nvSpPr>
          <p:cNvPr id="17" name="TextBox 16">
            <a:extLst>
              <a:ext uri="{FF2B5EF4-FFF2-40B4-BE49-F238E27FC236}">
                <a16:creationId xmlns:a16="http://schemas.microsoft.com/office/drawing/2014/main" id="{B2DF372C-1127-467D-A0FB-0B145CEC51C3}"/>
              </a:ext>
            </a:extLst>
          </p:cNvPr>
          <p:cNvSpPr txBox="1"/>
          <p:nvPr/>
        </p:nvSpPr>
        <p:spPr>
          <a:xfrm>
            <a:off x="8128772" y="3978764"/>
            <a:ext cx="1832609" cy="369332"/>
          </a:xfrm>
          <a:prstGeom prst="rect">
            <a:avLst/>
          </a:prstGeom>
          <a:solidFill>
            <a:srgbClr val="00CC99">
              <a:alpha val="30196"/>
            </a:srgbClr>
          </a:solidFill>
        </p:spPr>
        <p:txBody>
          <a:bodyPr wrap="square" rtlCol="0">
            <a:spAutoFit/>
          </a:bodyPr>
          <a:lstStyle/>
          <a:p>
            <a:endParaRPr lang="en-US" dirty="0"/>
          </a:p>
        </p:txBody>
      </p:sp>
      <p:sp>
        <p:nvSpPr>
          <p:cNvPr id="18" name="Rectangle 17">
            <a:extLst>
              <a:ext uri="{FF2B5EF4-FFF2-40B4-BE49-F238E27FC236}">
                <a16:creationId xmlns:a16="http://schemas.microsoft.com/office/drawing/2014/main" id="{FF9EC4BC-062B-4C35-AC1E-85252F731D45}"/>
              </a:ext>
            </a:extLst>
          </p:cNvPr>
          <p:cNvSpPr/>
          <p:nvPr/>
        </p:nvSpPr>
        <p:spPr>
          <a:xfrm>
            <a:off x="9914252" y="3013950"/>
            <a:ext cx="2058953" cy="738664"/>
          </a:xfrm>
          <a:prstGeom prst="rect">
            <a:avLst/>
          </a:prstGeom>
        </p:spPr>
        <p:txBody>
          <a:bodyPr wrap="square">
            <a:spAutoFit/>
          </a:bodyPr>
          <a:lstStyle/>
          <a:p>
            <a:r>
              <a:rPr lang="en-US" sz="1400" dirty="0">
                <a:solidFill>
                  <a:srgbClr val="00CC99"/>
                </a:solidFill>
              </a:rPr>
              <a:t>copy of the username object stored inside the SO</a:t>
            </a:r>
          </a:p>
        </p:txBody>
      </p:sp>
      <p:sp>
        <p:nvSpPr>
          <p:cNvPr id="19" name="Rectangle 18">
            <a:extLst>
              <a:ext uri="{FF2B5EF4-FFF2-40B4-BE49-F238E27FC236}">
                <a16:creationId xmlns:a16="http://schemas.microsoft.com/office/drawing/2014/main" id="{8D764312-DFB4-43D8-9F33-26669145AAAC}"/>
              </a:ext>
            </a:extLst>
          </p:cNvPr>
          <p:cNvSpPr/>
          <p:nvPr/>
        </p:nvSpPr>
        <p:spPr>
          <a:xfrm>
            <a:off x="10326723" y="3896354"/>
            <a:ext cx="1535994" cy="1077218"/>
          </a:xfrm>
          <a:prstGeom prst="rect">
            <a:avLst/>
          </a:prstGeom>
        </p:spPr>
        <p:txBody>
          <a:bodyPr wrap="square">
            <a:spAutoFit/>
          </a:bodyPr>
          <a:lstStyle/>
          <a:p>
            <a:r>
              <a:rPr lang="en-US" sz="1600" dirty="0">
                <a:solidFill>
                  <a:srgbClr val="00CC99"/>
                </a:solidFill>
              </a:rPr>
              <a:t>a copy of the array containing references to User SOs</a:t>
            </a:r>
          </a:p>
        </p:txBody>
      </p:sp>
      <p:sp>
        <p:nvSpPr>
          <p:cNvPr id="22" name="TextBox 21">
            <a:extLst>
              <a:ext uri="{FF2B5EF4-FFF2-40B4-BE49-F238E27FC236}">
                <a16:creationId xmlns:a16="http://schemas.microsoft.com/office/drawing/2014/main" id="{5471DF7C-B797-48C2-B32A-4051F6D6A902}"/>
              </a:ext>
            </a:extLst>
          </p:cNvPr>
          <p:cNvSpPr txBox="1"/>
          <p:nvPr/>
        </p:nvSpPr>
        <p:spPr>
          <a:xfrm>
            <a:off x="6542226" y="2605927"/>
            <a:ext cx="795834" cy="369332"/>
          </a:xfrm>
          <a:prstGeom prst="rect">
            <a:avLst/>
          </a:prstGeom>
          <a:solidFill>
            <a:srgbClr val="00B0F0">
              <a:alpha val="30196"/>
            </a:srgbClr>
          </a:solidFill>
        </p:spPr>
        <p:txBody>
          <a:bodyPr wrap="square" rtlCol="0">
            <a:spAutoFit/>
          </a:bodyPr>
          <a:lstStyle/>
          <a:p>
            <a:endParaRPr lang="en-US" dirty="0"/>
          </a:p>
        </p:txBody>
      </p:sp>
    </p:spTree>
    <p:extLst>
      <p:ext uri="{BB962C8B-B14F-4D97-AF65-F5344CB8AC3E}">
        <p14:creationId xmlns:p14="http://schemas.microsoft.com/office/powerpoint/2010/main" val="885396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5">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5">
                                            <p:txEl>
                                              <p:pRg st="1" end="1"/>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5">
                                            <p:txEl>
                                              <p:pRg st="2" end="2"/>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5"/>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3"/>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6"/>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2"/>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22"/>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15">
                                            <p:txEl>
                                              <p:pRg st="3" end="3"/>
                                            </p:txEl>
                                          </p:spTgt>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16"/>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18"/>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17"/>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19"/>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15">
                                            <p:txEl>
                                              <p:pRg st="4" end="4"/>
                                            </p:txEl>
                                          </p:spTgt>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8"/>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11"/>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7"/>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p:bldP spid="11" grpId="0"/>
      <p:bldP spid="12" grpId="0"/>
      <p:bldP spid="13" grpId="0"/>
      <p:bldP spid="16" grpId="0" animBg="1"/>
      <p:bldP spid="17" grpId="0" animBg="1"/>
      <p:bldP spid="18" grpId="0"/>
      <p:bldP spid="19" grpId="0"/>
      <p:bldP spid="22"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ED1E28-BB41-4C7D-9858-574C3507D7CE}"/>
              </a:ext>
            </a:extLst>
          </p:cNvPr>
          <p:cNvSpPr>
            <a:spLocks noGrp="1"/>
          </p:cNvSpPr>
          <p:nvPr>
            <p:ph type="title"/>
          </p:nvPr>
        </p:nvSpPr>
        <p:spPr/>
        <p:txBody>
          <a:bodyPr/>
          <a:lstStyle/>
          <a:p>
            <a:r>
              <a:rPr lang="en-US" dirty="0">
                <a:solidFill>
                  <a:srgbClr val="FF6600"/>
                </a:solidFill>
              </a:rPr>
              <a:t>Implementation</a:t>
            </a:r>
          </a:p>
        </p:txBody>
      </p:sp>
      <p:pic>
        <p:nvPicPr>
          <p:cNvPr id="4" name="Content Placeholder 3">
            <a:extLst>
              <a:ext uri="{FF2B5EF4-FFF2-40B4-BE49-F238E27FC236}">
                <a16:creationId xmlns:a16="http://schemas.microsoft.com/office/drawing/2014/main" id="{CB139703-F4E7-4459-8920-9CF6B5CA5D31}"/>
              </a:ext>
            </a:extLst>
          </p:cNvPr>
          <p:cNvPicPr>
            <a:picLocks noGrp="1" noChangeAspect="1"/>
          </p:cNvPicPr>
          <p:nvPr>
            <p:ph idx="1"/>
          </p:nvPr>
        </p:nvPicPr>
        <p:blipFill>
          <a:blip r:embed="rId3"/>
          <a:stretch>
            <a:fillRect/>
          </a:stretch>
        </p:blipFill>
        <p:spPr>
          <a:xfrm>
            <a:off x="2166627" y="1579563"/>
            <a:ext cx="7858746" cy="4755336"/>
          </a:xfrm>
          <a:prstGeom prst="rect">
            <a:avLst/>
          </a:prstGeom>
        </p:spPr>
      </p:pic>
    </p:spTree>
    <p:extLst>
      <p:ext uri="{BB962C8B-B14F-4D97-AF65-F5344CB8AC3E}">
        <p14:creationId xmlns:p14="http://schemas.microsoft.com/office/powerpoint/2010/main" val="318070861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FF6600"/>
        </a:solidFill>
        <a:effectLst/>
      </p:bgPr>
    </p:bg>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283C403A-1CDA-4E3F-9B3B-6C102B6D3B4B}"/>
              </a:ext>
            </a:extLst>
          </p:cNvPr>
          <p:cNvSpPr>
            <a:spLocks noGrp="1"/>
          </p:cNvSpPr>
          <p:nvPr>
            <p:ph type="ctrTitle"/>
          </p:nvPr>
        </p:nvSpPr>
        <p:spPr/>
        <p:txBody>
          <a:bodyPr/>
          <a:lstStyle/>
          <a:p>
            <a:r>
              <a:rPr lang="en-US" dirty="0">
                <a:solidFill>
                  <a:schemeClr val="bg1"/>
                </a:solidFill>
              </a:rPr>
              <a:t>Experiences and Evaluation</a:t>
            </a:r>
          </a:p>
        </p:txBody>
      </p:sp>
      <p:sp>
        <p:nvSpPr>
          <p:cNvPr id="5" name="Subtitle 4">
            <a:extLst>
              <a:ext uri="{FF2B5EF4-FFF2-40B4-BE49-F238E27FC236}">
                <a16:creationId xmlns:a16="http://schemas.microsoft.com/office/drawing/2014/main" id="{0A07FA2C-E79A-407B-BED2-FA45A7AA4107}"/>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180491295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BD8335-EC44-4577-92F7-00EEEE407FD2}"/>
              </a:ext>
            </a:extLst>
          </p:cNvPr>
          <p:cNvSpPr>
            <a:spLocks noGrp="1"/>
          </p:cNvSpPr>
          <p:nvPr>
            <p:ph type="title"/>
          </p:nvPr>
        </p:nvSpPr>
        <p:spPr/>
        <p:txBody>
          <a:bodyPr/>
          <a:lstStyle/>
          <a:p>
            <a:r>
              <a:rPr lang="en-US" dirty="0">
                <a:solidFill>
                  <a:srgbClr val="FF6600"/>
                </a:solidFill>
              </a:rPr>
              <a:t>Sapphire Applications</a:t>
            </a:r>
          </a:p>
        </p:txBody>
      </p:sp>
      <p:sp>
        <p:nvSpPr>
          <p:cNvPr id="3" name="Content Placeholder 2">
            <a:extLst>
              <a:ext uri="{FF2B5EF4-FFF2-40B4-BE49-F238E27FC236}">
                <a16:creationId xmlns:a16="http://schemas.microsoft.com/office/drawing/2014/main" id="{D19FE36F-FF1A-4858-9DCA-BC3035626ED3}"/>
              </a:ext>
            </a:extLst>
          </p:cNvPr>
          <p:cNvSpPr>
            <a:spLocks noGrp="1"/>
          </p:cNvSpPr>
          <p:nvPr>
            <p:ph idx="1"/>
          </p:nvPr>
        </p:nvSpPr>
        <p:spPr/>
        <p:txBody>
          <a:bodyPr>
            <a:normAutofit/>
          </a:bodyPr>
          <a:lstStyle/>
          <a:p>
            <a:pPr>
              <a:buFont typeface="Arial" panose="020B0604020202020204" pitchFamily="34" charset="0"/>
              <a:buChar char="•"/>
            </a:pPr>
            <a:r>
              <a:rPr lang="en-US" dirty="0"/>
              <a:t> </a:t>
            </a:r>
            <a:r>
              <a:rPr lang="en-US" dirty="0">
                <a:solidFill>
                  <a:srgbClr val="FF6600"/>
                </a:solidFill>
              </a:rPr>
              <a:t>Development Ease</a:t>
            </a:r>
            <a:endParaRPr lang="en-US" dirty="0"/>
          </a:p>
          <a:p>
            <a:pPr lvl="1">
              <a:buFont typeface="Arial" panose="020B0604020202020204" pitchFamily="34" charset="0"/>
              <a:buChar char="•"/>
            </a:pPr>
            <a:r>
              <a:rPr lang="en-US" dirty="0"/>
              <a:t>easy to develop mobile/cloud apps </a:t>
            </a:r>
          </a:p>
          <a:p>
            <a:pPr lvl="1">
              <a:buFont typeface="Arial" panose="020B0604020202020204" pitchFamily="34" charset="0"/>
              <a:buChar char="•"/>
            </a:pPr>
            <a:r>
              <a:rPr lang="en-US" dirty="0"/>
              <a:t>can write code without explicitly addressing distribution management</a:t>
            </a:r>
          </a:p>
          <a:p>
            <a:pPr>
              <a:buFont typeface="Arial" panose="020B0604020202020204" pitchFamily="34" charset="0"/>
              <a:buChar char="•"/>
            </a:pPr>
            <a:r>
              <a:rPr lang="en-US" dirty="0"/>
              <a:t> </a:t>
            </a:r>
            <a:r>
              <a:rPr lang="en-US" dirty="0">
                <a:solidFill>
                  <a:srgbClr val="FF6600"/>
                </a:solidFill>
              </a:rPr>
              <a:t>Deployment Flexibility</a:t>
            </a:r>
            <a:endParaRPr lang="en-US" dirty="0"/>
          </a:p>
          <a:p>
            <a:pPr lvl="1">
              <a:buFont typeface="Arial" panose="020B0604020202020204" pitchFamily="34" charset="0"/>
              <a:buChar char="•"/>
            </a:pPr>
            <a:r>
              <a:rPr lang="en-US" dirty="0"/>
              <a:t>can choose from alternative distribution management schemes</a:t>
            </a:r>
          </a:p>
          <a:p>
            <a:pPr lvl="1">
              <a:buFont typeface="Arial" panose="020B0604020202020204" pitchFamily="34" charset="0"/>
              <a:buChar char="•"/>
            </a:pPr>
            <a:r>
              <a:rPr lang="en-US" dirty="0"/>
              <a:t>can change deployment decisions without rewriting application code</a:t>
            </a:r>
          </a:p>
          <a:p>
            <a:pPr>
              <a:buFont typeface="Arial" panose="020B0604020202020204" pitchFamily="34" charset="0"/>
              <a:buChar char="•"/>
            </a:pPr>
            <a:r>
              <a:rPr lang="en-US" dirty="0"/>
              <a:t> </a:t>
            </a:r>
            <a:r>
              <a:rPr lang="en-US" dirty="0">
                <a:solidFill>
                  <a:srgbClr val="FF6600"/>
                </a:solidFill>
              </a:rPr>
              <a:t>Management Code Generality</a:t>
            </a:r>
            <a:endParaRPr lang="en-US" dirty="0"/>
          </a:p>
          <a:p>
            <a:pPr lvl="1">
              <a:buFont typeface="Arial" panose="020B0604020202020204" pitchFamily="34" charset="0"/>
              <a:buChar char="•"/>
            </a:pPr>
            <a:r>
              <a:rPr lang="en-US" dirty="0"/>
              <a:t>can build generic distribution management components that can be used both within an app and across different apps</a:t>
            </a:r>
          </a:p>
        </p:txBody>
      </p:sp>
    </p:spTree>
    <p:extLst>
      <p:ext uri="{BB962C8B-B14F-4D97-AF65-F5344CB8AC3E}">
        <p14:creationId xmlns:p14="http://schemas.microsoft.com/office/powerpoint/2010/main" val="162101806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0E7358-54FB-4993-B843-907E7A76CE26}"/>
              </a:ext>
            </a:extLst>
          </p:cNvPr>
          <p:cNvSpPr>
            <a:spLocks noGrp="1"/>
          </p:cNvSpPr>
          <p:nvPr>
            <p:ph type="title"/>
          </p:nvPr>
        </p:nvSpPr>
        <p:spPr/>
        <p:txBody>
          <a:bodyPr/>
          <a:lstStyle/>
          <a:p>
            <a:r>
              <a:rPr lang="en-US" dirty="0">
                <a:solidFill>
                  <a:srgbClr val="FF6600"/>
                </a:solidFill>
              </a:rPr>
              <a:t>Sapphire Applications</a:t>
            </a:r>
          </a:p>
        </p:txBody>
      </p:sp>
      <p:pic>
        <p:nvPicPr>
          <p:cNvPr id="4" name="Content Placeholder 3">
            <a:extLst>
              <a:ext uri="{FF2B5EF4-FFF2-40B4-BE49-F238E27FC236}">
                <a16:creationId xmlns:a16="http://schemas.microsoft.com/office/drawing/2014/main" id="{474E0D63-3B01-47EB-AC05-770939671DAC}"/>
              </a:ext>
            </a:extLst>
          </p:cNvPr>
          <p:cNvPicPr>
            <a:picLocks noGrp="1" noChangeAspect="1"/>
          </p:cNvPicPr>
          <p:nvPr>
            <p:ph idx="1"/>
          </p:nvPr>
        </p:nvPicPr>
        <p:blipFill>
          <a:blip r:embed="rId3"/>
          <a:stretch>
            <a:fillRect/>
          </a:stretch>
        </p:blipFill>
        <p:spPr>
          <a:xfrm>
            <a:off x="2542782" y="1499553"/>
            <a:ext cx="6906018" cy="4627562"/>
          </a:xfrm>
          <a:prstGeom prst="rect">
            <a:avLst/>
          </a:prstGeom>
        </p:spPr>
      </p:pic>
    </p:spTree>
    <p:extLst>
      <p:ext uri="{BB962C8B-B14F-4D97-AF65-F5344CB8AC3E}">
        <p14:creationId xmlns:p14="http://schemas.microsoft.com/office/powerpoint/2010/main" val="388152845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6B92F8-A351-4361-B3FE-DC169D971C82}"/>
              </a:ext>
            </a:extLst>
          </p:cNvPr>
          <p:cNvSpPr>
            <a:spLocks noGrp="1"/>
          </p:cNvSpPr>
          <p:nvPr>
            <p:ph type="title"/>
          </p:nvPr>
        </p:nvSpPr>
        <p:spPr/>
        <p:txBody>
          <a:bodyPr/>
          <a:lstStyle/>
          <a:p>
            <a:r>
              <a:rPr lang="en-US" dirty="0">
                <a:solidFill>
                  <a:srgbClr val="FF6600"/>
                </a:solidFill>
              </a:rPr>
              <a:t>Experimental Setup </a:t>
            </a:r>
          </a:p>
        </p:txBody>
      </p:sp>
      <p:pic>
        <p:nvPicPr>
          <p:cNvPr id="4" name="Content Placeholder 3">
            <a:extLst>
              <a:ext uri="{FF2B5EF4-FFF2-40B4-BE49-F238E27FC236}">
                <a16:creationId xmlns:a16="http://schemas.microsoft.com/office/drawing/2014/main" id="{9A49EF20-75E2-485D-92D1-4D140700039D}"/>
              </a:ext>
            </a:extLst>
          </p:cNvPr>
          <p:cNvPicPr>
            <a:picLocks noGrp="1" noChangeAspect="1"/>
          </p:cNvPicPr>
          <p:nvPr>
            <p:ph idx="1"/>
          </p:nvPr>
        </p:nvPicPr>
        <p:blipFill>
          <a:blip r:embed="rId2"/>
          <a:stretch>
            <a:fillRect/>
          </a:stretch>
        </p:blipFill>
        <p:spPr>
          <a:xfrm>
            <a:off x="2267818" y="1579563"/>
            <a:ext cx="7716689" cy="4627562"/>
          </a:xfrm>
          <a:prstGeom prst="rect">
            <a:avLst/>
          </a:prstGeom>
        </p:spPr>
      </p:pic>
    </p:spTree>
    <p:extLst>
      <p:ext uri="{BB962C8B-B14F-4D97-AF65-F5344CB8AC3E}">
        <p14:creationId xmlns:p14="http://schemas.microsoft.com/office/powerpoint/2010/main" val="301407888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3EB2B0-ED2B-474C-A8E2-29B5099BA045}"/>
              </a:ext>
            </a:extLst>
          </p:cNvPr>
          <p:cNvSpPr>
            <a:spLocks noGrp="1"/>
          </p:cNvSpPr>
          <p:nvPr>
            <p:ph type="title"/>
          </p:nvPr>
        </p:nvSpPr>
        <p:spPr/>
        <p:txBody>
          <a:bodyPr/>
          <a:lstStyle/>
          <a:p>
            <a:r>
              <a:rPr lang="en-US" dirty="0">
                <a:solidFill>
                  <a:srgbClr val="FF6600"/>
                </a:solidFill>
              </a:rPr>
              <a:t>Microbenchmarks</a:t>
            </a:r>
          </a:p>
        </p:txBody>
      </p:sp>
      <p:sp>
        <p:nvSpPr>
          <p:cNvPr id="3" name="Content Placeholder 2">
            <a:extLst>
              <a:ext uri="{FF2B5EF4-FFF2-40B4-BE49-F238E27FC236}">
                <a16:creationId xmlns:a16="http://schemas.microsoft.com/office/drawing/2014/main" id="{4801C037-4B38-4516-8402-FF49850AC2D1}"/>
              </a:ext>
            </a:extLst>
          </p:cNvPr>
          <p:cNvSpPr>
            <a:spLocks noGrp="1"/>
          </p:cNvSpPr>
          <p:nvPr>
            <p:ph idx="1"/>
          </p:nvPr>
        </p:nvSpPr>
        <p:spPr/>
        <p:txBody>
          <a:bodyPr/>
          <a:lstStyle/>
          <a:p>
            <a:pPr>
              <a:buFont typeface="Arial" panose="020B0604020202020204" pitchFamily="34" charset="0"/>
              <a:buChar char="•"/>
            </a:pPr>
            <a:r>
              <a:rPr lang="en-US" dirty="0"/>
              <a:t> RPC Latency Comparison</a:t>
            </a:r>
          </a:p>
          <a:p>
            <a:pPr>
              <a:buFont typeface="Arial" panose="020B0604020202020204" pitchFamily="34" charset="0"/>
              <a:buChar char="•"/>
            </a:pPr>
            <a:r>
              <a:rPr lang="en-US" dirty="0"/>
              <a:t> Throughput Comparison</a:t>
            </a:r>
          </a:p>
          <a:p>
            <a:pPr>
              <a:buFont typeface="Arial" panose="020B0604020202020204" pitchFamily="34" charset="0"/>
              <a:buChar char="•"/>
            </a:pPr>
            <a:r>
              <a:rPr lang="en-US" dirty="0"/>
              <a:t> Sapphire DK Operation Cost</a:t>
            </a:r>
          </a:p>
        </p:txBody>
      </p:sp>
    </p:spTree>
    <p:extLst>
      <p:ext uri="{BB962C8B-B14F-4D97-AF65-F5344CB8AC3E}">
        <p14:creationId xmlns:p14="http://schemas.microsoft.com/office/powerpoint/2010/main" val="101861717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A4BA6E-85BA-4AEF-BCA8-B9905D1EF6D3}"/>
              </a:ext>
            </a:extLst>
          </p:cNvPr>
          <p:cNvSpPr>
            <a:spLocks noGrp="1"/>
          </p:cNvSpPr>
          <p:nvPr>
            <p:ph type="title"/>
          </p:nvPr>
        </p:nvSpPr>
        <p:spPr/>
        <p:txBody>
          <a:bodyPr/>
          <a:lstStyle/>
          <a:p>
            <a:r>
              <a:rPr lang="en-US" dirty="0"/>
              <a:t>RPC Latency Comparison</a:t>
            </a:r>
          </a:p>
        </p:txBody>
      </p:sp>
      <p:pic>
        <p:nvPicPr>
          <p:cNvPr id="4" name="Content Placeholder 3">
            <a:extLst>
              <a:ext uri="{FF2B5EF4-FFF2-40B4-BE49-F238E27FC236}">
                <a16:creationId xmlns:a16="http://schemas.microsoft.com/office/drawing/2014/main" id="{72C393B2-07C1-4887-8330-80CCDEDBB50A}"/>
              </a:ext>
            </a:extLst>
          </p:cNvPr>
          <p:cNvPicPr>
            <a:picLocks noGrp="1" noChangeAspect="1"/>
          </p:cNvPicPr>
          <p:nvPr>
            <p:ph idx="1"/>
          </p:nvPr>
        </p:nvPicPr>
        <p:blipFill>
          <a:blip r:embed="rId3">
            <a:duotone>
              <a:schemeClr val="accent1">
                <a:shade val="45000"/>
                <a:satMod val="135000"/>
              </a:schemeClr>
              <a:prstClr val="white"/>
            </a:duotone>
          </a:blip>
          <a:stretch>
            <a:fillRect/>
          </a:stretch>
        </p:blipFill>
        <p:spPr>
          <a:xfrm>
            <a:off x="795526" y="1952148"/>
            <a:ext cx="10600947" cy="3454241"/>
          </a:xfrm>
          <a:prstGeom prst="rect">
            <a:avLst/>
          </a:prstGeom>
        </p:spPr>
      </p:pic>
      <p:sp>
        <p:nvSpPr>
          <p:cNvPr id="6" name="Rectangle 5">
            <a:extLst>
              <a:ext uri="{FF2B5EF4-FFF2-40B4-BE49-F238E27FC236}">
                <a16:creationId xmlns:a16="http://schemas.microsoft.com/office/drawing/2014/main" id="{915BADB5-FF7B-4119-AAE0-3E98B8720D59}"/>
              </a:ext>
            </a:extLst>
          </p:cNvPr>
          <p:cNvSpPr/>
          <p:nvPr/>
        </p:nvSpPr>
        <p:spPr>
          <a:xfrm>
            <a:off x="5304395" y="1767482"/>
            <a:ext cx="1644168" cy="369332"/>
          </a:xfrm>
          <a:prstGeom prst="rect">
            <a:avLst/>
          </a:prstGeom>
        </p:spPr>
        <p:txBody>
          <a:bodyPr wrap="none">
            <a:spAutoFit/>
          </a:bodyPr>
          <a:lstStyle/>
          <a:p>
            <a:r>
              <a:rPr lang="en-US" dirty="0"/>
              <a:t>server-to-server</a:t>
            </a:r>
          </a:p>
        </p:txBody>
      </p:sp>
      <p:sp>
        <p:nvSpPr>
          <p:cNvPr id="7" name="Rectangle 6">
            <a:extLst>
              <a:ext uri="{FF2B5EF4-FFF2-40B4-BE49-F238E27FC236}">
                <a16:creationId xmlns:a16="http://schemas.microsoft.com/office/drawing/2014/main" id="{DEC3F89B-485B-4B0E-B237-9191958CE7E6}"/>
              </a:ext>
            </a:extLst>
          </p:cNvPr>
          <p:cNvSpPr/>
          <p:nvPr/>
        </p:nvSpPr>
        <p:spPr>
          <a:xfrm>
            <a:off x="6711684" y="2564931"/>
            <a:ext cx="1628779" cy="369332"/>
          </a:xfrm>
          <a:prstGeom prst="rect">
            <a:avLst/>
          </a:prstGeom>
        </p:spPr>
        <p:txBody>
          <a:bodyPr wrap="none">
            <a:spAutoFit/>
          </a:bodyPr>
          <a:lstStyle/>
          <a:p>
            <a:r>
              <a:rPr lang="en-US" dirty="0"/>
              <a:t>tablet-to-server</a:t>
            </a:r>
          </a:p>
        </p:txBody>
      </p:sp>
      <p:sp>
        <p:nvSpPr>
          <p:cNvPr id="8" name="Rectangle 7">
            <a:extLst>
              <a:ext uri="{FF2B5EF4-FFF2-40B4-BE49-F238E27FC236}">
                <a16:creationId xmlns:a16="http://schemas.microsoft.com/office/drawing/2014/main" id="{CC818422-28CF-4FCA-8607-9D92995EF846}"/>
              </a:ext>
            </a:extLst>
          </p:cNvPr>
          <p:cNvSpPr/>
          <p:nvPr/>
        </p:nvSpPr>
        <p:spPr>
          <a:xfrm>
            <a:off x="8246549" y="1767482"/>
            <a:ext cx="1621919" cy="369332"/>
          </a:xfrm>
          <a:prstGeom prst="rect">
            <a:avLst/>
          </a:prstGeom>
        </p:spPr>
        <p:txBody>
          <a:bodyPr wrap="none">
            <a:spAutoFit/>
          </a:bodyPr>
          <a:lstStyle/>
          <a:p>
            <a:r>
              <a:rPr lang="en-US" dirty="0"/>
              <a:t>server-to-tablet</a:t>
            </a:r>
          </a:p>
        </p:txBody>
      </p:sp>
      <p:sp>
        <p:nvSpPr>
          <p:cNvPr id="9" name="Rectangle 8">
            <a:extLst>
              <a:ext uri="{FF2B5EF4-FFF2-40B4-BE49-F238E27FC236}">
                <a16:creationId xmlns:a16="http://schemas.microsoft.com/office/drawing/2014/main" id="{AD191043-1A5B-4C8F-BCDA-1E5C1D90E7B9}"/>
              </a:ext>
            </a:extLst>
          </p:cNvPr>
          <p:cNvSpPr/>
          <p:nvPr/>
        </p:nvSpPr>
        <p:spPr>
          <a:xfrm>
            <a:off x="9868468" y="2554691"/>
            <a:ext cx="1606530" cy="369332"/>
          </a:xfrm>
          <a:prstGeom prst="rect">
            <a:avLst/>
          </a:prstGeom>
        </p:spPr>
        <p:txBody>
          <a:bodyPr wrap="none">
            <a:spAutoFit/>
          </a:bodyPr>
          <a:lstStyle/>
          <a:p>
            <a:r>
              <a:rPr lang="en-US" dirty="0"/>
              <a:t>tablet-to-tablet</a:t>
            </a:r>
          </a:p>
        </p:txBody>
      </p:sp>
    </p:spTree>
    <p:extLst>
      <p:ext uri="{BB962C8B-B14F-4D97-AF65-F5344CB8AC3E}">
        <p14:creationId xmlns:p14="http://schemas.microsoft.com/office/powerpoint/2010/main" val="333365225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704592-E629-42BA-9F8E-B300A7FA6BB4}"/>
              </a:ext>
            </a:extLst>
          </p:cNvPr>
          <p:cNvSpPr>
            <a:spLocks noGrp="1"/>
          </p:cNvSpPr>
          <p:nvPr>
            <p:ph type="title"/>
          </p:nvPr>
        </p:nvSpPr>
        <p:spPr/>
        <p:txBody>
          <a:bodyPr/>
          <a:lstStyle/>
          <a:p>
            <a:r>
              <a:rPr lang="en-US"/>
              <a:t>Throughput Comparison</a:t>
            </a:r>
            <a:endParaRPr lang="en-US" dirty="0"/>
          </a:p>
        </p:txBody>
      </p:sp>
      <p:pic>
        <p:nvPicPr>
          <p:cNvPr id="4" name="Content Placeholder 3">
            <a:extLst>
              <a:ext uri="{FF2B5EF4-FFF2-40B4-BE49-F238E27FC236}">
                <a16:creationId xmlns:a16="http://schemas.microsoft.com/office/drawing/2014/main" id="{19470B1F-A8C2-493B-A91F-A6966538C369}"/>
              </a:ext>
            </a:extLst>
          </p:cNvPr>
          <p:cNvPicPr>
            <a:picLocks noGrp="1" noChangeAspect="1"/>
          </p:cNvPicPr>
          <p:nvPr>
            <p:ph idx="1"/>
          </p:nvPr>
        </p:nvPicPr>
        <p:blipFill>
          <a:blip r:embed="rId3"/>
          <a:stretch>
            <a:fillRect/>
          </a:stretch>
        </p:blipFill>
        <p:spPr>
          <a:xfrm>
            <a:off x="2128882" y="1865471"/>
            <a:ext cx="7934236" cy="3883819"/>
          </a:xfrm>
          <a:prstGeom prst="rect">
            <a:avLst/>
          </a:prstGeom>
        </p:spPr>
      </p:pic>
    </p:spTree>
    <p:extLst>
      <p:ext uri="{BB962C8B-B14F-4D97-AF65-F5344CB8AC3E}">
        <p14:creationId xmlns:p14="http://schemas.microsoft.com/office/powerpoint/2010/main" val="1291755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D2161E-0B88-4752-8417-63550859CAA3}"/>
              </a:ext>
            </a:extLst>
          </p:cNvPr>
          <p:cNvSpPr>
            <a:spLocks noGrp="1"/>
          </p:cNvSpPr>
          <p:nvPr>
            <p:ph type="title"/>
          </p:nvPr>
        </p:nvSpPr>
        <p:spPr/>
        <p:txBody>
          <a:bodyPr/>
          <a:lstStyle/>
          <a:p>
            <a:r>
              <a:rPr lang="en-US" dirty="0"/>
              <a:t>Sapphire DK Operation Cost</a:t>
            </a:r>
          </a:p>
        </p:txBody>
      </p:sp>
      <p:pic>
        <p:nvPicPr>
          <p:cNvPr id="4" name="Content Placeholder 3">
            <a:extLst>
              <a:ext uri="{FF2B5EF4-FFF2-40B4-BE49-F238E27FC236}">
                <a16:creationId xmlns:a16="http://schemas.microsoft.com/office/drawing/2014/main" id="{C216FDAF-A6D1-4C38-AFC6-A23F42D25D52}"/>
              </a:ext>
            </a:extLst>
          </p:cNvPr>
          <p:cNvPicPr>
            <a:picLocks noGrp="1" noChangeAspect="1"/>
          </p:cNvPicPr>
          <p:nvPr>
            <p:ph idx="1"/>
          </p:nvPr>
        </p:nvPicPr>
        <p:blipFill rotWithShape="1">
          <a:blip r:embed="rId3"/>
          <a:srcRect t="3116"/>
          <a:stretch/>
        </p:blipFill>
        <p:spPr>
          <a:xfrm>
            <a:off x="1421424" y="3162537"/>
            <a:ext cx="9619956" cy="2558475"/>
          </a:xfrm>
          <a:prstGeom prst="rect">
            <a:avLst/>
          </a:prstGeom>
        </p:spPr>
      </p:pic>
      <p:sp>
        <p:nvSpPr>
          <p:cNvPr id="5" name="Rectangle 4">
            <a:extLst>
              <a:ext uri="{FF2B5EF4-FFF2-40B4-BE49-F238E27FC236}">
                <a16:creationId xmlns:a16="http://schemas.microsoft.com/office/drawing/2014/main" id="{D7714C25-2947-4BED-9DB9-38E2403C394D}"/>
              </a:ext>
            </a:extLst>
          </p:cNvPr>
          <p:cNvSpPr/>
          <p:nvPr/>
        </p:nvSpPr>
        <p:spPr>
          <a:xfrm>
            <a:off x="1097279" y="1753745"/>
            <a:ext cx="9944101" cy="954107"/>
          </a:xfrm>
          <a:prstGeom prst="rect">
            <a:avLst/>
          </a:prstGeom>
        </p:spPr>
        <p:txBody>
          <a:bodyPr wrap="square">
            <a:spAutoFit/>
          </a:bodyPr>
          <a:lstStyle/>
          <a:p>
            <a:r>
              <a:rPr lang="en-US" sz="2800" dirty="0">
                <a:solidFill>
                  <a:srgbClr val="FF6600"/>
                </a:solidFill>
              </a:rPr>
              <a:t>Latency of several DK services call</a:t>
            </a:r>
          </a:p>
          <a:p>
            <a:pPr marL="457200" indent="-457200">
              <a:buFont typeface="Arial" panose="020B0604020202020204" pitchFamily="34" charset="0"/>
              <a:buChar char="•"/>
            </a:pPr>
            <a:r>
              <a:rPr lang="en-US" sz="2800" dirty="0"/>
              <a:t>depends on the size and complexity of the object</a:t>
            </a:r>
            <a:endParaRPr lang="en-US" sz="2800" dirty="0">
              <a:solidFill>
                <a:srgbClr val="FF6600"/>
              </a:solidFill>
            </a:endParaRPr>
          </a:p>
        </p:txBody>
      </p:sp>
    </p:spTree>
    <p:extLst>
      <p:ext uri="{BB962C8B-B14F-4D97-AF65-F5344CB8AC3E}">
        <p14:creationId xmlns:p14="http://schemas.microsoft.com/office/powerpoint/2010/main" val="155447174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0F6245-A13B-4C53-85AD-DE0383AF821D}"/>
              </a:ext>
            </a:extLst>
          </p:cNvPr>
          <p:cNvSpPr>
            <a:spLocks noGrp="1"/>
          </p:cNvSpPr>
          <p:nvPr>
            <p:ph type="title"/>
          </p:nvPr>
        </p:nvSpPr>
        <p:spPr/>
        <p:txBody>
          <a:bodyPr/>
          <a:lstStyle/>
          <a:p>
            <a:r>
              <a:rPr lang="en-US" dirty="0">
                <a:solidFill>
                  <a:srgbClr val="FF6600"/>
                </a:solidFill>
              </a:rPr>
              <a:t>Deployment Manager Performance</a:t>
            </a:r>
          </a:p>
        </p:txBody>
      </p:sp>
      <p:sp>
        <p:nvSpPr>
          <p:cNvPr id="3" name="Content Placeholder 2">
            <a:extLst>
              <a:ext uri="{FF2B5EF4-FFF2-40B4-BE49-F238E27FC236}">
                <a16:creationId xmlns:a16="http://schemas.microsoft.com/office/drawing/2014/main" id="{75BAE9CE-E101-4DE4-9D35-FA1C09516040}"/>
              </a:ext>
            </a:extLst>
          </p:cNvPr>
          <p:cNvSpPr>
            <a:spLocks noGrp="1"/>
          </p:cNvSpPr>
          <p:nvPr>
            <p:ph idx="1"/>
          </p:nvPr>
        </p:nvSpPr>
        <p:spPr/>
        <p:txBody>
          <a:bodyPr/>
          <a:lstStyle/>
          <a:p>
            <a:pPr>
              <a:buFont typeface="Arial" panose="020B0604020202020204" pitchFamily="34" charset="0"/>
              <a:buChar char="•"/>
            </a:pPr>
            <a:r>
              <a:rPr lang="en-US" dirty="0"/>
              <a:t> Caching</a:t>
            </a:r>
          </a:p>
          <a:p>
            <a:pPr>
              <a:buFont typeface="Arial" panose="020B0604020202020204" pitchFamily="34" charset="0"/>
              <a:buChar char="•"/>
            </a:pPr>
            <a:r>
              <a:rPr lang="en-US" dirty="0"/>
              <a:t> Scalability</a:t>
            </a:r>
          </a:p>
          <a:p>
            <a:pPr>
              <a:buFont typeface="Arial" panose="020B0604020202020204" pitchFamily="34" charset="0"/>
              <a:buChar char="•"/>
            </a:pPr>
            <a:r>
              <a:rPr lang="en-US" dirty="0"/>
              <a:t> Code offloading</a:t>
            </a:r>
          </a:p>
          <a:p>
            <a:pPr>
              <a:buFont typeface="Arial" panose="020B0604020202020204" pitchFamily="34" charset="0"/>
              <a:buChar char="•"/>
            </a:pPr>
            <a:r>
              <a:rPr lang="en-US" dirty="0"/>
              <a:t> Peer-to-Peer Deployments</a:t>
            </a:r>
          </a:p>
        </p:txBody>
      </p:sp>
    </p:spTree>
    <p:extLst>
      <p:ext uri="{BB962C8B-B14F-4D97-AF65-F5344CB8AC3E}">
        <p14:creationId xmlns:p14="http://schemas.microsoft.com/office/powerpoint/2010/main" val="260825488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F79108-1B35-4BA1-8981-5080184F53F0}"/>
              </a:ext>
            </a:extLst>
          </p:cNvPr>
          <p:cNvSpPr>
            <a:spLocks noGrp="1"/>
          </p:cNvSpPr>
          <p:nvPr>
            <p:ph type="title"/>
          </p:nvPr>
        </p:nvSpPr>
        <p:spPr/>
        <p:txBody>
          <a:bodyPr/>
          <a:lstStyle/>
          <a:p>
            <a:r>
              <a:rPr lang="en-US" dirty="0"/>
              <a:t>Scalability</a:t>
            </a:r>
          </a:p>
        </p:txBody>
      </p:sp>
      <p:pic>
        <p:nvPicPr>
          <p:cNvPr id="4" name="Content Placeholder 3">
            <a:extLst>
              <a:ext uri="{FF2B5EF4-FFF2-40B4-BE49-F238E27FC236}">
                <a16:creationId xmlns:a16="http://schemas.microsoft.com/office/drawing/2014/main" id="{C706B77F-0E85-487C-BBA7-EF24343C41D1}"/>
              </a:ext>
            </a:extLst>
          </p:cNvPr>
          <p:cNvPicPr>
            <a:picLocks noGrp="1" noChangeAspect="1"/>
          </p:cNvPicPr>
          <p:nvPr>
            <p:ph idx="1"/>
          </p:nvPr>
        </p:nvPicPr>
        <p:blipFill>
          <a:blip r:embed="rId3"/>
          <a:stretch>
            <a:fillRect/>
          </a:stretch>
        </p:blipFill>
        <p:spPr>
          <a:xfrm>
            <a:off x="2006600" y="1807369"/>
            <a:ext cx="8239125" cy="4171950"/>
          </a:xfrm>
          <a:prstGeom prst="rect">
            <a:avLst/>
          </a:prstGeom>
        </p:spPr>
      </p:pic>
    </p:spTree>
    <p:extLst>
      <p:ext uri="{BB962C8B-B14F-4D97-AF65-F5344CB8AC3E}">
        <p14:creationId xmlns:p14="http://schemas.microsoft.com/office/powerpoint/2010/main" val="58220612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90B31C-6EB0-4CCD-9456-9C1F6C7725E4}"/>
              </a:ext>
            </a:extLst>
          </p:cNvPr>
          <p:cNvSpPr>
            <a:spLocks noGrp="1"/>
          </p:cNvSpPr>
          <p:nvPr>
            <p:ph type="title"/>
          </p:nvPr>
        </p:nvSpPr>
        <p:spPr/>
        <p:txBody>
          <a:bodyPr/>
          <a:lstStyle/>
          <a:p>
            <a:r>
              <a:rPr lang="en-US" dirty="0"/>
              <a:t>Code-offloading for Physics Engine </a:t>
            </a:r>
          </a:p>
        </p:txBody>
      </p:sp>
      <p:pic>
        <p:nvPicPr>
          <p:cNvPr id="4" name="Content Placeholder 3">
            <a:extLst>
              <a:ext uri="{FF2B5EF4-FFF2-40B4-BE49-F238E27FC236}">
                <a16:creationId xmlns:a16="http://schemas.microsoft.com/office/drawing/2014/main" id="{17AB07CC-789F-451C-A6F0-86FCDBFFDE55}"/>
              </a:ext>
            </a:extLst>
          </p:cNvPr>
          <p:cNvPicPr>
            <a:picLocks noGrp="1" noChangeAspect="1"/>
          </p:cNvPicPr>
          <p:nvPr>
            <p:ph idx="1"/>
          </p:nvPr>
        </p:nvPicPr>
        <p:blipFill>
          <a:blip r:embed="rId3"/>
          <a:stretch>
            <a:fillRect/>
          </a:stretch>
        </p:blipFill>
        <p:spPr>
          <a:xfrm>
            <a:off x="2398002" y="1579563"/>
            <a:ext cx="7456322" cy="4627562"/>
          </a:xfrm>
          <a:prstGeom prst="rect">
            <a:avLst/>
          </a:prstGeom>
        </p:spPr>
      </p:pic>
    </p:spTree>
    <p:extLst>
      <p:ext uri="{BB962C8B-B14F-4D97-AF65-F5344CB8AC3E}">
        <p14:creationId xmlns:p14="http://schemas.microsoft.com/office/powerpoint/2010/main" val="111757310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7D5261-9AE8-4D30-A238-28A0E6887E86}"/>
              </a:ext>
            </a:extLst>
          </p:cNvPr>
          <p:cNvSpPr>
            <a:spLocks noGrp="1"/>
          </p:cNvSpPr>
          <p:nvPr>
            <p:ph type="title"/>
          </p:nvPr>
        </p:nvSpPr>
        <p:spPr/>
        <p:txBody>
          <a:bodyPr/>
          <a:lstStyle/>
          <a:p>
            <a:r>
              <a:rPr lang="en-US" dirty="0"/>
              <a:t>Peer-to-Peer Multiplayer Game </a:t>
            </a:r>
          </a:p>
        </p:txBody>
      </p:sp>
      <p:pic>
        <p:nvPicPr>
          <p:cNvPr id="8" name="Content Placeholder 7">
            <a:extLst>
              <a:ext uri="{FF2B5EF4-FFF2-40B4-BE49-F238E27FC236}">
                <a16:creationId xmlns:a16="http://schemas.microsoft.com/office/drawing/2014/main" id="{02C3D0E0-2306-48A3-A24A-605C871D7F63}"/>
              </a:ext>
            </a:extLst>
          </p:cNvPr>
          <p:cNvPicPr>
            <a:picLocks noGrp="1" noChangeAspect="1"/>
          </p:cNvPicPr>
          <p:nvPr>
            <p:ph idx="1"/>
          </p:nvPr>
        </p:nvPicPr>
        <p:blipFill>
          <a:blip r:embed="rId3">
            <a:clrChange>
              <a:clrFrom>
                <a:srgbClr val="FFFFFF"/>
              </a:clrFrom>
              <a:clrTo>
                <a:srgbClr val="FFFFFF">
                  <a:alpha val="0"/>
                </a:srgbClr>
              </a:clrTo>
            </a:clrChange>
          </a:blip>
          <a:stretch>
            <a:fillRect/>
          </a:stretch>
        </p:blipFill>
        <p:spPr>
          <a:xfrm>
            <a:off x="1865992" y="1579563"/>
            <a:ext cx="8520342" cy="4627562"/>
          </a:xfrm>
          <a:prstGeom prst="rect">
            <a:avLst/>
          </a:prstGeom>
        </p:spPr>
      </p:pic>
    </p:spTree>
    <p:extLst>
      <p:ext uri="{BB962C8B-B14F-4D97-AF65-F5344CB8AC3E}">
        <p14:creationId xmlns:p14="http://schemas.microsoft.com/office/powerpoint/2010/main" val="316548968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774199-A059-4071-BC79-B8FB8EC75E4E}"/>
              </a:ext>
            </a:extLst>
          </p:cNvPr>
          <p:cNvSpPr>
            <a:spLocks noGrp="1"/>
          </p:cNvSpPr>
          <p:nvPr>
            <p:ph type="title"/>
          </p:nvPr>
        </p:nvSpPr>
        <p:spPr/>
        <p:txBody>
          <a:bodyPr/>
          <a:lstStyle/>
          <a:p>
            <a:r>
              <a:rPr lang="en-US" dirty="0">
                <a:solidFill>
                  <a:srgbClr val="FF6600"/>
                </a:solidFill>
              </a:rPr>
              <a:t>Conclusion</a:t>
            </a:r>
          </a:p>
        </p:txBody>
      </p:sp>
      <p:sp>
        <p:nvSpPr>
          <p:cNvPr id="3" name="Content Placeholder 2">
            <a:extLst>
              <a:ext uri="{FF2B5EF4-FFF2-40B4-BE49-F238E27FC236}">
                <a16:creationId xmlns:a16="http://schemas.microsoft.com/office/drawing/2014/main" id="{8F809B95-6519-45C3-996C-DE397818DF94}"/>
              </a:ext>
            </a:extLst>
          </p:cNvPr>
          <p:cNvSpPr>
            <a:spLocks noGrp="1"/>
          </p:cNvSpPr>
          <p:nvPr>
            <p:ph idx="1"/>
          </p:nvPr>
        </p:nvSpPr>
        <p:spPr>
          <a:xfrm>
            <a:off x="1097280" y="1579428"/>
            <a:ext cx="10058400" cy="4844231"/>
          </a:xfrm>
        </p:spPr>
        <p:txBody>
          <a:bodyPr>
            <a:normAutofit fontScale="92500"/>
          </a:bodyPr>
          <a:lstStyle/>
          <a:p>
            <a:pPr>
              <a:buFont typeface="Arial" panose="020B0604020202020204" pitchFamily="34" charset="0"/>
              <a:buChar char="•"/>
            </a:pPr>
            <a:r>
              <a:rPr lang="en-US" dirty="0"/>
              <a:t> Modern applications implement </a:t>
            </a:r>
            <a:r>
              <a:rPr lang="en-US" dirty="0">
                <a:solidFill>
                  <a:schemeClr val="tx1"/>
                </a:solidFill>
              </a:rPr>
              <a:t>difficult distributed deployment tasks</a:t>
            </a:r>
          </a:p>
          <a:p>
            <a:pPr>
              <a:buFont typeface="Arial" panose="020B0604020202020204" pitchFamily="34" charset="0"/>
              <a:buChar char="•"/>
            </a:pPr>
            <a:r>
              <a:rPr lang="en-US" dirty="0"/>
              <a:t> </a:t>
            </a:r>
            <a:r>
              <a:rPr lang="en-US" b="1" dirty="0">
                <a:solidFill>
                  <a:srgbClr val="FF6600"/>
                </a:solidFill>
              </a:rPr>
              <a:t>Sapphire</a:t>
            </a:r>
            <a:r>
              <a:rPr lang="en-US" dirty="0"/>
              <a:t> is a new programming system for </a:t>
            </a:r>
            <a:r>
              <a:rPr lang="en-US" dirty="0">
                <a:solidFill>
                  <a:srgbClr val="FF6600"/>
                </a:solidFill>
              </a:rPr>
              <a:t>deploying mobile/cloud apps</a:t>
            </a:r>
          </a:p>
          <a:p>
            <a:pPr lvl="1">
              <a:buFont typeface="Arial" panose="020B0604020202020204" pitchFamily="34" charset="0"/>
              <a:buChar char="•"/>
            </a:pPr>
            <a:r>
              <a:rPr lang="en-US" dirty="0">
                <a:solidFill>
                  <a:srgbClr val="00B0F0"/>
                </a:solidFill>
              </a:rPr>
              <a:t>ease of programming </a:t>
            </a:r>
            <a:r>
              <a:rPr lang="en-US" dirty="0"/>
              <a:t>in a </a:t>
            </a:r>
            <a:r>
              <a:rPr lang="en-US" dirty="0">
                <a:solidFill>
                  <a:srgbClr val="00B0F0"/>
                </a:solidFill>
              </a:rPr>
              <a:t>distributed</a:t>
            </a:r>
            <a:r>
              <a:rPr lang="en-US" dirty="0"/>
              <a:t> environment</a:t>
            </a:r>
          </a:p>
          <a:p>
            <a:pPr lvl="1">
              <a:buFont typeface="Arial" panose="020B0604020202020204" pitchFamily="34" charset="0"/>
              <a:buChar char="•"/>
            </a:pPr>
            <a:r>
              <a:rPr lang="en-US" dirty="0">
                <a:solidFill>
                  <a:srgbClr val="00B0F0"/>
                </a:solidFill>
              </a:rPr>
              <a:t>flexibility</a:t>
            </a:r>
            <a:r>
              <a:rPr lang="en-US" dirty="0"/>
              <a:t> in deployment</a:t>
            </a:r>
          </a:p>
          <a:p>
            <a:pPr lvl="1">
              <a:buFont typeface="Arial" panose="020B0604020202020204" pitchFamily="34" charset="0"/>
              <a:buChar char="•"/>
            </a:pPr>
            <a:r>
              <a:rPr lang="en-US" dirty="0"/>
              <a:t>programmer </a:t>
            </a:r>
            <a:r>
              <a:rPr lang="en-US" dirty="0">
                <a:solidFill>
                  <a:srgbClr val="00B0F0"/>
                </a:solidFill>
              </a:rPr>
              <a:t>control</a:t>
            </a:r>
            <a:r>
              <a:rPr lang="en-US" dirty="0"/>
              <a:t> over performance.</a:t>
            </a:r>
          </a:p>
          <a:p>
            <a:pPr>
              <a:buFont typeface="Arial" panose="020B0604020202020204" pitchFamily="34" charset="0"/>
              <a:buChar char="•"/>
            </a:pPr>
            <a:r>
              <a:rPr lang="en-US" dirty="0"/>
              <a:t> </a:t>
            </a:r>
            <a:r>
              <a:rPr lang="en-US" b="1" dirty="0">
                <a:solidFill>
                  <a:srgbClr val="FF6600"/>
                </a:solidFill>
              </a:rPr>
              <a:t>Deployment Kernel </a:t>
            </a:r>
            <a:r>
              <a:rPr lang="en-US" dirty="0"/>
              <a:t>creates an integrated environment with location-independent communication across mobile devices and clouds </a:t>
            </a:r>
          </a:p>
          <a:p>
            <a:pPr>
              <a:buFont typeface="Arial" panose="020B0604020202020204" pitchFamily="34" charset="0"/>
              <a:buChar char="•"/>
            </a:pPr>
            <a:r>
              <a:rPr lang="en-US" dirty="0"/>
              <a:t> </a:t>
            </a:r>
            <a:r>
              <a:rPr lang="en-US" dirty="0">
                <a:solidFill>
                  <a:schemeClr val="tx1"/>
                </a:solidFill>
              </a:rPr>
              <a:t>Deployment layer </a:t>
            </a:r>
            <a:r>
              <a:rPr lang="en-US" dirty="0"/>
              <a:t>contains a library of </a:t>
            </a:r>
            <a:r>
              <a:rPr lang="en-US" b="1" dirty="0">
                <a:solidFill>
                  <a:srgbClr val="FF6600"/>
                </a:solidFill>
              </a:rPr>
              <a:t>Deployment Managers</a:t>
            </a:r>
            <a:r>
              <a:rPr lang="en-US" dirty="0"/>
              <a:t>, which make it easy to choose, change and build deployment.</a:t>
            </a:r>
          </a:p>
          <a:p>
            <a:pPr marL="0" indent="0">
              <a:buNone/>
            </a:pPr>
            <a:endParaRPr lang="en-US" dirty="0"/>
          </a:p>
        </p:txBody>
      </p:sp>
    </p:spTree>
    <p:extLst>
      <p:ext uri="{BB962C8B-B14F-4D97-AF65-F5344CB8AC3E}">
        <p14:creationId xmlns:p14="http://schemas.microsoft.com/office/powerpoint/2010/main" val="54539831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rgbClr val="FF6600"/>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6C4734-2BBC-493A-AC41-FCF62E6FBD54}"/>
              </a:ext>
            </a:extLst>
          </p:cNvPr>
          <p:cNvSpPr>
            <a:spLocks noGrp="1"/>
          </p:cNvSpPr>
          <p:nvPr>
            <p:ph type="title"/>
          </p:nvPr>
        </p:nvSpPr>
        <p:spPr/>
        <p:txBody>
          <a:bodyPr/>
          <a:lstStyle/>
          <a:p>
            <a:pPr algn="ctr"/>
            <a:r>
              <a:rPr lang="en-US" dirty="0">
                <a:solidFill>
                  <a:schemeClr val="bg1"/>
                </a:solidFill>
              </a:rPr>
              <a:t>Q&amp;A</a:t>
            </a:r>
          </a:p>
        </p:txBody>
      </p:sp>
      <p:sp>
        <p:nvSpPr>
          <p:cNvPr id="3" name="Text Placeholder 2">
            <a:extLst>
              <a:ext uri="{FF2B5EF4-FFF2-40B4-BE49-F238E27FC236}">
                <a16:creationId xmlns:a16="http://schemas.microsoft.com/office/drawing/2014/main" id="{A6D43E79-8F0D-4867-94BD-866BF99A44FB}"/>
              </a:ext>
            </a:extLst>
          </p:cNvPr>
          <p:cNvSpPr>
            <a:spLocks noGrp="1"/>
          </p:cNvSpPr>
          <p:nvPr>
            <p:ph type="body" idx="1"/>
          </p:nvPr>
        </p:nvSpPr>
        <p:spPr/>
        <p:txBody>
          <a:bodyPr/>
          <a:lstStyle/>
          <a:p>
            <a:pPr algn="ctr"/>
            <a:r>
              <a:rPr lang="en-US" dirty="0">
                <a:solidFill>
                  <a:schemeClr val="bg1"/>
                </a:solidFill>
              </a:rPr>
              <a:t>Thank You</a:t>
            </a:r>
          </a:p>
        </p:txBody>
      </p:sp>
    </p:spTree>
    <p:extLst>
      <p:ext uri="{BB962C8B-B14F-4D97-AF65-F5344CB8AC3E}">
        <p14:creationId xmlns:p14="http://schemas.microsoft.com/office/powerpoint/2010/main" val="979283683"/>
      </p:ext>
    </p:extLst>
  </p:cSld>
  <p:clrMapOvr>
    <a:masterClrMapping/>
  </p:clrMapOvr>
</p:sld>
</file>

<file path=ppt/theme/theme1.xml><?xml version="1.0" encoding="utf-8"?>
<a:theme xmlns:a="http://schemas.openxmlformats.org/drawingml/2006/main" name="RetrospectVTI">
  <a:themeElements>
    <a:clrScheme name="Aspect">
      <a:dk1>
        <a:sysClr val="windowText" lastClr="000000"/>
      </a:dk1>
      <a:lt1>
        <a:sysClr val="window" lastClr="FFFFFF"/>
      </a:lt1>
      <a:dk2>
        <a:srgbClr val="323232"/>
      </a:dk2>
      <a:lt2>
        <a:srgbClr val="E3DED1"/>
      </a:lt2>
      <a:accent1>
        <a:srgbClr val="F07F09"/>
      </a:accent1>
      <a:accent2>
        <a:srgbClr val="9F2936"/>
      </a:accent2>
      <a:accent3>
        <a:srgbClr val="1B587C"/>
      </a:accent3>
      <a:accent4>
        <a:srgbClr val="4E8542"/>
      </a:accent4>
      <a:accent5>
        <a:srgbClr val="604878"/>
      </a:accent5>
      <a:accent6>
        <a:srgbClr val="C19859"/>
      </a:accent6>
      <a:hlink>
        <a:srgbClr val="6B9F25"/>
      </a:hlink>
      <a:folHlink>
        <a:srgbClr val="B26B02"/>
      </a:folHlink>
    </a:clrScheme>
    <a:fontScheme name="Retrospect">
      <a:majorFont>
        <a:latin typeface="Tw Cen M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w Cen MT"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VTI" id="{ABE3C30C-0FC0-4450-828E-52DE70F1BCCB}" vid="{A6E2497D-935A-4CFD-B9FD-6DCB15FA68B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1189</TotalTime>
  <Words>3445</Words>
  <Application>Microsoft Office PowerPoint</Application>
  <PresentationFormat>Widescreen</PresentationFormat>
  <Paragraphs>343</Paragraphs>
  <Slides>43</Slides>
  <Notes>30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43</vt:i4>
      </vt:variant>
    </vt:vector>
  </HeadingPairs>
  <TitlesOfParts>
    <vt:vector size="48" baseType="lpstr">
      <vt:lpstr>Arial</vt:lpstr>
      <vt:lpstr>Calibri</vt:lpstr>
      <vt:lpstr>Tw Cen MT</vt:lpstr>
      <vt:lpstr>Wingdings</vt:lpstr>
      <vt:lpstr>RetrospectVTI</vt:lpstr>
      <vt:lpstr>Customizable and Extensible Deployment for Mobile/Cloud Applications</vt:lpstr>
      <vt:lpstr>Agenda</vt:lpstr>
      <vt:lpstr>Motivation and Background</vt:lpstr>
      <vt:lpstr> Today’s applications</vt:lpstr>
      <vt:lpstr> Code for Today’s Applications</vt:lpstr>
      <vt:lpstr>Problems</vt:lpstr>
      <vt:lpstr>Problems</vt:lpstr>
      <vt:lpstr>Problems</vt:lpstr>
      <vt:lpstr>Sapphire</vt:lpstr>
      <vt:lpstr>Goal</vt:lpstr>
      <vt:lpstr>Sapphire</vt:lpstr>
      <vt:lpstr>Sapphire is … </vt:lpstr>
      <vt:lpstr>Sapphire Architecture</vt:lpstr>
      <vt:lpstr>Sapphire Application </vt:lpstr>
      <vt:lpstr>Sapphire Application </vt:lpstr>
      <vt:lpstr>Deployment Kernel</vt:lpstr>
      <vt:lpstr>Deployment Kernel</vt:lpstr>
      <vt:lpstr>Deployment Kernel</vt:lpstr>
      <vt:lpstr>Deployment Managers</vt:lpstr>
      <vt:lpstr>Deployment Managers</vt:lpstr>
      <vt:lpstr>Deployment Managers (DMs)</vt:lpstr>
      <vt:lpstr>DM Design Examples</vt:lpstr>
      <vt:lpstr>DM Library</vt:lpstr>
      <vt:lpstr>DM API</vt:lpstr>
      <vt:lpstr>Example Deployment</vt:lpstr>
      <vt:lpstr>Upcalls</vt:lpstr>
      <vt:lpstr>DK API for DM</vt:lpstr>
      <vt:lpstr>Programming Model</vt:lpstr>
      <vt:lpstr>Implementation</vt:lpstr>
      <vt:lpstr>Experiences and Evaluation</vt:lpstr>
      <vt:lpstr>Sapphire Applications</vt:lpstr>
      <vt:lpstr>Sapphire Applications</vt:lpstr>
      <vt:lpstr>Experimental Setup </vt:lpstr>
      <vt:lpstr>Microbenchmarks</vt:lpstr>
      <vt:lpstr>RPC Latency Comparison</vt:lpstr>
      <vt:lpstr>Throughput Comparison</vt:lpstr>
      <vt:lpstr>Sapphire DK Operation Cost</vt:lpstr>
      <vt:lpstr>Deployment Manager Performance</vt:lpstr>
      <vt:lpstr>Scalability</vt:lpstr>
      <vt:lpstr>Code-offloading for Physics Engine </vt:lpstr>
      <vt:lpstr>Peer-to-Peer Multiplayer Game </vt:lpstr>
      <vt:lpstr>Conclusion</vt:lpstr>
      <vt:lpstr>Q&amp;A</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Sapphire</dc:title>
  <dc:creator>Puangpontip, Supadchaya</dc:creator>
  <cp:lastModifiedBy>Puangpontip, Supadchaya</cp:lastModifiedBy>
  <cp:revision>98</cp:revision>
  <dcterms:created xsi:type="dcterms:W3CDTF">2020-02-17T04:59:27Z</dcterms:created>
  <dcterms:modified xsi:type="dcterms:W3CDTF">2020-03-14T01:58:23Z</dcterms:modified>
</cp:coreProperties>
</file>