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66" r:id="rId6"/>
    <p:sldId id="267" r:id="rId7"/>
    <p:sldId id="259" r:id="rId8"/>
    <p:sldId id="269" r:id="rId9"/>
    <p:sldId id="270" r:id="rId10"/>
    <p:sldId id="260" r:id="rId11"/>
    <p:sldId id="261" r:id="rId12"/>
    <p:sldId id="271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5"/>
    <p:restoredTop sz="94664"/>
  </p:normalViewPr>
  <p:slideViewPr>
    <p:cSldViewPr snapToGrid="0" snapToObjects="1">
      <p:cViewPr varScale="1">
        <p:scale>
          <a:sx n="113" d="100"/>
          <a:sy n="113" d="100"/>
        </p:scale>
        <p:origin x="176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7946-F0E5-5A4A-B9C7-130F0B892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52370-BDD1-A346-A273-A4BA248C47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3DC1B-4504-B84F-89A5-75528E27E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F7A2-D452-594B-B103-21089FFF984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6D9D8-CE1F-5A4B-AD6C-1F864235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6C575-DDD8-2841-A9CA-D63E18B4A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44621-58BA-2345-8089-09AE206D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50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9C7A-DF65-6346-A071-9E362C76C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DB0E7-023F-E546-834E-4954AEB5D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52289-E594-BD48-989A-35C7BF596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F7A2-D452-594B-B103-21089FFF984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9F3F2-44C3-8248-A9F8-587C9F22F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9FFF9-42A4-8147-B58A-FF30BC73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44621-58BA-2345-8089-09AE206D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84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F2297-AB2F-A546-8217-4E26EA06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BE9BA-0D85-864C-9131-FD0691A5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371F0-4927-5443-BC74-2812C5FE1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F7A2-D452-594B-B103-21089FFF984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9C528-F229-9C42-8A3D-3A47167D5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D64FC-47AD-7F49-B935-B72F0F058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44621-58BA-2345-8089-09AE206D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89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A8382-97D5-A848-B23A-6C521FB67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2B7DD-929A-DF43-8574-BD2F1790DE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DFD68-F7ED-A349-A749-7DA3B7F4F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E1F17-50AF-4540-A4CD-645753535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F7A2-D452-594B-B103-21089FFF984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0A334-1A02-1B40-B879-7DEF45EB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A961F-6DC9-E046-BE83-CF8D4BA9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44621-58BA-2345-8089-09AE206D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363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29C88-D973-634D-B4AB-1EE2B5C45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EB7BF-CC5D-F847-99F3-2B13707DB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F1F4D-6377-2D4C-B5FD-7E38551AA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653388-95E3-1B4F-8053-9E0402E5A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842E0A-6AB1-7E41-B47D-CBED6A366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C02EAB-CF21-574B-B65E-3012050DC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F7A2-D452-594B-B103-21089FFF984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118F33-20B8-7A4B-B964-3C77686A6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DA8D0D-4163-1340-AC02-6833809E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44621-58BA-2345-8089-09AE206D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93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557B-F885-4A44-8BBF-3E0EE8C07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23506E-3639-4047-BB51-4193F8AD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F7A2-D452-594B-B103-21089FFF984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CDC536-1642-CF44-9C86-6DCFE1FE9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FA37C-E50D-D24D-A6AD-0309EBB90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44621-58BA-2345-8089-09AE206D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53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B6C452-4EA2-EF4D-A2F2-50C5DB6B5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F7A2-D452-594B-B103-21089FFF984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73F98A-9659-5C4E-A0C1-6F7B62F3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7AA7D-BE21-904F-B6F0-86154079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44621-58BA-2345-8089-09AE206D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36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F3814-9A19-EF48-A380-D16A744EC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D86A0-063E-1748-A749-236211440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B7993-8418-264C-AB4B-ACA2C3CA0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4AD92-96F6-0D42-B2BE-8BCA6510E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F7A2-D452-594B-B103-21089FFF984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16495-635A-C440-A0F2-5FBCA515B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EFC97-E6FF-8942-A153-5F9215078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44621-58BA-2345-8089-09AE206D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5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C4049-347A-5D43-8979-6677C786D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3C3E70-2029-3D4F-9BD1-D9688AB403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B5F1A-BCF4-9048-BA86-66364D8A0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54BF3-69D0-3C4F-A977-328CC93ED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F7A2-D452-594B-B103-21089FFF984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47E35-D7CD-084E-BF6B-87B66FA12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CB87E-C28D-2245-85C1-1EECF39F8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44621-58BA-2345-8089-09AE206D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85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1FD4E-6E74-C042-AEAB-3439656F3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198202-7D37-7744-AA1A-B84D809E0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9037E-219C-3445-AC5E-E47B632DA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F7A2-D452-594B-B103-21089FFF984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73F0D-F220-C14C-9F8A-424856005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47146-F28B-4448-A0D6-E4B221F58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44621-58BA-2345-8089-09AE206D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685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866677-E4F9-2142-8704-1D51787349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007601-EE7E-8140-A41D-2FAB82357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5AC01-8E85-164D-8D33-062CCE92C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F7A2-D452-594B-B103-21089FFF984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96CF4-3D39-3642-87CA-22825E0C3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D25E8-3FE6-9D45-83DB-D1C6166E8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44621-58BA-2345-8089-09AE206D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044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E20EE-33E1-E449-B382-A3EB2EC98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AB70A-07E0-4B4A-BB7D-A15D1AB7C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88E74-F258-7D4E-9E6D-CB7B8D09B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1F7A2-D452-594B-B103-21089FFF984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2B01C-2610-D24C-BD1E-44B821CDE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6D3E-2680-0C49-9147-CEB4D895FB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44621-58BA-2345-8089-09AE206D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69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0BC77-FF2E-5040-838E-8C2CC11A22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Swift Machine Learning Model Serving Scheduling: A Region Based Reinforcement Learning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3E21BF-6D17-3E45-A4B8-296CFCFA0D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48621"/>
          </a:xfrm>
        </p:spPr>
        <p:txBody>
          <a:bodyPr/>
          <a:lstStyle/>
          <a:p>
            <a:r>
              <a:rPr lang="en-US" altLang="zh-CN" dirty="0"/>
              <a:t>Author:</a:t>
            </a:r>
            <a:r>
              <a:rPr lang="zh-CN" altLang="en-US" dirty="0"/>
              <a:t> </a:t>
            </a:r>
            <a:r>
              <a:rPr lang="en-US" dirty="0" err="1"/>
              <a:t>Heyang</a:t>
            </a:r>
            <a:r>
              <a:rPr lang="en-US" dirty="0"/>
              <a:t> Qin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et.</a:t>
            </a:r>
            <a:r>
              <a:rPr lang="zh-CN" altLang="en-US" dirty="0"/>
              <a:t> </a:t>
            </a:r>
            <a:r>
              <a:rPr lang="en-US" altLang="zh-CN" dirty="0"/>
              <a:t>al.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BD36098-E6AF-0D41-A3CD-47ED577F089E}"/>
              </a:ext>
            </a:extLst>
          </p:cNvPr>
          <p:cNvSpPr txBox="1">
            <a:spLocks/>
          </p:cNvSpPr>
          <p:nvPr/>
        </p:nvSpPr>
        <p:spPr>
          <a:xfrm>
            <a:off x="8166847" y="5027426"/>
            <a:ext cx="3128682" cy="54862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Presented</a:t>
            </a:r>
            <a:r>
              <a:rPr lang="zh-CN" altLang="en-US" dirty="0"/>
              <a:t> </a:t>
            </a:r>
            <a:r>
              <a:rPr lang="en-US" altLang="zh-CN" dirty="0"/>
              <a:t>By:</a:t>
            </a:r>
            <a:r>
              <a:rPr lang="zh-CN" altLang="en-US" dirty="0"/>
              <a:t> </a:t>
            </a:r>
            <a:r>
              <a:rPr lang="en-US" altLang="zh-CN" dirty="0"/>
              <a:t>Zhou</a:t>
            </a:r>
            <a:r>
              <a:rPr lang="zh-CN" altLang="en-US" dirty="0"/>
              <a:t> </a:t>
            </a:r>
            <a:r>
              <a:rPr lang="en-US" altLang="zh-CN" dirty="0"/>
              <a:t>Yang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578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4F6C1-F716-BB4F-BCDA-BE673659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Table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Contents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59674-3E07-A444-809F-95C7C2FC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S" altLang="zh-CN" dirty="0"/>
          </a:p>
          <a:p>
            <a:r>
              <a:rPr lang="en-US" dirty="0"/>
              <a:t>BACKGROUND AND RELATED WORK</a:t>
            </a:r>
          </a:p>
          <a:p>
            <a:r>
              <a:rPr lang="en-US" dirty="0"/>
              <a:t>RRL-BASED SCHEDULING FRAMEWORK</a:t>
            </a:r>
          </a:p>
          <a:p>
            <a:r>
              <a:rPr lang="en-US" dirty="0"/>
              <a:t>REGION-BASED REINFORCEMENT LEARNING</a:t>
            </a:r>
          </a:p>
          <a:p>
            <a:r>
              <a:rPr lang="en-US" dirty="0"/>
              <a:t>IMPLEMENTATION</a:t>
            </a:r>
          </a:p>
          <a:p>
            <a:r>
              <a:rPr lang="en-US" dirty="0"/>
              <a:t>Experimental</a:t>
            </a:r>
          </a:p>
          <a:p>
            <a:r>
              <a:rPr lang="en-US" dirty="0"/>
              <a:t>CONCLUSION AND FUTURE 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997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6F32F-8341-F44A-A01A-54D078FDE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US" sz="360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F642C-0FBA-5147-9921-0C7420C49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en-US" altLang="zh-CN" sz="1500"/>
              <a:t>Motivations</a:t>
            </a:r>
          </a:p>
          <a:p>
            <a:pPr lvl="1"/>
            <a:r>
              <a:rPr lang="en-US" altLang="zh-CN" sz="1500"/>
              <a:t>Background:</a:t>
            </a:r>
            <a:r>
              <a:rPr lang="en-US" sz="1500"/>
              <a:t> machine learning</a:t>
            </a:r>
            <a:r>
              <a:rPr lang="zh-CN" altLang="en-US" sz="1500"/>
              <a:t> </a:t>
            </a:r>
            <a:r>
              <a:rPr lang="en-US" altLang="zh-CN" sz="1500"/>
              <a:t>is</a:t>
            </a:r>
            <a:r>
              <a:rPr lang="zh-CN" altLang="en-US" sz="1500"/>
              <a:t> </a:t>
            </a:r>
            <a:r>
              <a:rPr lang="en-US" altLang="zh-CN" sz="1500"/>
              <a:t>popular</a:t>
            </a:r>
            <a:r>
              <a:rPr lang="en-US" sz="1500"/>
              <a:t> in a variety of applications</a:t>
            </a:r>
          </a:p>
          <a:p>
            <a:pPr lvl="1"/>
            <a:r>
              <a:rPr lang="en-US" altLang="zh-CN" sz="1500"/>
              <a:t>Gap:</a:t>
            </a:r>
            <a:r>
              <a:rPr lang="zh-CN" altLang="en-US" sz="1500"/>
              <a:t> </a:t>
            </a:r>
            <a:r>
              <a:rPr lang="en-US" sz="1500"/>
              <a:t>machine learning</a:t>
            </a:r>
            <a:r>
              <a:rPr lang="zh-CN" altLang="en-US" sz="1500"/>
              <a:t> </a:t>
            </a:r>
            <a:r>
              <a:rPr lang="en-US" altLang="zh-CN" sz="1500"/>
              <a:t>service</a:t>
            </a:r>
            <a:r>
              <a:rPr lang="zh-CN" altLang="en-US" sz="1500"/>
              <a:t> </a:t>
            </a:r>
            <a:r>
              <a:rPr lang="en-US" altLang="zh-CN" sz="1500"/>
              <a:t>take</a:t>
            </a:r>
            <a:r>
              <a:rPr lang="zh-CN" altLang="en-US" sz="1500"/>
              <a:t> </a:t>
            </a:r>
            <a:r>
              <a:rPr lang="en-US" altLang="zh-CN" sz="1500"/>
              <a:t>minutes</a:t>
            </a:r>
            <a:r>
              <a:rPr lang="zh-CN" altLang="en-US" sz="1500"/>
              <a:t> </a:t>
            </a:r>
            <a:r>
              <a:rPr lang="en-US" altLang="zh-CN" sz="1500"/>
              <a:t>to</a:t>
            </a:r>
            <a:r>
              <a:rPr lang="zh-CN" altLang="en-US" sz="1500"/>
              <a:t> </a:t>
            </a:r>
            <a:r>
              <a:rPr lang="en-US" altLang="zh-CN" sz="1500"/>
              <a:t>fulfil</a:t>
            </a:r>
            <a:r>
              <a:rPr lang="zh-CN" altLang="en-US" sz="1500"/>
              <a:t> </a:t>
            </a:r>
            <a:r>
              <a:rPr lang="en-US" altLang="zh-CN" sz="1500"/>
              <a:t>requests</a:t>
            </a:r>
            <a:r>
              <a:rPr lang="zh-CN" altLang="en-US" sz="1500"/>
              <a:t> </a:t>
            </a:r>
            <a:r>
              <a:rPr lang="en-US" altLang="zh-CN" sz="1500"/>
              <a:t>(</a:t>
            </a:r>
            <a:r>
              <a:rPr lang="en-US" sz="1500"/>
              <a:t> models contain billions of neural connections</a:t>
            </a:r>
            <a:r>
              <a:rPr lang="en-US" altLang="zh-CN" sz="1500"/>
              <a:t>),</a:t>
            </a:r>
            <a:r>
              <a:rPr lang="zh-CN" altLang="en-US" sz="1500"/>
              <a:t> </a:t>
            </a:r>
            <a:r>
              <a:rPr lang="en-US" sz="1500"/>
              <a:t>typical Service Level Objective </a:t>
            </a:r>
            <a:r>
              <a:rPr lang="en-US" altLang="zh-CN" sz="1500"/>
              <a:t>(</a:t>
            </a:r>
            <a:r>
              <a:rPr lang="en-US" sz="1500"/>
              <a:t>SLOs</a:t>
            </a:r>
            <a:r>
              <a:rPr lang="en-US" altLang="zh-CN" sz="1500"/>
              <a:t>)</a:t>
            </a:r>
            <a:r>
              <a:rPr lang="en-US" sz="1500"/>
              <a:t> of MLaaS in production system require 500-800ms</a:t>
            </a:r>
          </a:p>
          <a:p>
            <a:pPr lvl="1"/>
            <a:r>
              <a:rPr lang="en-US" altLang="zh-CN" sz="1500"/>
              <a:t>Solution:</a:t>
            </a:r>
            <a:r>
              <a:rPr lang="zh-CN" altLang="en-US" sz="1500"/>
              <a:t> </a:t>
            </a:r>
            <a:r>
              <a:rPr lang="en-US" altLang="zh-CN" sz="1500"/>
              <a:t>parallelism</a:t>
            </a:r>
            <a:r>
              <a:rPr lang="zh-CN" altLang="en-US" sz="1500"/>
              <a:t> </a:t>
            </a:r>
            <a:r>
              <a:rPr lang="en-US" altLang="zh-CN" sz="1500"/>
              <a:t>(running</a:t>
            </a:r>
            <a:r>
              <a:rPr lang="zh-CN" altLang="en-US" sz="1500"/>
              <a:t> </a:t>
            </a:r>
            <a:r>
              <a:rPr lang="en-US" altLang="zh-CN" sz="1500"/>
              <a:t>ML</a:t>
            </a:r>
            <a:r>
              <a:rPr lang="zh-CN" altLang="en-US" sz="1500"/>
              <a:t> </a:t>
            </a:r>
            <a:r>
              <a:rPr lang="en-US" altLang="zh-CN" sz="1500"/>
              <a:t>models</a:t>
            </a:r>
            <a:r>
              <a:rPr lang="zh-CN" altLang="en-US" sz="1500"/>
              <a:t> </a:t>
            </a:r>
            <a:r>
              <a:rPr lang="en-US" altLang="zh-CN" sz="1500"/>
              <a:t>on</a:t>
            </a:r>
            <a:r>
              <a:rPr lang="zh-CN" altLang="en-US" sz="1500"/>
              <a:t> </a:t>
            </a:r>
            <a:r>
              <a:rPr lang="en-US" altLang="zh-CN" sz="1500"/>
              <a:t>CPU)</a:t>
            </a:r>
          </a:p>
          <a:p>
            <a:pPr lvl="2"/>
            <a:r>
              <a:rPr lang="en-US" sz="1500"/>
              <a:t>request parallelism</a:t>
            </a:r>
            <a:r>
              <a:rPr lang="en-US" altLang="zh-CN" sz="1500"/>
              <a:t>:</a:t>
            </a:r>
            <a:r>
              <a:rPr lang="en-US" sz="1500"/>
              <a:t> requests can be executed in parallel</a:t>
            </a:r>
          </a:p>
          <a:p>
            <a:pPr lvl="2"/>
            <a:r>
              <a:rPr lang="en-US" sz="1500"/>
              <a:t>operation </a:t>
            </a:r>
            <a:r>
              <a:rPr lang="en-US" altLang="zh-CN" sz="1500"/>
              <a:t>parallelism:</a:t>
            </a:r>
            <a:r>
              <a:rPr lang="zh-CN" altLang="en-US" sz="1500"/>
              <a:t> </a:t>
            </a:r>
            <a:endParaRPr lang="en-US" altLang="zh-CN" sz="1500"/>
          </a:p>
          <a:p>
            <a:pPr lvl="3"/>
            <a:r>
              <a:rPr lang="en-US" sz="1500"/>
              <a:t>inter-op parallelism</a:t>
            </a:r>
            <a:r>
              <a:rPr lang="en-US" altLang="zh-CN" sz="1500"/>
              <a:t>:</a:t>
            </a:r>
            <a:r>
              <a:rPr lang="zh-CN" altLang="en-US" sz="1500"/>
              <a:t> </a:t>
            </a:r>
            <a:r>
              <a:rPr lang="en-US" sz="1500"/>
              <a:t>multiple operations running simultaneously</a:t>
            </a:r>
          </a:p>
          <a:p>
            <a:pPr lvl="3"/>
            <a:r>
              <a:rPr lang="en-US" sz="1500"/>
              <a:t>intra-op parallelism</a:t>
            </a:r>
            <a:r>
              <a:rPr lang="en-US" altLang="zh-CN" sz="1500"/>
              <a:t>:</a:t>
            </a:r>
            <a:r>
              <a:rPr lang="zh-CN" altLang="en-US" sz="1500"/>
              <a:t> </a:t>
            </a:r>
            <a:r>
              <a:rPr lang="en-US" sz="1500"/>
              <a:t>each operation utilizes multiple threads</a:t>
            </a:r>
          </a:p>
          <a:p>
            <a:pPr lvl="3"/>
            <a:endParaRPr lang="en-US" sz="1500"/>
          </a:p>
          <a:p>
            <a:pPr lvl="1"/>
            <a:endParaRPr lang="en-US" altLang="zh-CN" sz="1500">
              <a:sym typeface="Wingdings" pitchFamily="2" charset="2"/>
            </a:endParaRPr>
          </a:p>
          <a:p>
            <a:pPr lvl="1"/>
            <a:endParaRPr lang="en-US" sz="15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1F872B-3431-1247-9D1B-1D6A2B421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066" y="972460"/>
            <a:ext cx="4305905" cy="205606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7DD4AE-F68A-A84A-B452-E750D11AC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66" y="4027979"/>
            <a:ext cx="4305905" cy="1668538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581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F32F-8341-F44A-A01A-54D078FDE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US" sz="360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F642C-0FBA-5147-9921-0C7420C49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1909721"/>
            <a:ext cx="4991629" cy="4292123"/>
          </a:xfrm>
        </p:spPr>
        <p:txBody>
          <a:bodyPr anchor="ctr">
            <a:normAutofit/>
          </a:bodyPr>
          <a:lstStyle/>
          <a:p>
            <a:r>
              <a:rPr lang="en-US" altLang="zh-CN" dirty="0"/>
              <a:t>Motivations</a:t>
            </a:r>
          </a:p>
          <a:p>
            <a:pPr lvl="1"/>
            <a:r>
              <a:rPr lang="en-US" dirty="0"/>
              <a:t>operation </a:t>
            </a:r>
            <a:r>
              <a:rPr lang="en-US" altLang="zh-CN" dirty="0"/>
              <a:t>parallelism:</a:t>
            </a:r>
            <a:r>
              <a:rPr lang="zh-CN" altLang="en-US" dirty="0"/>
              <a:t> </a:t>
            </a:r>
            <a:endParaRPr lang="en-US" altLang="zh-CN" dirty="0"/>
          </a:p>
          <a:p>
            <a:pPr lvl="2"/>
            <a:r>
              <a:rPr lang="en-US" dirty="0"/>
              <a:t>inter-op parallelism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/>
              <a:t>multiple operations running simultaneously</a:t>
            </a:r>
          </a:p>
          <a:p>
            <a:pPr lvl="2"/>
            <a:r>
              <a:rPr lang="en-US" dirty="0"/>
              <a:t>intra-op parallelism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/>
              <a:t>each operation utilizes multiple threads</a:t>
            </a:r>
          </a:p>
          <a:p>
            <a:pPr lvl="3"/>
            <a:endParaRPr lang="en-US" sz="1500" dirty="0"/>
          </a:p>
          <a:p>
            <a:r>
              <a:rPr lang="en-US" sz="2400" dirty="0"/>
              <a:t>Parallelism configuration has significant impact on system performance.</a:t>
            </a:r>
            <a:endParaRPr lang="en-US" sz="2500" dirty="0"/>
          </a:p>
          <a:p>
            <a:pPr lvl="1"/>
            <a:endParaRPr lang="en-US" altLang="zh-CN" sz="1500" dirty="0">
              <a:sym typeface="Wingdings" pitchFamily="2" charset="2"/>
            </a:endParaRPr>
          </a:p>
          <a:p>
            <a:pPr lvl="1"/>
            <a:endParaRPr lang="en-US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C77F0C-14A6-A24E-ADA3-EC49D37BB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080" y="955436"/>
            <a:ext cx="5758039" cy="453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086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87F69AB-2350-44E3-9076-00265B93F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1"/>
            <a:ext cx="972709" cy="1935307"/>
            <a:chOff x="10918968" y="713127"/>
            <a:chExt cx="1273032" cy="253283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70652AA-1C81-481C-856B-903714375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A2FF99B6-37BA-4650-B01D-799F02E31E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16F32F-8341-F44A-A01A-54D078FDE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/>
              <a:t>INTRODUCTION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D9EC11-D426-6F43-A7FE-17AAE3173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905" y="1782982"/>
            <a:ext cx="5162335" cy="21165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78530D-9E8E-8E4B-B1B2-31CE004724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539" b="14374"/>
          <a:stretch/>
        </p:blipFill>
        <p:spPr>
          <a:xfrm>
            <a:off x="643467" y="4151064"/>
            <a:ext cx="6253212" cy="19031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F642C-0FBA-5147-9921-0C7420C49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4052" y="1782981"/>
            <a:ext cx="4004479" cy="4393982"/>
          </a:xfrm>
        </p:spPr>
        <p:txBody>
          <a:bodyPr>
            <a:normAutofit/>
          </a:bodyPr>
          <a:lstStyle/>
          <a:p>
            <a:r>
              <a:rPr lang="en-US" altLang="zh-CN" sz="1700"/>
              <a:t>Challenges</a:t>
            </a:r>
          </a:p>
          <a:p>
            <a:pPr lvl="1"/>
            <a:r>
              <a:rPr lang="en-US" sz="1700"/>
              <a:t>ML-serving involves thousands of operations with complex correlation among them, which makes it challenging to model in a white-box manner.</a:t>
            </a:r>
          </a:p>
          <a:p>
            <a:pPr lvl="1"/>
            <a:r>
              <a:rPr lang="en-US" sz="1700"/>
              <a:t>makes machine learning serving an unique workload that is challenging to breakdown and do fine-tuning at operation level.</a:t>
            </a:r>
          </a:p>
          <a:p>
            <a:pPr lvl="1"/>
            <a:r>
              <a:rPr lang="en-US" altLang="zh-CN" sz="1700"/>
              <a:t>Challenges</a:t>
            </a:r>
            <a:r>
              <a:rPr lang="zh-CN" altLang="en-US" sz="1700"/>
              <a:t> </a:t>
            </a:r>
            <a:r>
              <a:rPr lang="en-US" altLang="zh-CN" sz="1700"/>
              <a:t>in</a:t>
            </a:r>
            <a:r>
              <a:rPr lang="zh-CN" altLang="en-US" sz="1700"/>
              <a:t> </a:t>
            </a:r>
            <a:r>
              <a:rPr lang="en-US" altLang="zh-CN" sz="1700"/>
              <a:t>parallelism</a:t>
            </a:r>
            <a:r>
              <a:rPr lang="zh-CN" altLang="en-US" sz="1700"/>
              <a:t> </a:t>
            </a:r>
            <a:r>
              <a:rPr lang="en-US" sz="1700"/>
              <a:t>configuration</a:t>
            </a:r>
            <a:r>
              <a:rPr lang="en-US" altLang="zh-CN" sz="1700"/>
              <a:t>:</a:t>
            </a:r>
          </a:p>
          <a:p>
            <a:pPr lvl="2"/>
            <a:r>
              <a:rPr lang="en-US" sz="1700"/>
              <a:t>domain specific information and techniques to tune the parallelism configuration</a:t>
            </a:r>
          </a:p>
          <a:p>
            <a:pPr lvl="2"/>
            <a:endParaRPr lang="en-US" sz="17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EA7D759-6BEF-4CBD-A325-BCFA77832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177940" y="4601497"/>
            <a:ext cx="1014060" cy="2017580"/>
            <a:chOff x="11177940" y="4601497"/>
            <a:chExt cx="1014060" cy="2017580"/>
          </a:xfrm>
        </p:grpSpPr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17405EC-53E3-473A-8B42-B9475D057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1067618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03F2370-11B5-4E16-8AE5-B4854408B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27850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8445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F32F-8341-F44A-A01A-54D078FDE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F642C-0FBA-5147-9921-0C7420C49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Contributions:</a:t>
            </a:r>
          </a:p>
          <a:p>
            <a:pPr lvl="1"/>
            <a:r>
              <a:rPr lang="en-US" dirty="0"/>
              <a:t>propose a swift machine learning serving scheduling framework to solve the above challenges.</a:t>
            </a:r>
          </a:p>
          <a:p>
            <a:pPr lvl="1"/>
            <a:r>
              <a:rPr lang="en-US" dirty="0"/>
              <a:t>The proposed framework is driven by a light</a:t>
            </a:r>
            <a:r>
              <a:rPr lang="en-US" altLang="zh-CN" dirty="0"/>
              <a:t>-</a:t>
            </a:r>
            <a:r>
              <a:rPr lang="en-US" dirty="0"/>
              <a:t>weight</a:t>
            </a:r>
            <a:r>
              <a:rPr lang="en-US" altLang="zh-CN" dirty="0"/>
              <a:t>-</a:t>
            </a:r>
            <a:r>
              <a:rPr lang="en-US" dirty="0"/>
              <a:t>region-based reinforcement learning (RRL) approach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920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3434-F607-AD49-8DC6-3B3FBEA1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AND 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4501F-266D-0047-918F-9A5E1E9FF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Several machine learning serving systems have been open-sourced recently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altLang="zh-CN" dirty="0"/>
              <a:t>i.e.:</a:t>
            </a:r>
            <a:r>
              <a:rPr lang="zh-CN" altLang="en-US" dirty="0"/>
              <a:t> </a:t>
            </a:r>
            <a:r>
              <a:rPr lang="en-US" altLang="zh-CN" dirty="0" err="1"/>
              <a:t>tensorflow</a:t>
            </a:r>
            <a:r>
              <a:rPr lang="zh-CN" altLang="en-US" dirty="0"/>
              <a:t> </a:t>
            </a:r>
            <a:r>
              <a:rPr lang="en-US" altLang="zh-CN" dirty="0"/>
              <a:t>serving</a:t>
            </a:r>
          </a:p>
          <a:p>
            <a:pPr lvl="1"/>
            <a:r>
              <a:rPr lang="en-US" b="1" i="1" dirty="0"/>
              <a:t>Hardware acceleration</a:t>
            </a:r>
            <a:r>
              <a:rPr lang="zh-CN" altLang="en-US" b="1" i="1" dirty="0"/>
              <a:t> </a:t>
            </a:r>
            <a:r>
              <a:rPr lang="en-US" dirty="0"/>
              <a:t>has been used to accelerate the computation in machine learning serving by using customized hardware such as GPUs, FPGAs, and ASICs</a:t>
            </a:r>
          </a:p>
          <a:p>
            <a:pPr lvl="1"/>
            <a:r>
              <a:rPr lang="en-US" b="1" i="1" dirty="0"/>
              <a:t>Parallelism</a:t>
            </a:r>
            <a:r>
              <a:rPr lang="en-US" altLang="zh-CN" b="1" i="1" dirty="0"/>
              <a:t>:</a:t>
            </a:r>
            <a:r>
              <a:rPr lang="en-US" dirty="0"/>
              <a:t> reducing the latency of </a:t>
            </a:r>
            <a:r>
              <a:rPr lang="en-US" altLang="zh-CN" dirty="0"/>
              <a:t>ML</a:t>
            </a:r>
            <a:r>
              <a:rPr lang="zh-CN" altLang="en-US" dirty="0"/>
              <a:t> </a:t>
            </a:r>
            <a:r>
              <a:rPr lang="en-US" dirty="0"/>
              <a:t>serving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dirty="0"/>
              <a:t>vector-matrix multiplications or matrix-matrix multiplications</a:t>
            </a:r>
          </a:p>
          <a:p>
            <a:pPr lvl="1"/>
            <a:endParaRPr lang="en-US" dirty="0"/>
          </a:p>
          <a:p>
            <a:pPr lvl="1"/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109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3434-F607-AD49-8DC6-3B3FBEA1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AND 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4501F-266D-0047-918F-9A5E1E9FF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Interactive Serving</a:t>
            </a:r>
            <a:r>
              <a:rPr lang="en-US" altLang="zh-CN" dirty="0"/>
              <a:t>:</a:t>
            </a:r>
          </a:p>
          <a:p>
            <a:pPr lvl="1"/>
            <a:r>
              <a:rPr lang="en-US" dirty="0"/>
              <a:t>parallelism to accelerate processing or share resources among users’ requests.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371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3434-F607-AD49-8DC6-3B3FBEA1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AND 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4501F-266D-0047-918F-9A5E1E9FF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Several machine learning serving systems have been open-sourced recently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altLang="zh-CN" dirty="0"/>
              <a:t>i.e.:</a:t>
            </a:r>
            <a:r>
              <a:rPr lang="zh-CN" altLang="en-US" dirty="0"/>
              <a:t> </a:t>
            </a:r>
            <a:r>
              <a:rPr lang="en-US" altLang="zh-CN" dirty="0" err="1"/>
              <a:t>tensorflow</a:t>
            </a:r>
            <a:r>
              <a:rPr lang="zh-CN" altLang="en-US" dirty="0"/>
              <a:t> </a:t>
            </a:r>
            <a:r>
              <a:rPr lang="en-US" altLang="zh-CN" dirty="0"/>
              <a:t>serving</a:t>
            </a:r>
          </a:p>
          <a:p>
            <a:pPr lvl="1"/>
            <a:r>
              <a:rPr lang="en-US" b="1" i="1" dirty="0"/>
              <a:t>Hardware acceleration</a:t>
            </a:r>
            <a:r>
              <a:rPr lang="zh-CN" altLang="en-US" b="1" i="1" dirty="0"/>
              <a:t> </a:t>
            </a:r>
            <a:r>
              <a:rPr lang="en-US" dirty="0"/>
              <a:t>has been used to accelerate the computation in machine learning serving by using customized hardware such as GPUs, FPGAs, and ASICs</a:t>
            </a:r>
          </a:p>
          <a:p>
            <a:pPr lvl="1"/>
            <a:r>
              <a:rPr lang="en-US" b="1" i="1" dirty="0"/>
              <a:t>Parallelism</a:t>
            </a:r>
            <a:r>
              <a:rPr lang="en-US" altLang="zh-CN" b="1" i="1" dirty="0"/>
              <a:t>:</a:t>
            </a:r>
            <a:r>
              <a:rPr lang="en-US" dirty="0"/>
              <a:t> reducing the latency of </a:t>
            </a:r>
            <a:r>
              <a:rPr lang="en-US" altLang="zh-CN" dirty="0"/>
              <a:t>ML</a:t>
            </a:r>
            <a:r>
              <a:rPr lang="zh-CN" altLang="en-US" dirty="0"/>
              <a:t> </a:t>
            </a:r>
            <a:r>
              <a:rPr lang="en-US" dirty="0"/>
              <a:t>serving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dirty="0"/>
              <a:t>vector-matrix multiplications or matrix-matrix multiplications</a:t>
            </a:r>
          </a:p>
          <a:p>
            <a:pPr lvl="1"/>
            <a:endParaRPr lang="en-US" dirty="0"/>
          </a:p>
          <a:p>
            <a:pPr lvl="1"/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165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2CF4-6160-8843-8312-3B062919B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RRL-BASED SCHEDULING FRAMEWORK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46F8C3-71B6-5246-BB18-A75DEEC1A3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3466" y="1439544"/>
            <a:ext cx="6314882" cy="4780633"/>
          </a:xfrm>
        </p:spPr>
      </p:pic>
    </p:spTree>
    <p:extLst>
      <p:ext uri="{BB962C8B-B14F-4D97-AF65-F5344CB8AC3E}">
        <p14:creationId xmlns:p14="http://schemas.microsoft.com/office/powerpoint/2010/main" val="4234064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4ED2D-287D-6F43-A77C-A8CB2F77E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REGION-BASED REINFORCEMENT LEARNING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927C0E-22C4-D646-83D6-3156635E0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617" y="1690688"/>
            <a:ext cx="6388100" cy="2844800"/>
          </a:xfrm>
        </p:spPr>
      </p:pic>
    </p:spTree>
    <p:extLst>
      <p:ext uri="{BB962C8B-B14F-4D97-AF65-F5344CB8AC3E}">
        <p14:creationId xmlns:p14="http://schemas.microsoft.com/office/powerpoint/2010/main" val="3026234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4ED2D-287D-6F43-A77C-A8CB2F77E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REGION-BASED REINFORCEMENT LEARNING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927C0E-22C4-D646-83D6-3156635E0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617" y="1690688"/>
            <a:ext cx="6388100" cy="284480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C556C7-618B-8D4A-A175-45D67760B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717" y="1690688"/>
            <a:ext cx="4608382" cy="341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10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5EC0C-9A51-5940-A82C-78E016E16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D1766-0125-3542-84A9-091989898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419083"/>
            <a:ext cx="10210800" cy="52842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/>
              <a:t>Neural Network based Estimation Function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BDD0CE-06A4-404B-8A13-580229C1C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41750"/>
            <a:ext cx="12192000" cy="4716250"/>
          </a:xfrm>
          <a:prstGeom prst="rect">
            <a:avLst/>
          </a:prstGeom>
          <a:solidFill>
            <a:srgbClr val="594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26">
            <a:extLst>
              <a:ext uri="{FF2B5EF4-FFF2-40B4-BE49-F238E27FC236}">
                <a16:creationId xmlns:a16="http://schemas.microsoft.com/office/drawing/2014/main" id="{EE9899FA-8881-472C-AA59-D08A89CA8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140DEB-EA7B-5042-9401-992AB6067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48" y="3094990"/>
            <a:ext cx="4974336" cy="2586654"/>
          </a:xfrm>
          <a:prstGeom prst="rect">
            <a:avLst/>
          </a:prstGeom>
        </p:spPr>
      </p:pic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080B7D90-3DF1-4514-B26D-616BE3555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4749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56CB1F-AA1A-7848-8688-4302A26AD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516" y="3339823"/>
            <a:ext cx="4974336" cy="210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039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27CA6-2F69-0E40-91F5-D922185E5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B95E92-3FCA-3C40-A57F-549918FA7F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734" y="1328913"/>
            <a:ext cx="4603044" cy="524439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88C113-414A-EB49-87F9-D18A4C233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158" y="1230489"/>
            <a:ext cx="5991686" cy="479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71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7378C-FA46-BE4F-B8AB-06520D1B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AC653-450D-4C40-B2E0-2AA57C717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paper, we proposed a RRL-based scheduling framework for machine learning serving that can efficiently identify the optimal</a:t>
            </a:r>
            <a:r>
              <a:rPr lang="zh-CN" altLang="en-US" dirty="0"/>
              <a:t> </a:t>
            </a:r>
            <a:r>
              <a:rPr lang="en-US" dirty="0"/>
              <a:t>configuration under dynamic workloads. </a:t>
            </a:r>
          </a:p>
          <a:p>
            <a:r>
              <a:rPr lang="en-US" dirty="0"/>
              <a:t>A key observation is that the system performance under similar configurations in a region can be accurately estimated by using the system performance under one of these configurations, due to their correlation, based on which we developed the RRL approach</a:t>
            </a:r>
            <a:r>
              <a:rPr lang="en-US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009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473</Words>
  <Application>Microsoft Macintosh PowerPoint</Application>
  <PresentationFormat>Widescreen</PresentationFormat>
  <Paragraphs>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Swift Machine Learning Model Serving Scheduling: A Region Based Reinforcement Learning Approach</vt:lpstr>
      <vt:lpstr>Table of Contents </vt:lpstr>
      <vt:lpstr>INTRODUCTION</vt:lpstr>
      <vt:lpstr>INTRODUCTION</vt:lpstr>
      <vt:lpstr>INTRODUCTION</vt:lpstr>
      <vt:lpstr>INTRODUCTION</vt:lpstr>
      <vt:lpstr>BACKGROUND AND RELATED WORK</vt:lpstr>
      <vt:lpstr>BACKGROUND AND RELATED WORK</vt:lpstr>
      <vt:lpstr>BACKGROUND AND RELATED WORK</vt:lpstr>
      <vt:lpstr>RRL-BASED SCHEDULING FRAMEWORK</vt:lpstr>
      <vt:lpstr>REGION-BASED REINFORCEMENT LEARNING</vt:lpstr>
      <vt:lpstr>REGION-BASED REINFORCEMENT LEARNING</vt:lpstr>
      <vt:lpstr>IMPLEMENTATION</vt:lpstr>
      <vt:lpstr>Experimental</vt:lpstr>
      <vt:lpstr>CONCLUSION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 Machine Learning Model Serving Scheduling: A Region Based Reinforcement Learning Approach</dc:title>
  <dc:creator>Yang Zhou</dc:creator>
  <cp:lastModifiedBy>Yang Zhou</cp:lastModifiedBy>
  <cp:revision>1</cp:revision>
  <dcterms:created xsi:type="dcterms:W3CDTF">2020-03-14T04:47:33Z</dcterms:created>
  <dcterms:modified xsi:type="dcterms:W3CDTF">2020-03-14T04:50:30Z</dcterms:modified>
</cp:coreProperties>
</file>