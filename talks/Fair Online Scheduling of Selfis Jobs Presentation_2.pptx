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71" r:id="rId4"/>
    <p:sldId id="258" r:id="rId5"/>
    <p:sldId id="259" r:id="rId6"/>
    <p:sldId id="260" r:id="rId7"/>
    <p:sldId id="261" r:id="rId8"/>
    <p:sldId id="262" r:id="rId9"/>
    <p:sldId id="264" r:id="rId10"/>
    <p:sldId id="265" r:id="rId11"/>
    <p:sldId id="266" r:id="rId12"/>
    <p:sldId id="274" r:id="rId13"/>
    <p:sldId id="270" r:id="rId14"/>
    <p:sldId id="272" r:id="rId15"/>
    <p:sldId id="273" r:id="rId16"/>
    <p:sldId id="26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96" d="100"/>
          <a:sy n="96" d="100"/>
        </p:scale>
        <p:origin x="110"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DB4A16-2E7C-4F0E-8375-A8F9D8C91DA2}" type="datetimeFigureOut">
              <a:rPr lang="en-US" smtClean="0"/>
              <a:t>2/18/2020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277A54-3610-4FFD-8E77-7141501ABCA2}" type="slidenum">
              <a:rPr lang="en-US" smtClean="0"/>
              <a:t>‹#›</a:t>
            </a:fld>
            <a:endParaRPr lang="en-US"/>
          </a:p>
        </p:txBody>
      </p:sp>
    </p:spTree>
    <p:extLst>
      <p:ext uri="{BB962C8B-B14F-4D97-AF65-F5344CB8AC3E}">
        <p14:creationId xmlns:p14="http://schemas.microsoft.com/office/powerpoint/2010/main" val="20214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Multi-core_processor"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Heterogeneous computing</a:t>
            </a:r>
            <a:r>
              <a:rPr lang="en-US" sz="1200" b="0" i="0" kern="1200" dirty="0">
                <a:solidFill>
                  <a:schemeClr val="tx1"/>
                </a:solidFill>
                <a:effectLst/>
                <a:latin typeface="+mn-lt"/>
                <a:ea typeface="+mn-ea"/>
                <a:cs typeface="+mn-cs"/>
              </a:rPr>
              <a:t> refers to systems that use more than one kind of processor or </a:t>
            </a:r>
            <a:r>
              <a:rPr lang="en-US" sz="1200" b="0" i="0" u="none" strike="noStrike" kern="1200" dirty="0">
                <a:solidFill>
                  <a:schemeClr val="tx1"/>
                </a:solidFill>
                <a:effectLst/>
                <a:latin typeface="+mn-lt"/>
                <a:ea typeface="+mn-ea"/>
                <a:cs typeface="+mn-cs"/>
                <a:hlinkClick r:id="rId3" tooltip="Multi-core processor"/>
              </a:rPr>
              <a:t>cores</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51277A54-3610-4FFD-8E77-7141501ABCA2}" type="slidenum">
              <a:rPr lang="en-US" smtClean="0"/>
              <a:t>1</a:t>
            </a:fld>
            <a:endParaRPr lang="en-US"/>
          </a:p>
        </p:txBody>
      </p:sp>
    </p:spTree>
    <p:extLst>
      <p:ext uri="{BB962C8B-B14F-4D97-AF65-F5344CB8AC3E}">
        <p14:creationId xmlns:p14="http://schemas.microsoft.com/office/powerpoint/2010/main" val="2938401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277A54-3610-4FFD-8E77-7141501ABCA2}" type="slidenum">
              <a:rPr lang="en-US" smtClean="0"/>
              <a:t>5</a:t>
            </a:fld>
            <a:endParaRPr lang="en-US"/>
          </a:p>
        </p:txBody>
      </p:sp>
    </p:spTree>
    <p:extLst>
      <p:ext uri="{BB962C8B-B14F-4D97-AF65-F5344CB8AC3E}">
        <p14:creationId xmlns:p14="http://schemas.microsoft.com/office/powerpoint/2010/main" val="2165842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Online Scheduling with General Cost Functions: </a:t>
            </a:r>
            <a:endParaRPr lang="en-US" dirty="0"/>
          </a:p>
          <a:p>
            <a:r>
              <a:rPr lang="en-US" dirty="0"/>
              <a:t>a collection of jobs J1, . . . , Jn arrive over time to be scheduled by one or more servers. Job </a:t>
            </a:r>
            <a:r>
              <a:rPr lang="en-US" dirty="0" err="1"/>
              <a:t>Jj</a:t>
            </a:r>
            <a:r>
              <a:rPr lang="en-US" dirty="0"/>
              <a:t> arrives at a nonnegative real release time </a:t>
            </a:r>
            <a:r>
              <a:rPr lang="en-US" dirty="0" err="1"/>
              <a:t>rj</a:t>
            </a:r>
            <a:r>
              <a:rPr lang="en-US" dirty="0"/>
              <a:t> , and has a positive real size/work </a:t>
            </a:r>
            <a:r>
              <a:rPr lang="en-US" dirty="0" err="1"/>
              <a:t>pj</a:t>
            </a:r>
            <a:r>
              <a:rPr lang="en-US" dirty="0"/>
              <a:t> . A client submitting a job would like their job completed as quickly as possible. In other words, the client desires the sever to minimize the flow time of their job. The flow time Fj of job </a:t>
            </a:r>
            <a:r>
              <a:rPr lang="en-US" dirty="0" err="1"/>
              <a:t>Jj</a:t>
            </a:r>
            <a:r>
              <a:rPr lang="en-US" dirty="0"/>
              <a:t> is defined as </a:t>
            </a:r>
            <a:r>
              <a:rPr lang="en-US" dirty="0" err="1"/>
              <a:t>Cj</a:t>
            </a:r>
            <a:r>
              <a:rPr lang="en-US" dirty="0"/>
              <a:t> − </a:t>
            </a:r>
            <a:r>
              <a:rPr lang="en-US" dirty="0" err="1"/>
              <a:t>rj</a:t>
            </a:r>
            <a:r>
              <a:rPr lang="en-US" dirty="0"/>
              <a:t> , where </a:t>
            </a:r>
            <a:r>
              <a:rPr lang="en-US" dirty="0" err="1"/>
              <a:t>Cj</a:t>
            </a:r>
            <a:r>
              <a:rPr lang="en-US" dirty="0"/>
              <a:t> is the time when the job </a:t>
            </a:r>
            <a:r>
              <a:rPr lang="en-US" dirty="0" err="1"/>
              <a:t>Jj</a:t>
            </a:r>
            <a:r>
              <a:rPr lang="en-US" dirty="0"/>
              <a:t> completes</a:t>
            </a:r>
          </a:p>
          <a:p>
            <a:endParaRPr lang="en-US" dirty="0"/>
          </a:p>
          <a:p>
            <a:r>
              <a:rPr lang="en-US" dirty="0"/>
              <a:t>Finally, there is a cost function fi(t) which measures the cost of completing Ji at time t</a:t>
            </a:r>
          </a:p>
          <a:p>
            <a:endParaRPr lang="en-US" dirty="0"/>
          </a:p>
        </p:txBody>
      </p:sp>
      <p:sp>
        <p:nvSpPr>
          <p:cNvPr id="4" name="Slide Number Placeholder 3"/>
          <p:cNvSpPr>
            <a:spLocks noGrp="1"/>
          </p:cNvSpPr>
          <p:nvPr>
            <p:ph type="sldNum" sz="quarter" idx="5"/>
          </p:nvPr>
        </p:nvSpPr>
        <p:spPr/>
        <p:txBody>
          <a:bodyPr/>
          <a:lstStyle/>
          <a:p>
            <a:fld id="{51277A54-3610-4FFD-8E77-7141501ABCA2}" type="slidenum">
              <a:rPr lang="en-US" smtClean="0"/>
              <a:t>8</a:t>
            </a:fld>
            <a:endParaRPr lang="en-US"/>
          </a:p>
        </p:txBody>
      </p:sp>
    </p:spTree>
    <p:extLst>
      <p:ext uri="{BB962C8B-B14F-4D97-AF65-F5344CB8AC3E}">
        <p14:creationId xmlns:p14="http://schemas.microsoft.com/office/powerpoint/2010/main" val="3259160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277A54-3610-4FFD-8E77-7141501ABCA2}" type="slidenum">
              <a:rPr lang="en-US" smtClean="0"/>
              <a:t>16</a:t>
            </a:fld>
            <a:endParaRPr lang="en-US"/>
          </a:p>
        </p:txBody>
      </p:sp>
    </p:spTree>
    <p:extLst>
      <p:ext uri="{BB962C8B-B14F-4D97-AF65-F5344CB8AC3E}">
        <p14:creationId xmlns:p14="http://schemas.microsoft.com/office/powerpoint/2010/main" val="3962228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FE435-41D0-495F-AE1B-B33521CC76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FF9CBE-4751-46CF-8004-79E5063CDA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A9F2C0-18A0-4729-A171-8123C057D172}"/>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5" name="Footer Placeholder 4">
            <a:extLst>
              <a:ext uri="{FF2B5EF4-FFF2-40B4-BE49-F238E27FC236}">
                <a16:creationId xmlns:a16="http://schemas.microsoft.com/office/drawing/2014/main" id="{FDD1C2A0-1AD5-4482-B8A1-8F043A5285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1C972F-6225-41C9-8B4E-00DE680A475A}"/>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2908155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45FA6-6A38-42DC-8EC8-D28F41D3ED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6AE833-3360-44F8-958B-F207828255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83E41E-3CE4-4002-BB2F-5D9E8EEE3D27}"/>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5" name="Footer Placeholder 4">
            <a:extLst>
              <a:ext uri="{FF2B5EF4-FFF2-40B4-BE49-F238E27FC236}">
                <a16:creationId xmlns:a16="http://schemas.microsoft.com/office/drawing/2014/main" id="{5AD5C5BF-CA8A-46CC-8900-C89D37BEDC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46B514-4041-469F-8DC0-08300C9381E0}"/>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1910603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3056A-228B-4A1C-9BA6-5891FFE69B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3D21C5-E722-4056-97D4-C55BCF9E70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DCEC6E-940B-442D-810C-376F0235A984}"/>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5" name="Footer Placeholder 4">
            <a:extLst>
              <a:ext uri="{FF2B5EF4-FFF2-40B4-BE49-F238E27FC236}">
                <a16:creationId xmlns:a16="http://schemas.microsoft.com/office/drawing/2014/main" id="{630109C4-4C9F-4520-8923-90F97234B1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B6172E-013E-490F-AE6A-64DFF2DF8DCE}"/>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1490054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BC06D-43F8-4497-9E96-93FB7A7C6C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EA36FA-4DDC-4749-8269-2D3F77C6AE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593F72-E9A9-4D7F-BBE3-914FF1C4F3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2F7C4D-E99D-4A06-B216-86F93B9FDB3E}"/>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6" name="Footer Placeholder 5">
            <a:extLst>
              <a:ext uri="{FF2B5EF4-FFF2-40B4-BE49-F238E27FC236}">
                <a16:creationId xmlns:a16="http://schemas.microsoft.com/office/drawing/2014/main" id="{E97D9166-8EEF-480D-906B-D13BF98480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E39341-12A4-46EB-B9A1-4CF997311082}"/>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175443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8BDE5-4880-454F-8BF5-069E49768F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DF3CB7-91EF-4ECC-91E0-7FAE21229A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D812FE-A379-4101-9E27-07732BEC3D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389F9D-A3BB-4F75-A73B-5200484E99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2550A-42B9-4F5E-B235-5505547822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ED0BF1-CBDC-48C1-91DB-5D42F571C4EA}"/>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8" name="Footer Placeholder 7">
            <a:extLst>
              <a:ext uri="{FF2B5EF4-FFF2-40B4-BE49-F238E27FC236}">
                <a16:creationId xmlns:a16="http://schemas.microsoft.com/office/drawing/2014/main" id="{829D4954-41A5-4157-850B-D4C0E8519B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83FD5E-CCC2-4DE7-B8E6-689165E12E35}"/>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2453958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40FF-400C-47B5-AF50-C0167694AF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210A6B-A5D4-4A05-B596-F17E7CF91008}"/>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4" name="Footer Placeholder 3">
            <a:extLst>
              <a:ext uri="{FF2B5EF4-FFF2-40B4-BE49-F238E27FC236}">
                <a16:creationId xmlns:a16="http://schemas.microsoft.com/office/drawing/2014/main" id="{8574A030-45F0-47F9-B2DE-7CF207580DD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E29A46-927E-4844-A75A-920B0A0C6E1C}"/>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3064641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86947E-15FB-4E2C-93F4-CF0E17B53A49}"/>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3" name="Footer Placeholder 2">
            <a:extLst>
              <a:ext uri="{FF2B5EF4-FFF2-40B4-BE49-F238E27FC236}">
                <a16:creationId xmlns:a16="http://schemas.microsoft.com/office/drawing/2014/main" id="{7BD55AFD-2040-4536-9F59-BEF1B57CE7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3B1D7C-A8E9-4FD2-AE8F-D0772B429F33}"/>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211119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FCB9-88F7-4893-92FA-6803E99299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8E8EA7-B4B3-4CD5-86A3-FE6812877F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33B927-3695-4D34-ACFF-C997CB5B17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6D4DEE-FC99-4067-A875-B1A091FB27E1}"/>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6" name="Footer Placeholder 5">
            <a:extLst>
              <a:ext uri="{FF2B5EF4-FFF2-40B4-BE49-F238E27FC236}">
                <a16:creationId xmlns:a16="http://schemas.microsoft.com/office/drawing/2014/main" id="{89020DA9-8121-4AEF-9A73-B35EB6C062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7BC5B4-6B0F-4CBB-9752-459DF216A097}"/>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2061010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08529-500B-49A4-9458-04A0BDCE6E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1E9346-6169-485D-9D05-41BF1D4775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C08065-2B38-4FB9-9545-ED9D8CAA1C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6B4B7B-9580-4731-AB9C-A4E3A08FA312}"/>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6" name="Footer Placeholder 5">
            <a:extLst>
              <a:ext uri="{FF2B5EF4-FFF2-40B4-BE49-F238E27FC236}">
                <a16:creationId xmlns:a16="http://schemas.microsoft.com/office/drawing/2014/main" id="{6DCFE089-4814-469C-A3C8-A61BDFEA5C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980BC-0516-4C76-97BD-791B9A7DDA87}"/>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3607511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41270-3860-4477-816A-D34B0E21BC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EBC6AF-8357-4E59-8073-D5318610DB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FC4F6E-23EB-42C7-B25F-C151A92C3B4D}"/>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5" name="Footer Placeholder 4">
            <a:extLst>
              <a:ext uri="{FF2B5EF4-FFF2-40B4-BE49-F238E27FC236}">
                <a16:creationId xmlns:a16="http://schemas.microsoft.com/office/drawing/2014/main" id="{4E9D4375-DAF9-4FE7-9605-6B4C4C710E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2AFFCD-4C7B-4178-9DA2-630A0C6D99C6}"/>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3413691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BCAAAA-6042-4F5C-B95A-E0443B4F42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0400C6-B939-4817-B47E-34CB905148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9554E4-9929-438F-8325-AE618A4F5E99}"/>
              </a:ext>
            </a:extLst>
          </p:cNvPr>
          <p:cNvSpPr>
            <a:spLocks noGrp="1"/>
          </p:cNvSpPr>
          <p:nvPr>
            <p:ph type="dt" sz="half" idx="10"/>
          </p:nvPr>
        </p:nvSpPr>
        <p:spPr/>
        <p:txBody>
          <a:bodyPr/>
          <a:lstStyle/>
          <a:p>
            <a:fld id="{73E33580-0AEC-40E6-98A2-79FB3EE445A4}" type="datetimeFigureOut">
              <a:rPr lang="en-US" smtClean="0"/>
              <a:t>2/18/2020</a:t>
            </a:fld>
            <a:endParaRPr lang="en-US"/>
          </a:p>
        </p:txBody>
      </p:sp>
      <p:sp>
        <p:nvSpPr>
          <p:cNvPr id="5" name="Footer Placeholder 4">
            <a:extLst>
              <a:ext uri="{FF2B5EF4-FFF2-40B4-BE49-F238E27FC236}">
                <a16:creationId xmlns:a16="http://schemas.microsoft.com/office/drawing/2014/main" id="{F5D296C5-F030-4DF5-BE90-80FAEA09C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ED48E-4F50-4D5E-9442-DA99C255CAF6}"/>
              </a:ext>
            </a:extLst>
          </p:cNvPr>
          <p:cNvSpPr>
            <a:spLocks noGrp="1"/>
          </p:cNvSpPr>
          <p:nvPr>
            <p:ph type="sldNum" sz="quarter" idx="12"/>
          </p:nvPr>
        </p:nvSpPr>
        <p:spPr/>
        <p:txBody>
          <a:bodyPr/>
          <a:lstStyle/>
          <a:p>
            <a:fld id="{D2934EBF-B0F5-455A-A86C-D3AF110DEABB}" type="slidenum">
              <a:rPr lang="en-US" smtClean="0"/>
              <a:t>‹#›</a:t>
            </a:fld>
            <a:endParaRPr lang="en-US"/>
          </a:p>
        </p:txBody>
      </p:sp>
    </p:spTree>
    <p:extLst>
      <p:ext uri="{BB962C8B-B14F-4D97-AF65-F5344CB8AC3E}">
        <p14:creationId xmlns:p14="http://schemas.microsoft.com/office/powerpoint/2010/main" val="4065064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6C48DD-CBCF-4158-A1F1-87353DB16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91B675-E5AF-44C2-AE97-22CD88D809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79596E-626D-4AB9-B061-073F2203A5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E33580-0AEC-40E6-98A2-79FB3EE445A4}" type="datetimeFigureOut">
              <a:rPr lang="en-US" smtClean="0"/>
              <a:t>2/18/2020</a:t>
            </a:fld>
            <a:endParaRPr lang="en-US"/>
          </a:p>
        </p:txBody>
      </p:sp>
      <p:sp>
        <p:nvSpPr>
          <p:cNvPr id="5" name="Footer Placeholder 4">
            <a:extLst>
              <a:ext uri="{FF2B5EF4-FFF2-40B4-BE49-F238E27FC236}">
                <a16:creationId xmlns:a16="http://schemas.microsoft.com/office/drawing/2014/main" id="{03BC4885-D84A-46D3-B9C3-A9025A27D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9FC66E-2A92-475C-9C16-E750BADBFA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934EBF-B0F5-455A-A86C-D3AF110DEABB}" type="slidenum">
              <a:rPr lang="en-US" smtClean="0"/>
              <a:t>‹#›</a:t>
            </a:fld>
            <a:endParaRPr lang="en-US"/>
          </a:p>
        </p:txBody>
      </p:sp>
    </p:spTree>
    <p:extLst>
      <p:ext uri="{BB962C8B-B14F-4D97-AF65-F5344CB8AC3E}">
        <p14:creationId xmlns:p14="http://schemas.microsoft.com/office/powerpoint/2010/main" val="1730326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rd.springer.com/chapter/10.1007/978-3-030-18050-8_38"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hyperlink" Target="https://arxiv.org/abs/1906.02644" TargetMode="External"/><Relationship Id="rId4" Type="http://schemas.openxmlformats.org/officeDocument/2006/relationships/hyperlink" Target="https://www.semanticscholar.org/paper/Prompt-Scheduling-for-Selfish-Agents-Eden-Feldman/eeed3d80aeae28102f7aa25492a5a23fc57aa7c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2FAC25-76B0-4CA9-B8AF-7174F10D9E5A}"/>
              </a:ext>
            </a:extLst>
          </p:cNvPr>
          <p:cNvSpPr/>
          <p:nvPr/>
        </p:nvSpPr>
        <p:spPr>
          <a:xfrm>
            <a:off x="461639" y="127731"/>
            <a:ext cx="10315852" cy="361317"/>
          </a:xfrm>
          <a:prstGeom prst="rect">
            <a:avLst/>
          </a:prstGeom>
        </p:spPr>
        <p:txBody>
          <a:bodyPr wrap="square">
            <a:spAutoFit/>
          </a:bodyPr>
          <a:lstStyle/>
          <a:p>
            <a:pPr marL="1712595" marR="1138555" indent="-558165">
              <a:lnSpc>
                <a:spcPct val="101000"/>
              </a:lnSpc>
              <a:spcBef>
                <a:spcPts val="200"/>
              </a:spcBef>
              <a:spcAft>
                <a:spcPts val="0"/>
              </a:spcAft>
            </a:pPr>
            <a:r>
              <a:rPr lang="en-US" b="1" u="sng" spc="-235" dirty="0">
                <a:solidFill>
                  <a:srgbClr val="2D2D2D"/>
                </a:solidFill>
                <a:latin typeface="Arial" panose="020B0604020202020204" pitchFamily="34" charset="0"/>
                <a:ea typeface="Calibri" panose="020F0502020204030204" pitchFamily="34" charset="0"/>
                <a:cs typeface="Times New Roman" panose="02020603050405020304" pitchFamily="18" charset="0"/>
              </a:rPr>
              <a:t>F</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r</a:t>
            </a:r>
            <a:r>
              <a:rPr lang="en-US" b="1" u="sng" spc="5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O</a:t>
            </a:r>
            <a:r>
              <a:rPr lang="en-US"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li</a:t>
            </a:r>
            <a:r>
              <a:rPr lang="en-US" b="1" u="sng" spc="-14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 Scheduling</a:t>
            </a:r>
            <a:r>
              <a:rPr lang="en-US" b="1" u="sng" spc="26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for</a:t>
            </a:r>
            <a:r>
              <a:rPr lang="en-US" b="1" u="sng" spc="22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spc="-105" dirty="0">
                <a:solidFill>
                  <a:srgbClr val="2D2D2D"/>
                </a:solidFill>
                <a:latin typeface="Arial" panose="020B0604020202020204" pitchFamily="34" charset="0"/>
                <a:ea typeface="Calibri" panose="020F0502020204030204" pitchFamily="34" charset="0"/>
                <a:cs typeface="Times New Roman" panose="02020603050405020304" pitchFamily="18" charset="0"/>
              </a:rPr>
              <a:t>S</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a:t>
            </a:r>
            <a:r>
              <a:rPr lang="en-US" b="1" u="sng" spc="-60" dirty="0">
                <a:solidFill>
                  <a:srgbClr val="2D2D2D"/>
                </a:solidFill>
                <a:latin typeface="Arial" panose="020B0604020202020204" pitchFamily="34" charset="0"/>
                <a:ea typeface="Calibri" panose="020F0502020204030204" pitchFamily="34" charset="0"/>
                <a:cs typeface="Times New Roman" panose="02020603050405020304" pitchFamily="18" charset="0"/>
              </a:rPr>
              <a:t>l</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f</a:t>
            </a:r>
            <a:r>
              <a:rPr lang="en-US" b="1" u="sng" spc="-6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b="1" u="sng" spc="-20" dirty="0">
                <a:solidFill>
                  <a:srgbClr val="2D2D2D"/>
                </a:solidFill>
                <a:latin typeface="Arial" panose="020B0604020202020204" pitchFamily="34" charset="0"/>
                <a:ea typeface="Calibri" panose="020F0502020204030204" pitchFamily="34" charset="0"/>
                <a:cs typeface="Times New Roman" panose="02020603050405020304" pitchFamily="18" charset="0"/>
              </a:rPr>
              <a:t>s</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h</a:t>
            </a:r>
            <a:r>
              <a:rPr lang="en-US" b="1" u="sng" spc="-10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spc="-65" dirty="0">
                <a:solidFill>
                  <a:srgbClr val="2D2D2D"/>
                </a:solidFill>
                <a:latin typeface="Arial" panose="020B0604020202020204" pitchFamily="34" charset="0"/>
                <a:ea typeface="Calibri" panose="020F0502020204030204" pitchFamily="34" charset="0"/>
                <a:cs typeface="Times New Roman" panose="02020603050405020304" pitchFamily="18" charset="0"/>
              </a:rPr>
              <a:t>J</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obs on</a:t>
            </a:r>
            <a:r>
              <a:rPr lang="en-US" b="1" u="sng" spc="12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Heteroge</a:t>
            </a:r>
            <a:r>
              <a:rPr lang="en-US" b="1" u="sng" spc="-3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eous</a:t>
            </a:r>
            <a:r>
              <a:rPr lang="en-US" b="1" u="sng" spc="14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spc="-165" dirty="0">
                <a:solidFill>
                  <a:srgbClr val="2D2D2D"/>
                </a:solidFill>
                <a:latin typeface="Arial" panose="020B0604020202020204" pitchFamily="34" charset="0"/>
                <a:ea typeface="Calibri" panose="020F0502020204030204" pitchFamily="34" charset="0"/>
                <a:cs typeface="Times New Roman" panose="02020603050405020304" pitchFamily="18" charset="0"/>
              </a:rPr>
              <a:t>M</a:t>
            </a:r>
            <a:r>
              <a:rPr lang="en-US" b="1" u="sng" spc="-85"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ch</a:t>
            </a:r>
            <a:r>
              <a:rPr lang="en-US"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nes</a:t>
            </a:r>
            <a:endParaRPr lang="en-US" sz="1200" u="sng"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0337F07-871F-4CEB-8E0D-8694BFAEFCDE}"/>
              </a:ext>
            </a:extLst>
          </p:cNvPr>
          <p:cNvSpPr txBox="1"/>
          <p:nvPr/>
        </p:nvSpPr>
        <p:spPr>
          <a:xfrm>
            <a:off x="0" y="1061465"/>
            <a:ext cx="11749821" cy="6186309"/>
          </a:xfrm>
          <a:prstGeom prst="rect">
            <a:avLst/>
          </a:prstGeom>
          <a:noFill/>
        </p:spPr>
        <p:txBody>
          <a:bodyPr wrap="square" rtlCol="0">
            <a:spAutoFit/>
          </a:bodyPr>
          <a:lstStyle/>
          <a:p>
            <a:r>
              <a:rPr lang="en-US" sz="2400" b="1" dirty="0"/>
              <a:t>Introduction</a:t>
            </a:r>
          </a:p>
          <a:p>
            <a:endParaRPr lang="en-US" sz="2400" b="1" dirty="0"/>
          </a:p>
          <a:p>
            <a:r>
              <a:rPr lang="en-US" sz="2400" dirty="0"/>
              <a:t>Discusses concepts related to OS and Algorithms</a:t>
            </a:r>
          </a:p>
          <a:p>
            <a:endParaRPr lang="en-US" sz="2400" b="1" dirty="0"/>
          </a:p>
          <a:p>
            <a:endParaRPr lang="en-US" sz="2400" b="1" dirty="0"/>
          </a:p>
          <a:p>
            <a:endParaRPr lang="en-US" sz="2400" b="1" dirty="0"/>
          </a:p>
          <a:p>
            <a:r>
              <a:rPr lang="en-US" sz="2400" b="1" dirty="0"/>
              <a:t>Heterogeneous Machines: </a:t>
            </a:r>
          </a:p>
          <a:p>
            <a:endParaRPr lang="en-US" sz="2400" b="1" dirty="0"/>
          </a:p>
          <a:p>
            <a:r>
              <a:rPr lang="en-US" sz="2400" dirty="0"/>
              <a:t>unrelated machines, running with different speed</a:t>
            </a:r>
          </a:p>
          <a:p>
            <a:r>
              <a:rPr lang="en-US" sz="2400" dirty="0"/>
              <a:t>no centralized scheduling, </a:t>
            </a:r>
          </a:p>
          <a:p>
            <a:r>
              <a:rPr lang="en-US" sz="2400" dirty="0"/>
              <a:t>and jobs can have completely different processing time on each machines </a:t>
            </a:r>
          </a:p>
          <a:p>
            <a:r>
              <a:rPr lang="en-US" sz="2400" dirty="0"/>
              <a:t>i.e. a DS environment and not a multi-core environment</a:t>
            </a:r>
          </a:p>
          <a:p>
            <a:endParaRPr lang="en-US" sz="2400" dirty="0"/>
          </a:p>
          <a:p>
            <a:r>
              <a:rPr lang="en-US" sz="2400" b="1" dirty="0">
                <a:solidFill>
                  <a:srgbClr val="0070C0"/>
                </a:solidFill>
              </a:rPr>
              <a:t>Objective of Paper?</a:t>
            </a:r>
          </a:p>
          <a:p>
            <a:endParaRPr lang="en-US" sz="2400" dirty="0"/>
          </a:p>
          <a:p>
            <a:endParaRPr lang="en-US" dirty="0"/>
          </a:p>
          <a:p>
            <a:endParaRPr lang="en-US" dirty="0"/>
          </a:p>
        </p:txBody>
      </p:sp>
    </p:spTree>
    <p:extLst>
      <p:ext uri="{BB962C8B-B14F-4D97-AF65-F5344CB8AC3E}">
        <p14:creationId xmlns:p14="http://schemas.microsoft.com/office/powerpoint/2010/main" val="2567675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C0DF4E-4875-47A3-ADE4-A6E1B5185132}"/>
              </a:ext>
            </a:extLst>
          </p:cNvPr>
          <p:cNvSpPr txBox="1"/>
          <p:nvPr/>
        </p:nvSpPr>
        <p:spPr>
          <a:xfrm>
            <a:off x="0" y="106532"/>
            <a:ext cx="12218858" cy="4524315"/>
          </a:xfrm>
          <a:prstGeom prst="rect">
            <a:avLst/>
          </a:prstGeom>
          <a:noFill/>
        </p:spPr>
        <p:txBody>
          <a:bodyPr wrap="none" rtlCol="0">
            <a:spAutoFit/>
          </a:bodyPr>
          <a:lstStyle/>
          <a:p>
            <a:r>
              <a:rPr lang="en-US" sz="2400" b="1" u="sng" spc="-235" dirty="0">
                <a:solidFill>
                  <a:srgbClr val="2D2D2D"/>
                </a:solidFill>
                <a:latin typeface="Arial" panose="020B0604020202020204" pitchFamily="34" charset="0"/>
                <a:ea typeface="Calibri" panose="020F0502020204030204" pitchFamily="34" charset="0"/>
                <a:cs typeface="Times New Roman" panose="02020603050405020304" pitchFamily="18" charset="0"/>
              </a:rPr>
              <a:t>F</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sz="2400"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r</a:t>
            </a:r>
            <a:r>
              <a:rPr lang="en-US" sz="2400" b="1" u="sng" spc="5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O</a:t>
            </a:r>
            <a:r>
              <a:rPr lang="en-US" sz="2400"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li</a:t>
            </a:r>
            <a:r>
              <a:rPr lang="en-US" sz="2400" b="1" u="sng" spc="-14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 Scheduling</a:t>
            </a:r>
            <a:r>
              <a:rPr lang="en-US" sz="2400" b="1" u="sng" spc="26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for</a:t>
            </a:r>
            <a:r>
              <a:rPr lang="en-US" sz="2400" b="1" u="sng" spc="22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spc="-105" dirty="0">
                <a:solidFill>
                  <a:srgbClr val="00B0F0"/>
                </a:solidFill>
                <a:latin typeface="Arial" panose="020B0604020202020204" pitchFamily="34" charset="0"/>
                <a:ea typeface="Calibri" panose="020F0502020204030204" pitchFamily="34" charset="0"/>
                <a:cs typeface="Times New Roman" panose="02020603050405020304" pitchFamily="18" charset="0"/>
              </a:rPr>
              <a:t>S</a:t>
            </a:r>
            <a:r>
              <a:rPr lang="en-US" sz="24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e</a:t>
            </a:r>
            <a:r>
              <a:rPr lang="en-US" sz="2400" b="1" u="sng" spc="-60" dirty="0">
                <a:solidFill>
                  <a:srgbClr val="00B0F0"/>
                </a:solidFill>
                <a:latin typeface="Arial" panose="020B0604020202020204" pitchFamily="34" charset="0"/>
                <a:ea typeface="Calibri" panose="020F0502020204030204" pitchFamily="34" charset="0"/>
                <a:cs typeface="Times New Roman" panose="02020603050405020304" pitchFamily="18" charset="0"/>
              </a:rPr>
              <a:t>l</a:t>
            </a:r>
            <a:r>
              <a:rPr lang="en-US" sz="24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f</a:t>
            </a:r>
            <a:r>
              <a:rPr lang="en-US" sz="2400" b="1" u="sng" spc="-65" dirty="0">
                <a:solidFill>
                  <a:srgbClr val="00B0F0"/>
                </a:solidFill>
                <a:latin typeface="Arial" panose="020B0604020202020204" pitchFamily="34" charset="0"/>
                <a:ea typeface="Calibri" panose="020F0502020204030204" pitchFamily="34" charset="0"/>
                <a:cs typeface="Times New Roman" panose="02020603050405020304" pitchFamily="18" charset="0"/>
              </a:rPr>
              <a:t>i</a:t>
            </a:r>
            <a:r>
              <a:rPr lang="en-US" sz="2400" b="1" u="sng" spc="-20" dirty="0">
                <a:solidFill>
                  <a:srgbClr val="00B0F0"/>
                </a:solidFill>
                <a:latin typeface="Arial" panose="020B0604020202020204" pitchFamily="34" charset="0"/>
                <a:ea typeface="Calibri" panose="020F0502020204030204" pitchFamily="34" charset="0"/>
                <a:cs typeface="Times New Roman" panose="02020603050405020304" pitchFamily="18" charset="0"/>
              </a:rPr>
              <a:t>s</a:t>
            </a:r>
            <a:r>
              <a:rPr lang="en-US" sz="24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h</a:t>
            </a:r>
            <a:r>
              <a:rPr lang="en-US" sz="2400" b="1" u="sng" spc="-100" dirty="0">
                <a:solidFill>
                  <a:srgbClr val="00B0F0"/>
                </a:solidFill>
                <a:latin typeface="Arial" panose="020B0604020202020204" pitchFamily="34" charset="0"/>
                <a:ea typeface="Calibri" panose="020F0502020204030204" pitchFamily="34" charset="0"/>
                <a:cs typeface="Times New Roman" panose="02020603050405020304" pitchFamily="18" charset="0"/>
              </a:rPr>
              <a:t> </a:t>
            </a:r>
            <a:r>
              <a:rPr lang="en-US" sz="2400" b="1" u="sng" spc="-65" dirty="0">
                <a:solidFill>
                  <a:srgbClr val="00B0F0"/>
                </a:solidFill>
                <a:latin typeface="Arial" panose="020B0604020202020204" pitchFamily="34" charset="0"/>
                <a:ea typeface="Calibri" panose="020F0502020204030204" pitchFamily="34" charset="0"/>
                <a:cs typeface="Times New Roman" panose="02020603050405020304" pitchFamily="18" charset="0"/>
              </a:rPr>
              <a:t>J</a:t>
            </a:r>
            <a:r>
              <a:rPr lang="en-US" sz="24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obs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on</a:t>
            </a:r>
            <a:r>
              <a:rPr lang="en-US" sz="2400" b="1" u="sng" spc="12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Heteroge</a:t>
            </a:r>
            <a:r>
              <a:rPr lang="en-US" sz="2400" b="1" u="sng" spc="-3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eous</a:t>
            </a:r>
            <a:r>
              <a:rPr lang="en-US" sz="2400" b="1" u="sng" spc="14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spc="-165" dirty="0">
                <a:solidFill>
                  <a:srgbClr val="2D2D2D"/>
                </a:solidFill>
                <a:latin typeface="Arial" panose="020B0604020202020204" pitchFamily="34" charset="0"/>
                <a:ea typeface="Calibri" panose="020F0502020204030204" pitchFamily="34" charset="0"/>
                <a:cs typeface="Times New Roman" panose="02020603050405020304" pitchFamily="18" charset="0"/>
              </a:rPr>
              <a:t>M</a:t>
            </a:r>
            <a:r>
              <a:rPr lang="en-US" sz="2400" b="1" u="sng" spc="-85"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ch</a:t>
            </a:r>
            <a:r>
              <a:rPr lang="en-US" sz="2400"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nes</a:t>
            </a:r>
            <a:endParaRPr lang="en-US" sz="2400" b="1" u="sng" dirty="0"/>
          </a:p>
          <a:p>
            <a:r>
              <a:rPr lang="en-US" sz="2400" b="1" u="sng" dirty="0"/>
              <a:t>Selfish Behavior of Jobs</a:t>
            </a:r>
          </a:p>
          <a:p>
            <a:pPr marL="342900" indent="-342900">
              <a:buFontTx/>
              <a:buChar char="-"/>
            </a:pPr>
            <a:r>
              <a:rPr lang="en-US" sz="2400" b="1" dirty="0"/>
              <a:t>Jobs Choose Machines That Give them the Earliest Completion Time:</a:t>
            </a:r>
          </a:p>
          <a:p>
            <a:r>
              <a:rPr lang="en-US" sz="2400" b="1" dirty="0">
                <a:solidFill>
                  <a:srgbClr val="FF0000"/>
                </a:solidFill>
              </a:rPr>
              <a:t>(In one research: Each job knows the processing lengths of other jobs)</a:t>
            </a:r>
          </a:p>
          <a:p>
            <a:r>
              <a:rPr lang="en-US" sz="2400" b="1" dirty="0">
                <a:solidFill>
                  <a:srgbClr val="00B0F0"/>
                </a:solidFill>
              </a:rPr>
              <a:t>Assumption:</a:t>
            </a:r>
          </a:p>
          <a:p>
            <a:r>
              <a:rPr lang="en-US" dirty="0"/>
              <a:t>- </a:t>
            </a:r>
            <a:r>
              <a:rPr lang="en-US" sz="2400" b="1" dirty="0">
                <a:solidFill>
                  <a:srgbClr val="00B0F0"/>
                </a:solidFill>
              </a:rPr>
              <a:t>upon the arrival each job selfishly and irrevocably selects a machine which minimizes its own </a:t>
            </a:r>
          </a:p>
          <a:p>
            <a:r>
              <a:rPr lang="en-US" sz="2400" b="1" dirty="0">
                <a:solidFill>
                  <a:srgbClr val="00B0F0"/>
                </a:solidFill>
              </a:rPr>
              <a:t>flow time looking at only the </a:t>
            </a:r>
            <a:r>
              <a:rPr lang="en-US" sz="2400" b="1" u="sng" dirty="0">
                <a:solidFill>
                  <a:srgbClr val="00B0F0"/>
                </a:solidFill>
              </a:rPr>
              <a:t>sets of jobs assigned to each machine</a:t>
            </a:r>
          </a:p>
          <a:p>
            <a:r>
              <a:rPr lang="en-US" sz="2400" b="1" dirty="0">
                <a:solidFill>
                  <a:srgbClr val="00B0F0"/>
                </a:solidFill>
              </a:rPr>
              <a:t>- Local Scheduling Policy (advantage)</a:t>
            </a:r>
          </a:p>
          <a:p>
            <a:endParaRPr lang="en-US" sz="2400" b="1" dirty="0">
              <a:solidFill>
                <a:srgbClr val="00B0F0"/>
              </a:solidFill>
            </a:endParaRPr>
          </a:p>
          <a:p>
            <a:endParaRPr lang="en-US" sz="2400" b="1" dirty="0">
              <a:solidFill>
                <a:srgbClr val="00B0F0"/>
              </a:solidFill>
            </a:endParaRPr>
          </a:p>
          <a:p>
            <a:endParaRPr lang="en-US" sz="2400" b="1" dirty="0">
              <a:solidFill>
                <a:srgbClr val="00B0F0"/>
              </a:solidFill>
            </a:endParaRPr>
          </a:p>
          <a:p>
            <a:endParaRPr lang="en-US" sz="2400" dirty="0"/>
          </a:p>
        </p:txBody>
      </p:sp>
    </p:spTree>
    <p:extLst>
      <p:ext uri="{BB962C8B-B14F-4D97-AF65-F5344CB8AC3E}">
        <p14:creationId xmlns:p14="http://schemas.microsoft.com/office/powerpoint/2010/main" val="913968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273DEB-F73E-40DF-BF99-D09907100FCD}"/>
              </a:ext>
            </a:extLst>
          </p:cNvPr>
          <p:cNvSpPr/>
          <p:nvPr/>
        </p:nvSpPr>
        <p:spPr>
          <a:xfrm>
            <a:off x="229299" y="77987"/>
            <a:ext cx="11901182" cy="4247317"/>
          </a:xfrm>
          <a:prstGeom prst="rect">
            <a:avLst/>
          </a:prstGeom>
        </p:spPr>
        <p:txBody>
          <a:bodyPr wrap="square">
            <a:spAutoFit/>
          </a:bodyPr>
          <a:lstStyle/>
          <a:p>
            <a:r>
              <a:rPr lang="en-US" b="1" u="sng" spc="-235" dirty="0">
                <a:solidFill>
                  <a:srgbClr val="2D2D2D"/>
                </a:solidFill>
                <a:latin typeface="Arial" panose="020B0604020202020204" pitchFamily="34" charset="0"/>
                <a:ea typeface="Calibri" panose="020F0502020204030204" pitchFamily="34" charset="0"/>
                <a:cs typeface="Times New Roman" panose="02020603050405020304" pitchFamily="18" charset="0"/>
              </a:rPr>
              <a:t>F</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r</a:t>
            </a:r>
            <a:r>
              <a:rPr lang="en-US" b="1" u="sng" spc="5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O</a:t>
            </a:r>
            <a:r>
              <a:rPr lang="en-US"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li</a:t>
            </a:r>
            <a:r>
              <a:rPr lang="en-US" b="1" u="sng" spc="-14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 Scheduling</a:t>
            </a:r>
            <a:r>
              <a:rPr lang="en-US" b="1" u="sng" spc="26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for</a:t>
            </a:r>
            <a:r>
              <a:rPr lang="en-US" b="1" u="sng" spc="22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spc="-105" dirty="0">
                <a:solidFill>
                  <a:srgbClr val="00B0F0"/>
                </a:solidFill>
                <a:latin typeface="Arial" panose="020B0604020202020204" pitchFamily="34" charset="0"/>
                <a:ea typeface="Calibri" panose="020F0502020204030204" pitchFamily="34" charset="0"/>
                <a:cs typeface="Times New Roman" panose="02020603050405020304" pitchFamily="18" charset="0"/>
              </a:rPr>
              <a:t>S</a:t>
            </a:r>
            <a:r>
              <a:rPr lang="en-US"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e</a:t>
            </a:r>
            <a:r>
              <a:rPr lang="en-US" b="1" u="sng" spc="-60" dirty="0">
                <a:solidFill>
                  <a:srgbClr val="00B0F0"/>
                </a:solidFill>
                <a:latin typeface="Arial" panose="020B0604020202020204" pitchFamily="34" charset="0"/>
                <a:ea typeface="Calibri" panose="020F0502020204030204" pitchFamily="34" charset="0"/>
                <a:cs typeface="Times New Roman" panose="02020603050405020304" pitchFamily="18" charset="0"/>
              </a:rPr>
              <a:t>l</a:t>
            </a:r>
            <a:r>
              <a:rPr lang="en-US"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f</a:t>
            </a:r>
            <a:r>
              <a:rPr lang="en-US" b="1" u="sng" spc="-65" dirty="0">
                <a:solidFill>
                  <a:srgbClr val="00B0F0"/>
                </a:solidFill>
                <a:latin typeface="Arial" panose="020B0604020202020204" pitchFamily="34" charset="0"/>
                <a:ea typeface="Calibri" panose="020F0502020204030204" pitchFamily="34" charset="0"/>
                <a:cs typeface="Times New Roman" panose="02020603050405020304" pitchFamily="18" charset="0"/>
              </a:rPr>
              <a:t>i</a:t>
            </a:r>
            <a:r>
              <a:rPr lang="en-US" b="1" u="sng" spc="-20" dirty="0">
                <a:solidFill>
                  <a:srgbClr val="00B0F0"/>
                </a:solidFill>
                <a:latin typeface="Arial" panose="020B0604020202020204" pitchFamily="34" charset="0"/>
                <a:ea typeface="Calibri" panose="020F0502020204030204" pitchFamily="34" charset="0"/>
                <a:cs typeface="Times New Roman" panose="02020603050405020304" pitchFamily="18" charset="0"/>
              </a:rPr>
              <a:t>s</a:t>
            </a:r>
            <a:r>
              <a:rPr lang="en-US"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h</a:t>
            </a:r>
            <a:r>
              <a:rPr lang="en-US" b="1" u="sng" spc="-100" dirty="0">
                <a:solidFill>
                  <a:srgbClr val="00B0F0"/>
                </a:solidFill>
                <a:latin typeface="Arial" panose="020B0604020202020204" pitchFamily="34" charset="0"/>
                <a:ea typeface="Calibri" panose="020F0502020204030204" pitchFamily="34" charset="0"/>
                <a:cs typeface="Times New Roman" panose="02020603050405020304" pitchFamily="18" charset="0"/>
              </a:rPr>
              <a:t> </a:t>
            </a:r>
            <a:r>
              <a:rPr lang="en-US" b="1" u="sng" spc="-65" dirty="0">
                <a:solidFill>
                  <a:srgbClr val="00B0F0"/>
                </a:solidFill>
                <a:latin typeface="Arial" panose="020B0604020202020204" pitchFamily="34" charset="0"/>
                <a:ea typeface="Calibri" panose="020F0502020204030204" pitchFamily="34" charset="0"/>
                <a:cs typeface="Times New Roman" panose="02020603050405020304" pitchFamily="18" charset="0"/>
              </a:rPr>
              <a:t>J</a:t>
            </a:r>
            <a:r>
              <a:rPr lang="en-US"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obs </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on</a:t>
            </a:r>
            <a:r>
              <a:rPr lang="en-US" b="1" u="sng" spc="12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Heteroge</a:t>
            </a:r>
            <a:r>
              <a:rPr lang="en-US" b="1" u="sng" spc="-3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eous</a:t>
            </a:r>
            <a:r>
              <a:rPr lang="en-US" b="1" u="sng" spc="14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b="1" u="sng" spc="-165" dirty="0">
                <a:solidFill>
                  <a:srgbClr val="2D2D2D"/>
                </a:solidFill>
                <a:latin typeface="Arial" panose="020B0604020202020204" pitchFamily="34" charset="0"/>
                <a:ea typeface="Calibri" panose="020F0502020204030204" pitchFamily="34" charset="0"/>
                <a:cs typeface="Times New Roman" panose="02020603050405020304" pitchFamily="18" charset="0"/>
              </a:rPr>
              <a:t>M</a:t>
            </a:r>
            <a:r>
              <a:rPr lang="en-US" b="1" u="sng" spc="-85"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ch</a:t>
            </a:r>
            <a:r>
              <a:rPr lang="en-US"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nes</a:t>
            </a:r>
            <a:endParaRPr lang="en-US" b="1" u="sng" dirty="0"/>
          </a:p>
          <a:p>
            <a:endParaRPr lang="en-US" b="1" dirty="0"/>
          </a:p>
          <a:p>
            <a:endParaRPr lang="en-US" b="1" dirty="0"/>
          </a:p>
          <a:p>
            <a:r>
              <a:rPr lang="en-US" sz="2400" b="1" dirty="0"/>
              <a:t>The selfish behavior of jobs may arise be­cause the jobs are submitted by self-interested clients</a:t>
            </a:r>
          </a:p>
          <a:p>
            <a:r>
              <a:rPr lang="en-US" sz="2400" b="1" dirty="0"/>
              <a:t> </a:t>
            </a:r>
          </a:p>
          <a:p>
            <a:pPr marL="342900" indent="-342900">
              <a:buFontTx/>
              <a:buChar char="-"/>
            </a:pPr>
            <a:r>
              <a:rPr lang="en-US" sz="2400" b="1" dirty="0"/>
              <a:t>Selfish Behavior is a Greedy Behavior </a:t>
            </a:r>
          </a:p>
          <a:p>
            <a:pPr marL="342900" indent="-342900">
              <a:buFontTx/>
              <a:buChar char="-"/>
            </a:pPr>
            <a:r>
              <a:rPr lang="en-US" sz="2400" b="1" dirty="0">
                <a:solidFill>
                  <a:srgbClr val="FF0000"/>
                </a:solidFill>
              </a:rPr>
              <a:t>What is a Greedy behavior?</a:t>
            </a:r>
            <a:endParaRPr lang="en-US" sz="2400" b="1" dirty="0"/>
          </a:p>
          <a:p>
            <a:pPr marL="342900" indent="-342900">
              <a:buFontTx/>
              <a:buChar char="-"/>
            </a:pPr>
            <a:r>
              <a:rPr lang="en-US" sz="2400" b="1" dirty="0"/>
              <a:t>(Example: dispatching of web page to the server with least load</a:t>
            </a:r>
          </a:p>
          <a:p>
            <a:pPr marL="342900" indent="-342900">
              <a:buFontTx/>
              <a:buChar char="-"/>
            </a:pPr>
            <a:r>
              <a:rPr lang="en-US" sz="2400" b="1" dirty="0"/>
              <a:t>Advantage: minimizes execution time/completion time)</a:t>
            </a:r>
          </a:p>
          <a:p>
            <a:pPr marL="342900" indent="-342900">
              <a:buFontTx/>
              <a:buChar char="-"/>
            </a:pPr>
            <a:r>
              <a:rPr lang="en-US" sz="2400" b="1" dirty="0"/>
              <a:t>Problem with the Selfish Behavior?</a:t>
            </a:r>
          </a:p>
          <a:p>
            <a:pPr marL="342900" indent="-342900">
              <a:buFontTx/>
              <a:buChar char="-"/>
            </a:pPr>
            <a:r>
              <a:rPr lang="en-US" sz="2400" b="1" dirty="0">
                <a:solidFill>
                  <a:srgbClr val="00B0F0"/>
                </a:solidFill>
              </a:rPr>
              <a:t>Guess which scheduling can be suitable for </a:t>
            </a:r>
            <a:r>
              <a:rPr lang="en-US" sz="2400" dirty="0">
                <a:solidFill>
                  <a:srgbClr val="FF0000"/>
                </a:solidFill>
              </a:rPr>
              <a:t>SELFISH JOBS ??</a:t>
            </a:r>
          </a:p>
        </p:txBody>
      </p:sp>
    </p:spTree>
    <p:extLst>
      <p:ext uri="{BB962C8B-B14F-4D97-AF65-F5344CB8AC3E}">
        <p14:creationId xmlns:p14="http://schemas.microsoft.com/office/powerpoint/2010/main" val="3757554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061C57-FB29-4ECA-AE31-FD39663544AA}"/>
              </a:ext>
            </a:extLst>
          </p:cNvPr>
          <p:cNvSpPr/>
          <p:nvPr/>
        </p:nvSpPr>
        <p:spPr>
          <a:xfrm>
            <a:off x="153879" y="1275127"/>
            <a:ext cx="12038121" cy="1569660"/>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Selfish Jobs (</a:t>
            </a:r>
            <a:r>
              <a:rPr lang="en-US" sz="2400" b="1" dirty="0" err="1">
                <a:latin typeface="Times New Roman" panose="02020603050405020304" pitchFamily="18" charset="0"/>
                <a:cs typeface="Times New Roman" panose="02020603050405020304" pitchFamily="18" charset="0"/>
              </a:rPr>
              <a:t>Contd</a:t>
            </a:r>
            <a:r>
              <a:rPr lang="en-US" sz="2400" b="1" dirty="0">
                <a:latin typeface="Times New Roman" panose="02020603050405020304" pitchFamily="18" charset="0"/>
                <a:cs typeface="Times New Roman" panose="02020603050405020304" pitchFamily="18" charset="0"/>
              </a:rPr>
              <a:t>…)</a:t>
            </a:r>
          </a:p>
          <a:p>
            <a:pPr marL="342900" indent="-342900">
              <a:buFontTx/>
              <a:buChar char="-"/>
            </a:pPr>
            <a:r>
              <a:rPr lang="en-US" sz="2400" b="1" dirty="0">
                <a:latin typeface="Times New Roman" panose="02020603050405020304" pitchFamily="18" charset="0"/>
                <a:cs typeface="Times New Roman" panose="02020603050405020304" pitchFamily="18" charset="0"/>
              </a:rPr>
              <a:t>Selfish Jobs are trying to finish quickly</a:t>
            </a:r>
          </a:p>
          <a:p>
            <a:pPr marL="342900" indent="-342900">
              <a:buFontTx/>
              <a:buChar char="-"/>
            </a:pPr>
            <a:r>
              <a:rPr lang="en-US" sz="2400" b="1" dirty="0">
                <a:latin typeface="Times New Roman" panose="02020603050405020304" pitchFamily="18" charset="0"/>
                <a:cs typeface="Times New Roman" panose="02020603050405020304" pitchFamily="18" charset="0"/>
              </a:rPr>
              <a:t>Fast Execution is the right of Job which needs Urgent Attention </a:t>
            </a:r>
          </a:p>
          <a:p>
            <a:pPr marL="342900" indent="-342900">
              <a:buFontTx/>
              <a:buChar char="-"/>
            </a:pPr>
            <a:r>
              <a:rPr lang="en-US" sz="2400" b="1" dirty="0">
                <a:latin typeface="Times New Roman" panose="02020603050405020304" pitchFamily="18" charset="0"/>
                <a:cs typeface="Times New Roman" panose="02020603050405020304" pitchFamily="18" charset="0"/>
              </a:rPr>
              <a:t>Selfish Jobs can have fake Motives</a:t>
            </a:r>
          </a:p>
        </p:txBody>
      </p:sp>
      <p:sp>
        <p:nvSpPr>
          <p:cNvPr id="3" name="TextBox 2">
            <a:extLst>
              <a:ext uri="{FF2B5EF4-FFF2-40B4-BE49-F238E27FC236}">
                <a16:creationId xmlns:a16="http://schemas.microsoft.com/office/drawing/2014/main" id="{68DCE898-3357-4BF6-8C1E-E42C68AD81DD}"/>
              </a:ext>
            </a:extLst>
          </p:cNvPr>
          <p:cNvSpPr txBox="1"/>
          <p:nvPr/>
        </p:nvSpPr>
        <p:spPr>
          <a:xfrm>
            <a:off x="117929" y="3269894"/>
            <a:ext cx="11529920" cy="2677656"/>
          </a:xfrm>
          <a:prstGeom prst="rect">
            <a:avLst/>
          </a:prstGeom>
          <a:noFill/>
        </p:spPr>
        <p:txBody>
          <a:bodyPr wrap="square" rtlCol="0">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Example [1]: </a:t>
            </a:r>
            <a:r>
              <a:rPr lang="en-US" dirty="0"/>
              <a:t>We want to both allow agents to book usage in advance, and accommodate demand that appears only at the last minute. </a:t>
            </a:r>
            <a:r>
              <a:rPr lang="en-US" b="1" dirty="0">
                <a:solidFill>
                  <a:srgbClr val="FF0000"/>
                </a:solidFill>
              </a:rPr>
              <a:t>A user can fake a medical emergency to obtain use of the car, when in fact she simply forgot to book the car for a scheduled meeting with friends. </a:t>
            </a:r>
            <a:r>
              <a:rPr lang="en-US" dirty="0"/>
              <a:t>Such strategic considerations cannot be ignored in the context of systems used by multiple self-interested Agents. These agents are focused on their own objectives, and generally cannot be expected to honestly reveal the importance or urgency of their request for resources, if doing so is not in their own interest. One possibility for addressing this is to implement some sort of pricing scheme, allowing usage to be prioritized along socially desirable axes such as importance, advance booking, demand, and any other factors considered important by the relevant stakeholders. [Algorithmically Driven Shared Ownership Economies]</a:t>
            </a:r>
            <a:endParaRPr lang="en-US" sz="2400" b="1" dirty="0">
              <a:solidFill>
                <a:srgbClr val="FF0000"/>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73119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B5D335-9D6E-498D-9AFC-072E15CE0891}"/>
              </a:ext>
            </a:extLst>
          </p:cNvPr>
          <p:cNvSpPr/>
          <p:nvPr/>
        </p:nvSpPr>
        <p:spPr>
          <a:xfrm>
            <a:off x="0" y="0"/>
            <a:ext cx="12094590" cy="3416320"/>
          </a:xfrm>
          <a:prstGeom prst="rect">
            <a:avLst/>
          </a:prstGeom>
        </p:spPr>
        <p:txBody>
          <a:bodyPr wrap="square">
            <a:spAutoFit/>
          </a:bodyPr>
          <a:lstStyle/>
          <a:p>
            <a:r>
              <a:rPr lang="en-US" sz="2400" b="1" u="sng" spc="-235" dirty="0">
                <a:solidFill>
                  <a:srgbClr val="2D2D2D"/>
                </a:solidFill>
                <a:latin typeface="Arial" panose="020B0604020202020204" pitchFamily="34" charset="0"/>
                <a:ea typeface="Calibri" panose="020F0502020204030204" pitchFamily="34" charset="0"/>
                <a:cs typeface="Times New Roman" panose="02020603050405020304" pitchFamily="18" charset="0"/>
              </a:rPr>
              <a:t>F</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sz="2400"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r</a:t>
            </a:r>
            <a:r>
              <a:rPr lang="en-US" sz="2400" b="1" u="sng" spc="5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O</a:t>
            </a:r>
            <a:r>
              <a:rPr lang="en-US" sz="2400"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li</a:t>
            </a:r>
            <a:r>
              <a:rPr lang="en-US" sz="2400" b="1" u="sng" spc="-14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 </a:t>
            </a:r>
            <a:r>
              <a:rPr lang="en-US" sz="24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Scheduling</a:t>
            </a:r>
            <a:r>
              <a:rPr lang="en-US" sz="2400" b="1" u="sng" spc="26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for</a:t>
            </a:r>
            <a:r>
              <a:rPr lang="en-US" sz="2400" b="1" u="sng" spc="22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spc="-105" dirty="0">
                <a:latin typeface="Arial" panose="020B0604020202020204" pitchFamily="34" charset="0"/>
                <a:ea typeface="Calibri" panose="020F0502020204030204" pitchFamily="34" charset="0"/>
                <a:cs typeface="Times New Roman" panose="02020603050405020304" pitchFamily="18" charset="0"/>
              </a:rPr>
              <a:t>S</a:t>
            </a:r>
            <a:r>
              <a:rPr lang="en-US" sz="2400" b="1" u="sng" dirty="0">
                <a:latin typeface="Arial" panose="020B0604020202020204" pitchFamily="34" charset="0"/>
                <a:ea typeface="Calibri" panose="020F0502020204030204" pitchFamily="34" charset="0"/>
                <a:cs typeface="Times New Roman" panose="02020603050405020304" pitchFamily="18" charset="0"/>
              </a:rPr>
              <a:t>e</a:t>
            </a:r>
            <a:r>
              <a:rPr lang="en-US" sz="2400" b="1" u="sng" spc="-60" dirty="0">
                <a:latin typeface="Arial" panose="020B0604020202020204" pitchFamily="34" charset="0"/>
                <a:ea typeface="Calibri" panose="020F0502020204030204" pitchFamily="34" charset="0"/>
                <a:cs typeface="Times New Roman" panose="02020603050405020304" pitchFamily="18" charset="0"/>
              </a:rPr>
              <a:t>l</a:t>
            </a:r>
            <a:r>
              <a:rPr lang="en-US" sz="2400" b="1" u="sng" dirty="0">
                <a:latin typeface="Arial" panose="020B0604020202020204" pitchFamily="34" charset="0"/>
                <a:ea typeface="Calibri" panose="020F0502020204030204" pitchFamily="34" charset="0"/>
                <a:cs typeface="Times New Roman" panose="02020603050405020304" pitchFamily="18" charset="0"/>
              </a:rPr>
              <a:t>f</a:t>
            </a:r>
            <a:r>
              <a:rPr lang="en-US" sz="2400" b="1" u="sng" spc="-65" dirty="0">
                <a:latin typeface="Arial" panose="020B0604020202020204" pitchFamily="34" charset="0"/>
                <a:ea typeface="Calibri" panose="020F0502020204030204" pitchFamily="34" charset="0"/>
                <a:cs typeface="Times New Roman" panose="02020603050405020304" pitchFamily="18" charset="0"/>
              </a:rPr>
              <a:t>i</a:t>
            </a:r>
            <a:r>
              <a:rPr lang="en-US" sz="2400" b="1" u="sng" spc="-20" dirty="0">
                <a:latin typeface="Arial" panose="020B0604020202020204" pitchFamily="34" charset="0"/>
                <a:ea typeface="Calibri" panose="020F0502020204030204" pitchFamily="34" charset="0"/>
                <a:cs typeface="Times New Roman" panose="02020603050405020304" pitchFamily="18" charset="0"/>
              </a:rPr>
              <a:t>s</a:t>
            </a:r>
            <a:r>
              <a:rPr lang="en-US" sz="2400" b="1" u="sng" dirty="0">
                <a:latin typeface="Arial" panose="020B0604020202020204" pitchFamily="34" charset="0"/>
                <a:ea typeface="Calibri" panose="020F0502020204030204" pitchFamily="34" charset="0"/>
                <a:cs typeface="Times New Roman" panose="02020603050405020304" pitchFamily="18" charset="0"/>
              </a:rPr>
              <a:t>h</a:t>
            </a:r>
            <a:r>
              <a:rPr lang="en-US" sz="2400" b="1" u="sng" spc="-100" dirty="0">
                <a:latin typeface="Arial" panose="020B0604020202020204" pitchFamily="34" charset="0"/>
                <a:ea typeface="Calibri" panose="020F0502020204030204" pitchFamily="34" charset="0"/>
                <a:cs typeface="Times New Roman" panose="02020603050405020304" pitchFamily="18" charset="0"/>
              </a:rPr>
              <a:t> </a:t>
            </a:r>
            <a:r>
              <a:rPr lang="en-US" sz="2400" b="1" u="sng" spc="-65" dirty="0">
                <a:latin typeface="Arial" panose="020B0604020202020204" pitchFamily="34" charset="0"/>
                <a:ea typeface="Calibri" panose="020F0502020204030204" pitchFamily="34" charset="0"/>
                <a:cs typeface="Times New Roman" panose="02020603050405020304" pitchFamily="18" charset="0"/>
              </a:rPr>
              <a:t>J</a:t>
            </a:r>
            <a:r>
              <a:rPr lang="en-US" sz="2400" b="1" u="sng" dirty="0">
                <a:latin typeface="Arial" panose="020B0604020202020204" pitchFamily="34" charset="0"/>
                <a:ea typeface="Calibri" panose="020F0502020204030204" pitchFamily="34" charset="0"/>
                <a:cs typeface="Times New Roman" panose="02020603050405020304" pitchFamily="18" charset="0"/>
              </a:rPr>
              <a:t>obs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on</a:t>
            </a:r>
            <a:r>
              <a:rPr lang="en-US" sz="2400" b="1" u="sng" spc="12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Heteroge</a:t>
            </a:r>
            <a:r>
              <a:rPr lang="en-US" sz="2400" b="1" u="sng" spc="-3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eous</a:t>
            </a:r>
            <a:r>
              <a:rPr lang="en-US" sz="2400" b="1" u="sng" spc="14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spc="-165" dirty="0">
                <a:solidFill>
                  <a:srgbClr val="2D2D2D"/>
                </a:solidFill>
                <a:latin typeface="Arial" panose="020B0604020202020204" pitchFamily="34" charset="0"/>
                <a:ea typeface="Calibri" panose="020F0502020204030204" pitchFamily="34" charset="0"/>
                <a:cs typeface="Times New Roman" panose="02020603050405020304" pitchFamily="18" charset="0"/>
              </a:rPr>
              <a:t>M</a:t>
            </a:r>
            <a:r>
              <a:rPr lang="en-US" sz="2400" b="1" u="sng" spc="-85"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ch</a:t>
            </a:r>
            <a:r>
              <a:rPr lang="en-US" sz="2400"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nes</a:t>
            </a:r>
            <a:endParaRPr lang="en-US" sz="2400" b="1" u="sng" dirty="0"/>
          </a:p>
          <a:p>
            <a:r>
              <a:rPr lang="en-US" sz="2400" b="1" dirty="0">
                <a:latin typeface="Times New Roman" panose="02020603050405020304" pitchFamily="18" charset="0"/>
                <a:cs typeface="Times New Roman" panose="02020603050405020304" pitchFamily="18" charset="0"/>
              </a:rPr>
              <a:t>To Defeat Selfish Nature of Jobs: one can use RR scheduling which gives constant time to all Jobs </a:t>
            </a:r>
          </a:p>
          <a:p>
            <a:pPr marL="342900" indent="-342900">
              <a:buFontTx/>
              <a:buChar char="-"/>
            </a:pPr>
            <a:endParaRPr lang="en-US" sz="2400" dirty="0">
              <a:solidFill>
                <a:srgbClr val="FF0000"/>
              </a:solidFill>
            </a:endParaRPr>
          </a:p>
          <a:p>
            <a:pPr marL="342900" indent="-342900">
              <a:buFontTx/>
              <a:buChar char="-"/>
            </a:pPr>
            <a:r>
              <a:rPr lang="en-US" sz="2400" b="1" dirty="0">
                <a:solidFill>
                  <a:srgbClr val="00B0F0"/>
                </a:solidFill>
              </a:rPr>
              <a:t>Problem with RR scheduling???</a:t>
            </a:r>
          </a:p>
          <a:p>
            <a:pPr marL="342900" indent="-342900">
              <a:buFontTx/>
              <a:buChar char="-"/>
            </a:pPr>
            <a:endParaRPr lang="en-US" sz="2400" b="1" dirty="0">
              <a:solidFill>
                <a:srgbClr val="00B0F0"/>
              </a:solidFill>
            </a:endParaRPr>
          </a:p>
          <a:p>
            <a:pPr marL="342900" indent="-342900">
              <a:buFontTx/>
              <a:buChar char="-"/>
            </a:pPr>
            <a:r>
              <a:rPr lang="en-US" sz="2400" b="1" dirty="0"/>
              <a:t>Applying FIFO (FCFS) scheduling [2]:</a:t>
            </a:r>
          </a:p>
          <a:p>
            <a:endParaRPr lang="en-US" sz="2400" b="1" dirty="0"/>
          </a:p>
          <a:p>
            <a:endParaRPr lang="en-US" sz="2400" b="1" dirty="0"/>
          </a:p>
        </p:txBody>
      </p:sp>
      <p:pic>
        <p:nvPicPr>
          <p:cNvPr id="3" name="Picture 2">
            <a:extLst>
              <a:ext uri="{FF2B5EF4-FFF2-40B4-BE49-F238E27FC236}">
                <a16:creationId xmlns:a16="http://schemas.microsoft.com/office/drawing/2014/main" id="{72D04D0B-0F42-4F88-9F9B-E91AE0E5FD80}"/>
              </a:ext>
            </a:extLst>
          </p:cNvPr>
          <p:cNvPicPr>
            <a:picLocks noChangeAspect="1"/>
          </p:cNvPicPr>
          <p:nvPr/>
        </p:nvPicPr>
        <p:blipFill>
          <a:blip r:embed="rId3"/>
          <a:stretch>
            <a:fillRect/>
          </a:stretch>
        </p:blipFill>
        <p:spPr>
          <a:xfrm>
            <a:off x="48704" y="3016340"/>
            <a:ext cx="12094591" cy="2177780"/>
          </a:xfrm>
          <a:prstGeom prst="rect">
            <a:avLst/>
          </a:prstGeom>
        </p:spPr>
      </p:pic>
      <p:sp>
        <p:nvSpPr>
          <p:cNvPr id="4" name="TextBox 3">
            <a:extLst>
              <a:ext uri="{FF2B5EF4-FFF2-40B4-BE49-F238E27FC236}">
                <a16:creationId xmlns:a16="http://schemas.microsoft.com/office/drawing/2014/main" id="{3028B469-A0DF-4F0E-8C1C-460D72EE9414}"/>
              </a:ext>
            </a:extLst>
          </p:cNvPr>
          <p:cNvSpPr txBox="1"/>
          <p:nvPr/>
        </p:nvSpPr>
        <p:spPr>
          <a:xfrm>
            <a:off x="169683" y="5245891"/>
            <a:ext cx="7738465" cy="523220"/>
          </a:xfrm>
          <a:prstGeom prst="rect">
            <a:avLst/>
          </a:prstGeom>
          <a:noFill/>
        </p:spPr>
        <p:txBody>
          <a:bodyPr wrap="none" rtlCol="0">
            <a:spAutoFit/>
          </a:bodyPr>
          <a:lstStyle/>
          <a:p>
            <a:r>
              <a:rPr lang="en-US" sz="2800" dirty="0">
                <a:solidFill>
                  <a:srgbClr val="00B0F0"/>
                </a:solidFill>
              </a:rPr>
              <a:t>How the sum of completion time in case of FIFO is: </a:t>
            </a:r>
          </a:p>
        </p:txBody>
      </p:sp>
      <p:pic>
        <p:nvPicPr>
          <p:cNvPr id="5" name="Picture 4">
            <a:extLst>
              <a:ext uri="{FF2B5EF4-FFF2-40B4-BE49-F238E27FC236}">
                <a16:creationId xmlns:a16="http://schemas.microsoft.com/office/drawing/2014/main" id="{E3BDC17C-4EE3-4321-95BE-CF11DDB60383}"/>
              </a:ext>
            </a:extLst>
          </p:cNvPr>
          <p:cNvPicPr>
            <a:picLocks noChangeAspect="1"/>
          </p:cNvPicPr>
          <p:nvPr/>
        </p:nvPicPr>
        <p:blipFill>
          <a:blip r:embed="rId4"/>
          <a:stretch>
            <a:fillRect/>
          </a:stretch>
        </p:blipFill>
        <p:spPr>
          <a:xfrm>
            <a:off x="4496586" y="5872653"/>
            <a:ext cx="1206630" cy="985347"/>
          </a:xfrm>
          <a:prstGeom prst="rect">
            <a:avLst/>
          </a:prstGeom>
        </p:spPr>
      </p:pic>
    </p:spTree>
    <p:extLst>
      <p:ext uri="{BB962C8B-B14F-4D97-AF65-F5344CB8AC3E}">
        <p14:creationId xmlns:p14="http://schemas.microsoft.com/office/powerpoint/2010/main" val="2196986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A5C016-C49F-4F71-A231-23E71C4570D3}"/>
              </a:ext>
            </a:extLst>
          </p:cNvPr>
          <p:cNvSpPr txBox="1"/>
          <p:nvPr/>
        </p:nvSpPr>
        <p:spPr>
          <a:xfrm>
            <a:off x="65988" y="169682"/>
            <a:ext cx="11944780" cy="3046988"/>
          </a:xfrm>
          <a:prstGeom prst="rect">
            <a:avLst/>
          </a:prstGeom>
          <a:noFill/>
        </p:spPr>
        <p:txBody>
          <a:bodyPr wrap="square" rtlCol="0">
            <a:spAutoFit/>
          </a:bodyPr>
          <a:lstStyle/>
          <a:p>
            <a:r>
              <a:rPr lang="en-US" sz="3200" b="1" dirty="0"/>
              <a:t>First job has a turnaround time of L (</a:t>
            </a:r>
            <a:r>
              <a:rPr lang="en-US" sz="3200" b="1" dirty="0" err="1"/>
              <a:t>i.e</a:t>
            </a:r>
            <a:r>
              <a:rPr lang="en-US" sz="3200" b="1" dirty="0"/>
              <a:t> from arrival to complete </a:t>
            </a:r>
          </a:p>
          <a:p>
            <a:r>
              <a:rPr lang="en-US" sz="3200" b="1" dirty="0"/>
              <a:t>processing). After that we have sqrt (L) jobs of length 1 :</a:t>
            </a:r>
          </a:p>
          <a:p>
            <a:endParaRPr lang="en-US" sz="3200" b="1" dirty="0"/>
          </a:p>
          <a:p>
            <a:r>
              <a:rPr lang="en-US" sz="3200" b="1" dirty="0"/>
              <a:t>Total time is given by:</a:t>
            </a:r>
          </a:p>
          <a:p>
            <a:endParaRPr lang="en-US" sz="3200" b="1" dirty="0"/>
          </a:p>
          <a:p>
            <a:endParaRPr lang="en-US" sz="3200" b="1" dirty="0"/>
          </a:p>
        </p:txBody>
      </p:sp>
      <p:pic>
        <p:nvPicPr>
          <p:cNvPr id="3" name="Picture 2">
            <a:extLst>
              <a:ext uri="{FF2B5EF4-FFF2-40B4-BE49-F238E27FC236}">
                <a16:creationId xmlns:a16="http://schemas.microsoft.com/office/drawing/2014/main" id="{C769F8F3-3124-4B3F-ADC0-114001796C91}"/>
              </a:ext>
            </a:extLst>
          </p:cNvPr>
          <p:cNvPicPr>
            <a:picLocks noChangeAspect="1"/>
          </p:cNvPicPr>
          <p:nvPr/>
        </p:nvPicPr>
        <p:blipFill>
          <a:blip r:embed="rId2"/>
          <a:stretch>
            <a:fillRect/>
          </a:stretch>
        </p:blipFill>
        <p:spPr>
          <a:xfrm>
            <a:off x="939114" y="2137719"/>
            <a:ext cx="10268464" cy="2150076"/>
          </a:xfrm>
          <a:prstGeom prst="rect">
            <a:avLst/>
          </a:prstGeom>
        </p:spPr>
      </p:pic>
      <p:sp>
        <p:nvSpPr>
          <p:cNvPr id="4" name="TextBox 3">
            <a:extLst>
              <a:ext uri="{FF2B5EF4-FFF2-40B4-BE49-F238E27FC236}">
                <a16:creationId xmlns:a16="http://schemas.microsoft.com/office/drawing/2014/main" id="{A56D39E3-49B5-4177-A5EA-29F2149690C5}"/>
              </a:ext>
            </a:extLst>
          </p:cNvPr>
          <p:cNvSpPr txBox="1"/>
          <p:nvPr/>
        </p:nvSpPr>
        <p:spPr>
          <a:xfrm>
            <a:off x="65988" y="3905254"/>
            <a:ext cx="6673815" cy="1077218"/>
          </a:xfrm>
          <a:prstGeom prst="rect">
            <a:avLst/>
          </a:prstGeom>
          <a:noFill/>
        </p:spPr>
        <p:txBody>
          <a:bodyPr wrap="none" rtlCol="0">
            <a:spAutoFit/>
          </a:bodyPr>
          <a:lstStyle/>
          <a:p>
            <a:r>
              <a:rPr lang="en-US" sz="3200" dirty="0"/>
              <a:t>Now, applying the shortest job first [2]:</a:t>
            </a:r>
          </a:p>
          <a:p>
            <a:endParaRPr lang="en-US" sz="3200" dirty="0"/>
          </a:p>
        </p:txBody>
      </p:sp>
      <p:pic>
        <p:nvPicPr>
          <p:cNvPr id="5" name="Picture 4">
            <a:extLst>
              <a:ext uri="{FF2B5EF4-FFF2-40B4-BE49-F238E27FC236}">
                <a16:creationId xmlns:a16="http://schemas.microsoft.com/office/drawing/2014/main" id="{E1F48ADA-926E-4734-B164-108F2C610F58}"/>
              </a:ext>
            </a:extLst>
          </p:cNvPr>
          <p:cNvPicPr>
            <a:picLocks noChangeAspect="1"/>
          </p:cNvPicPr>
          <p:nvPr/>
        </p:nvPicPr>
        <p:blipFill>
          <a:blip r:embed="rId3"/>
          <a:stretch>
            <a:fillRect/>
          </a:stretch>
        </p:blipFill>
        <p:spPr>
          <a:xfrm>
            <a:off x="65988" y="4815375"/>
            <a:ext cx="12126012" cy="2042625"/>
          </a:xfrm>
          <a:prstGeom prst="rect">
            <a:avLst/>
          </a:prstGeom>
        </p:spPr>
      </p:pic>
    </p:spTree>
    <p:extLst>
      <p:ext uri="{BB962C8B-B14F-4D97-AF65-F5344CB8AC3E}">
        <p14:creationId xmlns:p14="http://schemas.microsoft.com/office/powerpoint/2010/main" val="1882701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B8B23D-9224-4C91-848D-2EB6C1BF5836}"/>
              </a:ext>
            </a:extLst>
          </p:cNvPr>
          <p:cNvPicPr>
            <a:picLocks noChangeAspect="1"/>
          </p:cNvPicPr>
          <p:nvPr/>
        </p:nvPicPr>
        <p:blipFill>
          <a:blip r:embed="rId2"/>
          <a:stretch>
            <a:fillRect/>
          </a:stretch>
        </p:blipFill>
        <p:spPr>
          <a:xfrm>
            <a:off x="494270" y="457201"/>
            <a:ext cx="11343503" cy="3509318"/>
          </a:xfrm>
          <a:prstGeom prst="rect">
            <a:avLst/>
          </a:prstGeom>
        </p:spPr>
      </p:pic>
      <p:sp>
        <p:nvSpPr>
          <p:cNvPr id="3" name="TextBox 2">
            <a:extLst>
              <a:ext uri="{FF2B5EF4-FFF2-40B4-BE49-F238E27FC236}">
                <a16:creationId xmlns:a16="http://schemas.microsoft.com/office/drawing/2014/main" id="{A3C026E2-8458-4FE7-B06F-AC59BC81612D}"/>
              </a:ext>
            </a:extLst>
          </p:cNvPr>
          <p:cNvSpPr txBox="1"/>
          <p:nvPr/>
        </p:nvSpPr>
        <p:spPr>
          <a:xfrm>
            <a:off x="0" y="4872681"/>
            <a:ext cx="8921579" cy="584775"/>
          </a:xfrm>
          <a:prstGeom prst="rect">
            <a:avLst/>
          </a:prstGeom>
          <a:noFill/>
        </p:spPr>
        <p:txBody>
          <a:bodyPr wrap="square" rtlCol="0">
            <a:spAutoFit/>
          </a:bodyPr>
          <a:lstStyle/>
          <a:p>
            <a:r>
              <a:rPr lang="en-US" sz="3200" b="1" dirty="0"/>
              <a:t>Which is equivalent to O(2L), so SJF is the best</a:t>
            </a:r>
          </a:p>
        </p:txBody>
      </p:sp>
    </p:spTree>
    <p:extLst>
      <p:ext uri="{BB962C8B-B14F-4D97-AF65-F5344CB8AC3E}">
        <p14:creationId xmlns:p14="http://schemas.microsoft.com/office/powerpoint/2010/main" val="3038462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81E339-4914-4746-81FA-C6BD0E58D766}"/>
              </a:ext>
            </a:extLst>
          </p:cNvPr>
          <p:cNvSpPr txBox="1"/>
          <p:nvPr/>
        </p:nvSpPr>
        <p:spPr>
          <a:xfrm>
            <a:off x="64449" y="143843"/>
            <a:ext cx="11784765" cy="2308324"/>
          </a:xfrm>
          <a:prstGeom prst="rect">
            <a:avLst/>
          </a:prstGeom>
          <a:noFill/>
        </p:spPr>
        <p:txBody>
          <a:bodyPr wrap="none" rtlCol="0">
            <a:spAutoFit/>
          </a:bodyPr>
          <a:lstStyle/>
          <a:p>
            <a:pPr algn="just"/>
            <a:r>
              <a:rPr lang="en-US" sz="2400" b="1" u="sng" spc="-235" dirty="0">
                <a:solidFill>
                  <a:srgbClr val="2D2D2D"/>
                </a:solidFill>
                <a:latin typeface="Arial" panose="020B0604020202020204" pitchFamily="34" charset="0"/>
                <a:ea typeface="Calibri" panose="020F0502020204030204" pitchFamily="34" charset="0"/>
                <a:cs typeface="Times New Roman" panose="02020603050405020304" pitchFamily="18" charset="0"/>
              </a:rPr>
              <a:t>F</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sz="2400"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r</a:t>
            </a:r>
            <a:r>
              <a:rPr lang="en-US" sz="2400" b="1" u="sng" spc="5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O</a:t>
            </a:r>
            <a:r>
              <a:rPr lang="en-US" sz="2400" b="1" u="sng" spc="-5" dirty="0">
                <a:solidFill>
                  <a:srgbClr val="00B0F0"/>
                </a:solidFill>
                <a:latin typeface="Arial" panose="020B0604020202020204" pitchFamily="34" charset="0"/>
                <a:ea typeface="Calibri" panose="020F0502020204030204" pitchFamily="34" charset="0"/>
                <a:cs typeface="Times New Roman" panose="02020603050405020304" pitchFamily="18" charset="0"/>
              </a:rPr>
              <a:t>n</a:t>
            </a:r>
            <a:r>
              <a:rPr lang="en-US" sz="24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li</a:t>
            </a:r>
            <a:r>
              <a:rPr lang="en-US" sz="2400" b="1" u="sng" spc="-145" dirty="0">
                <a:solidFill>
                  <a:srgbClr val="00B0F0"/>
                </a:solidFill>
                <a:latin typeface="Arial" panose="020B0604020202020204" pitchFamily="34" charset="0"/>
                <a:ea typeface="Calibri" panose="020F0502020204030204" pitchFamily="34" charset="0"/>
                <a:cs typeface="Times New Roman" panose="02020603050405020304" pitchFamily="18" charset="0"/>
              </a:rPr>
              <a:t>n</a:t>
            </a:r>
            <a:r>
              <a:rPr lang="en-US" sz="24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e </a:t>
            </a:r>
            <a:r>
              <a:rPr lang="en-US" sz="2400" b="1" u="sng" dirty="0">
                <a:latin typeface="Arial" panose="020B0604020202020204" pitchFamily="34" charset="0"/>
                <a:ea typeface="Calibri" panose="020F0502020204030204" pitchFamily="34" charset="0"/>
                <a:cs typeface="Times New Roman" panose="02020603050405020304" pitchFamily="18" charset="0"/>
              </a:rPr>
              <a:t>Scheduling</a:t>
            </a:r>
            <a:r>
              <a:rPr lang="en-US" sz="2400" b="1" u="sng" spc="26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for</a:t>
            </a:r>
            <a:r>
              <a:rPr lang="en-US" sz="2400" b="1" u="sng" spc="22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spc="-105" dirty="0">
                <a:latin typeface="Arial" panose="020B0604020202020204" pitchFamily="34" charset="0"/>
                <a:ea typeface="Calibri" panose="020F0502020204030204" pitchFamily="34" charset="0"/>
                <a:cs typeface="Times New Roman" panose="02020603050405020304" pitchFamily="18" charset="0"/>
              </a:rPr>
              <a:t>S</a:t>
            </a:r>
            <a:r>
              <a:rPr lang="en-US" sz="2400" b="1" u="sng" dirty="0">
                <a:latin typeface="Arial" panose="020B0604020202020204" pitchFamily="34" charset="0"/>
                <a:ea typeface="Calibri" panose="020F0502020204030204" pitchFamily="34" charset="0"/>
                <a:cs typeface="Times New Roman" panose="02020603050405020304" pitchFamily="18" charset="0"/>
              </a:rPr>
              <a:t>e</a:t>
            </a:r>
            <a:r>
              <a:rPr lang="en-US" sz="2400" b="1" u="sng" spc="-60" dirty="0">
                <a:latin typeface="Arial" panose="020B0604020202020204" pitchFamily="34" charset="0"/>
                <a:ea typeface="Calibri" panose="020F0502020204030204" pitchFamily="34" charset="0"/>
                <a:cs typeface="Times New Roman" panose="02020603050405020304" pitchFamily="18" charset="0"/>
              </a:rPr>
              <a:t>l</a:t>
            </a:r>
            <a:r>
              <a:rPr lang="en-US" sz="2400" b="1" u="sng" dirty="0">
                <a:latin typeface="Arial" panose="020B0604020202020204" pitchFamily="34" charset="0"/>
                <a:ea typeface="Calibri" panose="020F0502020204030204" pitchFamily="34" charset="0"/>
                <a:cs typeface="Times New Roman" panose="02020603050405020304" pitchFamily="18" charset="0"/>
              </a:rPr>
              <a:t>f</a:t>
            </a:r>
            <a:r>
              <a:rPr lang="en-US" sz="2400" b="1" u="sng" spc="-65" dirty="0">
                <a:latin typeface="Arial" panose="020B0604020202020204" pitchFamily="34" charset="0"/>
                <a:ea typeface="Calibri" panose="020F0502020204030204" pitchFamily="34" charset="0"/>
                <a:cs typeface="Times New Roman" panose="02020603050405020304" pitchFamily="18" charset="0"/>
              </a:rPr>
              <a:t>i</a:t>
            </a:r>
            <a:r>
              <a:rPr lang="en-US" sz="2400" b="1" u="sng" spc="-20" dirty="0">
                <a:latin typeface="Arial" panose="020B0604020202020204" pitchFamily="34" charset="0"/>
                <a:ea typeface="Calibri" panose="020F0502020204030204" pitchFamily="34" charset="0"/>
                <a:cs typeface="Times New Roman" panose="02020603050405020304" pitchFamily="18" charset="0"/>
              </a:rPr>
              <a:t>s</a:t>
            </a:r>
            <a:r>
              <a:rPr lang="en-US" sz="2400" b="1" u="sng" dirty="0">
                <a:latin typeface="Arial" panose="020B0604020202020204" pitchFamily="34" charset="0"/>
                <a:ea typeface="Calibri" panose="020F0502020204030204" pitchFamily="34" charset="0"/>
                <a:cs typeface="Times New Roman" panose="02020603050405020304" pitchFamily="18" charset="0"/>
              </a:rPr>
              <a:t>h</a:t>
            </a:r>
            <a:r>
              <a:rPr lang="en-US" sz="2400" b="1" u="sng" spc="-100" dirty="0">
                <a:latin typeface="Arial" panose="020B0604020202020204" pitchFamily="34" charset="0"/>
                <a:ea typeface="Calibri" panose="020F0502020204030204" pitchFamily="34" charset="0"/>
                <a:cs typeface="Times New Roman" panose="02020603050405020304" pitchFamily="18" charset="0"/>
              </a:rPr>
              <a:t> </a:t>
            </a:r>
            <a:r>
              <a:rPr lang="en-US" sz="2400" b="1" u="sng" spc="-65" dirty="0">
                <a:latin typeface="Arial" panose="020B0604020202020204" pitchFamily="34" charset="0"/>
                <a:ea typeface="Calibri" panose="020F0502020204030204" pitchFamily="34" charset="0"/>
                <a:cs typeface="Times New Roman" panose="02020603050405020304" pitchFamily="18" charset="0"/>
              </a:rPr>
              <a:t>J</a:t>
            </a:r>
            <a:r>
              <a:rPr lang="en-US" sz="2400" b="1" u="sng" dirty="0">
                <a:latin typeface="Arial" panose="020B0604020202020204" pitchFamily="34" charset="0"/>
                <a:ea typeface="Calibri" panose="020F0502020204030204" pitchFamily="34" charset="0"/>
                <a:cs typeface="Times New Roman" panose="02020603050405020304" pitchFamily="18" charset="0"/>
              </a:rPr>
              <a:t>obs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on</a:t>
            </a:r>
            <a:r>
              <a:rPr lang="en-US" sz="2400" b="1" u="sng" spc="12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Heteroge</a:t>
            </a:r>
            <a:r>
              <a:rPr lang="en-US" sz="2400" b="1" u="sng" spc="-3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eous</a:t>
            </a:r>
            <a:r>
              <a:rPr lang="en-US" sz="2400" b="1" u="sng" spc="14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400" b="1" u="sng" spc="-165" dirty="0">
                <a:solidFill>
                  <a:srgbClr val="2D2D2D"/>
                </a:solidFill>
                <a:latin typeface="Arial" panose="020B0604020202020204" pitchFamily="34" charset="0"/>
                <a:ea typeface="Calibri" panose="020F0502020204030204" pitchFamily="34" charset="0"/>
                <a:cs typeface="Times New Roman" panose="02020603050405020304" pitchFamily="18" charset="0"/>
              </a:rPr>
              <a:t>M</a:t>
            </a:r>
            <a:r>
              <a:rPr lang="en-US" sz="2400" b="1" u="sng" spc="-85"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ch</a:t>
            </a:r>
            <a:r>
              <a:rPr lang="en-US" sz="2400"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sz="24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nes</a:t>
            </a:r>
            <a:endParaRPr lang="en-US" sz="2400" b="1" u="sng" dirty="0"/>
          </a:p>
          <a:p>
            <a:pPr algn="just"/>
            <a:endParaRPr lang="en-US" sz="2400" b="1" u="sng" dirty="0"/>
          </a:p>
          <a:p>
            <a:pPr algn="just"/>
            <a:r>
              <a:rPr lang="en-US" sz="2400" b="1" u="sng" dirty="0"/>
              <a:t>Online Scheduling</a:t>
            </a:r>
          </a:p>
          <a:p>
            <a:pPr marL="285750" indent="-285750" algn="just">
              <a:buFontTx/>
              <a:buChar char="-"/>
            </a:pPr>
            <a:r>
              <a:rPr lang="en-US" sz="2400" b="1" dirty="0"/>
              <a:t>What does “Online ” mean?</a:t>
            </a:r>
          </a:p>
          <a:p>
            <a:pPr algn="just"/>
            <a:r>
              <a:rPr lang="en-US" sz="2400" b="1" dirty="0"/>
              <a:t>Online Scheduling: Jobs= J1……Jn : Release time (or arrival time) = r1…..</a:t>
            </a:r>
            <a:r>
              <a:rPr lang="en-US" sz="2400" b="1" dirty="0" err="1"/>
              <a:t>rn</a:t>
            </a:r>
            <a:r>
              <a:rPr lang="en-US" sz="2400" b="1" dirty="0"/>
              <a:t>: Fj = </a:t>
            </a:r>
            <a:r>
              <a:rPr lang="en-US" sz="2400" b="1" dirty="0" err="1"/>
              <a:t>Cj-rj</a:t>
            </a:r>
            <a:r>
              <a:rPr lang="en-US" sz="2400" b="1" dirty="0"/>
              <a:t> and </a:t>
            </a:r>
            <a:r>
              <a:rPr lang="en-US" sz="2400" b="1" dirty="0" err="1"/>
              <a:t>Fij</a:t>
            </a:r>
            <a:r>
              <a:rPr lang="en-US" sz="2400" b="1" dirty="0"/>
              <a:t>?</a:t>
            </a:r>
          </a:p>
          <a:p>
            <a:pPr marL="342900" indent="-342900" algn="just">
              <a:buFontTx/>
              <a:buChar char="-"/>
            </a:pPr>
            <a:r>
              <a:rPr lang="en-US" sz="2400" b="1" dirty="0"/>
              <a:t>Objective:</a:t>
            </a:r>
          </a:p>
        </p:txBody>
      </p:sp>
      <p:sp>
        <p:nvSpPr>
          <p:cNvPr id="3" name="TextBox 2">
            <a:extLst>
              <a:ext uri="{FF2B5EF4-FFF2-40B4-BE49-F238E27FC236}">
                <a16:creationId xmlns:a16="http://schemas.microsoft.com/office/drawing/2014/main" id="{C4C1537F-B635-4C20-BDE3-11EF2A118DAD}"/>
              </a:ext>
            </a:extLst>
          </p:cNvPr>
          <p:cNvSpPr txBox="1"/>
          <p:nvPr/>
        </p:nvSpPr>
        <p:spPr>
          <a:xfrm>
            <a:off x="262992" y="2970955"/>
            <a:ext cx="11180946" cy="2092881"/>
          </a:xfrm>
          <a:prstGeom prst="rect">
            <a:avLst/>
          </a:prstGeom>
          <a:noFill/>
        </p:spPr>
        <p:txBody>
          <a:bodyPr wrap="none" rtlCol="0">
            <a:spAutoFit/>
          </a:bodyPr>
          <a:lstStyle/>
          <a:p>
            <a:pPr algn="just"/>
            <a:r>
              <a:rPr lang="en-US" sz="2800" dirty="0">
                <a:solidFill>
                  <a:srgbClr val="00B0F0"/>
                </a:solidFill>
              </a:rPr>
              <a:t>objective in online setting is to minimize the average (or equivalently total) </a:t>
            </a:r>
          </a:p>
          <a:p>
            <a:pPr algn="just"/>
            <a:r>
              <a:rPr lang="en-US" sz="2800" dirty="0">
                <a:solidFill>
                  <a:srgbClr val="00B0F0"/>
                </a:solidFill>
              </a:rPr>
              <a:t>weighted flow time of jobs, where the :flow time of a job </a:t>
            </a:r>
            <a:r>
              <a:rPr lang="en-US" sz="2800" i="1" dirty="0">
                <a:solidFill>
                  <a:srgbClr val="00B0F0"/>
                </a:solidFill>
              </a:rPr>
              <a:t>j </a:t>
            </a:r>
            <a:r>
              <a:rPr lang="en-US" sz="2800" dirty="0">
                <a:solidFill>
                  <a:srgbClr val="00B0F0"/>
                </a:solidFill>
              </a:rPr>
              <a:t>is defined as the </a:t>
            </a:r>
          </a:p>
          <a:p>
            <a:pPr algn="just"/>
            <a:r>
              <a:rPr lang="en-US" sz="2800" dirty="0">
                <a:solidFill>
                  <a:srgbClr val="00B0F0"/>
                </a:solidFill>
              </a:rPr>
              <a:t>length of time a job waits before it is completed since its arrival, multiplied </a:t>
            </a:r>
          </a:p>
          <a:p>
            <a:pPr algn="just"/>
            <a:r>
              <a:rPr lang="en-US" sz="2800" dirty="0">
                <a:solidFill>
                  <a:srgbClr val="00B0F0"/>
                </a:solidFill>
              </a:rPr>
              <a:t>by its weight </a:t>
            </a:r>
            <a:r>
              <a:rPr lang="en-US" sz="2800" i="1" dirty="0">
                <a:solidFill>
                  <a:srgbClr val="00B0F0"/>
                </a:solidFill>
              </a:rPr>
              <a:t>w;.</a:t>
            </a:r>
            <a:endParaRPr lang="en-US" sz="2800" b="1" dirty="0">
              <a:solidFill>
                <a:srgbClr val="00B0F0"/>
              </a:solidFill>
            </a:endParaRPr>
          </a:p>
          <a:p>
            <a:pPr algn="just"/>
            <a:endParaRPr lang="en-US" dirty="0"/>
          </a:p>
        </p:txBody>
      </p:sp>
    </p:spTree>
    <p:extLst>
      <p:ext uri="{BB962C8B-B14F-4D97-AF65-F5344CB8AC3E}">
        <p14:creationId xmlns:p14="http://schemas.microsoft.com/office/powerpoint/2010/main" val="3570204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0CD2CE-7B37-48EF-9BC2-BE3C945AF080}"/>
              </a:ext>
            </a:extLst>
          </p:cNvPr>
          <p:cNvSpPr/>
          <p:nvPr/>
        </p:nvSpPr>
        <p:spPr>
          <a:xfrm>
            <a:off x="89482" y="241059"/>
            <a:ext cx="12013035" cy="5262979"/>
          </a:xfrm>
          <a:prstGeom prst="rect">
            <a:avLst/>
          </a:prstGeom>
        </p:spPr>
        <p:txBody>
          <a:bodyPr wrap="square">
            <a:spAutoFit/>
          </a:bodyPr>
          <a:lstStyle/>
          <a:p>
            <a:pPr marL="285750" indent="-285750" algn="just">
              <a:buFontTx/>
              <a:buChar char="-"/>
            </a:pPr>
            <a:r>
              <a:rPr lang="en-US" sz="2800" b="1" dirty="0"/>
              <a:t>Explanation of Online in the Context of Signature Recognition (self Master Thesis)</a:t>
            </a:r>
          </a:p>
          <a:p>
            <a:pPr marL="285750" indent="-285750" algn="just">
              <a:buFontTx/>
              <a:buChar char="-"/>
            </a:pPr>
            <a:r>
              <a:rPr lang="en-US" sz="2800" b="1" u="sng" dirty="0"/>
              <a:t>Difference between Online and Offline in the Context of Scheduling [3]</a:t>
            </a:r>
          </a:p>
          <a:p>
            <a:pPr marL="285750" indent="-285750" algn="just">
              <a:buFontTx/>
              <a:buChar char="-"/>
            </a:pPr>
            <a:endParaRPr lang="en-US" sz="2800" dirty="0"/>
          </a:p>
          <a:p>
            <a:pPr algn="just"/>
            <a:r>
              <a:rPr lang="en-US" sz="2800" b="1" dirty="0">
                <a:solidFill>
                  <a:srgbClr val="00B0F0"/>
                </a:solidFill>
              </a:rPr>
              <a:t>In the offline setting, it is assumed that all the job specifications (i.e., processing </a:t>
            </a:r>
          </a:p>
          <a:p>
            <a:pPr algn="just"/>
            <a:r>
              <a:rPr lang="en-US" sz="2800" b="1" dirty="0">
                <a:solidFill>
                  <a:srgbClr val="00B0F0"/>
                </a:solidFill>
              </a:rPr>
              <a:t>lengths, release times, and cost functions) are known and given to the scheduler a priori. </a:t>
            </a:r>
            <a:r>
              <a:rPr lang="en-US" sz="2800" b="1" dirty="0">
                <a:solidFill>
                  <a:srgbClr val="FF0000"/>
                </a:solidFill>
              </a:rPr>
              <a:t>In the online setting which we consider in this paper, the scheduler only gets to know a job specification upon its arrival to the system in which case the scheduler must make an irrevocable decision. Therefore, an </a:t>
            </a:r>
            <a:r>
              <a:rPr lang="en-US" sz="2800" b="1" u="sng" dirty="0">
                <a:solidFill>
                  <a:srgbClr val="FF0000"/>
                </a:solidFill>
              </a:rPr>
              <a:t>immediate question here is whether an online scheduler can still achieve a performance “close” to that of the offline one despite its lack of information ahead of time.</a:t>
            </a:r>
          </a:p>
        </p:txBody>
      </p:sp>
    </p:spTree>
    <p:extLst>
      <p:ext uri="{BB962C8B-B14F-4D97-AF65-F5344CB8AC3E}">
        <p14:creationId xmlns:p14="http://schemas.microsoft.com/office/powerpoint/2010/main" val="3077328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7A720E-575C-49B8-AAA9-27937781AA00}"/>
              </a:ext>
            </a:extLst>
          </p:cNvPr>
          <p:cNvSpPr txBox="1"/>
          <p:nvPr/>
        </p:nvSpPr>
        <p:spPr>
          <a:xfrm>
            <a:off x="90527" y="179249"/>
            <a:ext cx="12001904" cy="5693866"/>
          </a:xfrm>
          <a:prstGeom prst="rect">
            <a:avLst/>
          </a:prstGeom>
          <a:noFill/>
        </p:spPr>
        <p:txBody>
          <a:bodyPr wrap="square" rtlCol="0">
            <a:spAutoFit/>
          </a:bodyPr>
          <a:lstStyle/>
          <a:p>
            <a:pPr algn="just"/>
            <a:r>
              <a:rPr lang="en-US" sz="2800" b="1" u="sng" spc="-235" dirty="0">
                <a:solidFill>
                  <a:srgbClr val="00B0F0"/>
                </a:solidFill>
                <a:latin typeface="Arial" panose="020B0604020202020204" pitchFamily="34" charset="0"/>
                <a:ea typeface="Calibri" panose="020F0502020204030204" pitchFamily="34" charset="0"/>
                <a:cs typeface="Times New Roman" panose="02020603050405020304" pitchFamily="18" charset="0"/>
              </a:rPr>
              <a:t>F</a:t>
            </a:r>
            <a:r>
              <a:rPr lang="en-US" sz="28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a</a:t>
            </a:r>
            <a:r>
              <a:rPr lang="en-US" sz="2800" b="1" u="sng" spc="5" dirty="0">
                <a:solidFill>
                  <a:srgbClr val="00B0F0"/>
                </a:solidFill>
                <a:latin typeface="Arial" panose="020B0604020202020204" pitchFamily="34" charset="0"/>
                <a:ea typeface="Calibri" panose="020F0502020204030204" pitchFamily="34" charset="0"/>
                <a:cs typeface="Times New Roman" panose="02020603050405020304" pitchFamily="18" charset="0"/>
              </a:rPr>
              <a:t>i</a:t>
            </a:r>
            <a:r>
              <a:rPr lang="en-US" sz="28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r</a:t>
            </a:r>
            <a:r>
              <a:rPr lang="en-US" sz="2800" b="1" u="sng" spc="5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800" b="1" u="sng" dirty="0">
                <a:latin typeface="Arial" panose="020B0604020202020204" pitchFamily="34" charset="0"/>
                <a:ea typeface="Calibri" panose="020F0502020204030204" pitchFamily="34" charset="0"/>
                <a:cs typeface="Times New Roman" panose="02020603050405020304" pitchFamily="18" charset="0"/>
              </a:rPr>
              <a:t>O</a:t>
            </a:r>
            <a:r>
              <a:rPr lang="en-US" sz="2800" b="1" u="sng" spc="-5" dirty="0">
                <a:latin typeface="Arial" panose="020B0604020202020204" pitchFamily="34" charset="0"/>
                <a:ea typeface="Calibri" panose="020F0502020204030204" pitchFamily="34" charset="0"/>
                <a:cs typeface="Times New Roman" panose="02020603050405020304" pitchFamily="18" charset="0"/>
              </a:rPr>
              <a:t>n</a:t>
            </a:r>
            <a:r>
              <a:rPr lang="en-US" sz="2800" b="1" u="sng" dirty="0">
                <a:latin typeface="Arial" panose="020B0604020202020204" pitchFamily="34" charset="0"/>
                <a:ea typeface="Calibri" panose="020F0502020204030204" pitchFamily="34" charset="0"/>
                <a:cs typeface="Times New Roman" panose="02020603050405020304" pitchFamily="18" charset="0"/>
              </a:rPr>
              <a:t>li</a:t>
            </a:r>
            <a:r>
              <a:rPr lang="en-US" sz="2800" b="1" u="sng" spc="-145" dirty="0">
                <a:latin typeface="Arial" panose="020B0604020202020204" pitchFamily="34" charset="0"/>
                <a:ea typeface="Calibri" panose="020F0502020204030204" pitchFamily="34" charset="0"/>
                <a:cs typeface="Times New Roman" panose="02020603050405020304" pitchFamily="18" charset="0"/>
              </a:rPr>
              <a:t>n</a:t>
            </a:r>
            <a:r>
              <a:rPr lang="en-US" sz="2800" b="1" u="sng" dirty="0">
                <a:latin typeface="Arial" panose="020B0604020202020204" pitchFamily="34" charset="0"/>
                <a:ea typeface="Calibri" panose="020F0502020204030204" pitchFamily="34" charset="0"/>
                <a:cs typeface="Times New Roman" panose="02020603050405020304" pitchFamily="18" charset="0"/>
              </a:rPr>
              <a:t>e</a:t>
            </a:r>
            <a:r>
              <a:rPr lang="en-US" sz="2800" b="1" u="sng" dirty="0">
                <a:solidFill>
                  <a:srgbClr val="00B0F0"/>
                </a:solidFill>
                <a:latin typeface="Arial" panose="020B0604020202020204" pitchFamily="34" charset="0"/>
                <a:ea typeface="Calibri" panose="020F0502020204030204" pitchFamily="34" charset="0"/>
                <a:cs typeface="Times New Roman" panose="02020603050405020304" pitchFamily="18" charset="0"/>
              </a:rPr>
              <a:t> </a:t>
            </a:r>
            <a:r>
              <a:rPr lang="en-US" sz="2800" b="1" u="sng" dirty="0">
                <a:latin typeface="Arial" panose="020B0604020202020204" pitchFamily="34" charset="0"/>
                <a:ea typeface="Calibri" panose="020F0502020204030204" pitchFamily="34" charset="0"/>
                <a:cs typeface="Times New Roman" panose="02020603050405020304" pitchFamily="18" charset="0"/>
              </a:rPr>
              <a:t>Scheduling</a:t>
            </a:r>
            <a:r>
              <a:rPr lang="en-US" sz="2800" b="1" u="sng" spc="26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8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for</a:t>
            </a:r>
            <a:r>
              <a:rPr lang="en-US" sz="2800" b="1" u="sng" spc="22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800" b="1" u="sng" spc="-105" dirty="0">
                <a:latin typeface="Arial" panose="020B0604020202020204" pitchFamily="34" charset="0"/>
                <a:ea typeface="Calibri" panose="020F0502020204030204" pitchFamily="34" charset="0"/>
                <a:cs typeface="Times New Roman" panose="02020603050405020304" pitchFamily="18" charset="0"/>
              </a:rPr>
              <a:t>S</a:t>
            </a:r>
            <a:r>
              <a:rPr lang="en-US" sz="2800" b="1" u="sng" dirty="0">
                <a:latin typeface="Arial" panose="020B0604020202020204" pitchFamily="34" charset="0"/>
                <a:ea typeface="Calibri" panose="020F0502020204030204" pitchFamily="34" charset="0"/>
                <a:cs typeface="Times New Roman" panose="02020603050405020304" pitchFamily="18" charset="0"/>
              </a:rPr>
              <a:t>e</a:t>
            </a:r>
            <a:r>
              <a:rPr lang="en-US" sz="2800" b="1" u="sng" spc="-60" dirty="0">
                <a:latin typeface="Arial" panose="020B0604020202020204" pitchFamily="34" charset="0"/>
                <a:ea typeface="Calibri" panose="020F0502020204030204" pitchFamily="34" charset="0"/>
                <a:cs typeface="Times New Roman" panose="02020603050405020304" pitchFamily="18" charset="0"/>
              </a:rPr>
              <a:t>l</a:t>
            </a:r>
            <a:r>
              <a:rPr lang="en-US" sz="2800" b="1" u="sng" dirty="0">
                <a:latin typeface="Arial" panose="020B0604020202020204" pitchFamily="34" charset="0"/>
                <a:ea typeface="Calibri" panose="020F0502020204030204" pitchFamily="34" charset="0"/>
                <a:cs typeface="Times New Roman" panose="02020603050405020304" pitchFamily="18" charset="0"/>
              </a:rPr>
              <a:t>f</a:t>
            </a:r>
            <a:r>
              <a:rPr lang="en-US" sz="2800" b="1" u="sng" spc="-65" dirty="0">
                <a:latin typeface="Arial" panose="020B0604020202020204" pitchFamily="34" charset="0"/>
                <a:ea typeface="Calibri" panose="020F0502020204030204" pitchFamily="34" charset="0"/>
                <a:cs typeface="Times New Roman" panose="02020603050405020304" pitchFamily="18" charset="0"/>
              </a:rPr>
              <a:t>i</a:t>
            </a:r>
            <a:r>
              <a:rPr lang="en-US" sz="2800" b="1" u="sng" spc="-20" dirty="0">
                <a:latin typeface="Arial" panose="020B0604020202020204" pitchFamily="34" charset="0"/>
                <a:ea typeface="Calibri" panose="020F0502020204030204" pitchFamily="34" charset="0"/>
                <a:cs typeface="Times New Roman" panose="02020603050405020304" pitchFamily="18" charset="0"/>
              </a:rPr>
              <a:t>s</a:t>
            </a:r>
            <a:r>
              <a:rPr lang="en-US" sz="2800" b="1" u="sng" dirty="0">
                <a:latin typeface="Arial" panose="020B0604020202020204" pitchFamily="34" charset="0"/>
                <a:ea typeface="Calibri" panose="020F0502020204030204" pitchFamily="34" charset="0"/>
                <a:cs typeface="Times New Roman" panose="02020603050405020304" pitchFamily="18" charset="0"/>
              </a:rPr>
              <a:t>h</a:t>
            </a:r>
            <a:r>
              <a:rPr lang="en-US" sz="2800" b="1" u="sng" spc="-100" dirty="0">
                <a:latin typeface="Arial" panose="020B0604020202020204" pitchFamily="34" charset="0"/>
                <a:ea typeface="Calibri" panose="020F0502020204030204" pitchFamily="34" charset="0"/>
                <a:cs typeface="Times New Roman" panose="02020603050405020304" pitchFamily="18" charset="0"/>
              </a:rPr>
              <a:t> </a:t>
            </a:r>
            <a:r>
              <a:rPr lang="en-US" sz="2800" b="1" u="sng" spc="-65" dirty="0">
                <a:latin typeface="Arial" panose="020B0604020202020204" pitchFamily="34" charset="0"/>
                <a:ea typeface="Calibri" panose="020F0502020204030204" pitchFamily="34" charset="0"/>
                <a:cs typeface="Times New Roman" panose="02020603050405020304" pitchFamily="18" charset="0"/>
              </a:rPr>
              <a:t>J</a:t>
            </a:r>
            <a:r>
              <a:rPr lang="en-US" sz="2800" b="1" u="sng" dirty="0">
                <a:latin typeface="Arial" panose="020B0604020202020204" pitchFamily="34" charset="0"/>
                <a:ea typeface="Calibri" panose="020F0502020204030204" pitchFamily="34" charset="0"/>
                <a:cs typeface="Times New Roman" panose="02020603050405020304" pitchFamily="18" charset="0"/>
              </a:rPr>
              <a:t>obs </a:t>
            </a:r>
            <a:r>
              <a:rPr lang="en-US" sz="28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on</a:t>
            </a:r>
            <a:r>
              <a:rPr lang="en-US" sz="2800" b="1" u="sng" spc="125"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8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Heteroge</a:t>
            </a:r>
            <a:r>
              <a:rPr lang="en-US" sz="2800" b="1" u="sng" spc="-35" dirty="0">
                <a:solidFill>
                  <a:srgbClr val="2D2D2D"/>
                </a:solidFill>
                <a:latin typeface="Arial" panose="020B0604020202020204" pitchFamily="34" charset="0"/>
                <a:ea typeface="Calibri" panose="020F0502020204030204" pitchFamily="34" charset="0"/>
                <a:cs typeface="Times New Roman" panose="02020603050405020304" pitchFamily="18" charset="0"/>
              </a:rPr>
              <a:t>n</a:t>
            </a:r>
            <a:r>
              <a:rPr lang="en-US" sz="28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eous</a:t>
            </a:r>
            <a:r>
              <a:rPr lang="en-US" sz="2800" b="1" u="sng" spc="140" dirty="0">
                <a:solidFill>
                  <a:srgbClr val="2D2D2D"/>
                </a:solidFill>
                <a:latin typeface="Arial" panose="020B0604020202020204" pitchFamily="34" charset="0"/>
                <a:ea typeface="Calibri" panose="020F0502020204030204" pitchFamily="34" charset="0"/>
                <a:cs typeface="Times New Roman" panose="02020603050405020304" pitchFamily="18" charset="0"/>
              </a:rPr>
              <a:t> </a:t>
            </a:r>
            <a:r>
              <a:rPr lang="en-US" sz="2800" b="1" u="sng" spc="-165" dirty="0">
                <a:solidFill>
                  <a:srgbClr val="2D2D2D"/>
                </a:solidFill>
                <a:latin typeface="Arial" panose="020B0604020202020204" pitchFamily="34" charset="0"/>
                <a:ea typeface="Calibri" panose="020F0502020204030204" pitchFamily="34" charset="0"/>
                <a:cs typeface="Times New Roman" panose="02020603050405020304" pitchFamily="18" charset="0"/>
              </a:rPr>
              <a:t>M</a:t>
            </a:r>
            <a:r>
              <a:rPr lang="en-US" sz="2800" b="1" u="sng" spc="-85" dirty="0">
                <a:solidFill>
                  <a:srgbClr val="2D2D2D"/>
                </a:solidFill>
                <a:latin typeface="Arial" panose="020B0604020202020204" pitchFamily="34" charset="0"/>
                <a:ea typeface="Calibri" panose="020F0502020204030204" pitchFamily="34" charset="0"/>
                <a:cs typeface="Times New Roman" panose="02020603050405020304" pitchFamily="18" charset="0"/>
              </a:rPr>
              <a:t>a</a:t>
            </a:r>
            <a:r>
              <a:rPr lang="en-US" sz="28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ch</a:t>
            </a:r>
            <a:r>
              <a:rPr lang="en-US" sz="2800" b="1" u="sng" spc="5" dirty="0">
                <a:solidFill>
                  <a:srgbClr val="2D2D2D"/>
                </a:solidFill>
                <a:latin typeface="Arial" panose="020B0604020202020204" pitchFamily="34" charset="0"/>
                <a:ea typeface="Calibri" panose="020F0502020204030204" pitchFamily="34" charset="0"/>
                <a:cs typeface="Times New Roman" panose="02020603050405020304" pitchFamily="18" charset="0"/>
              </a:rPr>
              <a:t>i</a:t>
            </a:r>
            <a:r>
              <a:rPr lang="en-US" sz="2800" b="1" u="sng" dirty="0">
                <a:solidFill>
                  <a:srgbClr val="2D2D2D"/>
                </a:solidFill>
                <a:latin typeface="Arial" panose="020B0604020202020204" pitchFamily="34" charset="0"/>
                <a:ea typeface="Calibri" panose="020F0502020204030204" pitchFamily="34" charset="0"/>
                <a:cs typeface="Times New Roman" panose="02020603050405020304" pitchFamily="18" charset="0"/>
              </a:rPr>
              <a:t>nes</a:t>
            </a:r>
            <a:endParaRPr lang="en-US" sz="2800" b="1" u="sng" dirty="0"/>
          </a:p>
          <a:p>
            <a:pPr algn="just"/>
            <a:endParaRPr lang="en-US" sz="3200" b="1" dirty="0"/>
          </a:p>
          <a:p>
            <a:pPr algn="just"/>
            <a:r>
              <a:rPr lang="en-US" sz="3200" b="1" dirty="0"/>
              <a:t>What is meant by Fair Scheduling?</a:t>
            </a:r>
          </a:p>
          <a:p>
            <a:pPr algn="just"/>
            <a:r>
              <a:rPr lang="en-US" sz="3200" b="1" dirty="0"/>
              <a:t>Fair Scheduling means:</a:t>
            </a:r>
          </a:p>
          <a:p>
            <a:pPr marL="457200" indent="-457200" algn="just">
              <a:buFontTx/>
              <a:buChar char="-"/>
            </a:pPr>
            <a:r>
              <a:rPr lang="en-US" altLang="en-US" sz="2800" dirty="0">
                <a:solidFill>
                  <a:srgbClr val="000000"/>
                </a:solidFill>
                <a:latin typeface="Verdana" panose="020B0604030504040204" pitchFamily="34" charset="0"/>
              </a:rPr>
              <a:t>Assigning resources to jobs such that all </a:t>
            </a:r>
            <a:r>
              <a:rPr lang="en-US" altLang="en-US" sz="2800" u="sng" dirty="0"/>
              <a:t>Jobs</a:t>
            </a:r>
            <a:r>
              <a:rPr lang="en-US" altLang="en-US" sz="2800" dirty="0">
                <a:solidFill>
                  <a:srgbClr val="000000"/>
                </a:solidFill>
                <a:latin typeface="Verdana" panose="020B0604030504040204" pitchFamily="34" charset="0"/>
              </a:rPr>
              <a:t> get, on average, an equal share of resources over time.</a:t>
            </a:r>
            <a:r>
              <a:rPr lang="en-US" altLang="en-US" sz="2800" dirty="0"/>
              <a:t> </a:t>
            </a:r>
          </a:p>
          <a:p>
            <a:pPr algn="just"/>
            <a:r>
              <a:rPr lang="en-US" altLang="en-US" sz="2800" dirty="0">
                <a:solidFill>
                  <a:srgbClr val="00B0F0"/>
                </a:solidFill>
                <a:latin typeface="Arial" panose="020B0604020202020204" pitchFamily="34" charset="0"/>
                <a:ea typeface="Times New Roman" panose="02020603050405020304" pitchFamily="18" charset="0"/>
              </a:rPr>
              <a:t>This paper implements fairness by modifying RR </a:t>
            </a:r>
            <a:r>
              <a:rPr lang="en-US" altLang="en-US" sz="2800" dirty="0">
                <a:latin typeface="Arial" panose="020B0604020202020204" pitchFamily="34" charset="0"/>
                <a:ea typeface="Times New Roman" panose="02020603050405020304" pitchFamily="18" charset="0"/>
              </a:rPr>
              <a:t>(in SLAPS related to previous work):</a:t>
            </a:r>
          </a:p>
          <a:p>
            <a:pPr algn="just"/>
            <a:r>
              <a:rPr lang="en-US" altLang="en-US" sz="2800" dirty="0">
                <a:latin typeface="Arial" panose="020B0604020202020204" pitchFamily="34" charset="0"/>
                <a:ea typeface="Times New Roman" panose="02020603050405020304" pitchFamily="18" charset="0"/>
              </a:rPr>
              <a:t>- a job wait for at most </a:t>
            </a:r>
            <a:r>
              <a:rPr lang="en-US" altLang="en-US" sz="2800" dirty="0">
                <a:latin typeface="Arial" panose="020B0604020202020204" pitchFamily="34" charset="0"/>
                <a:ea typeface="Calibri" panose="020F0502020204030204" pitchFamily="34" charset="0"/>
                <a:cs typeface="Times New Roman" panose="02020603050405020304" pitchFamily="18" charset="0"/>
              </a:rPr>
              <a:t>a period of time in proportion to its size. </a:t>
            </a:r>
            <a:endParaRPr lang="en-US" altLang="en-US" sz="2800" dirty="0">
              <a:latin typeface="Arial" panose="020B0604020202020204" pitchFamily="34" charset="0"/>
            </a:endParaRPr>
          </a:p>
          <a:p>
            <a:pPr marL="457200" indent="-457200" algn="just">
              <a:buFontTx/>
              <a:buChar char="-"/>
            </a:pPr>
            <a:r>
              <a:rPr lang="en-US" altLang="en-US" sz="800" dirty="0">
                <a:latin typeface="Arial" panose="020B0604020202020204" pitchFamily="34" charset="0"/>
                <a:ea typeface="Times New Roman" panose="02020603050405020304" pitchFamily="18" charset="0"/>
              </a:rPr>
              <a:t>1</a:t>
            </a:r>
          </a:p>
          <a:p>
            <a:pPr marL="457200" indent="-457200" algn="just">
              <a:buFontTx/>
              <a:buChar char="-"/>
            </a:pPr>
            <a:endParaRPr lang="en-US" altLang="en-US" sz="800" dirty="0">
              <a:latin typeface="Arial" panose="020B0604020202020204" pitchFamily="34" charset="0"/>
              <a:ea typeface="Times New Roman" panose="02020603050405020304" pitchFamily="18" charset="0"/>
            </a:endParaRPr>
          </a:p>
          <a:p>
            <a:pPr marL="457200" indent="-457200" algn="just">
              <a:buFontTx/>
              <a:buChar char="-"/>
            </a:pPr>
            <a:endParaRPr lang="en-US" altLang="en-US" sz="800" dirty="0">
              <a:latin typeface="Arial" panose="020B0604020202020204" pitchFamily="34" charset="0"/>
              <a:ea typeface="Times New Roman" panose="02020603050405020304" pitchFamily="18" charset="0"/>
            </a:endParaRPr>
          </a:p>
          <a:p>
            <a:pPr marL="457200" indent="-457200" algn="just">
              <a:buFontTx/>
              <a:buChar char="-"/>
            </a:pPr>
            <a:endParaRPr lang="en-US" altLang="en-US" sz="800" dirty="0">
              <a:solidFill>
                <a:srgbClr val="2D2D2D"/>
              </a:solidFill>
              <a:latin typeface="Arial" panose="020B0604020202020204" pitchFamily="34" charset="0"/>
              <a:ea typeface="Times New Roman" panose="02020603050405020304" pitchFamily="18" charset="0"/>
            </a:endParaRPr>
          </a:p>
          <a:p>
            <a:pPr marL="457200" indent="-457200" algn="just">
              <a:buFontTx/>
              <a:buChar char="-"/>
            </a:pPr>
            <a:endParaRPr lang="en-US" altLang="en-US" sz="800" dirty="0">
              <a:solidFill>
                <a:srgbClr val="2D2D2D"/>
              </a:solidFill>
              <a:latin typeface="Arial" panose="020B0604020202020204" pitchFamily="34" charset="0"/>
              <a:ea typeface="Times New Roman" panose="02020603050405020304" pitchFamily="18" charset="0"/>
            </a:endParaRPr>
          </a:p>
          <a:p>
            <a:pPr algn="just"/>
            <a:endParaRPr lang="en-US" altLang="en-US" sz="2800" dirty="0">
              <a:latin typeface="Arial" panose="020B0604020202020204" pitchFamily="34" charset="0"/>
            </a:endParaRPr>
          </a:p>
          <a:p>
            <a:endParaRPr lang="en-US" sz="3200" b="1" dirty="0"/>
          </a:p>
        </p:txBody>
      </p:sp>
    </p:spTree>
    <p:extLst>
      <p:ext uri="{BB962C8B-B14F-4D97-AF65-F5344CB8AC3E}">
        <p14:creationId xmlns:p14="http://schemas.microsoft.com/office/powerpoint/2010/main" val="1178735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A6D930-3F52-4FD5-B2E8-5674B2506586}"/>
              </a:ext>
            </a:extLst>
          </p:cNvPr>
          <p:cNvSpPr/>
          <p:nvPr/>
        </p:nvSpPr>
        <p:spPr>
          <a:xfrm>
            <a:off x="57665" y="675442"/>
            <a:ext cx="11903676" cy="830997"/>
          </a:xfrm>
          <a:prstGeom prst="rect">
            <a:avLst/>
          </a:prstGeom>
        </p:spPr>
        <p:txBody>
          <a:bodyPr wrap="square">
            <a:spAutoFit/>
          </a:bodyPr>
          <a:lstStyle/>
          <a:p>
            <a:r>
              <a:rPr lang="en-US" sz="2400" dirty="0">
                <a:latin typeface="NimbusRomNo9L-Regu"/>
              </a:rPr>
              <a:t>The algorithm SLAPS is </a:t>
            </a:r>
            <a:r>
              <a:rPr lang="en-US" sz="2400" b="1" dirty="0">
                <a:solidFill>
                  <a:srgbClr val="FF0000"/>
                </a:solidFill>
                <a:latin typeface="NimbusRomNo9L-Regu"/>
              </a:rPr>
              <a:t>non-clairvoyant</a:t>
            </a:r>
            <a:r>
              <a:rPr lang="en-US" sz="2400" dirty="0">
                <a:latin typeface="NimbusRomNo9L-Regu"/>
              </a:rPr>
              <a:t> and local in the sense that if it is run on a machine, its scheduling decision relies only on the jobs assigned to the machine.</a:t>
            </a:r>
            <a:endParaRPr lang="en-US" sz="2400" dirty="0"/>
          </a:p>
        </p:txBody>
      </p:sp>
      <p:sp>
        <p:nvSpPr>
          <p:cNvPr id="3" name="Rectangle 2">
            <a:extLst>
              <a:ext uri="{FF2B5EF4-FFF2-40B4-BE49-F238E27FC236}">
                <a16:creationId xmlns:a16="http://schemas.microsoft.com/office/drawing/2014/main" id="{256BB047-EB4E-4381-897C-83E90788B828}"/>
              </a:ext>
            </a:extLst>
          </p:cNvPr>
          <p:cNvSpPr/>
          <p:nvPr/>
        </p:nvSpPr>
        <p:spPr>
          <a:xfrm>
            <a:off x="57665" y="1618309"/>
            <a:ext cx="12043719" cy="830997"/>
          </a:xfrm>
          <a:prstGeom prst="rect">
            <a:avLst/>
          </a:prstGeom>
        </p:spPr>
        <p:txBody>
          <a:bodyPr wrap="square">
            <a:spAutoFit/>
          </a:bodyPr>
          <a:lstStyle/>
          <a:p>
            <a:r>
              <a:rPr lang="en-US" sz="2400" dirty="0">
                <a:latin typeface="NimbusRomNo9L-Regu"/>
              </a:rPr>
              <a:t>Our algorithm SLAPS is parameterized by a non-negative integer </a:t>
            </a:r>
            <a:r>
              <a:rPr lang="en-US" sz="2400" dirty="0">
                <a:latin typeface="CMMI9"/>
              </a:rPr>
              <a:t>k</a:t>
            </a:r>
            <a:r>
              <a:rPr lang="en-US" sz="2400" dirty="0">
                <a:latin typeface="NimbusRomNo9L-Regu"/>
              </a:rPr>
              <a:t>, and we may use </a:t>
            </a:r>
            <a:r>
              <a:rPr lang="en-US" sz="2400" dirty="0" err="1">
                <a:solidFill>
                  <a:srgbClr val="00B0F0"/>
                </a:solidFill>
                <a:latin typeface="NimbusRomNo9L-Regu"/>
              </a:rPr>
              <a:t>SLAPS</a:t>
            </a:r>
            <a:r>
              <a:rPr lang="en-US" sz="2400" baseline="-25000" dirty="0" err="1">
                <a:solidFill>
                  <a:srgbClr val="00B0F0"/>
                </a:solidFill>
                <a:latin typeface="CMMI6"/>
              </a:rPr>
              <a:t>k</a:t>
            </a:r>
            <a:r>
              <a:rPr lang="en-US" sz="2400" dirty="0">
                <a:latin typeface="CMMI6"/>
              </a:rPr>
              <a:t> </a:t>
            </a:r>
            <a:r>
              <a:rPr lang="en-US" sz="2400" dirty="0">
                <a:latin typeface="NimbusRomNo9L-Regu"/>
              </a:rPr>
              <a:t>to highlight the parameter it uses.</a:t>
            </a:r>
            <a:endParaRPr lang="en-US" sz="2400" dirty="0"/>
          </a:p>
        </p:txBody>
      </p:sp>
      <p:sp>
        <p:nvSpPr>
          <p:cNvPr id="6" name="TextBox 5">
            <a:extLst>
              <a:ext uri="{FF2B5EF4-FFF2-40B4-BE49-F238E27FC236}">
                <a16:creationId xmlns:a16="http://schemas.microsoft.com/office/drawing/2014/main" id="{D48DC653-A009-469A-B50B-16A1D925DBFC}"/>
              </a:ext>
            </a:extLst>
          </p:cNvPr>
          <p:cNvSpPr txBox="1"/>
          <p:nvPr/>
        </p:nvSpPr>
        <p:spPr>
          <a:xfrm>
            <a:off x="172994" y="181949"/>
            <a:ext cx="1399229" cy="369332"/>
          </a:xfrm>
          <a:prstGeom prst="rect">
            <a:avLst/>
          </a:prstGeom>
          <a:noFill/>
        </p:spPr>
        <p:txBody>
          <a:bodyPr wrap="none" rtlCol="0">
            <a:spAutoFit/>
          </a:bodyPr>
          <a:lstStyle/>
          <a:p>
            <a:r>
              <a:rPr lang="en-US" b="1" u="sng" dirty="0"/>
              <a:t>Contribution</a:t>
            </a:r>
          </a:p>
        </p:txBody>
      </p:sp>
      <p:sp>
        <p:nvSpPr>
          <p:cNvPr id="7" name="Rectangle 6">
            <a:extLst>
              <a:ext uri="{FF2B5EF4-FFF2-40B4-BE49-F238E27FC236}">
                <a16:creationId xmlns:a16="http://schemas.microsoft.com/office/drawing/2014/main" id="{BCD0457A-AF14-4637-A044-BC7640C24785}"/>
              </a:ext>
            </a:extLst>
          </p:cNvPr>
          <p:cNvSpPr/>
          <p:nvPr/>
        </p:nvSpPr>
        <p:spPr>
          <a:xfrm>
            <a:off x="148281" y="2823685"/>
            <a:ext cx="11813059" cy="923330"/>
          </a:xfrm>
          <a:prstGeom prst="rect">
            <a:avLst/>
          </a:prstGeom>
        </p:spPr>
        <p:txBody>
          <a:bodyPr wrap="square">
            <a:spAutoFit/>
          </a:bodyPr>
          <a:lstStyle/>
          <a:p>
            <a:r>
              <a:rPr lang="en-US" dirty="0">
                <a:latin typeface="NimbusRomNo9L-Regu"/>
              </a:rPr>
              <a:t>We show that the algorithm </a:t>
            </a:r>
            <a:r>
              <a:rPr lang="en-US" dirty="0">
                <a:solidFill>
                  <a:srgbClr val="00B0F0"/>
                </a:solidFill>
                <a:latin typeface="NimbusRomNo9L-Regu"/>
              </a:rPr>
              <a:t>Smoothed Latest Arrival Processor Sharing </a:t>
            </a:r>
            <a:r>
              <a:rPr lang="en-US" dirty="0">
                <a:latin typeface="NimbusRomNo9L-Regu"/>
              </a:rPr>
              <a:t>(SLAPS), which was introduced in a recent work by yields an </a:t>
            </a:r>
            <a:r>
              <a:rPr lang="en-US" dirty="0">
                <a:latin typeface="CMMI9"/>
              </a:rPr>
              <a:t>O</a:t>
            </a:r>
            <a:r>
              <a:rPr lang="en-US" dirty="0">
                <a:latin typeface="CMR9"/>
              </a:rPr>
              <a:t>(1</a:t>
            </a:r>
            <a:r>
              <a:rPr lang="en-US" dirty="0">
                <a:latin typeface="CMMI9"/>
              </a:rPr>
              <a:t>/</a:t>
            </a:r>
            <a:r>
              <a:rPr lang="en-US" dirty="0">
                <a:latin typeface="Times New Roman" panose="02020603050405020304" pitchFamily="18" charset="0"/>
                <a:cs typeface="Times New Roman" panose="02020603050405020304" pitchFamily="18" charset="0"/>
              </a:rPr>
              <a:t>ꜫ</a:t>
            </a:r>
            <a:r>
              <a:rPr lang="en-US" dirty="0">
                <a:latin typeface="CMR9"/>
              </a:rPr>
              <a:t>)</a:t>
            </a:r>
            <a:r>
              <a:rPr lang="en-US" dirty="0">
                <a:latin typeface="NimbusRomNo9L-Regu"/>
              </a:rPr>
              <a:t>-competitive schedule when given </a:t>
            </a:r>
            <a:r>
              <a:rPr lang="en-US" dirty="0">
                <a:latin typeface="CMR9"/>
              </a:rPr>
              <a:t>(1 +</a:t>
            </a:r>
            <a:r>
              <a:rPr lang="en-US" dirty="0">
                <a:latin typeface="Times New Roman" panose="02020603050405020304" pitchFamily="18" charset="0"/>
                <a:cs typeface="Times New Roman" panose="02020603050405020304" pitchFamily="18" charset="0"/>
              </a:rPr>
              <a:t> ꜫ</a:t>
            </a:r>
            <a:r>
              <a:rPr lang="en-US" dirty="0">
                <a:latin typeface="CMR9"/>
              </a:rPr>
              <a:t> ) </a:t>
            </a:r>
            <a:r>
              <a:rPr lang="en-US" dirty="0">
                <a:latin typeface="NimbusRomNo9L-Regu"/>
              </a:rPr>
              <a:t>speed. We also extend our result to </a:t>
            </a:r>
            <a:r>
              <a:rPr lang="en-US" dirty="0">
                <a:solidFill>
                  <a:srgbClr val="00B0F0"/>
                </a:solidFill>
                <a:latin typeface="NimbusRomNo9L-Regu"/>
              </a:rPr>
              <a:t>minimize total flow-time </a:t>
            </a:r>
            <a:r>
              <a:rPr lang="en-US" dirty="0">
                <a:latin typeface="NimbusRomNo9L-Regu"/>
              </a:rPr>
              <a:t>plus</a:t>
            </a:r>
          </a:p>
          <a:p>
            <a:r>
              <a:rPr lang="en-US" dirty="0">
                <a:solidFill>
                  <a:srgbClr val="FF0000"/>
                </a:solidFill>
                <a:latin typeface="NimbusRomNo9L-Regu"/>
              </a:rPr>
              <a:t>energy consumed</a:t>
            </a:r>
            <a:r>
              <a:rPr lang="en-US" dirty="0">
                <a:latin typeface="NimbusRomNo9L-Regu"/>
              </a:rPr>
              <a:t>.</a:t>
            </a:r>
            <a:endParaRPr lang="en-US" dirty="0"/>
          </a:p>
        </p:txBody>
      </p:sp>
    </p:spTree>
    <p:extLst>
      <p:ext uri="{BB962C8B-B14F-4D97-AF65-F5344CB8AC3E}">
        <p14:creationId xmlns:p14="http://schemas.microsoft.com/office/powerpoint/2010/main" val="3428352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78490E-2C93-473B-B525-D23842474555}"/>
              </a:ext>
            </a:extLst>
          </p:cNvPr>
          <p:cNvSpPr txBox="1"/>
          <p:nvPr/>
        </p:nvSpPr>
        <p:spPr>
          <a:xfrm>
            <a:off x="2237362" y="194554"/>
            <a:ext cx="7280391" cy="400110"/>
          </a:xfrm>
          <a:prstGeom prst="rect">
            <a:avLst/>
          </a:prstGeom>
          <a:noFill/>
        </p:spPr>
        <p:txBody>
          <a:bodyPr wrap="none" rtlCol="0">
            <a:spAutoFit/>
          </a:bodyPr>
          <a:lstStyle/>
          <a:p>
            <a:r>
              <a:rPr lang="en-US" sz="2000" b="1" u="sng" dirty="0"/>
              <a:t>Formula for Distribution of Total Processing Power Among the Jobs</a:t>
            </a:r>
          </a:p>
        </p:txBody>
      </p:sp>
      <p:pic>
        <p:nvPicPr>
          <p:cNvPr id="4" name="Picture 3">
            <a:extLst>
              <a:ext uri="{FF2B5EF4-FFF2-40B4-BE49-F238E27FC236}">
                <a16:creationId xmlns:a16="http://schemas.microsoft.com/office/drawing/2014/main" id="{F1012952-981C-45FC-AEEE-77D5FDA4C2DD}"/>
              </a:ext>
            </a:extLst>
          </p:cNvPr>
          <p:cNvPicPr>
            <a:picLocks noChangeAspect="1"/>
          </p:cNvPicPr>
          <p:nvPr/>
        </p:nvPicPr>
        <p:blipFill>
          <a:blip r:embed="rId2"/>
          <a:stretch>
            <a:fillRect/>
          </a:stretch>
        </p:blipFill>
        <p:spPr>
          <a:xfrm>
            <a:off x="119270" y="723568"/>
            <a:ext cx="11624807" cy="2934031"/>
          </a:xfrm>
          <a:prstGeom prst="rect">
            <a:avLst/>
          </a:prstGeom>
        </p:spPr>
      </p:pic>
      <p:pic>
        <p:nvPicPr>
          <p:cNvPr id="5" name="Picture 4">
            <a:extLst>
              <a:ext uri="{FF2B5EF4-FFF2-40B4-BE49-F238E27FC236}">
                <a16:creationId xmlns:a16="http://schemas.microsoft.com/office/drawing/2014/main" id="{EB6D88D7-8F5A-4451-B8F9-44C0B12F3F40}"/>
              </a:ext>
            </a:extLst>
          </p:cNvPr>
          <p:cNvPicPr>
            <a:picLocks noChangeAspect="1"/>
          </p:cNvPicPr>
          <p:nvPr/>
        </p:nvPicPr>
        <p:blipFill>
          <a:blip r:embed="rId3"/>
          <a:stretch>
            <a:fillRect/>
          </a:stretch>
        </p:blipFill>
        <p:spPr>
          <a:xfrm>
            <a:off x="318052" y="3848432"/>
            <a:ext cx="11624807" cy="2663686"/>
          </a:xfrm>
          <a:prstGeom prst="rect">
            <a:avLst/>
          </a:prstGeom>
        </p:spPr>
      </p:pic>
    </p:spTree>
    <p:extLst>
      <p:ext uri="{BB962C8B-B14F-4D97-AF65-F5344CB8AC3E}">
        <p14:creationId xmlns:p14="http://schemas.microsoft.com/office/powerpoint/2010/main" val="2335949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8DFB91-D2C7-4BE7-BF01-13329BF70D64}"/>
              </a:ext>
            </a:extLst>
          </p:cNvPr>
          <p:cNvPicPr>
            <a:picLocks noChangeAspect="1"/>
          </p:cNvPicPr>
          <p:nvPr/>
        </p:nvPicPr>
        <p:blipFill>
          <a:blip r:embed="rId2"/>
          <a:stretch>
            <a:fillRect/>
          </a:stretch>
        </p:blipFill>
        <p:spPr>
          <a:xfrm>
            <a:off x="316395" y="252743"/>
            <a:ext cx="11173240" cy="1973622"/>
          </a:xfrm>
          <a:prstGeom prst="rect">
            <a:avLst/>
          </a:prstGeom>
        </p:spPr>
      </p:pic>
      <p:sp>
        <p:nvSpPr>
          <p:cNvPr id="5" name="TextBox 4">
            <a:extLst>
              <a:ext uri="{FF2B5EF4-FFF2-40B4-BE49-F238E27FC236}">
                <a16:creationId xmlns:a16="http://schemas.microsoft.com/office/drawing/2014/main" id="{B2DA2C1E-9B83-4372-9D0D-D1447312A32D}"/>
              </a:ext>
            </a:extLst>
          </p:cNvPr>
          <p:cNvSpPr txBox="1"/>
          <p:nvPr/>
        </p:nvSpPr>
        <p:spPr>
          <a:xfrm>
            <a:off x="387225" y="3252083"/>
            <a:ext cx="11417549" cy="1569660"/>
          </a:xfrm>
          <a:prstGeom prst="rect">
            <a:avLst/>
          </a:prstGeom>
          <a:noFill/>
        </p:spPr>
        <p:txBody>
          <a:bodyPr wrap="none" rtlCol="0">
            <a:spAutoFit/>
          </a:bodyPr>
          <a:lstStyle/>
          <a:p>
            <a:r>
              <a:rPr lang="en-US" sz="3200" b="1" i="1" dirty="0"/>
              <a:t>The advantage of this theorem is that it tells us the value of </a:t>
            </a:r>
            <a:r>
              <a:rPr lang="en-US" sz="3200" b="1" i="1" dirty="0">
                <a:solidFill>
                  <a:srgbClr val="00B0F0"/>
                </a:solidFill>
              </a:rPr>
              <a:t>k, i.e. </a:t>
            </a:r>
          </a:p>
          <a:p>
            <a:endParaRPr lang="en-US" sz="3200" b="1" i="1" dirty="0">
              <a:solidFill>
                <a:srgbClr val="00B0F0"/>
              </a:solidFill>
            </a:endParaRPr>
          </a:p>
          <a:p>
            <a:r>
              <a:rPr lang="en-US" sz="3200" b="1" i="1" dirty="0">
                <a:solidFill>
                  <a:srgbClr val="00B0F0"/>
                </a:solidFill>
              </a:rPr>
              <a:t>k=1</a:t>
            </a:r>
          </a:p>
        </p:txBody>
      </p:sp>
    </p:spTree>
    <p:extLst>
      <p:ext uri="{BB962C8B-B14F-4D97-AF65-F5344CB8AC3E}">
        <p14:creationId xmlns:p14="http://schemas.microsoft.com/office/powerpoint/2010/main" val="213994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202AA2-516A-47D5-9D6E-D92843C3B778}"/>
              </a:ext>
            </a:extLst>
          </p:cNvPr>
          <p:cNvPicPr>
            <a:picLocks noChangeAspect="1"/>
          </p:cNvPicPr>
          <p:nvPr/>
        </p:nvPicPr>
        <p:blipFill>
          <a:blip r:embed="rId2"/>
          <a:stretch>
            <a:fillRect/>
          </a:stretch>
        </p:blipFill>
        <p:spPr>
          <a:xfrm>
            <a:off x="4943475" y="3148033"/>
            <a:ext cx="1962150" cy="752475"/>
          </a:xfrm>
          <a:prstGeom prst="rect">
            <a:avLst/>
          </a:prstGeom>
        </p:spPr>
      </p:pic>
      <p:pic>
        <p:nvPicPr>
          <p:cNvPr id="4" name="Picture 3">
            <a:extLst>
              <a:ext uri="{FF2B5EF4-FFF2-40B4-BE49-F238E27FC236}">
                <a16:creationId xmlns:a16="http://schemas.microsoft.com/office/drawing/2014/main" id="{CAC21C1F-D73A-4376-9032-D529F1E4106A}"/>
              </a:ext>
            </a:extLst>
          </p:cNvPr>
          <p:cNvPicPr>
            <a:picLocks noChangeAspect="1"/>
          </p:cNvPicPr>
          <p:nvPr/>
        </p:nvPicPr>
        <p:blipFill>
          <a:blip r:embed="rId3"/>
          <a:stretch>
            <a:fillRect/>
          </a:stretch>
        </p:blipFill>
        <p:spPr>
          <a:xfrm>
            <a:off x="842839" y="255519"/>
            <a:ext cx="11028458" cy="2609850"/>
          </a:xfrm>
          <a:prstGeom prst="rect">
            <a:avLst/>
          </a:prstGeom>
        </p:spPr>
      </p:pic>
      <p:pic>
        <p:nvPicPr>
          <p:cNvPr id="5" name="Picture 4">
            <a:extLst>
              <a:ext uri="{FF2B5EF4-FFF2-40B4-BE49-F238E27FC236}">
                <a16:creationId xmlns:a16="http://schemas.microsoft.com/office/drawing/2014/main" id="{7BBD29B4-7959-403D-BE3E-D7AF7114CF0D}"/>
              </a:ext>
            </a:extLst>
          </p:cNvPr>
          <p:cNvPicPr>
            <a:picLocks noChangeAspect="1"/>
          </p:cNvPicPr>
          <p:nvPr/>
        </p:nvPicPr>
        <p:blipFill>
          <a:blip r:embed="rId4"/>
          <a:stretch>
            <a:fillRect/>
          </a:stretch>
        </p:blipFill>
        <p:spPr>
          <a:xfrm>
            <a:off x="4731026" y="3992632"/>
            <a:ext cx="2517499" cy="752475"/>
          </a:xfrm>
          <a:prstGeom prst="rect">
            <a:avLst/>
          </a:prstGeom>
        </p:spPr>
      </p:pic>
    </p:spTree>
    <p:extLst>
      <p:ext uri="{BB962C8B-B14F-4D97-AF65-F5344CB8AC3E}">
        <p14:creationId xmlns:p14="http://schemas.microsoft.com/office/powerpoint/2010/main" val="2446382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8C0527-1DEE-4A2E-9226-65C13AB60FB8}"/>
              </a:ext>
            </a:extLst>
          </p:cNvPr>
          <p:cNvPicPr>
            <a:picLocks noChangeAspect="1"/>
          </p:cNvPicPr>
          <p:nvPr/>
        </p:nvPicPr>
        <p:blipFill>
          <a:blip r:embed="rId2"/>
          <a:stretch>
            <a:fillRect/>
          </a:stretch>
        </p:blipFill>
        <p:spPr>
          <a:xfrm>
            <a:off x="675861" y="572494"/>
            <a:ext cx="10853529" cy="4542431"/>
          </a:xfrm>
          <a:prstGeom prst="rect">
            <a:avLst/>
          </a:prstGeom>
        </p:spPr>
      </p:pic>
      <p:sp>
        <p:nvSpPr>
          <p:cNvPr id="2" name="TextBox 1">
            <a:extLst>
              <a:ext uri="{FF2B5EF4-FFF2-40B4-BE49-F238E27FC236}">
                <a16:creationId xmlns:a16="http://schemas.microsoft.com/office/drawing/2014/main" id="{0FA5479C-9ECF-4E4C-B4CC-B5E29D382E74}"/>
              </a:ext>
            </a:extLst>
          </p:cNvPr>
          <p:cNvSpPr txBox="1"/>
          <p:nvPr/>
        </p:nvSpPr>
        <p:spPr>
          <a:xfrm>
            <a:off x="0" y="5383032"/>
            <a:ext cx="11583877" cy="954107"/>
          </a:xfrm>
          <a:prstGeom prst="rect">
            <a:avLst/>
          </a:prstGeom>
          <a:noFill/>
        </p:spPr>
        <p:txBody>
          <a:bodyPr wrap="none" rtlCol="0">
            <a:spAutoFit/>
          </a:bodyPr>
          <a:lstStyle/>
          <a:p>
            <a:r>
              <a:rPr lang="en-US" sz="2800" dirty="0"/>
              <a:t>Where </a:t>
            </a:r>
            <a:r>
              <a:rPr lang="en-US" sz="2800" dirty="0" err="1"/>
              <a:t>nt</a:t>
            </a:r>
            <a:r>
              <a:rPr lang="en-US" sz="2800" dirty="0"/>
              <a:t> is the number of alive jobs amongst 1, 2, ……. N during [t, </a:t>
            </a:r>
            <a:r>
              <a:rPr lang="en-US" sz="2800" dirty="0" err="1"/>
              <a:t>t+dt</a:t>
            </a:r>
            <a:r>
              <a:rPr lang="en-US" sz="2800" dirty="0"/>
              <a:t>] time </a:t>
            </a:r>
          </a:p>
          <a:p>
            <a:r>
              <a:rPr lang="en-US" sz="2800" dirty="0"/>
              <a:t>interval</a:t>
            </a:r>
          </a:p>
        </p:txBody>
      </p:sp>
    </p:spTree>
    <p:extLst>
      <p:ext uri="{BB962C8B-B14F-4D97-AF65-F5344CB8AC3E}">
        <p14:creationId xmlns:p14="http://schemas.microsoft.com/office/powerpoint/2010/main" val="3282182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FC9DF-78C8-47D3-B0E3-6913D478D27F}"/>
              </a:ext>
            </a:extLst>
          </p:cNvPr>
          <p:cNvSpPr txBox="1"/>
          <p:nvPr/>
        </p:nvSpPr>
        <p:spPr>
          <a:xfrm>
            <a:off x="101600" y="148492"/>
            <a:ext cx="12090400" cy="4893647"/>
          </a:xfrm>
          <a:prstGeom prst="rect">
            <a:avLst/>
          </a:prstGeom>
          <a:noFill/>
        </p:spPr>
        <p:txBody>
          <a:bodyPr wrap="square" rtlCol="0">
            <a:spAutoFit/>
          </a:bodyPr>
          <a:lstStyle/>
          <a:p>
            <a:r>
              <a:rPr lang="en-US" sz="2400" b="1" u="sng" dirty="0"/>
              <a:t>References</a:t>
            </a:r>
            <a:endParaRPr lang="en-US" sz="2400" b="1" dirty="0"/>
          </a:p>
          <a:p>
            <a:r>
              <a:rPr lang="en-US" sz="2400" b="1" dirty="0"/>
              <a:t>[1] Vincent </a:t>
            </a:r>
            <a:r>
              <a:rPr lang="en-US" sz="2400" b="1" dirty="0" err="1"/>
              <a:t>Conitzer</a:t>
            </a:r>
            <a:r>
              <a:rPr lang="en-US" sz="2400" b="1" dirty="0"/>
              <a:t> and Rupert Freeman, Algorithmically Driven Shared Ownership Economies, 2019</a:t>
            </a:r>
          </a:p>
          <a:p>
            <a:r>
              <a:rPr lang="en-US" sz="2400" b="1" dirty="0">
                <a:hlinkClick r:id="rId3"/>
              </a:rPr>
              <a:t>https://rd.springer.com/chapter/10.1007/978-3-030-18050-8_38</a:t>
            </a:r>
            <a:endParaRPr lang="en-US" sz="2400" b="1" dirty="0"/>
          </a:p>
          <a:p>
            <a:endParaRPr lang="en-US" sz="2400" b="1" dirty="0"/>
          </a:p>
          <a:p>
            <a:r>
              <a:rPr lang="en-US" sz="2400" b="1" dirty="0"/>
              <a:t>[2] Alon Eden† Michal Feldman‡ Amos Fiat§ </a:t>
            </a:r>
            <a:r>
              <a:rPr lang="en-US" sz="2400" b="1" dirty="0" err="1"/>
              <a:t>Tzahi</a:t>
            </a:r>
            <a:r>
              <a:rPr lang="en-US" sz="2400" b="1" dirty="0"/>
              <a:t> Taub, Prompt Scheduling for Selfish Agents, 2018</a:t>
            </a:r>
          </a:p>
          <a:p>
            <a:r>
              <a:rPr lang="en-US" sz="2400" dirty="0">
                <a:hlinkClick r:id="rId4"/>
              </a:rPr>
              <a:t>https://www.semanticscholar.org/paper/Prompt-Scheduling-for-Selfish-Agents-Eden-Feldman/eeed3d80aeae28102f7aa25492a5a23fc57aa7c7</a:t>
            </a:r>
            <a:endParaRPr lang="en-US" sz="2400" dirty="0"/>
          </a:p>
          <a:p>
            <a:endParaRPr lang="en-US" sz="2400" b="1" dirty="0"/>
          </a:p>
          <a:p>
            <a:r>
              <a:rPr lang="en-US" sz="2400" b="1" dirty="0"/>
              <a:t>[3] S. </a:t>
            </a:r>
            <a:r>
              <a:rPr lang="en-US" sz="2400" b="1" dirty="0" err="1"/>
              <a:t>Rasoul</a:t>
            </a:r>
            <a:r>
              <a:rPr lang="en-US" sz="2400" b="1" dirty="0"/>
              <a:t> </a:t>
            </a:r>
            <a:r>
              <a:rPr lang="en-US" sz="2400" b="1" dirty="0" err="1"/>
              <a:t>Etesami</a:t>
            </a:r>
            <a:r>
              <a:rPr lang="en-US" sz="2400" b="1" dirty="0"/>
              <a:t>, A Unifying Optimal Control Framework for Online Job Scheduling with General Cost Functions, 2019</a:t>
            </a:r>
          </a:p>
          <a:p>
            <a:r>
              <a:rPr lang="en-US" sz="2400" dirty="0">
                <a:hlinkClick r:id="rId5"/>
              </a:rPr>
              <a:t> https://arxiv.org/abs/1906.02644</a:t>
            </a:r>
            <a:endParaRPr lang="en-US" sz="2400" b="1" dirty="0"/>
          </a:p>
        </p:txBody>
      </p:sp>
    </p:spTree>
    <p:extLst>
      <p:ext uri="{BB962C8B-B14F-4D97-AF65-F5344CB8AC3E}">
        <p14:creationId xmlns:p14="http://schemas.microsoft.com/office/powerpoint/2010/main" val="999722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1758</TotalTime>
  <Words>1238</Words>
  <Application>Microsoft Office PowerPoint</Application>
  <PresentationFormat>Widescreen</PresentationFormat>
  <Paragraphs>111</Paragraphs>
  <Slides>16</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Calibri</vt:lpstr>
      <vt:lpstr>Calibri Light</vt:lpstr>
      <vt:lpstr>CMMI6</vt:lpstr>
      <vt:lpstr>CMMI9</vt:lpstr>
      <vt:lpstr>CMR9</vt:lpstr>
      <vt:lpstr>NimbusRomNo9L-Regu</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Zulfiqar Khan</dc:creator>
  <cp:lastModifiedBy>Zulfiqar Khan</cp:lastModifiedBy>
  <cp:revision>204</cp:revision>
  <dcterms:created xsi:type="dcterms:W3CDTF">2020-02-03T00:11:08Z</dcterms:created>
  <dcterms:modified xsi:type="dcterms:W3CDTF">2020-02-18T16:40:52Z</dcterms:modified>
</cp:coreProperties>
</file>