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4"/>
  </p:sldMasterIdLst>
  <p:sldIdLst>
    <p:sldId id="256" r:id="rId5"/>
    <p:sldId id="259" r:id="rId6"/>
    <p:sldId id="261" r:id="rId7"/>
    <p:sldId id="336" r:id="rId8"/>
    <p:sldId id="290" r:id="rId9"/>
    <p:sldId id="291" r:id="rId10"/>
    <p:sldId id="294" r:id="rId11"/>
    <p:sldId id="296" r:id="rId12"/>
    <p:sldId id="303" r:id="rId13"/>
    <p:sldId id="264" r:id="rId14"/>
    <p:sldId id="311" r:id="rId15"/>
    <p:sldId id="314" r:id="rId16"/>
    <p:sldId id="324" r:id="rId17"/>
    <p:sldId id="340" r:id="rId18"/>
    <p:sldId id="338" r:id="rId19"/>
    <p:sldId id="326" r:id="rId20"/>
    <p:sldId id="328" r:id="rId21"/>
    <p:sldId id="333" r:id="rId22"/>
    <p:sldId id="274" r:id="rId23"/>
    <p:sldId id="334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3187A5-B926-4CC1-8E5D-9294F0863F1B}">
          <p14:sldIdLst>
            <p14:sldId id="256"/>
            <p14:sldId id="259"/>
            <p14:sldId id="261"/>
            <p14:sldId id="336"/>
            <p14:sldId id="290"/>
            <p14:sldId id="291"/>
            <p14:sldId id="294"/>
            <p14:sldId id="296"/>
            <p14:sldId id="303"/>
            <p14:sldId id="264"/>
            <p14:sldId id="311"/>
            <p14:sldId id="314"/>
            <p14:sldId id="324"/>
            <p14:sldId id="340"/>
            <p14:sldId id="338"/>
            <p14:sldId id="326"/>
            <p14:sldId id="328"/>
            <p14:sldId id="333"/>
            <p14:sldId id="274"/>
            <p14:sldId id="334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6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4" d="100"/>
          <a:sy n="64" d="100"/>
        </p:scale>
        <p:origin x="852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68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79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1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6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8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6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23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485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666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95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008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5194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48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480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449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76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5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73ED0CC-082F-4160-86E5-0D6041F12778}" type="datetime1">
              <a:rPr lang="en-US" smtClean="0"/>
              <a:t>3/13/2020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518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senix.org/system/files/conference/osdi14/osdi14-paper-hawblitzel.pd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jf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jf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f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fif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35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image" Target="../media/image34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2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jpe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115ECC-02DD-4D86-A9A5-C10B6CE3AE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073" b="4657"/>
          <a:stretch/>
        </p:blipFill>
        <p:spPr>
          <a:xfrm>
            <a:off x="-2288830" y="-1557313"/>
            <a:ext cx="17277674" cy="971869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15248A-B394-4FCC-9AB5-61EC7E98FE56}"/>
              </a:ext>
            </a:extLst>
          </p:cNvPr>
          <p:cNvSpPr/>
          <p:nvPr/>
        </p:nvSpPr>
        <p:spPr>
          <a:xfrm>
            <a:off x="2247935" y="332509"/>
            <a:ext cx="8749804" cy="58315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E9FF7-F601-41C7-B892-B4EF0AF7B98F}"/>
              </a:ext>
            </a:extLst>
          </p:cNvPr>
          <p:cNvSpPr txBox="1"/>
          <p:nvPr/>
        </p:nvSpPr>
        <p:spPr>
          <a:xfrm>
            <a:off x="3534660" y="4386059"/>
            <a:ext cx="694222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https://www.usenix.org/system/files/conference/osdi14/osdi14-paper-hawblitzel.pdf</a:t>
            </a:r>
            <a:endParaRPr lang="en-US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Course: Advance Operating System</a:t>
            </a:r>
          </a:p>
          <a:p>
            <a:pPr algn="ctr"/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Talk Given By: Manisha Wakase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1F45E-ABB2-4F4F-82DA-FA2097ACD068}"/>
              </a:ext>
            </a:extLst>
          </p:cNvPr>
          <p:cNvSpPr txBox="1"/>
          <p:nvPr/>
        </p:nvSpPr>
        <p:spPr>
          <a:xfrm>
            <a:off x="2626823" y="1722204"/>
            <a:ext cx="8296102" cy="2400657"/>
          </a:xfrm>
          <a:prstGeom prst="rect">
            <a:avLst/>
          </a:prstGeom>
          <a:solidFill>
            <a:schemeClr val="bg1"/>
          </a:solidFill>
          <a:effectLst>
            <a:outerShdw blurRad="50800" dist="38100" dir="16200000" rotWithShape="0">
              <a:srgbClr val="FFFF00">
                <a:alpha val="40000"/>
              </a:srgbClr>
            </a:outerShdw>
            <a:reflection stA="45000" endPos="7000" dist="50800" dir="5400000" sy="-100000" algn="bl" rotWithShape="0"/>
          </a:effectLst>
          <a:scene3d>
            <a:camera prst="orthographicFront"/>
            <a:lightRig rig="threePt" dir="t"/>
          </a:scene3d>
          <a:sp3d extrusionH="76200" contourW="12700">
            <a:bevelT w="63500" prst="angle"/>
            <a:extrusionClr>
              <a:schemeClr val="tx1"/>
            </a:extrusionClr>
            <a:contourClr>
              <a:schemeClr val="tx1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Ironclad Apps: End-to-End Security via Automated Full-System Verification</a:t>
            </a:r>
            <a:endParaRPr lang="en-US" sz="4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2" name="Star: 5 Points 1">
            <a:extLst>
              <a:ext uri="{FF2B5EF4-FFF2-40B4-BE49-F238E27FC236}">
                <a16:creationId xmlns:a16="http://schemas.microsoft.com/office/drawing/2014/main" id="{8ECE7119-582D-4349-93A9-ACBCA12C8074}"/>
              </a:ext>
            </a:extLst>
          </p:cNvPr>
          <p:cNvSpPr/>
          <p:nvPr/>
        </p:nvSpPr>
        <p:spPr>
          <a:xfrm>
            <a:off x="4299714" y="1021109"/>
            <a:ext cx="394944" cy="190304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863A6744-DAC6-4642-A433-3E2ED0E178FD}"/>
              </a:ext>
            </a:extLst>
          </p:cNvPr>
          <p:cNvSpPr/>
          <p:nvPr/>
        </p:nvSpPr>
        <p:spPr>
          <a:xfrm>
            <a:off x="5358088" y="665857"/>
            <a:ext cx="373004" cy="271116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78A11829-8D2C-45E3-8CF7-F9E81DF8906D}"/>
              </a:ext>
            </a:extLst>
          </p:cNvPr>
          <p:cNvSpPr/>
          <p:nvPr/>
        </p:nvSpPr>
        <p:spPr>
          <a:xfrm>
            <a:off x="5735357" y="1245673"/>
            <a:ext cx="455280" cy="271116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036FE2D3-7933-44D3-BE1E-5C1CC54BC99F}"/>
              </a:ext>
            </a:extLst>
          </p:cNvPr>
          <p:cNvSpPr/>
          <p:nvPr/>
        </p:nvSpPr>
        <p:spPr>
          <a:xfrm>
            <a:off x="3072201" y="1073058"/>
            <a:ext cx="394944" cy="288248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F8E70C32-D2EF-4F20-BC9B-D07E3F81F5CD}"/>
              </a:ext>
            </a:extLst>
          </p:cNvPr>
          <p:cNvSpPr/>
          <p:nvPr/>
        </p:nvSpPr>
        <p:spPr>
          <a:xfrm>
            <a:off x="7991541" y="732566"/>
            <a:ext cx="584184" cy="405568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DFD0C189-9385-41DD-888E-CE21509E8B61}"/>
              </a:ext>
            </a:extLst>
          </p:cNvPr>
          <p:cNvSpPr/>
          <p:nvPr/>
        </p:nvSpPr>
        <p:spPr>
          <a:xfrm>
            <a:off x="7356028" y="1019983"/>
            <a:ext cx="394944" cy="348422"/>
          </a:xfrm>
          <a:prstGeom prst="star5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6D01DFB0-90C9-48B0-A11B-DA783AE83FB4}"/>
              </a:ext>
            </a:extLst>
          </p:cNvPr>
          <p:cNvSpPr/>
          <p:nvPr/>
        </p:nvSpPr>
        <p:spPr>
          <a:xfrm>
            <a:off x="9852333" y="885862"/>
            <a:ext cx="340090" cy="279914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05BFBD58-7261-4FBC-B085-3CD4696DF9F4}"/>
              </a:ext>
            </a:extLst>
          </p:cNvPr>
          <p:cNvSpPr/>
          <p:nvPr/>
        </p:nvSpPr>
        <p:spPr>
          <a:xfrm>
            <a:off x="8631352" y="1212957"/>
            <a:ext cx="394945" cy="24604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4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60000"/>
                <a:lumOff val="40000"/>
              </a:schemeClr>
            </a:gs>
            <a:gs pos="0">
              <a:srgbClr val="3563AD"/>
            </a:gs>
            <a:gs pos="97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8A187790-FFC9-4303-9922-C6B49ADE4DE3}"/>
              </a:ext>
            </a:extLst>
          </p:cNvPr>
          <p:cNvSpPr/>
          <p:nvPr/>
        </p:nvSpPr>
        <p:spPr>
          <a:xfrm>
            <a:off x="3215738" y="860137"/>
            <a:ext cx="77404" cy="27905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91186" y="0"/>
                </a:moveTo>
                <a:lnTo>
                  <a:pt x="0" y="91185"/>
                </a:lnTo>
                <a:lnTo>
                  <a:pt x="72898" y="72897"/>
                </a:lnTo>
                <a:lnTo>
                  <a:pt x="91186" y="0"/>
                </a:lnTo>
                <a:close/>
              </a:path>
            </a:pathLst>
          </a:custGeom>
          <a:solidFill>
            <a:srgbClr val="5A8A39"/>
          </a:solidFill>
        </p:spPr>
        <p:txBody>
          <a:bodyPr wrap="square" lIns="0" tIns="0" rIns="0" bIns="0" rtlCol="0"/>
          <a:lstStyle/>
          <a:p>
            <a:endParaRPr>
              <a:highlight>
                <a:srgbClr val="FF0000"/>
              </a:highlight>
            </a:endParaRPr>
          </a:p>
        </p:txBody>
      </p:sp>
      <p:sp>
        <p:nvSpPr>
          <p:cNvPr id="5" name="object 17">
            <a:extLst>
              <a:ext uri="{FF2B5EF4-FFF2-40B4-BE49-F238E27FC236}">
                <a16:creationId xmlns:a16="http://schemas.microsoft.com/office/drawing/2014/main" id="{3884A44F-5471-4E0E-9CA2-BFC693CB8AB5}"/>
              </a:ext>
            </a:extLst>
          </p:cNvPr>
          <p:cNvSpPr/>
          <p:nvPr/>
        </p:nvSpPr>
        <p:spPr>
          <a:xfrm>
            <a:off x="7812658" y="2402022"/>
            <a:ext cx="1289210" cy="14318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AE7A4687-3BF1-4188-9413-93040260F0AC}"/>
              </a:ext>
            </a:extLst>
          </p:cNvPr>
          <p:cNvSpPr/>
          <p:nvPr/>
        </p:nvSpPr>
        <p:spPr>
          <a:xfrm>
            <a:off x="3293142" y="4724400"/>
            <a:ext cx="3152274" cy="1273463"/>
          </a:xfrm>
          <a:prstGeom prst="cloudCallout">
            <a:avLst>
              <a:gd name="adj1" fmla="val -15788"/>
              <a:gd name="adj2" fmla="val 45642"/>
            </a:avLst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FE82C90-40EE-480B-88C8-96E75962B125}"/>
              </a:ext>
            </a:extLst>
          </p:cNvPr>
          <p:cNvSpPr/>
          <p:nvPr/>
        </p:nvSpPr>
        <p:spPr>
          <a:xfrm>
            <a:off x="1993913" y="5257801"/>
            <a:ext cx="7454698" cy="217018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29BB3DC9-781B-4F97-AA01-7B3B4A9370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235" y="1299414"/>
            <a:ext cx="1672386" cy="1672386"/>
          </a:xfrm>
          <a:prstGeom prst="rect">
            <a:avLst/>
          </a:prstGeom>
        </p:spPr>
      </p:pic>
      <p:sp>
        <p:nvSpPr>
          <p:cNvPr id="9" name="object 20">
            <a:extLst>
              <a:ext uri="{FF2B5EF4-FFF2-40B4-BE49-F238E27FC236}">
                <a16:creationId xmlns:a16="http://schemas.microsoft.com/office/drawing/2014/main" id="{6F985A89-9328-41C3-A521-0D615F0C3DF2}"/>
              </a:ext>
            </a:extLst>
          </p:cNvPr>
          <p:cNvSpPr txBox="1"/>
          <p:nvPr/>
        </p:nvSpPr>
        <p:spPr>
          <a:xfrm>
            <a:off x="76200" y="1192697"/>
            <a:ext cx="6805866" cy="1890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78435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She has vague legal guarantees provided</a:t>
            </a:r>
          </a:p>
          <a:p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   by the service’s privacy policy.</a:t>
            </a:r>
          </a:p>
          <a:p>
            <a:pPr marL="299085" marR="5080" indent="-287020">
              <a:lnSpc>
                <a:spcPts val="2160"/>
              </a:lnSpc>
              <a:spcBef>
                <a:spcPts val="1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And guaranty that they are 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periodically review </a:t>
            </a: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their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operations and business practices to make sure they comply with the corporate policies and</a:t>
            </a: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procedures;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follow to protect</a:t>
            </a: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confidential information</a:t>
            </a:r>
            <a:r>
              <a:rPr lang="en-US" sz="2400" spc="-5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2400" spc="-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0DA7A4E1-F484-46BE-A834-9A3C4CA0D925}"/>
              </a:ext>
            </a:extLst>
          </p:cNvPr>
          <p:cNvSpPr txBox="1">
            <a:spLocks/>
          </p:cNvSpPr>
          <p:nvPr/>
        </p:nvSpPr>
        <p:spPr>
          <a:xfrm>
            <a:off x="270344" y="512721"/>
            <a:ext cx="5949986" cy="50590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Online and Mobile</a:t>
            </a:r>
            <a:r>
              <a:rPr lang="en-US" sz="3200" b="1" spc="-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Content Placeholder 14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728ABCB2-5102-4901-A1CB-A7E51C35D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4613140"/>
            <a:ext cx="1917715" cy="1820354"/>
          </a:xfrm>
        </p:spPr>
      </p:pic>
      <p:pic>
        <p:nvPicPr>
          <p:cNvPr id="12" name="Picture 11" descr="A picture containing computer, table&#10;&#10;Description automatically generated">
            <a:extLst>
              <a:ext uri="{FF2B5EF4-FFF2-40B4-BE49-F238E27FC236}">
                <a16:creationId xmlns:a16="http://schemas.microsoft.com/office/drawing/2014/main" id="{04354507-4B76-433F-9A29-71B0263198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611" y="4169897"/>
            <a:ext cx="2203900" cy="2524530"/>
          </a:xfrm>
          <a:prstGeom prst="rect">
            <a:avLst/>
          </a:prstGeom>
        </p:spPr>
      </p:pic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149D4B5-EEA2-41F2-9908-48F3CDBD70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57" y="570773"/>
            <a:ext cx="1289211" cy="1470753"/>
          </a:xfrm>
          <a:prstGeom prst="rect">
            <a:avLst/>
          </a:prstGeom>
        </p:spPr>
      </p:pic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73C52795-4858-4F5C-B6F5-40620ED3EDB3}"/>
              </a:ext>
            </a:extLst>
          </p:cNvPr>
          <p:cNvSpPr/>
          <p:nvPr/>
        </p:nvSpPr>
        <p:spPr>
          <a:xfrm>
            <a:off x="2544138" y="4138027"/>
            <a:ext cx="970547" cy="1030701"/>
          </a:xfrm>
          <a:prstGeom prst="flowChartMultidocumen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Data</a:t>
            </a:r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F40E458D-DE81-4514-B1ED-115F1E3881B3}"/>
              </a:ext>
            </a:extLst>
          </p:cNvPr>
          <p:cNvSpPr/>
          <p:nvPr/>
        </p:nvSpPr>
        <p:spPr>
          <a:xfrm>
            <a:off x="5608757" y="5518270"/>
            <a:ext cx="2203900" cy="1273463"/>
          </a:xfrm>
          <a:prstGeom prst="cloudCallout">
            <a:avLst>
              <a:gd name="adj1" fmla="val -11814"/>
              <a:gd name="adj2" fmla="val 42520"/>
            </a:avLst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9F1C112A-A217-4049-9F91-3FED56EC7702}"/>
              </a:ext>
            </a:extLst>
          </p:cNvPr>
          <p:cNvSpPr/>
          <p:nvPr/>
        </p:nvSpPr>
        <p:spPr>
          <a:xfrm>
            <a:off x="7683079" y="4377714"/>
            <a:ext cx="970547" cy="1030701"/>
          </a:xfrm>
          <a:prstGeom prst="flowChartMultidocumen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31C7E1-2A44-4C30-AD4A-7DFA73A49936}"/>
              </a:ext>
            </a:extLst>
          </p:cNvPr>
          <p:cNvSpPr txBox="1"/>
          <p:nvPr/>
        </p:nvSpPr>
        <p:spPr>
          <a:xfrm>
            <a:off x="9271219" y="3697357"/>
            <a:ext cx="147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30424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/>
      <p:bldP spid="14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78656" y="479766"/>
            <a:ext cx="7284497" cy="1566057"/>
          </a:xfrm>
          <a:custGeom>
            <a:avLst/>
            <a:gdLst/>
            <a:ahLst/>
            <a:cxnLst/>
            <a:rect l="l" t="t" r="r" b="b"/>
            <a:pathLst>
              <a:path w="7391400" h="1896110">
                <a:moveTo>
                  <a:pt x="7075423" y="0"/>
                </a:moveTo>
                <a:lnTo>
                  <a:pt x="315975" y="0"/>
                </a:lnTo>
                <a:lnTo>
                  <a:pt x="269282" y="3426"/>
                </a:lnTo>
                <a:lnTo>
                  <a:pt x="224717" y="13378"/>
                </a:lnTo>
                <a:lnTo>
                  <a:pt x="182767" y="29369"/>
                </a:lnTo>
                <a:lnTo>
                  <a:pt x="143922" y="50908"/>
                </a:lnTo>
                <a:lnTo>
                  <a:pt x="108671" y="77507"/>
                </a:lnTo>
                <a:lnTo>
                  <a:pt x="77502" y="108676"/>
                </a:lnTo>
                <a:lnTo>
                  <a:pt x="50905" y="143928"/>
                </a:lnTo>
                <a:lnTo>
                  <a:pt x="29367" y="182773"/>
                </a:lnTo>
                <a:lnTo>
                  <a:pt x="13377" y="224721"/>
                </a:lnTo>
                <a:lnTo>
                  <a:pt x="3425" y="269285"/>
                </a:lnTo>
                <a:lnTo>
                  <a:pt x="0" y="315975"/>
                </a:lnTo>
                <a:lnTo>
                  <a:pt x="0" y="1579879"/>
                </a:lnTo>
                <a:lnTo>
                  <a:pt x="3425" y="1626570"/>
                </a:lnTo>
                <a:lnTo>
                  <a:pt x="13377" y="1671134"/>
                </a:lnTo>
                <a:lnTo>
                  <a:pt x="29367" y="1713082"/>
                </a:lnTo>
                <a:lnTo>
                  <a:pt x="50905" y="1751927"/>
                </a:lnTo>
                <a:lnTo>
                  <a:pt x="77502" y="1787179"/>
                </a:lnTo>
                <a:lnTo>
                  <a:pt x="108671" y="1818348"/>
                </a:lnTo>
                <a:lnTo>
                  <a:pt x="143922" y="1844947"/>
                </a:lnTo>
                <a:lnTo>
                  <a:pt x="182767" y="1866486"/>
                </a:lnTo>
                <a:lnTo>
                  <a:pt x="224717" y="1882477"/>
                </a:lnTo>
                <a:lnTo>
                  <a:pt x="269282" y="1892429"/>
                </a:lnTo>
                <a:lnTo>
                  <a:pt x="315975" y="1895855"/>
                </a:lnTo>
                <a:lnTo>
                  <a:pt x="7075423" y="1895855"/>
                </a:lnTo>
                <a:lnTo>
                  <a:pt x="7122114" y="1892429"/>
                </a:lnTo>
                <a:lnTo>
                  <a:pt x="7166678" y="1882477"/>
                </a:lnTo>
                <a:lnTo>
                  <a:pt x="7208626" y="1866486"/>
                </a:lnTo>
                <a:lnTo>
                  <a:pt x="7247471" y="1844947"/>
                </a:lnTo>
                <a:lnTo>
                  <a:pt x="7282723" y="1818348"/>
                </a:lnTo>
                <a:lnTo>
                  <a:pt x="7313892" y="1787179"/>
                </a:lnTo>
                <a:lnTo>
                  <a:pt x="7340491" y="1751927"/>
                </a:lnTo>
                <a:lnTo>
                  <a:pt x="7362030" y="1713082"/>
                </a:lnTo>
                <a:lnTo>
                  <a:pt x="7378021" y="1671134"/>
                </a:lnTo>
                <a:lnTo>
                  <a:pt x="7387973" y="1626570"/>
                </a:lnTo>
                <a:lnTo>
                  <a:pt x="7391400" y="1579879"/>
                </a:lnTo>
                <a:lnTo>
                  <a:pt x="7391400" y="315975"/>
                </a:lnTo>
                <a:lnTo>
                  <a:pt x="7387973" y="269285"/>
                </a:lnTo>
                <a:lnTo>
                  <a:pt x="7378021" y="224721"/>
                </a:lnTo>
                <a:lnTo>
                  <a:pt x="7362030" y="182773"/>
                </a:lnTo>
                <a:lnTo>
                  <a:pt x="7340491" y="143928"/>
                </a:lnTo>
                <a:lnTo>
                  <a:pt x="7313892" y="108676"/>
                </a:lnTo>
                <a:lnTo>
                  <a:pt x="7282723" y="77507"/>
                </a:lnTo>
                <a:lnTo>
                  <a:pt x="7247471" y="50908"/>
                </a:lnTo>
                <a:lnTo>
                  <a:pt x="7208626" y="29369"/>
                </a:lnTo>
                <a:lnTo>
                  <a:pt x="7166678" y="13378"/>
                </a:lnTo>
                <a:lnTo>
                  <a:pt x="7122114" y="3426"/>
                </a:lnTo>
                <a:lnTo>
                  <a:pt x="7075423" y="0"/>
                </a:lnTo>
                <a:close/>
              </a:path>
            </a:pathLst>
          </a:custGeom>
          <a:gradFill flip="none" rotWithShape="1">
            <a:gsLst>
              <a:gs pos="0">
                <a:srgbClr val="9ED8E2"/>
              </a:gs>
              <a:gs pos="99000">
                <a:srgbClr val="97A824"/>
              </a:gs>
              <a:gs pos="13000">
                <a:schemeClr val="accent3">
                  <a:lumMod val="7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  <a:gs pos="100000">
                <a:srgbClr val="EBF7F9"/>
              </a:gs>
              <a:gs pos="100000">
                <a:schemeClr val="accent1">
                  <a:lumMod val="20000"/>
                  <a:lumOff val="80000"/>
                </a:schemeClr>
              </a:gs>
            </a:gsLst>
            <a:path path="rect">
              <a:fillToRect l="100000" t="100000"/>
            </a:path>
            <a:tileRect r="-100000" b="-100000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1" y="604559"/>
            <a:ext cx="7010401" cy="1305485"/>
          </a:xfrm>
          <a:prstGeom prst="rect">
            <a:avLst/>
          </a:prstGeom>
        </p:spPr>
        <p:txBody>
          <a:bodyPr vert="horz" wrap="square" lIns="0" tIns="58419" rIns="0" bIns="0" rtlCol="0" anchor="ctr">
            <a:spAutoFit/>
          </a:bodyPr>
          <a:lstStyle/>
          <a:p>
            <a:pPr marL="12700" marR="5080">
              <a:spcBef>
                <a:spcPts val="459"/>
              </a:spcBef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sz="3000" i="1" dirty="0">
                <a:latin typeface="Calibri" panose="020F0502020204030204" pitchFamily="34" charset="0"/>
                <a:cs typeface="Calibri" panose="020F0502020204030204" pitchFamily="34" charset="0"/>
              </a:rPr>
              <a:t>ironclad app </a:t>
            </a:r>
            <a:r>
              <a:rPr lang="en-US" sz="3000" spc="-15" dirty="0">
                <a:latin typeface="Calibri" panose="020F0502020204030204" pitchFamily="34" charset="0"/>
                <a:cs typeface="Calibri" panose="020F0502020204030204" pitchFamily="34" charset="0"/>
              </a:rPr>
              <a:t>guarantees to remote</a:t>
            </a:r>
            <a:r>
              <a:rPr lang="en-US" sz="3000" spc="-1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spc="-10" dirty="0">
                <a:latin typeface="Calibri" panose="020F0502020204030204" pitchFamily="34" charset="0"/>
                <a:cs typeface="Calibri" panose="020F0502020204030204" pitchFamily="34" charset="0"/>
              </a:rPr>
              <a:t>parties  that every </a:t>
            </a:r>
            <a:r>
              <a:rPr lang="en-US" sz="3000" spc="-5" dirty="0">
                <a:latin typeface="Calibri" panose="020F0502020204030204" pitchFamily="34" charset="0"/>
                <a:cs typeface="Calibri" panose="020F0502020204030204" pitchFamily="34" charset="0"/>
              </a:rPr>
              <a:t>instruction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it </a:t>
            </a:r>
            <a:r>
              <a:rPr lang="en-US" sz="3000" spc="-25" dirty="0">
                <a:latin typeface="Calibri" panose="020F0502020204030204" pitchFamily="34" charset="0"/>
                <a:cs typeface="Calibri" panose="020F0502020204030204" pitchFamily="34" charset="0"/>
              </a:rPr>
              <a:t>executes </a:t>
            </a:r>
            <a:r>
              <a:rPr lang="en-US" sz="3000" spc="-10" dirty="0">
                <a:latin typeface="Calibri" panose="020F0502020204030204" pitchFamily="34" charset="0"/>
                <a:cs typeface="Calibri" panose="020F0502020204030204" pitchFamily="34" charset="0"/>
              </a:rPr>
              <a:t>adheres </a:t>
            </a:r>
            <a:r>
              <a:rPr lang="en-US" sz="3000" spc="-15" dirty="0">
                <a:latin typeface="Calibri" panose="020F0502020204030204" pitchFamily="34" charset="0"/>
                <a:cs typeface="Calibri" panose="020F0502020204030204" pitchFamily="34" charset="0"/>
              </a:rPr>
              <a:t>to  </a:t>
            </a: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000" spc="-10" dirty="0">
                <a:latin typeface="Calibri" panose="020F0502020204030204" pitchFamily="34" charset="0"/>
                <a:cs typeface="Calibri" panose="020F0502020204030204" pitchFamily="34" charset="0"/>
              </a:rPr>
              <a:t>high-level </a:t>
            </a:r>
            <a:r>
              <a:rPr lang="en-US" sz="3000" spc="-5" dirty="0">
                <a:latin typeface="Calibri" panose="020F0502020204030204" pitchFamily="34" charset="0"/>
                <a:cs typeface="Calibri" panose="020F0502020204030204" pitchFamily="34" charset="0"/>
              </a:rPr>
              <a:t>security</a:t>
            </a:r>
            <a:r>
              <a:rPr lang="en-US" sz="3000" spc="-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000" spc="-5" dirty="0">
                <a:latin typeface="Calibri" panose="020F0502020204030204" pitchFamily="34" charset="0"/>
                <a:cs typeface="Calibri" panose="020F0502020204030204" pitchFamily="34" charset="0"/>
              </a:rPr>
              <a:t>spec</a:t>
            </a:r>
            <a:r>
              <a:rPr sz="3000" spc="-5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5836" y="4340321"/>
            <a:ext cx="6460386" cy="1678432"/>
            <a:chOff x="993940" y="4334128"/>
            <a:chExt cx="6460386" cy="1678432"/>
          </a:xfrm>
        </p:grpSpPr>
        <p:sp>
          <p:nvSpPr>
            <p:cNvPr id="8" name="object 8"/>
            <p:cNvSpPr/>
            <p:nvPr/>
          </p:nvSpPr>
          <p:spPr>
            <a:xfrm>
              <a:off x="1656969" y="4347082"/>
              <a:ext cx="84074" cy="840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4014" y="4334128"/>
              <a:ext cx="109982" cy="10998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93458" y="4535845"/>
              <a:ext cx="3077252" cy="1476715"/>
            </a:xfrm>
            <a:custGeom>
              <a:avLst/>
              <a:gdLst/>
              <a:ahLst/>
              <a:cxnLst/>
              <a:rect l="l" t="t" r="r" b="b"/>
              <a:pathLst>
                <a:path w="2609850" h="1945004">
                  <a:moveTo>
                    <a:pt x="1575058" y="0"/>
                  </a:moveTo>
                  <a:lnTo>
                    <a:pt x="1530588" y="6956"/>
                  </a:lnTo>
                  <a:lnTo>
                    <a:pt x="1488032" y="21420"/>
                  </a:lnTo>
                  <a:lnTo>
                    <a:pt x="1448387" y="43053"/>
                  </a:lnTo>
                  <a:lnTo>
                    <a:pt x="1412654" y="71515"/>
                  </a:lnTo>
                  <a:lnTo>
                    <a:pt x="1381828" y="106468"/>
                  </a:lnTo>
                  <a:lnTo>
                    <a:pt x="1356910" y="147574"/>
                  </a:lnTo>
                  <a:lnTo>
                    <a:pt x="1339703" y="131629"/>
                  </a:lnTo>
                  <a:lnTo>
                    <a:pt x="1302242" y="103693"/>
                  </a:lnTo>
                  <a:lnTo>
                    <a:pt x="1238473" y="72288"/>
                  </a:lnTo>
                  <a:lnTo>
                    <a:pt x="1193640" y="59757"/>
                  </a:lnTo>
                  <a:lnTo>
                    <a:pt x="1148281" y="54016"/>
                  </a:lnTo>
                  <a:lnTo>
                    <a:pt x="1103065" y="54855"/>
                  </a:lnTo>
                  <a:lnTo>
                    <a:pt x="1058665" y="62064"/>
                  </a:lnTo>
                  <a:lnTo>
                    <a:pt x="1015753" y="75434"/>
                  </a:lnTo>
                  <a:lnTo>
                    <a:pt x="974999" y="94753"/>
                  </a:lnTo>
                  <a:lnTo>
                    <a:pt x="937076" y="119813"/>
                  </a:lnTo>
                  <a:lnTo>
                    <a:pt x="902655" y="150402"/>
                  </a:lnTo>
                  <a:lnTo>
                    <a:pt x="872407" y="186311"/>
                  </a:lnTo>
                  <a:lnTo>
                    <a:pt x="847005" y="227330"/>
                  </a:lnTo>
                  <a:lnTo>
                    <a:pt x="798370" y="202619"/>
                  </a:lnTo>
                  <a:lnTo>
                    <a:pt x="747272" y="184822"/>
                  </a:lnTo>
                  <a:lnTo>
                    <a:pt x="694419" y="174084"/>
                  </a:lnTo>
                  <a:lnTo>
                    <a:pt x="640517" y="170551"/>
                  </a:lnTo>
                  <a:lnTo>
                    <a:pt x="586274" y="174371"/>
                  </a:lnTo>
                  <a:lnTo>
                    <a:pt x="539553" y="183619"/>
                  </a:lnTo>
                  <a:lnTo>
                    <a:pt x="495143" y="197961"/>
                  </a:lnTo>
                  <a:lnTo>
                    <a:pt x="453303" y="217046"/>
                  </a:lnTo>
                  <a:lnTo>
                    <a:pt x="414296" y="240525"/>
                  </a:lnTo>
                  <a:lnTo>
                    <a:pt x="378381" y="268046"/>
                  </a:lnTo>
                  <a:lnTo>
                    <a:pt x="345821" y="299261"/>
                  </a:lnTo>
                  <a:lnTo>
                    <a:pt x="316875" y="333819"/>
                  </a:lnTo>
                  <a:lnTo>
                    <a:pt x="291806" y="371371"/>
                  </a:lnTo>
                  <a:lnTo>
                    <a:pt x="270873" y="411566"/>
                  </a:lnTo>
                  <a:lnTo>
                    <a:pt x="254339" y="454056"/>
                  </a:lnTo>
                  <a:lnTo>
                    <a:pt x="242464" y="498489"/>
                  </a:lnTo>
                  <a:lnTo>
                    <a:pt x="235509" y="544516"/>
                  </a:lnTo>
                  <a:lnTo>
                    <a:pt x="233736" y="591787"/>
                  </a:lnTo>
                  <a:lnTo>
                    <a:pt x="237405" y="639953"/>
                  </a:lnTo>
                  <a:lnTo>
                    <a:pt x="235246" y="646049"/>
                  </a:lnTo>
                  <a:lnTo>
                    <a:pt x="186676" y="655972"/>
                  </a:lnTo>
                  <a:lnTo>
                    <a:pt x="141367" y="674746"/>
                  </a:lnTo>
                  <a:lnTo>
                    <a:pt x="100418" y="701653"/>
                  </a:lnTo>
                  <a:lnTo>
                    <a:pt x="64924" y="735973"/>
                  </a:lnTo>
                  <a:lnTo>
                    <a:pt x="35983" y="776986"/>
                  </a:lnTo>
                  <a:lnTo>
                    <a:pt x="15816" y="820666"/>
                  </a:lnTo>
                  <a:lnTo>
                    <a:pt x="3910" y="866011"/>
                  </a:lnTo>
                  <a:lnTo>
                    <a:pt x="0" y="911987"/>
                  </a:lnTo>
                  <a:lnTo>
                    <a:pt x="3822" y="957558"/>
                  </a:lnTo>
                  <a:lnTo>
                    <a:pt x="15114" y="1001689"/>
                  </a:lnTo>
                  <a:lnTo>
                    <a:pt x="33612" y="1043347"/>
                  </a:lnTo>
                  <a:lnTo>
                    <a:pt x="59053" y="1081495"/>
                  </a:lnTo>
                  <a:lnTo>
                    <a:pt x="91173" y="1115100"/>
                  </a:lnTo>
                  <a:lnTo>
                    <a:pt x="129709" y="1143127"/>
                  </a:lnTo>
                  <a:lnTo>
                    <a:pt x="101309" y="1179810"/>
                  </a:lnTo>
                  <a:lnTo>
                    <a:pt x="79870" y="1220462"/>
                  </a:lnTo>
                  <a:lnTo>
                    <a:pt x="65710" y="1264083"/>
                  </a:lnTo>
                  <a:lnTo>
                    <a:pt x="59146" y="1309673"/>
                  </a:lnTo>
                  <a:lnTo>
                    <a:pt x="60494" y="1356233"/>
                  </a:lnTo>
                  <a:lnTo>
                    <a:pt x="70201" y="1403306"/>
                  </a:lnTo>
                  <a:lnTo>
                    <a:pt x="87513" y="1446638"/>
                  </a:lnTo>
                  <a:lnTo>
                    <a:pt x="111604" y="1485567"/>
                  </a:lnTo>
                  <a:lnTo>
                    <a:pt x="141650" y="1519435"/>
                  </a:lnTo>
                  <a:lnTo>
                    <a:pt x="176827" y="1547584"/>
                  </a:lnTo>
                  <a:lnTo>
                    <a:pt x="216309" y="1569354"/>
                  </a:lnTo>
                  <a:lnTo>
                    <a:pt x="259271" y="1584085"/>
                  </a:lnTo>
                  <a:lnTo>
                    <a:pt x="304890" y="1591120"/>
                  </a:lnTo>
                  <a:lnTo>
                    <a:pt x="352340" y="1589798"/>
                  </a:lnTo>
                  <a:lnTo>
                    <a:pt x="357293" y="1598345"/>
                  </a:lnTo>
                  <a:lnTo>
                    <a:pt x="383897" y="1638672"/>
                  </a:lnTo>
                  <a:lnTo>
                    <a:pt x="413777" y="1675355"/>
                  </a:lnTo>
                  <a:lnTo>
                    <a:pt x="446611" y="1708312"/>
                  </a:lnTo>
                  <a:lnTo>
                    <a:pt x="482078" y="1737462"/>
                  </a:lnTo>
                  <a:lnTo>
                    <a:pt x="519858" y="1762723"/>
                  </a:lnTo>
                  <a:lnTo>
                    <a:pt x="559631" y="1784013"/>
                  </a:lnTo>
                  <a:lnTo>
                    <a:pt x="601074" y="1801252"/>
                  </a:lnTo>
                  <a:lnTo>
                    <a:pt x="643868" y="1814356"/>
                  </a:lnTo>
                  <a:lnTo>
                    <a:pt x="687692" y="1823246"/>
                  </a:lnTo>
                  <a:lnTo>
                    <a:pt x="732226" y="1827839"/>
                  </a:lnTo>
                  <a:lnTo>
                    <a:pt x="777147" y="1828054"/>
                  </a:lnTo>
                  <a:lnTo>
                    <a:pt x="822137" y="1823809"/>
                  </a:lnTo>
                  <a:lnTo>
                    <a:pt x="866873" y="1815023"/>
                  </a:lnTo>
                  <a:lnTo>
                    <a:pt x="911036" y="1801614"/>
                  </a:lnTo>
                  <a:lnTo>
                    <a:pt x="954304" y="1783500"/>
                  </a:lnTo>
                  <a:lnTo>
                    <a:pt x="996357" y="1760601"/>
                  </a:lnTo>
                  <a:lnTo>
                    <a:pt x="1024648" y="1798714"/>
                  </a:lnTo>
                  <a:lnTo>
                    <a:pt x="1056823" y="1833052"/>
                  </a:lnTo>
                  <a:lnTo>
                    <a:pt x="1092512" y="1863334"/>
                  </a:lnTo>
                  <a:lnTo>
                    <a:pt x="1131344" y="1889283"/>
                  </a:lnTo>
                  <a:lnTo>
                    <a:pt x="1172949" y="1910622"/>
                  </a:lnTo>
                  <a:lnTo>
                    <a:pt x="1216956" y="1927072"/>
                  </a:lnTo>
                  <a:lnTo>
                    <a:pt x="1263207" y="1938421"/>
                  </a:lnTo>
                  <a:lnTo>
                    <a:pt x="1309450" y="1944151"/>
                  </a:lnTo>
                  <a:lnTo>
                    <a:pt x="1355303" y="1944470"/>
                  </a:lnTo>
                  <a:lnTo>
                    <a:pt x="1400385" y="1939586"/>
                  </a:lnTo>
                  <a:lnTo>
                    <a:pt x="1444313" y="1929707"/>
                  </a:lnTo>
                  <a:lnTo>
                    <a:pt x="1486707" y="1915039"/>
                  </a:lnTo>
                  <a:lnTo>
                    <a:pt x="1527185" y="1895792"/>
                  </a:lnTo>
                  <a:lnTo>
                    <a:pt x="1565365" y="1872173"/>
                  </a:lnTo>
                  <a:lnTo>
                    <a:pt x="1600866" y="1844389"/>
                  </a:lnTo>
                  <a:lnTo>
                    <a:pt x="1633307" y="1812648"/>
                  </a:lnTo>
                  <a:lnTo>
                    <a:pt x="1662305" y="1777159"/>
                  </a:lnTo>
                  <a:lnTo>
                    <a:pt x="1687479" y="1738129"/>
                  </a:lnTo>
                  <a:lnTo>
                    <a:pt x="1708447" y="1695765"/>
                  </a:lnTo>
                  <a:lnTo>
                    <a:pt x="1724829" y="1650276"/>
                  </a:lnTo>
                  <a:lnTo>
                    <a:pt x="1767249" y="1673189"/>
                  </a:lnTo>
                  <a:lnTo>
                    <a:pt x="1812157" y="1689909"/>
                  </a:lnTo>
                  <a:lnTo>
                    <a:pt x="1858899" y="1700243"/>
                  </a:lnTo>
                  <a:lnTo>
                    <a:pt x="1906820" y="1703997"/>
                  </a:lnTo>
                  <a:lnTo>
                    <a:pt x="1954211" y="1701148"/>
                  </a:lnTo>
                  <a:lnTo>
                    <a:pt x="1999712" y="1692100"/>
                  </a:lnTo>
                  <a:lnTo>
                    <a:pt x="2042904" y="1677271"/>
                  </a:lnTo>
                  <a:lnTo>
                    <a:pt x="2083369" y="1657079"/>
                  </a:lnTo>
                  <a:lnTo>
                    <a:pt x="2120686" y="1631942"/>
                  </a:lnTo>
                  <a:lnTo>
                    <a:pt x="2154438" y="1602279"/>
                  </a:lnTo>
                  <a:lnTo>
                    <a:pt x="2184205" y="1568508"/>
                  </a:lnTo>
                  <a:lnTo>
                    <a:pt x="2209569" y="1531048"/>
                  </a:lnTo>
                  <a:lnTo>
                    <a:pt x="2230110" y="1490316"/>
                  </a:lnTo>
                  <a:lnTo>
                    <a:pt x="2245410" y="1446732"/>
                  </a:lnTo>
                  <a:lnTo>
                    <a:pt x="2255050" y="1400712"/>
                  </a:lnTo>
                  <a:lnTo>
                    <a:pt x="2258610" y="1352677"/>
                  </a:lnTo>
                  <a:lnTo>
                    <a:pt x="2309995" y="1341792"/>
                  </a:lnTo>
                  <a:lnTo>
                    <a:pt x="2359368" y="1324371"/>
                  </a:lnTo>
                  <a:lnTo>
                    <a:pt x="2406146" y="1300688"/>
                  </a:lnTo>
                  <a:lnTo>
                    <a:pt x="2449745" y="1271016"/>
                  </a:lnTo>
                  <a:lnTo>
                    <a:pt x="2485857" y="1239327"/>
                  </a:lnTo>
                  <a:lnTo>
                    <a:pt x="2517464" y="1204371"/>
                  </a:lnTo>
                  <a:lnTo>
                    <a:pt x="2544512" y="1166584"/>
                  </a:lnTo>
                  <a:lnTo>
                    <a:pt x="2566943" y="1126404"/>
                  </a:lnTo>
                  <a:lnTo>
                    <a:pt x="2584700" y="1084266"/>
                  </a:lnTo>
                  <a:lnTo>
                    <a:pt x="2597728" y="1040609"/>
                  </a:lnTo>
                  <a:lnTo>
                    <a:pt x="2605971" y="995870"/>
                  </a:lnTo>
                  <a:lnTo>
                    <a:pt x="2609371" y="950485"/>
                  </a:lnTo>
                  <a:lnTo>
                    <a:pt x="2607872" y="904892"/>
                  </a:lnTo>
                  <a:lnTo>
                    <a:pt x="2601419" y="859528"/>
                  </a:lnTo>
                  <a:lnTo>
                    <a:pt x="2589954" y="814830"/>
                  </a:lnTo>
                  <a:lnTo>
                    <a:pt x="2573422" y="771235"/>
                  </a:lnTo>
                  <a:lnTo>
                    <a:pt x="2551766" y="729179"/>
                  </a:lnTo>
                  <a:lnTo>
                    <a:pt x="2524929" y="689102"/>
                  </a:lnTo>
                  <a:lnTo>
                    <a:pt x="2529142" y="678535"/>
                  </a:lnTo>
                  <a:lnTo>
                    <a:pt x="2548768" y="598426"/>
                  </a:lnTo>
                  <a:lnTo>
                    <a:pt x="2550901" y="551155"/>
                  </a:lnTo>
                  <a:lnTo>
                    <a:pt x="2546406" y="504857"/>
                  </a:lnTo>
                  <a:lnTo>
                    <a:pt x="2535634" y="460153"/>
                  </a:lnTo>
                  <a:lnTo>
                    <a:pt x="2518932" y="417665"/>
                  </a:lnTo>
                  <a:lnTo>
                    <a:pt x="2496649" y="378015"/>
                  </a:lnTo>
                  <a:lnTo>
                    <a:pt x="2469135" y="341824"/>
                  </a:lnTo>
                  <a:lnTo>
                    <a:pt x="2436736" y="309715"/>
                  </a:lnTo>
                  <a:lnTo>
                    <a:pt x="2399803" y="282309"/>
                  </a:lnTo>
                  <a:lnTo>
                    <a:pt x="2358684" y="260228"/>
                  </a:lnTo>
                  <a:lnTo>
                    <a:pt x="2313728" y="244094"/>
                  </a:lnTo>
                  <a:lnTo>
                    <a:pt x="2300484" y="194587"/>
                  </a:lnTo>
                  <a:lnTo>
                    <a:pt x="2279216" y="148463"/>
                  </a:lnTo>
                  <a:lnTo>
                    <a:pt x="2250470" y="106719"/>
                  </a:lnTo>
                  <a:lnTo>
                    <a:pt x="2214795" y="70358"/>
                  </a:lnTo>
                  <a:lnTo>
                    <a:pt x="2176063" y="42178"/>
                  </a:lnTo>
                  <a:lnTo>
                    <a:pt x="2134499" y="21219"/>
                  </a:lnTo>
                  <a:lnTo>
                    <a:pt x="2090953" y="7407"/>
                  </a:lnTo>
                  <a:lnTo>
                    <a:pt x="2046273" y="670"/>
                  </a:lnTo>
                  <a:lnTo>
                    <a:pt x="2001308" y="936"/>
                  </a:lnTo>
                  <a:lnTo>
                    <a:pt x="1956907" y="8133"/>
                  </a:lnTo>
                  <a:lnTo>
                    <a:pt x="1913918" y="22187"/>
                  </a:lnTo>
                  <a:lnTo>
                    <a:pt x="1873191" y="43027"/>
                  </a:lnTo>
                  <a:lnTo>
                    <a:pt x="1835575" y="70580"/>
                  </a:lnTo>
                  <a:lnTo>
                    <a:pt x="1801918" y="104775"/>
                  </a:lnTo>
                  <a:lnTo>
                    <a:pt x="1782282" y="81565"/>
                  </a:lnTo>
                  <a:lnTo>
                    <a:pt x="1736106" y="42767"/>
                  </a:lnTo>
                  <a:lnTo>
                    <a:pt x="1665747" y="9962"/>
                  </a:lnTo>
                  <a:lnTo>
                    <a:pt x="1620444" y="888"/>
                  </a:lnTo>
                  <a:lnTo>
                    <a:pt x="1575058" y="0"/>
                  </a:lnTo>
                  <a:close/>
                </a:path>
              </a:pathLst>
            </a:custGeom>
            <a:solidFill>
              <a:schemeClr val="tx1">
                <a:lumMod val="8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993940" y="5018530"/>
              <a:ext cx="6460386" cy="234927"/>
            </a:xfrm>
            <a:custGeom>
              <a:avLst/>
              <a:gdLst/>
              <a:ahLst/>
              <a:cxnLst/>
              <a:rect l="l" t="t" r="r" b="b"/>
              <a:pathLst>
                <a:path w="4572000" h="228600">
                  <a:moveTo>
                    <a:pt x="228600" y="0"/>
                  </a:moveTo>
                  <a:lnTo>
                    <a:pt x="0" y="114300"/>
                  </a:lnTo>
                  <a:lnTo>
                    <a:pt x="228600" y="22860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76200"/>
                  </a:lnTo>
                  <a:lnTo>
                    <a:pt x="228600" y="76200"/>
                  </a:lnTo>
                  <a:lnTo>
                    <a:pt x="228600" y="0"/>
                  </a:lnTo>
                  <a:close/>
                </a:path>
                <a:path w="4572000" h="228600">
                  <a:moveTo>
                    <a:pt x="228600" y="76200"/>
                  </a:moveTo>
                  <a:lnTo>
                    <a:pt x="190500" y="76200"/>
                  </a:lnTo>
                  <a:lnTo>
                    <a:pt x="190500" y="152400"/>
                  </a:lnTo>
                  <a:lnTo>
                    <a:pt x="228600" y="152400"/>
                  </a:lnTo>
                  <a:lnTo>
                    <a:pt x="228600" y="76200"/>
                  </a:lnTo>
                  <a:close/>
                </a:path>
                <a:path w="4572000" h="228600">
                  <a:moveTo>
                    <a:pt x="4572000" y="76200"/>
                  </a:moveTo>
                  <a:lnTo>
                    <a:pt x="228600" y="76200"/>
                  </a:lnTo>
                  <a:lnTo>
                    <a:pt x="228600" y="152400"/>
                  </a:lnTo>
                  <a:lnTo>
                    <a:pt x="4572000" y="152400"/>
                  </a:lnTo>
                  <a:lnTo>
                    <a:pt x="4572000" y="7620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7E74DDF8-335E-4835-8775-6B6932DD4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68" y="4340321"/>
            <a:ext cx="2141168" cy="21127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outerShdw blurRad="50800" dist="50800" sx="81000" sy="81000" algn="ctr" rotWithShape="0">
              <a:schemeClr val="tx2">
                <a:lumMod val="20000"/>
                <a:lumOff val="80000"/>
              </a:schemeClr>
            </a:outerShdw>
          </a:effectLst>
          <a:scene3d>
            <a:camera prst="orthographicFront"/>
            <a:lightRig rig="balanced" dir="t"/>
          </a:scene3d>
          <a:sp3d extrusionH="76200" contourW="12700" prstMaterial="matte">
            <a:bevelT/>
            <a:extrusionClr>
              <a:schemeClr val="tx2">
                <a:lumMod val="60000"/>
                <a:lumOff val="40000"/>
              </a:schemeClr>
            </a:extrusionClr>
            <a:contourClr>
              <a:schemeClr val="accent1">
                <a:lumMod val="40000"/>
                <a:lumOff val="60000"/>
              </a:schemeClr>
            </a:contourClr>
          </a:sp3d>
        </p:spPr>
      </p:pic>
      <p:pic>
        <p:nvPicPr>
          <p:cNvPr id="29" name="Picture 28" descr="A picture containing computer, table&#10;&#10;Description automatically generated">
            <a:extLst>
              <a:ext uri="{FF2B5EF4-FFF2-40B4-BE49-F238E27FC236}">
                <a16:creationId xmlns:a16="http://schemas.microsoft.com/office/drawing/2014/main" id="{1D22BA1F-88CD-450F-BB25-F185C7A745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566" y="2833998"/>
            <a:ext cx="2987586" cy="3463434"/>
          </a:xfrm>
          <a:prstGeom prst="rect">
            <a:avLst/>
          </a:prstGeom>
        </p:spPr>
      </p:pic>
      <p:sp>
        <p:nvSpPr>
          <p:cNvPr id="30" name="Scroll: Vertical 29">
            <a:extLst>
              <a:ext uri="{FF2B5EF4-FFF2-40B4-BE49-F238E27FC236}">
                <a16:creationId xmlns:a16="http://schemas.microsoft.com/office/drawing/2014/main" id="{BAA29AB1-A888-4BA3-B080-53849C252903}"/>
              </a:ext>
            </a:extLst>
          </p:cNvPr>
          <p:cNvSpPr/>
          <p:nvPr/>
        </p:nvSpPr>
        <p:spPr>
          <a:xfrm>
            <a:off x="6458376" y="4082037"/>
            <a:ext cx="903730" cy="802226"/>
          </a:xfrm>
          <a:prstGeom prst="verticalScroll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\\..</a:t>
            </a:r>
          </a:p>
        </p:txBody>
      </p:sp>
      <p:pic>
        <p:nvPicPr>
          <p:cNvPr id="6" name="Picture 5" descr="A picture containing man, drawing&#10;&#10;Description automatically generated">
            <a:extLst>
              <a:ext uri="{FF2B5EF4-FFF2-40B4-BE49-F238E27FC236}">
                <a16:creationId xmlns:a16="http://schemas.microsoft.com/office/drawing/2014/main" id="{27C9C941-0DB6-4396-871F-F562959153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373" y="3991648"/>
            <a:ext cx="972903" cy="917309"/>
          </a:xfrm>
          <a:prstGeom prst="rect">
            <a:avLst/>
          </a:prstGeom>
        </p:spPr>
      </p:pic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00342D93-CF39-4ED3-AB5A-2383B1B5D5BB}"/>
              </a:ext>
            </a:extLst>
          </p:cNvPr>
          <p:cNvSpPr/>
          <p:nvPr/>
        </p:nvSpPr>
        <p:spPr>
          <a:xfrm>
            <a:off x="1387974" y="2425593"/>
            <a:ext cx="3494127" cy="1566056"/>
          </a:xfrm>
          <a:prstGeom prst="cloudCallout">
            <a:avLst>
              <a:gd name="adj1" fmla="val -25157"/>
              <a:gd name="adj2" fmla="val 80778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532391-19C4-4162-B31C-69B2D6D572F4}"/>
              </a:ext>
            </a:extLst>
          </p:cNvPr>
          <p:cNvSpPr/>
          <p:nvPr/>
        </p:nvSpPr>
        <p:spPr>
          <a:xfrm>
            <a:off x="1765191" y="2695733"/>
            <a:ext cx="26875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 personal data will not be misused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4E52C4-E9EB-4332-8BF2-8C8DA96E3A75}"/>
              </a:ext>
            </a:extLst>
          </p:cNvPr>
          <p:cNvSpPr txBox="1"/>
          <p:nvPr/>
        </p:nvSpPr>
        <p:spPr>
          <a:xfrm>
            <a:off x="1836752" y="3331595"/>
            <a:ext cx="25000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My password is safe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0" grpId="0" animBg="1"/>
      <p:bldP spid="7" grpId="0" animBg="1"/>
      <p:bldP spid="10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49A37-97DE-470A-B0C6-F600D06DE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336412"/>
            <a:ext cx="11165305" cy="5216788"/>
          </a:xfrm>
        </p:spPr>
        <p:txBody>
          <a:bodyPr>
            <a:normAutofit fontScale="92500"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It does not assume that any piece of server software is correct. The verification covers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all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code that executes on the server, not just the app but also the OS, libraries, and drivers.</a:t>
            </a: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It assumes that the hardware is correct but assumes nothing about the correctness of the compiler or runtime. The proof covers the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assembly code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that gets executed, not the high-level language in which the app is written.</a:t>
            </a: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verification demonstrates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remote equivalence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: that to a remote party the app’s implementation is 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indistinguishable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from the app’s high-level abstract state machine.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17444-BC1B-4045-82BD-7E653B5B8870}"/>
              </a:ext>
            </a:extLst>
          </p:cNvPr>
          <p:cNvSpPr txBox="1"/>
          <p:nvPr/>
        </p:nvSpPr>
        <p:spPr>
          <a:xfrm>
            <a:off x="1584157" y="413081"/>
            <a:ext cx="9424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Aim to create </a:t>
            </a:r>
            <a:r>
              <a:rPr lang="en-US" sz="5400" i="1" dirty="0">
                <a:latin typeface="Calibri" panose="020F0502020204030204" pitchFamily="34" charset="0"/>
                <a:cs typeface="Calibri" panose="020F0502020204030204" pitchFamily="34" charset="0"/>
              </a:rPr>
              <a:t>Ironclad Apps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63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1738" y="406862"/>
            <a:ext cx="6845486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>
                <a:latin typeface="Calibri" panose="020F0502020204030204" pitchFamily="34" charset="0"/>
                <a:cs typeface="Calibri" panose="020F0502020204030204" pitchFamily="34" charset="0"/>
              </a:rPr>
              <a:t>Ironclad</a:t>
            </a:r>
            <a:r>
              <a:rPr spc="-3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0" dirty="0">
                <a:latin typeface="Calibri" panose="020F0502020204030204" pitchFamily="34" charset="0"/>
                <a:cs typeface="Calibri" panose="020F0502020204030204" pitchFamily="34" charset="0"/>
              </a:rPr>
              <a:t>combines:</a:t>
            </a:r>
          </a:p>
        </p:txBody>
      </p:sp>
      <p:pic>
        <p:nvPicPr>
          <p:cNvPr id="27" name="Content Placeholder 14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8D58122E-B5C5-43B6-B05E-F903F71B1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95" y="4814767"/>
            <a:ext cx="1880779" cy="1785294"/>
          </a:xfrm>
        </p:spPr>
      </p:pic>
      <p:sp>
        <p:nvSpPr>
          <p:cNvPr id="28" name="Thought Bubble: Cloud 27">
            <a:extLst>
              <a:ext uri="{FF2B5EF4-FFF2-40B4-BE49-F238E27FC236}">
                <a16:creationId xmlns:a16="http://schemas.microsoft.com/office/drawing/2014/main" id="{15FF26F1-0807-4696-9C01-1CDFA7A1810B}"/>
              </a:ext>
            </a:extLst>
          </p:cNvPr>
          <p:cNvSpPr/>
          <p:nvPr/>
        </p:nvSpPr>
        <p:spPr>
          <a:xfrm>
            <a:off x="4114800" y="4991783"/>
            <a:ext cx="3048000" cy="1595352"/>
          </a:xfrm>
          <a:prstGeom prst="cloudCallou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picture containing computer, table&#10;&#10;Description automatically generated">
            <a:extLst>
              <a:ext uri="{FF2B5EF4-FFF2-40B4-BE49-F238E27FC236}">
                <a16:creationId xmlns:a16="http://schemas.microsoft.com/office/drawing/2014/main" id="{A7131332-0636-440E-8DC7-C5F5AE3B42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534" y="4665912"/>
            <a:ext cx="2203900" cy="18606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BCD66A-257C-4AA5-9743-A2802CA971CB}"/>
              </a:ext>
            </a:extLst>
          </p:cNvPr>
          <p:cNvSpPr/>
          <p:nvPr/>
        </p:nvSpPr>
        <p:spPr>
          <a:xfrm>
            <a:off x="661737" y="1354667"/>
            <a:ext cx="6178313" cy="1933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300" indent="-228600"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600" spc="-20" dirty="0">
                <a:latin typeface="Carlito"/>
                <a:cs typeface="Carlito"/>
              </a:rPr>
              <a:t>Late</a:t>
            </a:r>
            <a:r>
              <a:rPr lang="en-US" sz="3600" spc="-15" dirty="0">
                <a:latin typeface="Carlito"/>
                <a:cs typeface="Carlito"/>
              </a:rPr>
              <a:t> </a:t>
            </a:r>
            <a:r>
              <a:rPr lang="en-US" sz="3600" spc="-5" dirty="0">
                <a:latin typeface="Carlito"/>
                <a:cs typeface="Carlito"/>
              </a:rPr>
              <a:t>launch</a:t>
            </a:r>
            <a:endParaRPr lang="en-US" sz="3600" dirty="0">
              <a:latin typeface="Carlito"/>
              <a:cs typeface="Carlito"/>
            </a:endParaRPr>
          </a:p>
          <a:p>
            <a:pPr marL="241300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600" spc="-40" dirty="0">
                <a:latin typeface="Carlito"/>
                <a:cs typeface="Carlito"/>
              </a:rPr>
              <a:t>Trusted</a:t>
            </a:r>
            <a:r>
              <a:rPr lang="en-US" sz="3600" spc="5" dirty="0">
                <a:latin typeface="Carlito"/>
                <a:cs typeface="Carlito"/>
              </a:rPr>
              <a:t> </a:t>
            </a:r>
            <a:r>
              <a:rPr lang="en-US" sz="3600" spc="-10" dirty="0">
                <a:latin typeface="Carlito"/>
                <a:cs typeface="Carlito"/>
              </a:rPr>
              <a:t>Computing</a:t>
            </a:r>
          </a:p>
          <a:p>
            <a:pPr marL="241300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600" spc="-15" dirty="0">
                <a:latin typeface="Carlito"/>
                <a:cs typeface="Carlito"/>
              </a:rPr>
              <a:t>Software</a:t>
            </a:r>
            <a:r>
              <a:rPr lang="en-US" sz="3600" spc="-70" dirty="0">
                <a:latin typeface="Carlito"/>
                <a:cs typeface="Carlito"/>
              </a:rPr>
              <a:t> </a:t>
            </a:r>
            <a:r>
              <a:rPr lang="en-US" sz="3600" spc="-10" dirty="0">
                <a:latin typeface="Carlito"/>
                <a:cs typeface="Carlito"/>
              </a:rPr>
              <a:t>verification</a:t>
            </a:r>
            <a:endParaRPr lang="en-US" sz="3600" dirty="0">
              <a:latin typeface="Carlito"/>
              <a:cs typeface="Carlit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EA7083-A61F-42E7-96CD-6041F811E4CF}"/>
              </a:ext>
            </a:extLst>
          </p:cNvPr>
          <p:cNvSpPr/>
          <p:nvPr/>
        </p:nvSpPr>
        <p:spPr>
          <a:xfrm>
            <a:off x="9220200" y="3152274"/>
            <a:ext cx="2293233" cy="130970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 Main(S, I) returns(O)</a:t>
            </a:r>
          </a:p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ensures even(O);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58F3E32B-EA5C-4EC6-A4D7-0F7D5D9AA1FE}"/>
              </a:ext>
            </a:extLst>
          </p:cNvPr>
          <p:cNvSpPr/>
          <p:nvPr/>
        </p:nvSpPr>
        <p:spPr>
          <a:xfrm>
            <a:off x="6488264" y="3474720"/>
            <a:ext cx="843324" cy="6979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62320DBD-56FD-42EB-9BD3-4DFB3C03AE5F}"/>
              </a:ext>
            </a:extLst>
          </p:cNvPr>
          <p:cNvSpPr/>
          <p:nvPr/>
        </p:nvSpPr>
        <p:spPr>
          <a:xfrm>
            <a:off x="7665736" y="3578174"/>
            <a:ext cx="1600200" cy="4572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Processor">
            <a:extLst>
              <a:ext uri="{FF2B5EF4-FFF2-40B4-BE49-F238E27FC236}">
                <a16:creationId xmlns:a16="http://schemas.microsoft.com/office/drawing/2014/main" id="{71E06667-6D4E-4753-8951-86E12A9FF4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7600" y="4151287"/>
            <a:ext cx="914400" cy="914400"/>
          </a:xfrm>
          <a:prstGeom prst="rect">
            <a:avLst/>
          </a:prstGeom>
        </p:spPr>
      </p:pic>
      <p:pic>
        <p:nvPicPr>
          <p:cNvPr id="6" name="Picture 5" descr="A picture containing person, woman, looking, holding&#10;&#10;Description automatically generated">
            <a:extLst>
              <a:ext uri="{FF2B5EF4-FFF2-40B4-BE49-F238E27FC236}">
                <a16:creationId xmlns:a16="http://schemas.microsoft.com/office/drawing/2014/main" id="{ED379B6D-FAD2-468F-BD89-8B0466629B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9795" y="293508"/>
            <a:ext cx="2173780" cy="1538743"/>
          </a:xfrm>
          <a:prstGeom prst="rect">
            <a:avLst/>
          </a:prstGeom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C805EC7C-DA87-48A6-97B2-174D9DFB983C}"/>
              </a:ext>
            </a:extLst>
          </p:cNvPr>
          <p:cNvSpPr/>
          <p:nvPr/>
        </p:nvSpPr>
        <p:spPr>
          <a:xfrm>
            <a:off x="10006685" y="1916659"/>
            <a:ext cx="493420" cy="12791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330B7D1-0998-4397-A848-32E413270C08}"/>
              </a:ext>
            </a:extLst>
          </p:cNvPr>
          <p:cNvSpPr/>
          <p:nvPr/>
        </p:nvSpPr>
        <p:spPr>
          <a:xfrm>
            <a:off x="5041229" y="1420312"/>
            <a:ext cx="437147" cy="1731962"/>
          </a:xfrm>
          <a:prstGeom prst="rightBrace">
            <a:avLst>
              <a:gd name="adj1" fmla="val 8333"/>
              <a:gd name="adj2" fmla="val 47911"/>
            </a:avLst>
          </a:prstGeom>
          <a:noFill/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728DD-7694-4607-8F39-13D44714262B}"/>
              </a:ext>
            </a:extLst>
          </p:cNvPr>
          <p:cNvSpPr txBox="1"/>
          <p:nvPr/>
        </p:nvSpPr>
        <p:spPr>
          <a:xfrm>
            <a:off x="5654842" y="1704778"/>
            <a:ext cx="34007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635" marR="5080" indent="-242570">
              <a:spcBef>
                <a:spcPts val="95"/>
              </a:spcBef>
            </a:pPr>
            <a:r>
              <a:rPr lang="en-US" sz="2800" b="1" spc="-15" dirty="0">
                <a:latin typeface="Carlito"/>
                <a:cs typeface="Carlito"/>
              </a:rPr>
              <a:t>Secure</a:t>
            </a:r>
            <a:r>
              <a:rPr lang="en-US" sz="2800" b="1" spc="-60" dirty="0">
                <a:latin typeface="Carlito"/>
                <a:cs typeface="Carlito"/>
              </a:rPr>
              <a:t> </a:t>
            </a:r>
            <a:r>
              <a:rPr lang="en-US" sz="2800" b="1" spc="-15" dirty="0">
                <a:latin typeface="Carlito"/>
                <a:cs typeface="Carlito"/>
              </a:rPr>
              <a:t>Remote Equivalence</a:t>
            </a:r>
            <a:endParaRPr lang="en-US" sz="2800" b="1" dirty="0">
              <a:latin typeface="Carlito"/>
              <a:cs typeface="Carlito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073FE86D-59E7-4003-86D0-ED82E4A38D75}"/>
              </a:ext>
            </a:extLst>
          </p:cNvPr>
          <p:cNvSpPr/>
          <p:nvPr/>
        </p:nvSpPr>
        <p:spPr>
          <a:xfrm>
            <a:off x="2542516" y="5589583"/>
            <a:ext cx="6767018" cy="214545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457200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4572000" h="228600">
                <a:moveTo>
                  <a:pt x="457200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4572000" y="152400"/>
                </a:lnTo>
                <a:lnTo>
                  <a:pt x="4572000" y="76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15F7F3-D7BA-4FD7-A698-99A8AF314979}"/>
              </a:ext>
            </a:extLst>
          </p:cNvPr>
          <p:cNvSpPr/>
          <p:nvPr/>
        </p:nvSpPr>
        <p:spPr>
          <a:xfrm>
            <a:off x="3597441" y="5410200"/>
            <a:ext cx="4998047" cy="5944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3" grpId="0" animBg="1"/>
      <p:bldP spid="7" grpId="0" animBg="1"/>
      <p:bldP spid="11" grpId="0" animBg="1"/>
      <p:bldP spid="12" grpId="0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212" y="406862"/>
            <a:ext cx="6665012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>
                <a:latin typeface="Calibri" panose="020F0502020204030204" pitchFamily="34" charset="0"/>
                <a:cs typeface="Calibri" panose="020F0502020204030204" pitchFamily="34" charset="0"/>
              </a:rPr>
              <a:t>Ironclad</a:t>
            </a:r>
            <a:r>
              <a:rPr spc="-3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0" dirty="0">
                <a:latin typeface="Calibri" panose="020F0502020204030204" pitchFamily="34" charset="0"/>
                <a:cs typeface="Calibri" panose="020F0502020204030204" pitchFamily="34" charset="0"/>
              </a:rPr>
              <a:t>combines:</a:t>
            </a:r>
          </a:p>
        </p:txBody>
      </p:sp>
      <p:pic>
        <p:nvPicPr>
          <p:cNvPr id="27" name="Content Placeholder 14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8D58122E-B5C5-43B6-B05E-F903F71B1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38" y="4545041"/>
            <a:ext cx="1880779" cy="1785294"/>
          </a:xfrm>
        </p:spPr>
      </p:pic>
      <p:sp>
        <p:nvSpPr>
          <p:cNvPr id="28" name="Thought Bubble: Cloud 27">
            <a:extLst>
              <a:ext uri="{FF2B5EF4-FFF2-40B4-BE49-F238E27FC236}">
                <a16:creationId xmlns:a16="http://schemas.microsoft.com/office/drawing/2014/main" id="{15FF26F1-0807-4696-9C01-1CDFA7A1810B}"/>
              </a:ext>
            </a:extLst>
          </p:cNvPr>
          <p:cNvSpPr/>
          <p:nvPr/>
        </p:nvSpPr>
        <p:spPr>
          <a:xfrm>
            <a:off x="4903715" y="4316746"/>
            <a:ext cx="3220633" cy="2241884"/>
          </a:xfrm>
          <a:prstGeom prst="cloudCallou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CD66A-257C-4AA5-9743-A2802CA971CB}"/>
              </a:ext>
            </a:extLst>
          </p:cNvPr>
          <p:cNvSpPr/>
          <p:nvPr/>
        </p:nvSpPr>
        <p:spPr>
          <a:xfrm>
            <a:off x="842211" y="1354667"/>
            <a:ext cx="5997839" cy="1933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300" indent="-228600"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600" spc="-20" dirty="0">
                <a:latin typeface="Carlito"/>
                <a:cs typeface="Carlito"/>
              </a:rPr>
              <a:t>Late</a:t>
            </a:r>
            <a:r>
              <a:rPr lang="en-US" sz="3600" spc="-15" dirty="0">
                <a:latin typeface="Carlito"/>
                <a:cs typeface="Carlito"/>
              </a:rPr>
              <a:t> </a:t>
            </a:r>
            <a:r>
              <a:rPr lang="en-US" sz="3600" spc="-5" dirty="0">
                <a:latin typeface="Carlito"/>
                <a:cs typeface="Carlito"/>
              </a:rPr>
              <a:t>launch</a:t>
            </a:r>
            <a:endParaRPr lang="en-US" sz="3600" dirty="0">
              <a:latin typeface="Carlito"/>
              <a:cs typeface="Carlito"/>
            </a:endParaRPr>
          </a:p>
          <a:p>
            <a:pPr marL="241300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600" spc="-40" dirty="0">
                <a:latin typeface="Carlito"/>
                <a:cs typeface="Carlito"/>
              </a:rPr>
              <a:t>Trusted</a:t>
            </a:r>
            <a:r>
              <a:rPr lang="en-US" sz="3600" spc="5" dirty="0">
                <a:latin typeface="Carlito"/>
                <a:cs typeface="Carlito"/>
              </a:rPr>
              <a:t> </a:t>
            </a:r>
            <a:r>
              <a:rPr lang="en-US" sz="3600" spc="-10" dirty="0">
                <a:latin typeface="Carlito"/>
                <a:cs typeface="Carlito"/>
              </a:rPr>
              <a:t>Computing</a:t>
            </a:r>
          </a:p>
          <a:p>
            <a:pPr marL="241300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600" spc="-15" dirty="0">
                <a:latin typeface="Carlito"/>
                <a:cs typeface="Carlito"/>
              </a:rPr>
              <a:t>Software</a:t>
            </a:r>
            <a:r>
              <a:rPr lang="en-US" sz="3600" spc="-70" dirty="0">
                <a:latin typeface="Carlito"/>
                <a:cs typeface="Carlito"/>
              </a:rPr>
              <a:t> </a:t>
            </a:r>
            <a:r>
              <a:rPr lang="en-US" sz="3600" spc="-10" dirty="0">
                <a:latin typeface="Carlito"/>
                <a:cs typeface="Carlito"/>
              </a:rPr>
              <a:t>verification</a:t>
            </a:r>
            <a:endParaRPr lang="en-US" sz="3600" dirty="0">
              <a:latin typeface="Carlito"/>
              <a:cs typeface="Carlito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330B7D1-0998-4397-A848-32E413270C08}"/>
              </a:ext>
            </a:extLst>
          </p:cNvPr>
          <p:cNvSpPr/>
          <p:nvPr/>
        </p:nvSpPr>
        <p:spPr>
          <a:xfrm>
            <a:off x="5317958" y="1420312"/>
            <a:ext cx="473242" cy="1671804"/>
          </a:xfrm>
          <a:prstGeom prst="rightBrace">
            <a:avLst>
              <a:gd name="adj1" fmla="val 8333"/>
              <a:gd name="adj2" fmla="val 47911"/>
            </a:avLst>
          </a:prstGeom>
          <a:noFill/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728DD-7694-4607-8F39-13D44714262B}"/>
              </a:ext>
            </a:extLst>
          </p:cNvPr>
          <p:cNvSpPr txBox="1"/>
          <p:nvPr/>
        </p:nvSpPr>
        <p:spPr>
          <a:xfrm>
            <a:off x="5791200" y="1704778"/>
            <a:ext cx="32643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635" marR="5080" indent="-242570">
              <a:spcBef>
                <a:spcPts val="95"/>
              </a:spcBef>
            </a:pPr>
            <a:r>
              <a:rPr lang="en-US" sz="3200" b="1" spc="-15" dirty="0">
                <a:latin typeface="Carlito"/>
                <a:cs typeface="Carlito"/>
              </a:rPr>
              <a:t>Secure</a:t>
            </a:r>
            <a:r>
              <a:rPr lang="en-US" sz="3200" b="1" spc="-60" dirty="0">
                <a:latin typeface="Carlito"/>
                <a:cs typeface="Carlito"/>
              </a:rPr>
              <a:t> </a:t>
            </a:r>
            <a:r>
              <a:rPr lang="en-US" sz="3200" b="1" spc="-15" dirty="0">
                <a:latin typeface="Carlito"/>
                <a:cs typeface="Carlito"/>
              </a:rPr>
              <a:t>Remote Equivalence</a:t>
            </a:r>
            <a:endParaRPr lang="en-US" sz="3200" b="1" dirty="0">
              <a:latin typeface="Carlito"/>
              <a:cs typeface="Carlito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073FE86D-59E7-4003-86D0-ED82E4A38D75}"/>
              </a:ext>
            </a:extLst>
          </p:cNvPr>
          <p:cNvSpPr/>
          <p:nvPr/>
        </p:nvSpPr>
        <p:spPr>
          <a:xfrm>
            <a:off x="2781217" y="5288787"/>
            <a:ext cx="6274372" cy="333510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457200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4572000" h="228600">
                <a:moveTo>
                  <a:pt x="457200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4572000" y="152400"/>
                </a:lnTo>
                <a:lnTo>
                  <a:pt x="4572000" y="76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003DAD-7C85-4C8E-88A9-F0A2529F3AFF}"/>
              </a:ext>
            </a:extLst>
          </p:cNvPr>
          <p:cNvSpPr/>
          <p:nvPr/>
        </p:nvSpPr>
        <p:spPr>
          <a:xfrm>
            <a:off x="3886200" y="5181599"/>
            <a:ext cx="4680284" cy="6446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picture containing computer, table&#10;&#10;Description automatically generated">
            <a:extLst>
              <a:ext uri="{FF2B5EF4-FFF2-40B4-BE49-F238E27FC236}">
                <a16:creationId xmlns:a16="http://schemas.microsoft.com/office/drawing/2014/main" id="{E8C02E41-F7F7-4CD8-8813-BE505DE3F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986" y="4118776"/>
            <a:ext cx="2305741" cy="2407806"/>
          </a:xfrm>
          <a:prstGeom prst="rect">
            <a:avLst/>
          </a:prstGeom>
        </p:spPr>
      </p:pic>
      <p:pic>
        <p:nvPicPr>
          <p:cNvPr id="14" name="Picture 13" descr="A picture containing person, woman, looking, holding&#10;&#10;Description automatically generated">
            <a:extLst>
              <a:ext uri="{FF2B5EF4-FFF2-40B4-BE49-F238E27FC236}">
                <a16:creationId xmlns:a16="http://schemas.microsoft.com/office/drawing/2014/main" id="{4B37B654-E018-4D9C-84BD-E886591C72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441" y="4419733"/>
            <a:ext cx="2613744" cy="185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48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884" y="254445"/>
            <a:ext cx="6998340" cy="86966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>
                <a:latin typeface="Calibri" panose="020F0502020204030204" pitchFamily="34" charset="0"/>
                <a:cs typeface="Calibri" panose="020F0502020204030204" pitchFamily="34" charset="0"/>
              </a:rPr>
              <a:t>Ironclad</a:t>
            </a:r>
            <a:r>
              <a:rPr spc="-3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0" dirty="0">
                <a:latin typeface="Calibri" panose="020F0502020204030204" pitchFamily="34" charset="0"/>
                <a:cs typeface="Calibri" panose="020F0502020204030204" pitchFamily="34" charset="0"/>
              </a:rPr>
              <a:t>combines:</a:t>
            </a:r>
          </a:p>
        </p:txBody>
      </p:sp>
      <p:pic>
        <p:nvPicPr>
          <p:cNvPr id="27" name="Content Placeholder 14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8D58122E-B5C5-43B6-B05E-F903F71B1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52" y="4746153"/>
            <a:ext cx="1880779" cy="1785294"/>
          </a:xfrm>
        </p:spPr>
      </p:pic>
      <p:sp>
        <p:nvSpPr>
          <p:cNvPr id="28" name="Thought Bubble: Cloud 27">
            <a:extLst>
              <a:ext uri="{FF2B5EF4-FFF2-40B4-BE49-F238E27FC236}">
                <a16:creationId xmlns:a16="http://schemas.microsoft.com/office/drawing/2014/main" id="{15FF26F1-0807-4696-9C01-1CDFA7A1810B}"/>
              </a:ext>
            </a:extLst>
          </p:cNvPr>
          <p:cNvSpPr/>
          <p:nvPr/>
        </p:nvSpPr>
        <p:spPr>
          <a:xfrm>
            <a:off x="4549472" y="4654009"/>
            <a:ext cx="3370028" cy="1850178"/>
          </a:xfrm>
          <a:prstGeom prst="cloudCallou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BCD66A-257C-4AA5-9743-A2802CA971CB}"/>
              </a:ext>
            </a:extLst>
          </p:cNvPr>
          <p:cNvSpPr/>
          <p:nvPr/>
        </p:nvSpPr>
        <p:spPr>
          <a:xfrm>
            <a:off x="485031" y="1354668"/>
            <a:ext cx="6355020" cy="1749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300" indent="-228600"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200" spc="-20" dirty="0">
                <a:latin typeface="Calibri" panose="020F0502020204030204" pitchFamily="34" charset="0"/>
                <a:cs typeface="Calibri" panose="020F0502020204030204" pitchFamily="34" charset="0"/>
              </a:rPr>
              <a:t>Late</a:t>
            </a:r>
            <a:r>
              <a:rPr lang="en-US" sz="32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launch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41300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200" spc="-40" dirty="0">
                <a:latin typeface="Calibri" panose="020F0502020204030204" pitchFamily="34" charset="0"/>
                <a:cs typeface="Calibri" panose="020F0502020204030204" pitchFamily="34" charset="0"/>
              </a:rPr>
              <a:t>Trusted</a:t>
            </a:r>
            <a:r>
              <a:rPr lang="en-US" sz="3200" spc="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Computing</a:t>
            </a:r>
          </a:p>
          <a:p>
            <a:pPr marL="241300" indent="-228600"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3200" spc="-15" dirty="0"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US" sz="3200" spc="-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verification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330B7D1-0998-4397-A848-32E413270C08}"/>
              </a:ext>
            </a:extLst>
          </p:cNvPr>
          <p:cNvSpPr/>
          <p:nvPr/>
        </p:nvSpPr>
        <p:spPr>
          <a:xfrm>
            <a:off x="4405023" y="1412361"/>
            <a:ext cx="216005" cy="1691504"/>
          </a:xfrm>
          <a:prstGeom prst="rightBrace">
            <a:avLst>
              <a:gd name="adj1" fmla="val 8333"/>
              <a:gd name="adj2" fmla="val 48419"/>
            </a:avLst>
          </a:prstGeom>
          <a:noFill/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728DD-7694-4607-8F39-13D44714262B}"/>
              </a:ext>
            </a:extLst>
          </p:cNvPr>
          <p:cNvSpPr txBox="1"/>
          <p:nvPr/>
        </p:nvSpPr>
        <p:spPr>
          <a:xfrm>
            <a:off x="5296895" y="1711571"/>
            <a:ext cx="26226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635" marR="5080" indent="-242570">
              <a:spcBef>
                <a:spcPts val="95"/>
              </a:spcBef>
            </a:pPr>
            <a:r>
              <a:rPr lang="en-US" sz="2800" b="1" spc="-15" dirty="0">
                <a:latin typeface="Carlito"/>
                <a:cs typeface="Carlito"/>
              </a:rPr>
              <a:t>Secure</a:t>
            </a:r>
            <a:r>
              <a:rPr lang="en-US" sz="2800" b="1" spc="-60" dirty="0">
                <a:latin typeface="Carlito"/>
                <a:cs typeface="Carlito"/>
              </a:rPr>
              <a:t> </a:t>
            </a:r>
            <a:r>
              <a:rPr lang="en-US" sz="2800" b="1" spc="-15" dirty="0">
                <a:latin typeface="Carlito"/>
                <a:cs typeface="Carlito"/>
              </a:rPr>
              <a:t>Remote Equivalence</a:t>
            </a:r>
            <a:endParaRPr lang="en-US" sz="2800" b="1" dirty="0">
              <a:latin typeface="Carlito"/>
              <a:cs typeface="Carlito"/>
            </a:endParaRPr>
          </a:p>
        </p:txBody>
      </p:sp>
      <p:sp>
        <p:nvSpPr>
          <p:cNvPr id="18" name="object 13">
            <a:extLst>
              <a:ext uri="{FF2B5EF4-FFF2-40B4-BE49-F238E27FC236}">
                <a16:creationId xmlns:a16="http://schemas.microsoft.com/office/drawing/2014/main" id="{073FE86D-59E7-4003-86D0-ED82E4A38D75}"/>
              </a:ext>
            </a:extLst>
          </p:cNvPr>
          <p:cNvSpPr/>
          <p:nvPr/>
        </p:nvSpPr>
        <p:spPr>
          <a:xfrm>
            <a:off x="2362200" y="5503331"/>
            <a:ext cx="7120868" cy="322237"/>
          </a:xfrm>
          <a:custGeom>
            <a:avLst/>
            <a:gdLst/>
            <a:ahLst/>
            <a:cxnLst/>
            <a:rect l="l" t="t" r="r" b="b"/>
            <a:pathLst>
              <a:path w="4572000" h="228600">
                <a:moveTo>
                  <a:pt x="228600" y="0"/>
                </a:moveTo>
                <a:lnTo>
                  <a:pt x="0" y="114300"/>
                </a:lnTo>
                <a:lnTo>
                  <a:pt x="228600" y="228600"/>
                </a:lnTo>
                <a:lnTo>
                  <a:pt x="228600" y="152400"/>
                </a:lnTo>
                <a:lnTo>
                  <a:pt x="190500" y="152400"/>
                </a:lnTo>
                <a:lnTo>
                  <a:pt x="190500" y="76200"/>
                </a:lnTo>
                <a:lnTo>
                  <a:pt x="228600" y="76200"/>
                </a:lnTo>
                <a:lnTo>
                  <a:pt x="228600" y="0"/>
                </a:lnTo>
                <a:close/>
              </a:path>
              <a:path w="4572000" h="228600">
                <a:moveTo>
                  <a:pt x="228600" y="76200"/>
                </a:moveTo>
                <a:lnTo>
                  <a:pt x="190500" y="76200"/>
                </a:lnTo>
                <a:lnTo>
                  <a:pt x="190500" y="152400"/>
                </a:lnTo>
                <a:lnTo>
                  <a:pt x="228600" y="152400"/>
                </a:lnTo>
                <a:lnTo>
                  <a:pt x="228600" y="76200"/>
                </a:lnTo>
                <a:close/>
              </a:path>
              <a:path w="4572000" h="228600">
                <a:moveTo>
                  <a:pt x="4572000" y="76200"/>
                </a:moveTo>
                <a:lnTo>
                  <a:pt x="228600" y="76200"/>
                </a:lnTo>
                <a:lnTo>
                  <a:pt x="228600" y="152400"/>
                </a:lnTo>
                <a:lnTo>
                  <a:pt x="4572000" y="152400"/>
                </a:lnTo>
                <a:lnTo>
                  <a:pt x="4572000" y="762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9" name="Picture 18" descr="A picture containing person, woman, looking, holding&#10;&#10;Description automatically generated">
            <a:extLst>
              <a:ext uri="{FF2B5EF4-FFF2-40B4-BE49-F238E27FC236}">
                <a16:creationId xmlns:a16="http://schemas.microsoft.com/office/drawing/2014/main" id="{48E6F2A9-91F2-4680-8F5B-A8C72F2CE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81" y="4809727"/>
            <a:ext cx="2173780" cy="153874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0003DAD-7C85-4C8E-88A9-F0A2529F3AFF}"/>
              </a:ext>
            </a:extLst>
          </p:cNvPr>
          <p:cNvSpPr/>
          <p:nvPr/>
        </p:nvSpPr>
        <p:spPr>
          <a:xfrm>
            <a:off x="3641697" y="5253158"/>
            <a:ext cx="5422790" cy="70893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BE3DA22-D8AE-4995-B1AC-EEA27FDE7271}"/>
              </a:ext>
            </a:extLst>
          </p:cNvPr>
          <p:cNvSpPr/>
          <p:nvPr/>
        </p:nvSpPr>
        <p:spPr>
          <a:xfrm>
            <a:off x="485031" y="2568328"/>
            <a:ext cx="3748317" cy="535537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3CCE8041-3220-4DB0-B202-3E135D899786}"/>
              </a:ext>
            </a:extLst>
          </p:cNvPr>
          <p:cNvSpPr/>
          <p:nvPr/>
        </p:nvSpPr>
        <p:spPr>
          <a:xfrm flipV="1">
            <a:off x="3376358" y="3640978"/>
            <a:ext cx="1999310" cy="731343"/>
          </a:xfrm>
          <a:prstGeom prst="wedgeRectCallout">
            <a:avLst>
              <a:gd name="adj1" fmla="val -26968"/>
              <a:gd name="adj2" fmla="val 126224"/>
            </a:avLst>
          </a:prstGeom>
          <a:ln w="31750"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bject 36">
            <a:extLst>
              <a:ext uri="{FF2B5EF4-FFF2-40B4-BE49-F238E27FC236}">
                <a16:creationId xmlns:a16="http://schemas.microsoft.com/office/drawing/2014/main" id="{B2996036-9356-4423-B693-B8F39A6655EB}"/>
              </a:ext>
            </a:extLst>
          </p:cNvPr>
          <p:cNvSpPr txBox="1"/>
          <p:nvPr/>
        </p:nvSpPr>
        <p:spPr>
          <a:xfrm>
            <a:off x="3424065" y="3650305"/>
            <a:ext cx="19993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6395">
              <a:spcBef>
                <a:spcPts val="100"/>
              </a:spcBef>
            </a:pPr>
            <a:r>
              <a:rPr lang="en-US" sz="2000" spc="-20" dirty="0">
                <a:solidFill>
                  <a:srgbClr val="FFFF00"/>
                </a:solidFill>
                <a:latin typeface="Carlito"/>
                <a:cs typeface="Carlito"/>
              </a:rPr>
              <a:t>E</a:t>
            </a:r>
            <a:r>
              <a:rPr sz="2000" spc="-20" dirty="0">
                <a:solidFill>
                  <a:srgbClr val="FFFF00"/>
                </a:solidFill>
                <a:latin typeface="Carlito"/>
                <a:cs typeface="Carlito"/>
              </a:rPr>
              <a:t>ffort</a:t>
            </a:r>
            <a:r>
              <a:rPr lang="en-US" sz="2000" spc="-20" dirty="0">
                <a:solidFill>
                  <a:srgbClr val="FFFF00"/>
                </a:solidFill>
                <a:latin typeface="Carlito"/>
                <a:cs typeface="Carlito"/>
              </a:rPr>
              <a:t> for Stronger guaranty</a:t>
            </a:r>
            <a:endParaRPr sz="2000" dirty="0">
              <a:solidFill>
                <a:srgbClr val="FFFF00"/>
              </a:solidFill>
              <a:latin typeface="Carlito"/>
              <a:cs typeface="Carlito"/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3DBB08C6-6244-4E8F-9E3D-EFFEEB89005B}"/>
              </a:ext>
            </a:extLst>
          </p:cNvPr>
          <p:cNvSpPr/>
          <p:nvPr/>
        </p:nvSpPr>
        <p:spPr>
          <a:xfrm flipV="1">
            <a:off x="1041621" y="3438636"/>
            <a:ext cx="1645920" cy="933684"/>
          </a:xfrm>
          <a:prstGeom prst="wedgeRectCallout">
            <a:avLst>
              <a:gd name="adj1" fmla="val -19296"/>
              <a:gd name="adj2" fmla="val 94855"/>
            </a:avLst>
          </a:prstGeom>
          <a:ln w="34925">
            <a:solidFill>
              <a:schemeClr val="bg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bject 35">
            <a:extLst>
              <a:ext uri="{FF2B5EF4-FFF2-40B4-BE49-F238E27FC236}">
                <a16:creationId xmlns:a16="http://schemas.microsoft.com/office/drawing/2014/main" id="{DA06E2D7-DF8B-4F29-9E5E-102CAC0DA00D}"/>
              </a:ext>
            </a:extLst>
          </p:cNvPr>
          <p:cNvSpPr txBox="1"/>
          <p:nvPr/>
        </p:nvSpPr>
        <p:spPr>
          <a:xfrm>
            <a:off x="1113184" y="3425419"/>
            <a:ext cx="157435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spcBef>
                <a:spcPts val="100"/>
              </a:spcBef>
            </a:pPr>
            <a:r>
              <a:rPr sz="2000" spc="-10" dirty="0">
                <a:solidFill>
                  <a:srgbClr val="FFFF00"/>
                </a:solidFill>
                <a:latin typeface="Carlito"/>
                <a:cs typeface="Carlito"/>
              </a:rPr>
              <a:t>Entire</a:t>
            </a:r>
            <a:r>
              <a:rPr lang="en-US" sz="2000" spc="-10" dirty="0">
                <a:solidFill>
                  <a:srgbClr val="FFFF0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00"/>
                </a:solidFill>
                <a:latin typeface="Carlito"/>
                <a:cs typeface="Carlito"/>
              </a:rPr>
              <a:t>soft</a:t>
            </a:r>
            <a:r>
              <a:rPr sz="2000" spc="-30" dirty="0">
                <a:solidFill>
                  <a:srgbClr val="FFFF00"/>
                </a:solidFill>
                <a:latin typeface="Carlito"/>
                <a:cs typeface="Carlito"/>
              </a:rPr>
              <a:t>w</a:t>
            </a:r>
            <a:r>
              <a:rPr sz="2000" dirty="0">
                <a:solidFill>
                  <a:srgbClr val="FFFF00"/>
                </a:solidFill>
                <a:latin typeface="Carlito"/>
                <a:cs typeface="Carlito"/>
              </a:rPr>
              <a:t>a</a:t>
            </a:r>
            <a:r>
              <a:rPr sz="2000" spc="-35" dirty="0">
                <a:solidFill>
                  <a:srgbClr val="FFFF00"/>
                </a:solidFill>
                <a:latin typeface="Carlito"/>
                <a:cs typeface="Carlito"/>
              </a:rPr>
              <a:t>r</a:t>
            </a:r>
            <a:r>
              <a:rPr sz="2000" dirty="0">
                <a:solidFill>
                  <a:srgbClr val="FFFF00"/>
                </a:solidFill>
                <a:latin typeface="Carlito"/>
                <a:cs typeface="Carlito"/>
              </a:rPr>
              <a:t>e  </a:t>
            </a:r>
            <a:r>
              <a:rPr sz="2000" spc="-15" dirty="0">
                <a:solidFill>
                  <a:srgbClr val="FFFF00"/>
                </a:solidFill>
                <a:latin typeface="Carlito"/>
                <a:cs typeface="Carlito"/>
              </a:rPr>
              <a:t>stack</a:t>
            </a:r>
            <a:endParaRPr sz="2000" dirty="0">
              <a:solidFill>
                <a:srgbClr val="FFFF00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2359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7" grpId="0"/>
      <p:bldP spid="22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computer, table&#10;&#10;Description automatically generated">
            <a:extLst>
              <a:ext uri="{FF2B5EF4-FFF2-40B4-BE49-F238E27FC236}">
                <a16:creationId xmlns:a16="http://schemas.microsoft.com/office/drawing/2014/main" id="{A7131332-0636-440E-8DC7-C5F5AE3B4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1700" y="4463930"/>
            <a:ext cx="2203900" cy="186067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EA7083-A61F-42E7-96CD-6041F811E4CF}"/>
              </a:ext>
            </a:extLst>
          </p:cNvPr>
          <p:cNvSpPr/>
          <p:nvPr/>
        </p:nvSpPr>
        <p:spPr>
          <a:xfrm>
            <a:off x="8476152" y="2968306"/>
            <a:ext cx="1810848" cy="12226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 Main(S, I) returns(O)</a:t>
            </a:r>
          </a:p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ensures even(O);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person, woman, looking, holding&#10;&#10;Description automatically generated">
            <a:extLst>
              <a:ext uri="{FF2B5EF4-FFF2-40B4-BE49-F238E27FC236}">
                <a16:creationId xmlns:a16="http://schemas.microsoft.com/office/drawing/2014/main" id="{ED379B6D-FAD2-468F-BD89-8B0466629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490" y="366258"/>
            <a:ext cx="2173780" cy="1538743"/>
          </a:xfrm>
          <a:prstGeom prst="rect">
            <a:avLst/>
          </a:prstGeom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C805EC7C-DA87-48A6-97B2-174D9DFB983C}"/>
              </a:ext>
            </a:extLst>
          </p:cNvPr>
          <p:cNvSpPr/>
          <p:nvPr/>
        </p:nvSpPr>
        <p:spPr>
          <a:xfrm>
            <a:off x="9220200" y="1936870"/>
            <a:ext cx="493420" cy="103493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647256E9-276B-4F79-9FA8-A93C8EAA26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7423" y="55232"/>
            <a:ext cx="6339178" cy="8431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35" dirty="0">
                <a:latin typeface="Calibri" panose="020F0502020204030204" pitchFamily="34" charset="0"/>
                <a:cs typeface="Calibri" panose="020F0502020204030204" pitchFamily="34" charset="0"/>
              </a:rPr>
              <a:t>Verification</a:t>
            </a:r>
            <a:r>
              <a:rPr spc="-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229" dirty="0">
                <a:latin typeface="Calibri" panose="020F0502020204030204" pitchFamily="34" charset="0"/>
                <a:cs typeface="Calibri" panose="020F0502020204030204" pitchFamily="34" charset="0"/>
              </a:rPr>
              <a:t>implies: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7CE040-40D3-4DB6-A021-2CCBE17BD8AE}"/>
              </a:ext>
            </a:extLst>
          </p:cNvPr>
          <p:cNvSpPr/>
          <p:nvPr/>
        </p:nvSpPr>
        <p:spPr>
          <a:xfrm>
            <a:off x="659958" y="990601"/>
            <a:ext cx="7722042" cy="4244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300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3600" spc="-5" dirty="0">
                <a:latin typeface="Carlito"/>
                <a:cs typeface="Carlito"/>
              </a:rPr>
              <a:t>No </a:t>
            </a:r>
            <a:r>
              <a:rPr lang="en-US" sz="3600" spc="-25" dirty="0">
                <a:latin typeface="Carlito"/>
                <a:cs typeface="Carlito"/>
              </a:rPr>
              <a:t>buffer</a:t>
            </a:r>
            <a:r>
              <a:rPr lang="en-US" sz="3600" spc="-15" dirty="0">
                <a:latin typeface="Carlito"/>
                <a:cs typeface="Carlito"/>
              </a:rPr>
              <a:t> overflows</a:t>
            </a:r>
          </a:p>
          <a:p>
            <a:pPr marL="241300" indent="-229235">
              <a:spcBef>
                <a:spcPts val="770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3600" spc="-15" dirty="0">
                <a:latin typeface="Carlito"/>
                <a:cs typeface="Carlito"/>
              </a:rPr>
              <a:t>No Bound error</a:t>
            </a:r>
            <a:endParaRPr lang="en-US" sz="3600" dirty="0">
              <a:latin typeface="Carlito"/>
              <a:cs typeface="Carlito"/>
            </a:endParaRPr>
          </a:p>
          <a:p>
            <a:pPr marL="241300" indent="-229235"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3600" spc="-5" dirty="0">
                <a:latin typeface="Carlito"/>
                <a:cs typeface="Carlito"/>
              </a:rPr>
              <a:t>No </a:t>
            </a:r>
            <a:r>
              <a:rPr lang="en-US" sz="3600" spc="-10" dirty="0">
                <a:latin typeface="Carlito"/>
                <a:cs typeface="Carlito"/>
              </a:rPr>
              <a:t>Functional Incorrectness</a:t>
            </a:r>
            <a:endParaRPr lang="en-US" sz="3600" spc="-5" dirty="0">
              <a:latin typeface="Carlito"/>
              <a:cs typeface="Carlito"/>
            </a:endParaRPr>
          </a:p>
          <a:p>
            <a:pPr marL="241300" indent="-229235"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3600" spc="-5" dirty="0">
                <a:latin typeface="Carlito"/>
                <a:cs typeface="Carlito"/>
              </a:rPr>
              <a:t>No Type-Safety Flaws</a:t>
            </a:r>
          </a:p>
          <a:p>
            <a:pPr marL="241300" indent="-229235"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3600" spc="-5" dirty="0">
                <a:latin typeface="Carlito"/>
                <a:cs typeface="Carlito"/>
              </a:rPr>
              <a:t>No </a:t>
            </a:r>
            <a:r>
              <a:rPr lang="en-US" sz="3600" spc="-15" dirty="0">
                <a:latin typeface="Carlito"/>
                <a:cs typeface="Carlito"/>
              </a:rPr>
              <a:t>information</a:t>
            </a:r>
            <a:r>
              <a:rPr lang="en-US" sz="3600" dirty="0">
                <a:latin typeface="Carlito"/>
                <a:cs typeface="Carlito"/>
              </a:rPr>
              <a:t> </a:t>
            </a:r>
            <a:r>
              <a:rPr lang="en-US" sz="3600" spc="-15" dirty="0">
                <a:latin typeface="Carlito"/>
                <a:cs typeface="Carlito"/>
              </a:rPr>
              <a:t>leak</a:t>
            </a:r>
          </a:p>
          <a:p>
            <a:pPr marL="241300" indent="-229235"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lang="en-US" sz="3600" spc="-5" dirty="0">
                <a:latin typeface="Carlito"/>
                <a:cs typeface="Carlito"/>
              </a:rPr>
              <a:t>No </a:t>
            </a:r>
            <a:r>
              <a:rPr lang="en-US" sz="3600" spc="-10" dirty="0">
                <a:latin typeface="Carlito"/>
                <a:cs typeface="Carlito"/>
              </a:rPr>
              <a:t>crypto </a:t>
            </a:r>
            <a:r>
              <a:rPr lang="en-US" sz="3600" spc="-15" dirty="0">
                <a:latin typeface="Carlito"/>
                <a:cs typeface="Carlito"/>
              </a:rPr>
              <a:t>implementation</a:t>
            </a:r>
            <a:r>
              <a:rPr lang="en-US" sz="3600" spc="40" dirty="0">
                <a:latin typeface="Carlito"/>
                <a:cs typeface="Carlito"/>
              </a:rPr>
              <a:t> </a:t>
            </a:r>
            <a:r>
              <a:rPr lang="en-US" sz="3600" spc="-15" dirty="0">
                <a:latin typeface="Carlito"/>
                <a:cs typeface="Carlito"/>
              </a:rPr>
              <a:t>flaws</a:t>
            </a:r>
            <a:endParaRPr lang="en-US" sz="3600" dirty="0">
              <a:latin typeface="Carlito"/>
              <a:cs typeface="Carlito"/>
            </a:endParaRPr>
          </a:p>
          <a:p>
            <a:pPr marL="241300" indent="-229235"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endParaRPr lang="en-US" dirty="0">
              <a:latin typeface="Carlito"/>
              <a:cs typeface="Carlito"/>
            </a:endParaRPr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D3D8F474-8B2C-4225-A7A8-90F1E84D8B87}"/>
              </a:ext>
            </a:extLst>
          </p:cNvPr>
          <p:cNvSpPr/>
          <p:nvPr/>
        </p:nvSpPr>
        <p:spPr>
          <a:xfrm>
            <a:off x="2870420" y="5396097"/>
            <a:ext cx="4749820" cy="933142"/>
          </a:xfrm>
          <a:custGeom>
            <a:avLst/>
            <a:gdLst/>
            <a:ahLst/>
            <a:cxnLst/>
            <a:rect l="l" t="t" r="r" b="b"/>
            <a:pathLst>
              <a:path w="4544695" h="1300480">
                <a:moveTo>
                  <a:pt x="4327906" y="0"/>
                </a:moveTo>
                <a:lnTo>
                  <a:pt x="216662" y="0"/>
                </a:lnTo>
                <a:lnTo>
                  <a:pt x="166991" y="5723"/>
                </a:lnTo>
                <a:lnTo>
                  <a:pt x="121390" y="22026"/>
                </a:lnTo>
                <a:lnTo>
                  <a:pt x="81161" y="47606"/>
                </a:lnTo>
                <a:lnTo>
                  <a:pt x="47606" y="81161"/>
                </a:lnTo>
                <a:lnTo>
                  <a:pt x="22026" y="121390"/>
                </a:lnTo>
                <a:lnTo>
                  <a:pt x="5723" y="166991"/>
                </a:lnTo>
                <a:lnTo>
                  <a:pt x="0" y="216662"/>
                </a:lnTo>
                <a:lnTo>
                  <a:pt x="0" y="1083310"/>
                </a:lnTo>
                <a:lnTo>
                  <a:pt x="5723" y="1132980"/>
                </a:lnTo>
                <a:lnTo>
                  <a:pt x="22026" y="1178581"/>
                </a:lnTo>
                <a:lnTo>
                  <a:pt x="47606" y="1218810"/>
                </a:lnTo>
                <a:lnTo>
                  <a:pt x="81161" y="1252365"/>
                </a:lnTo>
                <a:lnTo>
                  <a:pt x="121390" y="1277945"/>
                </a:lnTo>
                <a:lnTo>
                  <a:pt x="166991" y="1294248"/>
                </a:lnTo>
                <a:lnTo>
                  <a:pt x="216662" y="1299972"/>
                </a:lnTo>
                <a:lnTo>
                  <a:pt x="4327906" y="1299972"/>
                </a:lnTo>
                <a:lnTo>
                  <a:pt x="4377576" y="1294248"/>
                </a:lnTo>
                <a:lnTo>
                  <a:pt x="4423177" y="1277945"/>
                </a:lnTo>
                <a:lnTo>
                  <a:pt x="4463406" y="1252365"/>
                </a:lnTo>
                <a:lnTo>
                  <a:pt x="4496961" y="1218810"/>
                </a:lnTo>
                <a:lnTo>
                  <a:pt x="4522541" y="1178581"/>
                </a:lnTo>
                <a:lnTo>
                  <a:pt x="4538844" y="1132980"/>
                </a:lnTo>
                <a:lnTo>
                  <a:pt x="4544568" y="1083310"/>
                </a:lnTo>
                <a:lnTo>
                  <a:pt x="4544568" y="216662"/>
                </a:lnTo>
                <a:lnTo>
                  <a:pt x="4538844" y="166991"/>
                </a:lnTo>
                <a:lnTo>
                  <a:pt x="4522541" y="121390"/>
                </a:lnTo>
                <a:lnTo>
                  <a:pt x="4496961" y="81161"/>
                </a:lnTo>
                <a:lnTo>
                  <a:pt x="4463406" y="47606"/>
                </a:lnTo>
                <a:lnTo>
                  <a:pt x="4423177" y="22026"/>
                </a:lnTo>
                <a:lnTo>
                  <a:pt x="4377576" y="5723"/>
                </a:lnTo>
                <a:lnTo>
                  <a:pt x="4327906" y="0"/>
                </a:lnTo>
                <a:close/>
              </a:path>
            </a:pathLst>
          </a:custGeom>
          <a:solidFill>
            <a:srgbClr val="F87556"/>
          </a:solidFill>
        </p:spPr>
        <p:txBody>
          <a:bodyPr wrap="square" lIns="0" tIns="0" rIns="0" bIns="0" rtlCol="0"/>
          <a:lstStyle/>
          <a:p>
            <a:pPr algn="ctr"/>
            <a:r>
              <a:rPr lang="en-US" dirty="0"/>
              <a:t>    </a:t>
            </a:r>
            <a:r>
              <a:rPr lang="en-US" sz="2400" dirty="0">
                <a:solidFill>
                  <a:schemeClr val="bg2"/>
                </a:solidFill>
              </a:rPr>
              <a:t>We will be aware with what software will do with private data</a:t>
            </a:r>
            <a:endParaRPr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84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computer, table&#10;&#10;Description automatically generated">
            <a:extLst>
              <a:ext uri="{FF2B5EF4-FFF2-40B4-BE49-F238E27FC236}">
                <a16:creationId xmlns:a16="http://schemas.microsoft.com/office/drawing/2014/main" id="{A7131332-0636-440E-8DC7-C5F5AE3B4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694" y="4166483"/>
            <a:ext cx="2678826" cy="259088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EA7083-A61F-42E7-96CD-6041F811E4CF}"/>
              </a:ext>
            </a:extLst>
          </p:cNvPr>
          <p:cNvSpPr/>
          <p:nvPr/>
        </p:nvSpPr>
        <p:spPr>
          <a:xfrm>
            <a:off x="10034608" y="2739707"/>
            <a:ext cx="1810848" cy="12226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 Main(S, I) returns(O)</a:t>
            </a:r>
          </a:p>
          <a:p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ensures even(O);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A picture containing person, woman, looking, holding&#10;&#10;Description automatically generated">
            <a:extLst>
              <a:ext uri="{FF2B5EF4-FFF2-40B4-BE49-F238E27FC236}">
                <a16:creationId xmlns:a16="http://schemas.microsoft.com/office/drawing/2014/main" id="{ED379B6D-FAD2-468F-BD89-8B0466629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014" y="100633"/>
            <a:ext cx="2173780" cy="1538743"/>
          </a:xfrm>
          <a:prstGeom prst="rect">
            <a:avLst/>
          </a:prstGeom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C805EC7C-DA87-48A6-97B2-174D9DFB983C}"/>
              </a:ext>
            </a:extLst>
          </p:cNvPr>
          <p:cNvSpPr/>
          <p:nvPr/>
        </p:nvSpPr>
        <p:spPr>
          <a:xfrm>
            <a:off x="10500105" y="1688909"/>
            <a:ext cx="493420" cy="103493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ect 9">
            <a:extLst>
              <a:ext uri="{FF2B5EF4-FFF2-40B4-BE49-F238E27FC236}">
                <a16:creationId xmlns:a16="http://schemas.microsoft.com/office/drawing/2014/main" id="{647256E9-276B-4F79-9FA8-A93C8EAA26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9229" y="45722"/>
            <a:ext cx="6307374" cy="84318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35" dirty="0">
                <a:latin typeface="Calibri" panose="020F0502020204030204" pitchFamily="34" charset="0"/>
                <a:cs typeface="Calibri" panose="020F0502020204030204" pitchFamily="34" charset="0"/>
              </a:rPr>
              <a:t>Verification</a:t>
            </a:r>
            <a:r>
              <a:rPr spc="-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pc="-229" dirty="0">
                <a:latin typeface="Calibri" panose="020F0502020204030204" pitchFamily="34" charset="0"/>
                <a:cs typeface="Calibri" panose="020F0502020204030204" pitchFamily="34" charset="0"/>
              </a:rPr>
              <a:t>0f Goals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82ED868-2918-4B10-974C-2BCA52ABD653}"/>
              </a:ext>
            </a:extLst>
          </p:cNvPr>
          <p:cNvSpPr txBox="1"/>
          <p:nvPr/>
        </p:nvSpPr>
        <p:spPr>
          <a:xfrm>
            <a:off x="834888" y="3435792"/>
            <a:ext cx="7166113" cy="1136208"/>
          </a:xfrm>
          <a:prstGeom prst="rect">
            <a:avLst/>
          </a:prstGeom>
          <a:solidFill>
            <a:schemeClr val="accent2">
              <a:alpha val="73724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320040" indent="-229235">
              <a:lnSpc>
                <a:spcPts val="3115"/>
              </a:lnSpc>
              <a:buFont typeface="Arial"/>
              <a:buChar char="•"/>
              <a:tabLst>
                <a:tab pos="320675" algn="l"/>
              </a:tabLst>
            </a:pPr>
            <a:r>
              <a:rPr sz="2800" spc="-10" dirty="0">
                <a:solidFill>
                  <a:srgbClr val="7030A0"/>
                </a:solidFill>
                <a:latin typeface="Carlito"/>
                <a:cs typeface="Carlito"/>
              </a:rPr>
              <a:t>Non-goal: </a:t>
            </a:r>
            <a:endParaRPr lang="en-US" sz="2800" spc="-10" dirty="0">
              <a:solidFill>
                <a:srgbClr val="7030A0"/>
              </a:solidFill>
              <a:latin typeface="Carlito"/>
              <a:cs typeface="Carlito"/>
            </a:endParaRPr>
          </a:p>
          <a:p>
            <a:pPr marL="918210" lvl="1" indent="-229235">
              <a:buChar char="─"/>
              <a:tabLst>
                <a:tab pos="918844" algn="l"/>
              </a:tabLst>
            </a:pPr>
            <a:r>
              <a:rPr lang="en-US" sz="2400" spc="-10" dirty="0">
                <a:solidFill>
                  <a:srgbClr val="7030A0"/>
                </a:solidFill>
                <a:latin typeface="Carlito"/>
              </a:rPr>
              <a:t>Compatibility</a:t>
            </a:r>
          </a:p>
          <a:p>
            <a:pPr marL="918210" lvl="1" indent="-229235">
              <a:buChar char="─"/>
              <a:tabLst>
                <a:tab pos="918844" algn="l"/>
              </a:tabLst>
            </a:pPr>
            <a:r>
              <a:rPr lang="en-US" sz="2400" spc="-10" dirty="0">
                <a:solidFill>
                  <a:srgbClr val="7030A0"/>
                </a:solidFill>
                <a:latin typeface="Carlito"/>
              </a:rPr>
              <a:t>Performance</a:t>
            </a: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2E12F029-9774-4D87-B820-01980F24465E}"/>
              </a:ext>
            </a:extLst>
          </p:cNvPr>
          <p:cNvSpPr txBox="1"/>
          <p:nvPr/>
        </p:nvSpPr>
        <p:spPr>
          <a:xfrm>
            <a:off x="834888" y="4944814"/>
            <a:ext cx="7166113" cy="423193"/>
          </a:xfrm>
          <a:prstGeom prst="rect">
            <a:avLst/>
          </a:prstGeom>
          <a:solidFill>
            <a:srgbClr val="FFFF00">
              <a:alpha val="74116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320040" indent="-229235">
              <a:lnSpc>
                <a:spcPts val="3279"/>
              </a:lnSpc>
              <a:buFont typeface="Arial"/>
              <a:buChar char="•"/>
              <a:tabLst>
                <a:tab pos="320675" algn="l"/>
              </a:tabLst>
            </a:pPr>
            <a:r>
              <a:rPr sz="2800" spc="-10" dirty="0">
                <a:solidFill>
                  <a:srgbClr val="7030A0"/>
                </a:solidFill>
                <a:latin typeface="Carlito"/>
                <a:cs typeface="Carlito"/>
              </a:rPr>
              <a:t>Long-term: </a:t>
            </a:r>
            <a:r>
              <a:rPr sz="2800" spc="-20" dirty="0">
                <a:solidFill>
                  <a:srgbClr val="7030A0"/>
                </a:solidFill>
                <a:latin typeface="Carlito"/>
                <a:cs typeface="Carlito"/>
              </a:rPr>
              <a:t>Performance </a:t>
            </a:r>
            <a:r>
              <a:rPr sz="2800" spc="-15" dirty="0">
                <a:solidFill>
                  <a:srgbClr val="7030A0"/>
                </a:solidFill>
                <a:latin typeface="Carlito"/>
                <a:cs typeface="Carlito"/>
              </a:rPr>
              <a:t>matches </a:t>
            </a:r>
            <a:r>
              <a:rPr sz="2800" spc="-20" dirty="0">
                <a:solidFill>
                  <a:srgbClr val="7030A0"/>
                </a:solidFill>
                <a:latin typeface="Carlito"/>
                <a:cs typeface="Carlito"/>
              </a:rPr>
              <a:t>unsafe</a:t>
            </a:r>
            <a:r>
              <a:rPr sz="2800" spc="114" dirty="0">
                <a:solidFill>
                  <a:srgbClr val="7030A0"/>
                </a:solidFill>
                <a:latin typeface="Carlito"/>
                <a:cs typeface="Carlito"/>
              </a:rPr>
              <a:t> </a:t>
            </a:r>
            <a:r>
              <a:rPr sz="2800" spc="-15" dirty="0">
                <a:solidFill>
                  <a:srgbClr val="7030A0"/>
                </a:solidFill>
                <a:latin typeface="Carlito"/>
                <a:cs typeface="Carlito"/>
              </a:rPr>
              <a:t>code</a:t>
            </a:r>
            <a:endParaRPr sz="2800" dirty="0">
              <a:solidFill>
                <a:srgbClr val="7030A0"/>
              </a:solidFill>
              <a:latin typeface="Carlito"/>
              <a:cs typeface="Carlito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B915F17C-9433-4202-ADE4-56476AACBC15}"/>
              </a:ext>
            </a:extLst>
          </p:cNvPr>
          <p:cNvSpPr txBox="1"/>
          <p:nvPr/>
        </p:nvSpPr>
        <p:spPr>
          <a:xfrm>
            <a:off x="803082" y="826937"/>
            <a:ext cx="7197920" cy="2296506"/>
          </a:xfrm>
          <a:prstGeom prst="rect">
            <a:avLst/>
          </a:prstGeom>
          <a:solidFill>
            <a:srgbClr val="C5DFB4">
              <a:alpha val="74116"/>
            </a:srgbClr>
          </a:solidFill>
        </p:spPr>
        <p:txBody>
          <a:bodyPr vert="horz" wrap="square" lIns="0" tIns="60960" rIns="0" bIns="0" rtlCol="0">
            <a:spAutoFit/>
          </a:bodyPr>
          <a:lstStyle/>
          <a:p>
            <a:pPr marL="460375" indent="-229235">
              <a:spcBef>
                <a:spcPts val="480"/>
              </a:spcBef>
              <a:buFont typeface="Arial"/>
              <a:buChar char="•"/>
              <a:tabLst>
                <a:tab pos="461009" algn="l"/>
              </a:tabLst>
            </a:pPr>
            <a:r>
              <a:rPr lang="en-US" sz="2800" spc="-10" dirty="0">
                <a:solidFill>
                  <a:srgbClr val="7030A0"/>
                </a:solidFill>
                <a:latin typeface="Carlito"/>
                <a:cs typeface="Carlito"/>
              </a:rPr>
              <a:t>Remote Equivalence</a:t>
            </a:r>
          </a:p>
          <a:p>
            <a:pPr marL="460375" indent="-229235">
              <a:spcBef>
                <a:spcPts val="480"/>
              </a:spcBef>
              <a:buFont typeface="Arial"/>
              <a:buChar char="•"/>
              <a:tabLst>
                <a:tab pos="461009" algn="l"/>
              </a:tabLst>
            </a:pPr>
            <a:r>
              <a:rPr sz="2800" spc="-10" dirty="0">
                <a:solidFill>
                  <a:srgbClr val="7030A0"/>
                </a:solidFill>
                <a:latin typeface="Carlito"/>
                <a:cs typeface="Carlito"/>
              </a:rPr>
              <a:t>End-to-end</a:t>
            </a:r>
            <a:r>
              <a:rPr sz="2800" spc="35" dirty="0">
                <a:solidFill>
                  <a:srgbClr val="7030A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Carlito"/>
                <a:cs typeface="Carlito"/>
              </a:rPr>
              <a:t>security</a:t>
            </a:r>
            <a:endParaRPr sz="2800" dirty="0">
              <a:solidFill>
                <a:srgbClr val="7030A0"/>
              </a:solidFill>
              <a:latin typeface="Carlito"/>
              <a:cs typeface="Carlito"/>
            </a:endParaRPr>
          </a:p>
          <a:p>
            <a:pPr marL="918210" lvl="1" indent="-229235">
              <a:spcBef>
                <a:spcPts val="244"/>
              </a:spcBef>
              <a:buChar char="─"/>
              <a:tabLst>
                <a:tab pos="918844" algn="l"/>
              </a:tabLst>
            </a:pPr>
            <a:r>
              <a:rPr sz="2400" spc="-10" dirty="0">
                <a:solidFill>
                  <a:srgbClr val="7030A0"/>
                </a:solidFill>
                <a:latin typeface="Carlito"/>
                <a:cs typeface="Carlito"/>
              </a:rPr>
              <a:t>Complete</a:t>
            </a:r>
            <a:endParaRPr sz="2400" dirty="0">
              <a:solidFill>
                <a:srgbClr val="7030A0"/>
              </a:solidFill>
              <a:latin typeface="Carlito"/>
              <a:cs typeface="Carlito"/>
            </a:endParaRPr>
          </a:p>
          <a:p>
            <a:pPr marL="918210" lvl="1" indent="-229235">
              <a:spcBef>
                <a:spcPts val="215"/>
              </a:spcBef>
              <a:buChar char="─"/>
              <a:tabLst>
                <a:tab pos="918844" algn="l"/>
              </a:tabLst>
            </a:pPr>
            <a:r>
              <a:rPr sz="2400" spc="-10" dirty="0">
                <a:solidFill>
                  <a:srgbClr val="7030A0"/>
                </a:solidFill>
                <a:latin typeface="Carlito"/>
                <a:cs typeface="Carlito"/>
              </a:rPr>
              <a:t>Low-level</a:t>
            </a:r>
            <a:endParaRPr sz="2400" dirty="0">
              <a:solidFill>
                <a:srgbClr val="7030A0"/>
              </a:solidFill>
              <a:latin typeface="Carlito"/>
              <a:cs typeface="Carlito"/>
            </a:endParaRPr>
          </a:p>
          <a:p>
            <a:pPr marL="460375" indent="-229235">
              <a:spcBef>
                <a:spcPts val="630"/>
              </a:spcBef>
              <a:buFont typeface="Arial"/>
              <a:buChar char="•"/>
              <a:tabLst>
                <a:tab pos="461009" algn="l"/>
              </a:tabLst>
            </a:pPr>
            <a:r>
              <a:rPr sz="2800" spc="-5" dirty="0">
                <a:solidFill>
                  <a:srgbClr val="7030A0"/>
                </a:solidFill>
                <a:latin typeface="Carlito"/>
                <a:cs typeface="Carlito"/>
              </a:rPr>
              <a:t>Rapid</a:t>
            </a:r>
            <a:r>
              <a:rPr sz="2800" spc="5" dirty="0">
                <a:solidFill>
                  <a:srgbClr val="7030A0"/>
                </a:solidFill>
                <a:latin typeface="Carlito"/>
                <a:cs typeface="Carlito"/>
              </a:rPr>
              <a:t> </a:t>
            </a:r>
            <a:r>
              <a:rPr sz="2800" spc="-15" dirty="0">
                <a:solidFill>
                  <a:srgbClr val="7030A0"/>
                </a:solidFill>
                <a:latin typeface="Carlito"/>
                <a:cs typeface="Carlito"/>
              </a:rPr>
              <a:t>development</a:t>
            </a:r>
            <a:endParaRPr sz="2800" dirty="0">
              <a:solidFill>
                <a:srgbClr val="7030A0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8925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7523" y="90102"/>
            <a:ext cx="8745609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Verification </a:t>
            </a:r>
            <a:r>
              <a:rPr spc="-200" dirty="0">
                <a:latin typeface="Calibri" panose="020F0502020204030204" pitchFamily="34" charset="0"/>
                <a:cs typeface="Calibri" panose="020F0502020204030204" pitchFamily="34" charset="0"/>
              </a:rPr>
              <a:t>methodology:</a:t>
            </a:r>
            <a:endParaRPr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92824" y="894388"/>
            <a:ext cx="1388577" cy="1467813"/>
            <a:chOff x="800100" y="1039367"/>
            <a:chExt cx="1161415" cy="1478280"/>
          </a:xfrm>
        </p:grpSpPr>
        <p:sp>
          <p:nvSpPr>
            <p:cNvPr id="6" name="object 6"/>
            <p:cNvSpPr/>
            <p:nvPr/>
          </p:nvSpPr>
          <p:spPr>
            <a:xfrm>
              <a:off x="835177" y="1071371"/>
              <a:ext cx="1063700" cy="13350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100" y="1039367"/>
              <a:ext cx="1161288" cy="14782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4869" y="1091945"/>
              <a:ext cx="949960" cy="1229995"/>
            </a:xfrm>
            <a:custGeom>
              <a:avLst/>
              <a:gdLst/>
              <a:ahLst/>
              <a:cxnLst/>
              <a:rect l="l" t="t" r="r" b="b"/>
              <a:pathLst>
                <a:path w="949960" h="1229995">
                  <a:moveTo>
                    <a:pt x="949452" y="0"/>
                  </a:moveTo>
                  <a:lnTo>
                    <a:pt x="0" y="0"/>
                  </a:lnTo>
                  <a:lnTo>
                    <a:pt x="0" y="1229867"/>
                  </a:lnTo>
                  <a:lnTo>
                    <a:pt x="949452" y="1229867"/>
                  </a:lnTo>
                  <a:lnTo>
                    <a:pt x="9494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864869" y="1091945"/>
              <a:ext cx="949960" cy="1229995"/>
            </a:xfrm>
            <a:custGeom>
              <a:avLst/>
              <a:gdLst/>
              <a:ahLst/>
              <a:cxnLst/>
              <a:rect l="l" t="t" r="r" b="b"/>
              <a:pathLst>
                <a:path w="949960" h="1229995">
                  <a:moveTo>
                    <a:pt x="0" y="1229867"/>
                  </a:moveTo>
                  <a:lnTo>
                    <a:pt x="949452" y="1229867"/>
                  </a:lnTo>
                  <a:lnTo>
                    <a:pt x="949452" y="0"/>
                  </a:lnTo>
                  <a:lnTo>
                    <a:pt x="0" y="0"/>
                  </a:lnTo>
                  <a:lnTo>
                    <a:pt x="0" y="1229867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88870" y="938176"/>
            <a:ext cx="88620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</a:t>
            </a:r>
            <a:r>
              <a:rPr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Level Space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71950" y="914401"/>
            <a:ext cx="5548122" cy="1310387"/>
            <a:chOff x="2618232" y="1063731"/>
            <a:chExt cx="5577840" cy="1452880"/>
          </a:xfrm>
        </p:grpSpPr>
        <p:sp>
          <p:nvSpPr>
            <p:cNvPr id="13" name="object 13"/>
            <p:cNvSpPr/>
            <p:nvPr/>
          </p:nvSpPr>
          <p:spPr>
            <a:xfrm>
              <a:off x="2618232" y="1063731"/>
              <a:ext cx="5577839" cy="134267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3468" y="1068323"/>
              <a:ext cx="4082795" cy="1447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47950" y="1084325"/>
              <a:ext cx="5463540" cy="1237615"/>
            </a:xfrm>
            <a:custGeom>
              <a:avLst/>
              <a:gdLst/>
              <a:ahLst/>
              <a:cxnLst/>
              <a:rect l="l" t="t" r="r" b="b"/>
              <a:pathLst>
                <a:path w="5463540" h="1237614">
                  <a:moveTo>
                    <a:pt x="54635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63540" y="1237488"/>
                  </a:lnTo>
                  <a:lnTo>
                    <a:pt x="546354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7950" y="1084325"/>
              <a:ext cx="5463540" cy="1237615"/>
            </a:xfrm>
            <a:custGeom>
              <a:avLst/>
              <a:gdLst/>
              <a:ahLst/>
              <a:cxnLst/>
              <a:rect l="l" t="t" r="r" b="b"/>
              <a:pathLst>
                <a:path w="5463540" h="1237614">
                  <a:moveTo>
                    <a:pt x="0" y="1237488"/>
                  </a:moveTo>
                  <a:lnTo>
                    <a:pt x="5463540" y="1237488"/>
                  </a:lnTo>
                  <a:lnTo>
                    <a:pt x="5463540" y="0"/>
                  </a:lnTo>
                  <a:lnTo>
                    <a:pt x="0" y="0"/>
                  </a:lnTo>
                  <a:lnTo>
                    <a:pt x="0" y="123748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05400" y="1076672"/>
            <a:ext cx="346456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0530" marR="5080" indent="-417830" algn="ctr">
              <a:spcBef>
                <a:spcPts val="105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Verifiable,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high-level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implementation</a:t>
            </a:r>
            <a:r>
              <a:rPr lang="en-US" sz="2400" spc="-5" dirty="0">
                <a:solidFill>
                  <a:srgbClr val="FFFFFF"/>
                </a:solidFill>
                <a:latin typeface="Carlito"/>
                <a:cs typeface="Carlito"/>
              </a:rPr>
              <a:t> (</a:t>
            </a:r>
            <a:r>
              <a:rPr lang="en-US" sz="2400" spc="-5" dirty="0" err="1">
                <a:solidFill>
                  <a:srgbClr val="FFFFFF"/>
                </a:solidFill>
                <a:latin typeface="Carlito"/>
                <a:cs typeface="Carlito"/>
              </a:rPr>
              <a:t>Defny</a:t>
            </a:r>
            <a:r>
              <a:rPr lang="en-US" sz="2400" spc="-5" dirty="0">
                <a:solidFill>
                  <a:srgbClr val="FFFFFF"/>
                </a:solidFill>
                <a:latin typeface="Carlito"/>
                <a:cs typeface="Carlito"/>
              </a:rPr>
              <a:t>)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68496CA-4622-44DC-9E64-39B3CB972B19}"/>
              </a:ext>
            </a:extLst>
          </p:cNvPr>
          <p:cNvSpPr txBox="1"/>
          <p:nvPr/>
        </p:nvSpPr>
        <p:spPr>
          <a:xfrm>
            <a:off x="1224501" y="3172362"/>
            <a:ext cx="8610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Use a verification stack based on Floyd-Hoare reasoning to prove the functional correctness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Write both specifications and code in </a:t>
            </a:r>
            <a:r>
              <a:rPr lang="en-US" sz="2800" b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Dafny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(a remarkably usable high-level language designed to facilitate verification).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59358" y="4331460"/>
            <a:ext cx="1007801" cy="752128"/>
          </a:xfrm>
          <a:custGeom>
            <a:avLst/>
            <a:gdLst/>
            <a:ahLst/>
            <a:cxnLst/>
            <a:rect l="l" t="t" r="r" b="b"/>
            <a:pathLst>
              <a:path w="1072514" h="821054">
                <a:moveTo>
                  <a:pt x="113792" y="591832"/>
                </a:moveTo>
                <a:lnTo>
                  <a:pt x="0" y="820661"/>
                </a:lnTo>
                <a:lnTo>
                  <a:pt x="251332" y="774433"/>
                </a:lnTo>
                <a:lnTo>
                  <a:pt x="222749" y="736485"/>
                </a:lnTo>
                <a:lnTo>
                  <a:pt x="175132" y="736485"/>
                </a:lnTo>
                <a:lnTo>
                  <a:pt x="129286" y="675614"/>
                </a:lnTo>
                <a:lnTo>
                  <a:pt x="159664" y="652733"/>
                </a:lnTo>
                <a:lnTo>
                  <a:pt x="113792" y="591832"/>
                </a:lnTo>
                <a:close/>
              </a:path>
              <a:path w="1072514" h="821054">
                <a:moveTo>
                  <a:pt x="159664" y="652733"/>
                </a:moveTo>
                <a:lnTo>
                  <a:pt x="129286" y="675614"/>
                </a:lnTo>
                <a:lnTo>
                  <a:pt x="175132" y="736485"/>
                </a:lnTo>
                <a:lnTo>
                  <a:pt x="205515" y="713605"/>
                </a:lnTo>
                <a:lnTo>
                  <a:pt x="159664" y="652733"/>
                </a:lnTo>
                <a:close/>
              </a:path>
              <a:path w="1072514" h="821054">
                <a:moveTo>
                  <a:pt x="205515" y="713605"/>
                </a:moveTo>
                <a:lnTo>
                  <a:pt x="175132" y="736485"/>
                </a:lnTo>
                <a:lnTo>
                  <a:pt x="222749" y="736485"/>
                </a:lnTo>
                <a:lnTo>
                  <a:pt x="205515" y="713605"/>
                </a:lnTo>
                <a:close/>
              </a:path>
              <a:path w="1072514" h="821054">
                <a:moveTo>
                  <a:pt x="1026287" y="0"/>
                </a:moveTo>
                <a:lnTo>
                  <a:pt x="159664" y="652733"/>
                </a:lnTo>
                <a:lnTo>
                  <a:pt x="205515" y="713605"/>
                </a:lnTo>
                <a:lnTo>
                  <a:pt x="1072133" y="60959"/>
                </a:lnTo>
                <a:lnTo>
                  <a:pt x="1026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12850" y="-62070"/>
            <a:ext cx="7590282" cy="721351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Verification </a:t>
            </a:r>
            <a:r>
              <a:rPr spc="-200" dirty="0">
                <a:latin typeface="Calibri" panose="020F0502020204030204" pitchFamily="34" charset="0"/>
                <a:cs typeface="Calibri" panose="020F0502020204030204" pitchFamily="34" charset="0"/>
              </a:rPr>
              <a:t>methodology:</a:t>
            </a:r>
            <a:endParaRPr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33601" y="762001"/>
            <a:ext cx="1475058" cy="1457266"/>
            <a:chOff x="800100" y="1039367"/>
            <a:chExt cx="1161288" cy="1478279"/>
          </a:xfrm>
        </p:grpSpPr>
        <p:sp>
          <p:nvSpPr>
            <p:cNvPr id="6" name="object 6"/>
            <p:cNvSpPr/>
            <p:nvPr/>
          </p:nvSpPr>
          <p:spPr>
            <a:xfrm>
              <a:off x="835177" y="1071371"/>
              <a:ext cx="1063700" cy="13350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100" y="1039367"/>
              <a:ext cx="1161288" cy="14782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4869" y="1091945"/>
              <a:ext cx="949960" cy="1229995"/>
            </a:xfrm>
            <a:custGeom>
              <a:avLst/>
              <a:gdLst/>
              <a:ahLst/>
              <a:cxnLst/>
              <a:rect l="l" t="t" r="r" b="b"/>
              <a:pathLst>
                <a:path w="949960" h="1229995">
                  <a:moveTo>
                    <a:pt x="949452" y="0"/>
                  </a:moveTo>
                  <a:lnTo>
                    <a:pt x="0" y="0"/>
                  </a:lnTo>
                  <a:lnTo>
                    <a:pt x="0" y="1229867"/>
                  </a:lnTo>
                  <a:lnTo>
                    <a:pt x="949452" y="1229867"/>
                  </a:lnTo>
                  <a:lnTo>
                    <a:pt x="949452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57152" y="877098"/>
            <a:ext cx="91792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</a:t>
            </a:r>
            <a:r>
              <a:rPr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Level Space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71950" y="909321"/>
            <a:ext cx="5548122" cy="1310387"/>
            <a:chOff x="2618232" y="1063731"/>
            <a:chExt cx="5577840" cy="1452880"/>
          </a:xfrm>
        </p:grpSpPr>
        <p:sp>
          <p:nvSpPr>
            <p:cNvPr id="13" name="object 13"/>
            <p:cNvSpPr/>
            <p:nvPr/>
          </p:nvSpPr>
          <p:spPr>
            <a:xfrm>
              <a:off x="2618232" y="1063731"/>
              <a:ext cx="5577839" cy="134267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3468" y="1068323"/>
              <a:ext cx="4082795" cy="1447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47950" y="1084325"/>
              <a:ext cx="5463540" cy="1237615"/>
            </a:xfrm>
            <a:custGeom>
              <a:avLst/>
              <a:gdLst/>
              <a:ahLst/>
              <a:cxnLst/>
              <a:rect l="l" t="t" r="r" b="b"/>
              <a:pathLst>
                <a:path w="5463540" h="1237614">
                  <a:moveTo>
                    <a:pt x="54635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63540" y="1237488"/>
                  </a:lnTo>
                  <a:lnTo>
                    <a:pt x="546354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7950" y="1084325"/>
              <a:ext cx="5463540" cy="1237615"/>
            </a:xfrm>
            <a:custGeom>
              <a:avLst/>
              <a:gdLst/>
              <a:ahLst/>
              <a:cxnLst/>
              <a:rect l="l" t="t" r="r" b="b"/>
              <a:pathLst>
                <a:path w="5463540" h="1237614">
                  <a:moveTo>
                    <a:pt x="0" y="1237488"/>
                  </a:moveTo>
                  <a:lnTo>
                    <a:pt x="5463540" y="1237488"/>
                  </a:lnTo>
                  <a:lnTo>
                    <a:pt x="5463540" y="0"/>
                  </a:lnTo>
                  <a:lnTo>
                    <a:pt x="0" y="0"/>
                  </a:lnTo>
                  <a:lnTo>
                    <a:pt x="0" y="123748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05400" y="1000281"/>
            <a:ext cx="346456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0530" marR="5080" indent="-417830">
              <a:spcBef>
                <a:spcPts val="105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Verifiable,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high-level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implementation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92827" y="1998967"/>
            <a:ext cx="6817647" cy="1316412"/>
            <a:chOff x="1223772" y="2321051"/>
            <a:chExt cx="6608064" cy="1330960"/>
          </a:xfrm>
        </p:grpSpPr>
        <p:sp>
          <p:nvSpPr>
            <p:cNvPr id="19" name="object 19"/>
            <p:cNvSpPr/>
            <p:nvPr/>
          </p:nvSpPr>
          <p:spPr>
            <a:xfrm>
              <a:off x="1223772" y="2321051"/>
              <a:ext cx="4284910" cy="1330960"/>
            </a:xfrm>
            <a:custGeom>
              <a:avLst/>
              <a:gdLst/>
              <a:ahLst/>
              <a:cxnLst/>
              <a:rect l="l" t="t" r="r" b="b"/>
              <a:pathLst>
                <a:path w="4270375" h="1330960">
                  <a:moveTo>
                    <a:pt x="228600" y="1101852"/>
                  </a:moveTo>
                  <a:lnTo>
                    <a:pt x="152400" y="1101852"/>
                  </a:lnTo>
                  <a:lnTo>
                    <a:pt x="152400" y="0"/>
                  </a:lnTo>
                  <a:lnTo>
                    <a:pt x="76200" y="0"/>
                  </a:lnTo>
                  <a:lnTo>
                    <a:pt x="76200" y="1101852"/>
                  </a:lnTo>
                  <a:lnTo>
                    <a:pt x="0" y="1101852"/>
                  </a:lnTo>
                  <a:lnTo>
                    <a:pt x="114300" y="1330452"/>
                  </a:lnTo>
                  <a:lnTo>
                    <a:pt x="209550" y="1139952"/>
                  </a:lnTo>
                  <a:lnTo>
                    <a:pt x="228600" y="1101852"/>
                  </a:lnTo>
                  <a:close/>
                </a:path>
                <a:path w="4270375" h="1330960">
                  <a:moveTo>
                    <a:pt x="4270248" y="1101852"/>
                  </a:moveTo>
                  <a:lnTo>
                    <a:pt x="4194048" y="1101852"/>
                  </a:lnTo>
                  <a:lnTo>
                    <a:pt x="4194048" y="0"/>
                  </a:lnTo>
                  <a:lnTo>
                    <a:pt x="4117848" y="0"/>
                  </a:lnTo>
                  <a:lnTo>
                    <a:pt x="4117848" y="1101852"/>
                  </a:lnTo>
                  <a:lnTo>
                    <a:pt x="4041648" y="1101852"/>
                  </a:lnTo>
                  <a:lnTo>
                    <a:pt x="4155948" y="1330452"/>
                  </a:lnTo>
                  <a:lnTo>
                    <a:pt x="4251198" y="1139952"/>
                  </a:lnTo>
                  <a:lnTo>
                    <a:pt x="4270248" y="1101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83992" y="2546603"/>
              <a:ext cx="4847844" cy="8290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85844" y="2631947"/>
              <a:ext cx="2641092" cy="7467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13596" y="2597072"/>
              <a:ext cx="4762227" cy="724022"/>
            </a:xfrm>
            <a:custGeom>
              <a:avLst/>
              <a:gdLst/>
              <a:ahLst/>
              <a:cxnLst/>
              <a:rect l="l" t="t" r="r" b="b"/>
              <a:pathLst>
                <a:path w="4715509" h="696595">
                  <a:moveTo>
                    <a:pt x="4599178" y="0"/>
                  </a:moveTo>
                  <a:lnTo>
                    <a:pt x="116077" y="0"/>
                  </a:lnTo>
                  <a:lnTo>
                    <a:pt x="70883" y="9118"/>
                  </a:lnTo>
                  <a:lnTo>
                    <a:pt x="33988" y="33988"/>
                  </a:lnTo>
                  <a:lnTo>
                    <a:pt x="9118" y="70883"/>
                  </a:lnTo>
                  <a:lnTo>
                    <a:pt x="0" y="116078"/>
                  </a:lnTo>
                  <a:lnTo>
                    <a:pt x="0" y="580389"/>
                  </a:lnTo>
                  <a:lnTo>
                    <a:pt x="9118" y="625584"/>
                  </a:lnTo>
                  <a:lnTo>
                    <a:pt x="33988" y="662479"/>
                  </a:lnTo>
                  <a:lnTo>
                    <a:pt x="70883" y="687349"/>
                  </a:lnTo>
                  <a:lnTo>
                    <a:pt x="116077" y="696468"/>
                  </a:lnTo>
                  <a:lnTo>
                    <a:pt x="4599178" y="696468"/>
                  </a:lnTo>
                  <a:lnTo>
                    <a:pt x="4644372" y="687349"/>
                  </a:lnTo>
                  <a:lnTo>
                    <a:pt x="4681267" y="662479"/>
                  </a:lnTo>
                  <a:lnTo>
                    <a:pt x="4706137" y="625584"/>
                  </a:lnTo>
                  <a:lnTo>
                    <a:pt x="4715256" y="580389"/>
                  </a:lnTo>
                  <a:lnTo>
                    <a:pt x="4715256" y="116078"/>
                  </a:lnTo>
                  <a:lnTo>
                    <a:pt x="4706137" y="70883"/>
                  </a:lnTo>
                  <a:lnTo>
                    <a:pt x="4681267" y="33988"/>
                  </a:lnTo>
                  <a:lnTo>
                    <a:pt x="4644372" y="9118"/>
                  </a:lnTo>
                  <a:lnTo>
                    <a:pt x="459917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2212849" y="3323316"/>
            <a:ext cx="1395810" cy="1401085"/>
            <a:chOff x="688848" y="3613403"/>
            <a:chExt cx="1356359" cy="1682495"/>
          </a:xfrm>
        </p:grpSpPr>
        <p:sp>
          <p:nvSpPr>
            <p:cNvPr id="26" name="object 26"/>
            <p:cNvSpPr/>
            <p:nvPr/>
          </p:nvSpPr>
          <p:spPr>
            <a:xfrm>
              <a:off x="688848" y="3613403"/>
              <a:ext cx="1356359" cy="16824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9056" y="3759707"/>
              <a:ext cx="1071371" cy="14782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7711" y="3652265"/>
              <a:ext cx="1208592" cy="1583313"/>
            </a:xfrm>
            <a:custGeom>
              <a:avLst/>
              <a:gdLst/>
              <a:ahLst/>
              <a:cxnLst/>
              <a:rect l="l" t="t" r="r" b="b"/>
              <a:pathLst>
                <a:path w="1224280" h="1550035">
                  <a:moveTo>
                    <a:pt x="1223772" y="0"/>
                  </a:moveTo>
                  <a:lnTo>
                    <a:pt x="0" y="0"/>
                  </a:lnTo>
                  <a:lnTo>
                    <a:pt x="0" y="1549908"/>
                  </a:lnTo>
                  <a:lnTo>
                    <a:pt x="1223772" y="1549908"/>
                  </a:lnTo>
                  <a:lnTo>
                    <a:pt x="12237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27710" y="3652265"/>
              <a:ext cx="1224280" cy="1550035"/>
            </a:xfrm>
            <a:custGeom>
              <a:avLst/>
              <a:gdLst/>
              <a:ahLst/>
              <a:cxnLst/>
              <a:rect l="l" t="t" r="r" b="b"/>
              <a:pathLst>
                <a:path w="1224280" h="1550035">
                  <a:moveTo>
                    <a:pt x="0" y="1549908"/>
                  </a:moveTo>
                  <a:lnTo>
                    <a:pt x="1223772" y="1549908"/>
                  </a:lnTo>
                  <a:lnTo>
                    <a:pt x="1223772" y="0"/>
                  </a:lnTo>
                  <a:lnTo>
                    <a:pt x="0" y="0"/>
                  </a:lnTo>
                  <a:lnTo>
                    <a:pt x="0" y="154990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247900" y="3450377"/>
            <a:ext cx="117652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 algn="ctr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Low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-  level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spec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18710" y="3276600"/>
            <a:ext cx="5030090" cy="1166228"/>
            <a:chOff x="2609088" y="3613403"/>
            <a:chExt cx="5596255" cy="1682750"/>
          </a:xfrm>
        </p:grpSpPr>
        <p:sp>
          <p:nvSpPr>
            <p:cNvPr id="32" name="object 32"/>
            <p:cNvSpPr/>
            <p:nvPr/>
          </p:nvSpPr>
          <p:spPr>
            <a:xfrm>
              <a:off x="2609088" y="3613403"/>
              <a:ext cx="5596127" cy="168249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47950" y="3652265"/>
              <a:ext cx="5463540" cy="1550035"/>
            </a:xfrm>
            <a:custGeom>
              <a:avLst/>
              <a:gdLst/>
              <a:ahLst/>
              <a:cxnLst/>
              <a:rect l="l" t="t" r="r" b="b"/>
              <a:pathLst>
                <a:path w="5463540" h="1550035">
                  <a:moveTo>
                    <a:pt x="5463540" y="0"/>
                  </a:moveTo>
                  <a:lnTo>
                    <a:pt x="0" y="0"/>
                  </a:lnTo>
                  <a:lnTo>
                    <a:pt x="0" y="1549908"/>
                  </a:lnTo>
                  <a:lnTo>
                    <a:pt x="5463540" y="1549908"/>
                  </a:lnTo>
                  <a:lnTo>
                    <a:pt x="546354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2647950" y="3652265"/>
              <a:ext cx="5463540" cy="1550035"/>
            </a:xfrm>
            <a:custGeom>
              <a:avLst/>
              <a:gdLst/>
              <a:ahLst/>
              <a:cxnLst/>
              <a:rect l="l" t="t" r="r" b="b"/>
              <a:pathLst>
                <a:path w="5463540" h="1550035">
                  <a:moveTo>
                    <a:pt x="0" y="1549908"/>
                  </a:moveTo>
                  <a:lnTo>
                    <a:pt x="5463540" y="1549908"/>
                  </a:lnTo>
                  <a:lnTo>
                    <a:pt x="5463540" y="0"/>
                  </a:lnTo>
                  <a:lnTo>
                    <a:pt x="0" y="0"/>
                  </a:lnTo>
                  <a:lnTo>
                    <a:pt x="0" y="154990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418711" y="3486997"/>
            <a:ext cx="489775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2400" spc="-5" dirty="0">
                <a:solidFill>
                  <a:srgbClr val="FFFFFF"/>
                </a:solidFill>
                <a:latin typeface="Carlito"/>
                <a:cs typeface="Carlito"/>
              </a:rPr>
              <a:t>Implementation in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Verifiable assembly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language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915792" y="2259630"/>
            <a:ext cx="2063372" cy="829056"/>
            <a:chOff x="306447" y="2546603"/>
            <a:chExt cx="2063372" cy="829056"/>
          </a:xfrm>
        </p:grpSpPr>
        <p:sp>
          <p:nvSpPr>
            <p:cNvPr id="52" name="object 52"/>
            <p:cNvSpPr/>
            <p:nvPr/>
          </p:nvSpPr>
          <p:spPr>
            <a:xfrm>
              <a:off x="364236" y="2546603"/>
              <a:ext cx="2005583" cy="8290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06447" y="2585595"/>
              <a:ext cx="1969899" cy="696466"/>
            </a:xfrm>
            <a:custGeom>
              <a:avLst/>
              <a:gdLst/>
              <a:ahLst/>
              <a:cxnLst/>
              <a:rect l="l" t="t" r="r" b="b"/>
              <a:pathLst>
                <a:path w="1873250" h="696595">
                  <a:moveTo>
                    <a:pt x="1756918" y="0"/>
                  </a:moveTo>
                  <a:lnTo>
                    <a:pt x="116078" y="0"/>
                  </a:lnTo>
                  <a:lnTo>
                    <a:pt x="70894" y="9118"/>
                  </a:lnTo>
                  <a:lnTo>
                    <a:pt x="33997" y="33988"/>
                  </a:lnTo>
                  <a:lnTo>
                    <a:pt x="9121" y="70883"/>
                  </a:lnTo>
                  <a:lnTo>
                    <a:pt x="0" y="116078"/>
                  </a:lnTo>
                  <a:lnTo>
                    <a:pt x="0" y="580389"/>
                  </a:lnTo>
                  <a:lnTo>
                    <a:pt x="9121" y="625584"/>
                  </a:lnTo>
                  <a:lnTo>
                    <a:pt x="33997" y="662479"/>
                  </a:lnTo>
                  <a:lnTo>
                    <a:pt x="70894" y="687349"/>
                  </a:lnTo>
                  <a:lnTo>
                    <a:pt x="116078" y="696468"/>
                  </a:lnTo>
                  <a:lnTo>
                    <a:pt x="1756918" y="696468"/>
                  </a:lnTo>
                  <a:lnTo>
                    <a:pt x="1802112" y="687349"/>
                  </a:lnTo>
                  <a:lnTo>
                    <a:pt x="1839007" y="662479"/>
                  </a:lnTo>
                  <a:lnTo>
                    <a:pt x="1863877" y="625584"/>
                  </a:lnTo>
                  <a:lnTo>
                    <a:pt x="1872995" y="580389"/>
                  </a:lnTo>
                  <a:lnTo>
                    <a:pt x="1872995" y="116078"/>
                  </a:lnTo>
                  <a:lnTo>
                    <a:pt x="1863877" y="70883"/>
                  </a:lnTo>
                  <a:lnTo>
                    <a:pt x="1839007" y="33988"/>
                  </a:lnTo>
                  <a:lnTo>
                    <a:pt x="1802112" y="9118"/>
                  </a:lnTo>
                  <a:lnTo>
                    <a:pt x="1756918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/>
                <a:t> </a:t>
              </a:r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Space Translator</a:t>
              </a:r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5" name="Arrow: Down 94">
            <a:extLst>
              <a:ext uri="{FF2B5EF4-FFF2-40B4-BE49-F238E27FC236}">
                <a16:creationId xmlns:a16="http://schemas.microsoft.com/office/drawing/2014/main" id="{0AF02D54-BD5A-42BD-A998-D02711204154}"/>
              </a:ext>
            </a:extLst>
          </p:cNvPr>
          <p:cNvSpPr/>
          <p:nvPr/>
        </p:nvSpPr>
        <p:spPr>
          <a:xfrm>
            <a:off x="2747774" y="4646458"/>
            <a:ext cx="147827" cy="458402"/>
          </a:xfrm>
          <a:prstGeom prst="downArrow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object 36">
            <a:extLst>
              <a:ext uri="{FF2B5EF4-FFF2-40B4-BE49-F238E27FC236}">
                <a16:creationId xmlns:a16="http://schemas.microsoft.com/office/drawing/2014/main" id="{53235193-FAEA-4CFC-9BD9-F8C5E0B80232}"/>
              </a:ext>
            </a:extLst>
          </p:cNvPr>
          <p:cNvGrpSpPr/>
          <p:nvPr/>
        </p:nvGrpSpPr>
        <p:grpSpPr>
          <a:xfrm>
            <a:off x="2077213" y="5053202"/>
            <a:ext cx="1580387" cy="737668"/>
            <a:chOff x="553212" y="5852159"/>
            <a:chExt cx="1628139" cy="832485"/>
          </a:xfrm>
        </p:grpSpPr>
        <p:sp>
          <p:nvSpPr>
            <p:cNvPr id="97" name="object 37">
              <a:extLst>
                <a:ext uri="{FF2B5EF4-FFF2-40B4-BE49-F238E27FC236}">
                  <a16:creationId xmlns:a16="http://schemas.microsoft.com/office/drawing/2014/main" id="{242A0105-AD68-4D72-8BE7-DC3CB0EADC93}"/>
                </a:ext>
              </a:extLst>
            </p:cNvPr>
            <p:cNvSpPr/>
            <p:nvPr/>
          </p:nvSpPr>
          <p:spPr>
            <a:xfrm>
              <a:off x="553212" y="5852159"/>
              <a:ext cx="1627632" cy="82753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38">
              <a:extLst>
                <a:ext uri="{FF2B5EF4-FFF2-40B4-BE49-F238E27FC236}">
                  <a16:creationId xmlns:a16="http://schemas.microsoft.com/office/drawing/2014/main" id="{C4DD8F35-F73D-40F8-B674-44E6FF39FD60}"/>
                </a:ext>
              </a:extLst>
            </p:cNvPr>
            <p:cNvSpPr/>
            <p:nvPr/>
          </p:nvSpPr>
          <p:spPr>
            <a:xfrm>
              <a:off x="667512" y="5937503"/>
              <a:ext cx="1395984" cy="7467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9" name="object 39">
              <a:extLst>
                <a:ext uri="{FF2B5EF4-FFF2-40B4-BE49-F238E27FC236}">
                  <a16:creationId xmlns:a16="http://schemas.microsoft.com/office/drawing/2014/main" id="{316F131B-A0A1-4CF5-AF93-576E8DAD9C75}"/>
                </a:ext>
              </a:extLst>
            </p:cNvPr>
            <p:cNvSpPr/>
            <p:nvPr/>
          </p:nvSpPr>
          <p:spPr>
            <a:xfrm>
              <a:off x="592074" y="5891021"/>
              <a:ext cx="1495425" cy="695325"/>
            </a:xfrm>
            <a:custGeom>
              <a:avLst/>
              <a:gdLst/>
              <a:ahLst/>
              <a:cxnLst/>
              <a:rect l="l" t="t" r="r" b="b"/>
              <a:pathLst>
                <a:path w="1495425" h="695325">
                  <a:moveTo>
                    <a:pt x="1379220" y="0"/>
                  </a:moveTo>
                  <a:lnTo>
                    <a:pt x="115824" y="0"/>
                  </a:lnTo>
                  <a:lnTo>
                    <a:pt x="70739" y="9101"/>
                  </a:lnTo>
                  <a:lnTo>
                    <a:pt x="33923" y="33923"/>
                  </a:lnTo>
                  <a:lnTo>
                    <a:pt x="9101" y="70739"/>
                  </a:lnTo>
                  <a:lnTo>
                    <a:pt x="0" y="115823"/>
                  </a:lnTo>
                  <a:lnTo>
                    <a:pt x="0" y="579119"/>
                  </a:lnTo>
                  <a:lnTo>
                    <a:pt x="9101" y="624204"/>
                  </a:lnTo>
                  <a:lnTo>
                    <a:pt x="33923" y="661020"/>
                  </a:lnTo>
                  <a:lnTo>
                    <a:pt x="70739" y="685842"/>
                  </a:lnTo>
                  <a:lnTo>
                    <a:pt x="115824" y="694943"/>
                  </a:lnTo>
                  <a:lnTo>
                    <a:pt x="1379220" y="694943"/>
                  </a:lnTo>
                  <a:lnTo>
                    <a:pt x="1424320" y="685842"/>
                  </a:lnTo>
                  <a:lnTo>
                    <a:pt x="1461134" y="661020"/>
                  </a:lnTo>
                  <a:lnTo>
                    <a:pt x="1485947" y="624204"/>
                  </a:lnTo>
                  <a:lnTo>
                    <a:pt x="1495044" y="579119"/>
                  </a:lnTo>
                  <a:lnTo>
                    <a:pt x="1495044" y="115823"/>
                  </a:lnTo>
                  <a:lnTo>
                    <a:pt x="1485947" y="70739"/>
                  </a:lnTo>
                  <a:lnTo>
                    <a:pt x="1461135" y="33923"/>
                  </a:lnTo>
                  <a:lnTo>
                    <a:pt x="1424320" y="9101"/>
                  </a:lnTo>
                  <a:lnTo>
                    <a:pt x="1379220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0" name="object 40">
              <a:extLst>
                <a:ext uri="{FF2B5EF4-FFF2-40B4-BE49-F238E27FC236}">
                  <a16:creationId xmlns:a16="http://schemas.microsoft.com/office/drawing/2014/main" id="{0518C2D5-EFF1-4CD8-8D70-81680558BAD3}"/>
                </a:ext>
              </a:extLst>
            </p:cNvPr>
            <p:cNvSpPr/>
            <p:nvPr/>
          </p:nvSpPr>
          <p:spPr>
            <a:xfrm>
              <a:off x="592074" y="5891021"/>
              <a:ext cx="1495425" cy="695325"/>
            </a:xfrm>
            <a:custGeom>
              <a:avLst/>
              <a:gdLst/>
              <a:ahLst/>
              <a:cxnLst/>
              <a:rect l="l" t="t" r="r" b="b"/>
              <a:pathLst>
                <a:path w="1495425" h="695325">
                  <a:moveTo>
                    <a:pt x="0" y="115823"/>
                  </a:moveTo>
                  <a:lnTo>
                    <a:pt x="9101" y="70739"/>
                  </a:lnTo>
                  <a:lnTo>
                    <a:pt x="33923" y="33923"/>
                  </a:lnTo>
                  <a:lnTo>
                    <a:pt x="70739" y="9101"/>
                  </a:lnTo>
                  <a:lnTo>
                    <a:pt x="115824" y="0"/>
                  </a:lnTo>
                  <a:lnTo>
                    <a:pt x="1379220" y="0"/>
                  </a:lnTo>
                  <a:lnTo>
                    <a:pt x="1424320" y="9101"/>
                  </a:lnTo>
                  <a:lnTo>
                    <a:pt x="1461135" y="33923"/>
                  </a:lnTo>
                  <a:lnTo>
                    <a:pt x="1485947" y="70739"/>
                  </a:lnTo>
                  <a:lnTo>
                    <a:pt x="1495044" y="115823"/>
                  </a:lnTo>
                  <a:lnTo>
                    <a:pt x="1495044" y="579119"/>
                  </a:lnTo>
                  <a:lnTo>
                    <a:pt x="1485947" y="624204"/>
                  </a:lnTo>
                  <a:lnTo>
                    <a:pt x="1461134" y="661020"/>
                  </a:lnTo>
                  <a:lnTo>
                    <a:pt x="1424320" y="685842"/>
                  </a:lnTo>
                  <a:lnTo>
                    <a:pt x="1379220" y="694943"/>
                  </a:lnTo>
                  <a:lnTo>
                    <a:pt x="115824" y="694943"/>
                  </a:lnTo>
                  <a:lnTo>
                    <a:pt x="70739" y="685842"/>
                  </a:lnTo>
                  <a:lnTo>
                    <a:pt x="33923" y="661020"/>
                  </a:lnTo>
                  <a:lnTo>
                    <a:pt x="9101" y="624204"/>
                  </a:lnTo>
                  <a:lnTo>
                    <a:pt x="0" y="579119"/>
                  </a:lnTo>
                  <a:lnTo>
                    <a:pt x="0" y="115823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41">
            <a:extLst>
              <a:ext uri="{FF2B5EF4-FFF2-40B4-BE49-F238E27FC236}">
                <a16:creationId xmlns:a16="http://schemas.microsoft.com/office/drawing/2014/main" id="{8C6805F4-AFE7-4C41-8E22-0CBDD378B00A}"/>
              </a:ext>
            </a:extLst>
          </p:cNvPr>
          <p:cNvSpPr txBox="1"/>
          <p:nvPr/>
        </p:nvSpPr>
        <p:spPr>
          <a:xfrm>
            <a:off x="2304975" y="5213236"/>
            <a:ext cx="103004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0176B4-DFF6-4F3F-9D8A-0EFE8FAFABCD}"/>
              </a:ext>
            </a:extLst>
          </p:cNvPr>
          <p:cNvSpPr/>
          <p:nvPr/>
        </p:nvSpPr>
        <p:spPr>
          <a:xfrm>
            <a:off x="3561880" y="5257802"/>
            <a:ext cx="820015" cy="1883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20E107-D1EB-4EFD-B47B-49127725DD3F}"/>
              </a:ext>
            </a:extLst>
          </p:cNvPr>
          <p:cNvSpPr txBox="1"/>
          <p:nvPr/>
        </p:nvSpPr>
        <p:spPr>
          <a:xfrm>
            <a:off x="4283760" y="5105401"/>
            <a:ext cx="135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highlight>
                  <a:srgbClr val="EBF7F9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Matches</a:t>
            </a:r>
          </a:p>
        </p:txBody>
      </p:sp>
      <p:sp>
        <p:nvSpPr>
          <p:cNvPr id="49" name="object 22">
            <a:extLst>
              <a:ext uri="{FF2B5EF4-FFF2-40B4-BE49-F238E27FC236}">
                <a16:creationId xmlns:a16="http://schemas.microsoft.com/office/drawing/2014/main" id="{2EEF3AB2-9A0E-406C-A400-65E2B3C42464}"/>
              </a:ext>
            </a:extLst>
          </p:cNvPr>
          <p:cNvSpPr/>
          <p:nvPr/>
        </p:nvSpPr>
        <p:spPr>
          <a:xfrm>
            <a:off x="5569380" y="4822412"/>
            <a:ext cx="2812621" cy="390824"/>
          </a:xfrm>
          <a:custGeom>
            <a:avLst/>
            <a:gdLst/>
            <a:ahLst/>
            <a:cxnLst/>
            <a:rect l="l" t="t" r="r" b="b"/>
            <a:pathLst>
              <a:path w="4715509" h="696595">
                <a:moveTo>
                  <a:pt x="4599178" y="0"/>
                </a:moveTo>
                <a:lnTo>
                  <a:pt x="116077" y="0"/>
                </a:lnTo>
                <a:lnTo>
                  <a:pt x="70883" y="9118"/>
                </a:lnTo>
                <a:lnTo>
                  <a:pt x="33988" y="33988"/>
                </a:lnTo>
                <a:lnTo>
                  <a:pt x="9118" y="70883"/>
                </a:lnTo>
                <a:lnTo>
                  <a:pt x="0" y="116078"/>
                </a:lnTo>
                <a:lnTo>
                  <a:pt x="0" y="580389"/>
                </a:lnTo>
                <a:lnTo>
                  <a:pt x="9118" y="625584"/>
                </a:lnTo>
                <a:lnTo>
                  <a:pt x="33988" y="662479"/>
                </a:lnTo>
                <a:lnTo>
                  <a:pt x="70883" y="687349"/>
                </a:lnTo>
                <a:lnTo>
                  <a:pt x="116077" y="696468"/>
                </a:lnTo>
                <a:lnTo>
                  <a:pt x="4599178" y="696468"/>
                </a:lnTo>
                <a:lnTo>
                  <a:pt x="4644372" y="687349"/>
                </a:lnTo>
                <a:lnTo>
                  <a:pt x="4681267" y="662479"/>
                </a:lnTo>
                <a:lnTo>
                  <a:pt x="4706137" y="625584"/>
                </a:lnTo>
                <a:lnTo>
                  <a:pt x="4715256" y="580389"/>
                </a:lnTo>
                <a:lnTo>
                  <a:pt x="4715256" y="116078"/>
                </a:lnTo>
                <a:lnTo>
                  <a:pt x="4706137" y="70883"/>
                </a:lnTo>
                <a:lnTo>
                  <a:pt x="4681267" y="33988"/>
                </a:lnTo>
                <a:lnTo>
                  <a:pt x="4644372" y="9118"/>
                </a:lnTo>
                <a:lnTo>
                  <a:pt x="4599178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Assembly and Linker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41F0A77A-8A34-4658-AD59-D21850BD4E42}"/>
              </a:ext>
            </a:extLst>
          </p:cNvPr>
          <p:cNvSpPr/>
          <p:nvPr/>
        </p:nvSpPr>
        <p:spPr>
          <a:xfrm>
            <a:off x="6858001" y="4375036"/>
            <a:ext cx="160147" cy="447376"/>
          </a:xfrm>
          <a:prstGeom prst="downArrow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Folded Corner 36">
            <a:extLst>
              <a:ext uri="{FF2B5EF4-FFF2-40B4-BE49-F238E27FC236}">
                <a16:creationId xmlns:a16="http://schemas.microsoft.com/office/drawing/2014/main" id="{C64370D6-00F1-462D-8782-F4584055438C}"/>
              </a:ext>
            </a:extLst>
          </p:cNvPr>
          <p:cNvSpPr/>
          <p:nvPr/>
        </p:nvSpPr>
        <p:spPr>
          <a:xfrm>
            <a:off x="7315200" y="5410200"/>
            <a:ext cx="1254760" cy="731602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Executable Image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D735DE01-F55D-412D-9E70-0F26C4DDEDB8}"/>
              </a:ext>
            </a:extLst>
          </p:cNvPr>
          <p:cNvSpPr/>
          <p:nvPr/>
        </p:nvSpPr>
        <p:spPr>
          <a:xfrm>
            <a:off x="6858000" y="5213236"/>
            <a:ext cx="152400" cy="64448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6CD87A4-C940-4871-842E-FB32C47F077B}"/>
              </a:ext>
            </a:extLst>
          </p:cNvPr>
          <p:cNvSpPr/>
          <p:nvPr/>
        </p:nvSpPr>
        <p:spPr>
          <a:xfrm>
            <a:off x="6858000" y="5724682"/>
            <a:ext cx="457200" cy="142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bject 24">
            <a:extLst>
              <a:ext uri="{FF2B5EF4-FFF2-40B4-BE49-F238E27FC236}">
                <a16:creationId xmlns:a16="http://schemas.microsoft.com/office/drawing/2014/main" id="{9A905407-007B-4A98-98D8-97254299BEDB}"/>
              </a:ext>
            </a:extLst>
          </p:cNvPr>
          <p:cNvSpPr txBox="1"/>
          <p:nvPr/>
        </p:nvSpPr>
        <p:spPr>
          <a:xfrm>
            <a:off x="5359178" y="2425148"/>
            <a:ext cx="2640679" cy="3954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Ironclad</a:t>
            </a:r>
            <a:r>
              <a:rPr sz="24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compiler</a:t>
            </a:r>
            <a:endParaRPr sz="24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52827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17" grpId="0"/>
      <p:bldP spid="30" grpId="0"/>
      <p:bldP spid="35" grpId="0"/>
      <p:bldP spid="95" grpId="0" animBg="1"/>
      <p:bldP spid="101" grpId="0"/>
      <p:bldP spid="11" grpId="0" animBg="1"/>
      <p:bldP spid="36" grpId="0"/>
      <p:bldP spid="49" grpId="0" animBg="1"/>
      <p:bldP spid="50" grpId="0" animBg="1"/>
      <p:bldP spid="37" grpId="0" animBg="1"/>
      <p:bldP spid="39" grpId="0" animBg="1"/>
      <p:bldP spid="40" grpId="0" animBg="1"/>
      <p:bldP spid="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59358" y="4331460"/>
            <a:ext cx="1007801" cy="752128"/>
          </a:xfrm>
          <a:custGeom>
            <a:avLst/>
            <a:gdLst/>
            <a:ahLst/>
            <a:cxnLst/>
            <a:rect l="l" t="t" r="r" b="b"/>
            <a:pathLst>
              <a:path w="1072514" h="821054">
                <a:moveTo>
                  <a:pt x="113792" y="591832"/>
                </a:moveTo>
                <a:lnTo>
                  <a:pt x="0" y="820661"/>
                </a:lnTo>
                <a:lnTo>
                  <a:pt x="251332" y="774433"/>
                </a:lnTo>
                <a:lnTo>
                  <a:pt x="222749" y="736485"/>
                </a:lnTo>
                <a:lnTo>
                  <a:pt x="175132" y="736485"/>
                </a:lnTo>
                <a:lnTo>
                  <a:pt x="129286" y="675614"/>
                </a:lnTo>
                <a:lnTo>
                  <a:pt x="159664" y="652733"/>
                </a:lnTo>
                <a:lnTo>
                  <a:pt x="113792" y="591832"/>
                </a:lnTo>
                <a:close/>
              </a:path>
              <a:path w="1072514" h="821054">
                <a:moveTo>
                  <a:pt x="159664" y="652733"/>
                </a:moveTo>
                <a:lnTo>
                  <a:pt x="129286" y="675614"/>
                </a:lnTo>
                <a:lnTo>
                  <a:pt x="175132" y="736485"/>
                </a:lnTo>
                <a:lnTo>
                  <a:pt x="205515" y="713605"/>
                </a:lnTo>
                <a:lnTo>
                  <a:pt x="159664" y="652733"/>
                </a:lnTo>
                <a:close/>
              </a:path>
              <a:path w="1072514" h="821054">
                <a:moveTo>
                  <a:pt x="205515" y="713605"/>
                </a:moveTo>
                <a:lnTo>
                  <a:pt x="175132" y="736485"/>
                </a:lnTo>
                <a:lnTo>
                  <a:pt x="222749" y="736485"/>
                </a:lnTo>
                <a:lnTo>
                  <a:pt x="205515" y="713605"/>
                </a:lnTo>
                <a:close/>
              </a:path>
              <a:path w="1072514" h="821054">
                <a:moveTo>
                  <a:pt x="1026287" y="0"/>
                </a:moveTo>
                <a:lnTo>
                  <a:pt x="159664" y="652733"/>
                </a:lnTo>
                <a:lnTo>
                  <a:pt x="205515" y="713605"/>
                </a:lnTo>
                <a:lnTo>
                  <a:pt x="1072133" y="60959"/>
                </a:lnTo>
                <a:lnTo>
                  <a:pt x="1026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133601" y="762001"/>
            <a:ext cx="1475219" cy="1457267"/>
            <a:chOff x="800100" y="1039367"/>
            <a:chExt cx="1161415" cy="1478280"/>
          </a:xfrm>
        </p:grpSpPr>
        <p:sp>
          <p:nvSpPr>
            <p:cNvPr id="6" name="object 6"/>
            <p:cNvSpPr/>
            <p:nvPr/>
          </p:nvSpPr>
          <p:spPr>
            <a:xfrm>
              <a:off x="835177" y="1071371"/>
              <a:ext cx="1063700" cy="13350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0100" y="1039367"/>
              <a:ext cx="1161288" cy="14782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4869" y="1091945"/>
              <a:ext cx="949960" cy="1229995"/>
            </a:xfrm>
            <a:custGeom>
              <a:avLst/>
              <a:gdLst/>
              <a:ahLst/>
              <a:cxnLst/>
              <a:rect l="l" t="t" r="r" b="b"/>
              <a:pathLst>
                <a:path w="949960" h="1229995">
                  <a:moveTo>
                    <a:pt x="949452" y="0"/>
                  </a:moveTo>
                  <a:lnTo>
                    <a:pt x="0" y="0"/>
                  </a:lnTo>
                  <a:lnTo>
                    <a:pt x="0" y="1229867"/>
                  </a:lnTo>
                  <a:lnTo>
                    <a:pt x="949452" y="1229867"/>
                  </a:lnTo>
                  <a:lnTo>
                    <a:pt x="949452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864869" y="1091945"/>
              <a:ext cx="949960" cy="1229995"/>
            </a:xfrm>
            <a:custGeom>
              <a:avLst/>
              <a:gdLst/>
              <a:ahLst/>
              <a:cxnLst/>
              <a:rect l="l" t="t" r="r" b="b"/>
              <a:pathLst>
                <a:path w="949960" h="1229995">
                  <a:moveTo>
                    <a:pt x="0" y="1229867"/>
                  </a:moveTo>
                  <a:lnTo>
                    <a:pt x="949452" y="1229867"/>
                  </a:lnTo>
                  <a:lnTo>
                    <a:pt x="949452" y="0"/>
                  </a:lnTo>
                  <a:lnTo>
                    <a:pt x="0" y="0"/>
                  </a:lnTo>
                  <a:lnTo>
                    <a:pt x="0" y="1229867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57152" y="877098"/>
            <a:ext cx="91792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</a:t>
            </a:r>
            <a:r>
              <a:rPr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Level Space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71950" y="909321"/>
            <a:ext cx="5548122" cy="1310387"/>
            <a:chOff x="2618232" y="1063731"/>
            <a:chExt cx="5577840" cy="1452880"/>
          </a:xfrm>
        </p:grpSpPr>
        <p:sp>
          <p:nvSpPr>
            <p:cNvPr id="13" name="object 13"/>
            <p:cNvSpPr/>
            <p:nvPr/>
          </p:nvSpPr>
          <p:spPr>
            <a:xfrm>
              <a:off x="2618232" y="1063731"/>
              <a:ext cx="5577839" cy="134267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3468" y="1068323"/>
              <a:ext cx="4082795" cy="144780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47950" y="1084325"/>
              <a:ext cx="5463540" cy="1237615"/>
            </a:xfrm>
            <a:custGeom>
              <a:avLst/>
              <a:gdLst/>
              <a:ahLst/>
              <a:cxnLst/>
              <a:rect l="l" t="t" r="r" b="b"/>
              <a:pathLst>
                <a:path w="5463540" h="1237614">
                  <a:moveTo>
                    <a:pt x="5463540" y="0"/>
                  </a:moveTo>
                  <a:lnTo>
                    <a:pt x="0" y="0"/>
                  </a:lnTo>
                  <a:lnTo>
                    <a:pt x="0" y="1237488"/>
                  </a:lnTo>
                  <a:lnTo>
                    <a:pt x="5463540" y="1237488"/>
                  </a:lnTo>
                  <a:lnTo>
                    <a:pt x="546354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647950" y="1084325"/>
              <a:ext cx="5463540" cy="1237615"/>
            </a:xfrm>
            <a:custGeom>
              <a:avLst/>
              <a:gdLst/>
              <a:ahLst/>
              <a:cxnLst/>
              <a:rect l="l" t="t" r="r" b="b"/>
              <a:pathLst>
                <a:path w="5463540" h="1237614">
                  <a:moveTo>
                    <a:pt x="0" y="1237488"/>
                  </a:moveTo>
                  <a:lnTo>
                    <a:pt x="5463540" y="1237488"/>
                  </a:lnTo>
                  <a:lnTo>
                    <a:pt x="5463540" y="0"/>
                  </a:lnTo>
                  <a:lnTo>
                    <a:pt x="0" y="0"/>
                  </a:lnTo>
                  <a:lnTo>
                    <a:pt x="0" y="123748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05400" y="1000281"/>
            <a:ext cx="346456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0530" marR="5080" indent="-417830">
              <a:spcBef>
                <a:spcPts val="105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Verifiable,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high-level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implementation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747774" y="2057400"/>
            <a:ext cx="6608063" cy="1316412"/>
            <a:chOff x="1223772" y="2321051"/>
            <a:chExt cx="6608064" cy="1330960"/>
          </a:xfrm>
        </p:grpSpPr>
        <p:sp>
          <p:nvSpPr>
            <p:cNvPr id="19" name="object 19"/>
            <p:cNvSpPr/>
            <p:nvPr/>
          </p:nvSpPr>
          <p:spPr>
            <a:xfrm>
              <a:off x="1223772" y="2321051"/>
              <a:ext cx="4270375" cy="1330960"/>
            </a:xfrm>
            <a:custGeom>
              <a:avLst/>
              <a:gdLst/>
              <a:ahLst/>
              <a:cxnLst/>
              <a:rect l="l" t="t" r="r" b="b"/>
              <a:pathLst>
                <a:path w="4270375" h="1330960">
                  <a:moveTo>
                    <a:pt x="228600" y="1101852"/>
                  </a:moveTo>
                  <a:lnTo>
                    <a:pt x="152400" y="1101852"/>
                  </a:lnTo>
                  <a:lnTo>
                    <a:pt x="152400" y="0"/>
                  </a:lnTo>
                  <a:lnTo>
                    <a:pt x="76200" y="0"/>
                  </a:lnTo>
                  <a:lnTo>
                    <a:pt x="76200" y="1101852"/>
                  </a:lnTo>
                  <a:lnTo>
                    <a:pt x="0" y="1101852"/>
                  </a:lnTo>
                  <a:lnTo>
                    <a:pt x="114300" y="1330452"/>
                  </a:lnTo>
                  <a:lnTo>
                    <a:pt x="209550" y="1139952"/>
                  </a:lnTo>
                  <a:lnTo>
                    <a:pt x="228600" y="1101852"/>
                  </a:lnTo>
                  <a:close/>
                </a:path>
                <a:path w="4270375" h="1330960">
                  <a:moveTo>
                    <a:pt x="4270248" y="1101852"/>
                  </a:moveTo>
                  <a:lnTo>
                    <a:pt x="4194048" y="1101852"/>
                  </a:lnTo>
                  <a:lnTo>
                    <a:pt x="4194048" y="0"/>
                  </a:lnTo>
                  <a:lnTo>
                    <a:pt x="4117848" y="0"/>
                  </a:lnTo>
                  <a:lnTo>
                    <a:pt x="4117848" y="1101852"/>
                  </a:lnTo>
                  <a:lnTo>
                    <a:pt x="4041648" y="1101852"/>
                  </a:lnTo>
                  <a:lnTo>
                    <a:pt x="4155948" y="1330452"/>
                  </a:lnTo>
                  <a:lnTo>
                    <a:pt x="4251198" y="1139952"/>
                  </a:lnTo>
                  <a:lnTo>
                    <a:pt x="4270248" y="11018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983992" y="2546603"/>
              <a:ext cx="4847844" cy="8290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85844" y="2631947"/>
              <a:ext cx="2641092" cy="74676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22854" y="2585465"/>
              <a:ext cx="4715679" cy="677211"/>
            </a:xfrm>
            <a:custGeom>
              <a:avLst/>
              <a:gdLst/>
              <a:ahLst/>
              <a:cxnLst/>
              <a:rect l="l" t="t" r="r" b="b"/>
              <a:pathLst>
                <a:path w="4715509" h="696595">
                  <a:moveTo>
                    <a:pt x="4599178" y="0"/>
                  </a:moveTo>
                  <a:lnTo>
                    <a:pt x="116077" y="0"/>
                  </a:lnTo>
                  <a:lnTo>
                    <a:pt x="70883" y="9118"/>
                  </a:lnTo>
                  <a:lnTo>
                    <a:pt x="33988" y="33988"/>
                  </a:lnTo>
                  <a:lnTo>
                    <a:pt x="9118" y="70883"/>
                  </a:lnTo>
                  <a:lnTo>
                    <a:pt x="0" y="116078"/>
                  </a:lnTo>
                  <a:lnTo>
                    <a:pt x="0" y="580389"/>
                  </a:lnTo>
                  <a:lnTo>
                    <a:pt x="9118" y="625584"/>
                  </a:lnTo>
                  <a:lnTo>
                    <a:pt x="33988" y="662479"/>
                  </a:lnTo>
                  <a:lnTo>
                    <a:pt x="70883" y="687349"/>
                  </a:lnTo>
                  <a:lnTo>
                    <a:pt x="116077" y="696468"/>
                  </a:lnTo>
                  <a:lnTo>
                    <a:pt x="4599178" y="696468"/>
                  </a:lnTo>
                  <a:lnTo>
                    <a:pt x="4644372" y="687349"/>
                  </a:lnTo>
                  <a:lnTo>
                    <a:pt x="4681267" y="662479"/>
                  </a:lnTo>
                  <a:lnTo>
                    <a:pt x="4706137" y="625584"/>
                  </a:lnTo>
                  <a:lnTo>
                    <a:pt x="4715256" y="580389"/>
                  </a:lnTo>
                  <a:lnTo>
                    <a:pt x="4715256" y="116078"/>
                  </a:lnTo>
                  <a:lnTo>
                    <a:pt x="4706137" y="70883"/>
                  </a:lnTo>
                  <a:lnTo>
                    <a:pt x="4681267" y="33988"/>
                  </a:lnTo>
                  <a:lnTo>
                    <a:pt x="4644372" y="9118"/>
                  </a:lnTo>
                  <a:lnTo>
                    <a:pt x="459917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022854" y="2585465"/>
              <a:ext cx="4715510" cy="696595"/>
            </a:xfrm>
            <a:custGeom>
              <a:avLst/>
              <a:gdLst/>
              <a:ahLst/>
              <a:cxnLst/>
              <a:rect l="l" t="t" r="r" b="b"/>
              <a:pathLst>
                <a:path w="4715509" h="696595">
                  <a:moveTo>
                    <a:pt x="0" y="116078"/>
                  </a:moveTo>
                  <a:lnTo>
                    <a:pt x="9118" y="70883"/>
                  </a:lnTo>
                  <a:lnTo>
                    <a:pt x="33988" y="33988"/>
                  </a:lnTo>
                  <a:lnTo>
                    <a:pt x="70883" y="9118"/>
                  </a:lnTo>
                  <a:lnTo>
                    <a:pt x="116077" y="0"/>
                  </a:lnTo>
                  <a:lnTo>
                    <a:pt x="4599178" y="0"/>
                  </a:lnTo>
                  <a:lnTo>
                    <a:pt x="4644372" y="9118"/>
                  </a:lnTo>
                  <a:lnTo>
                    <a:pt x="4681267" y="33988"/>
                  </a:lnTo>
                  <a:lnTo>
                    <a:pt x="4706137" y="70883"/>
                  </a:lnTo>
                  <a:lnTo>
                    <a:pt x="4715256" y="116078"/>
                  </a:lnTo>
                  <a:lnTo>
                    <a:pt x="4715256" y="580389"/>
                  </a:lnTo>
                  <a:lnTo>
                    <a:pt x="4706137" y="625584"/>
                  </a:lnTo>
                  <a:lnTo>
                    <a:pt x="4681267" y="662479"/>
                  </a:lnTo>
                  <a:lnTo>
                    <a:pt x="4644372" y="687349"/>
                  </a:lnTo>
                  <a:lnTo>
                    <a:pt x="4599178" y="696468"/>
                  </a:lnTo>
                  <a:lnTo>
                    <a:pt x="116077" y="696468"/>
                  </a:lnTo>
                  <a:lnTo>
                    <a:pt x="70883" y="687349"/>
                  </a:lnTo>
                  <a:lnTo>
                    <a:pt x="33988" y="662479"/>
                  </a:lnTo>
                  <a:lnTo>
                    <a:pt x="9118" y="625584"/>
                  </a:lnTo>
                  <a:lnTo>
                    <a:pt x="0" y="580389"/>
                  </a:lnTo>
                  <a:lnTo>
                    <a:pt x="0" y="116078"/>
                  </a:lnTo>
                  <a:close/>
                </a:path>
              </a:pathLst>
            </a:custGeom>
            <a:ln w="25907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58766" y="2438400"/>
            <a:ext cx="264109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Ironclad</a:t>
            </a:r>
            <a:r>
              <a:rPr sz="24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compiler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212849" y="3323316"/>
            <a:ext cx="1395810" cy="1401085"/>
            <a:chOff x="688848" y="3613403"/>
            <a:chExt cx="1356359" cy="1682495"/>
          </a:xfrm>
        </p:grpSpPr>
        <p:sp>
          <p:nvSpPr>
            <p:cNvPr id="26" name="object 26"/>
            <p:cNvSpPr/>
            <p:nvPr/>
          </p:nvSpPr>
          <p:spPr>
            <a:xfrm>
              <a:off x="688848" y="3613403"/>
              <a:ext cx="1356359" cy="16824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9056" y="3759707"/>
              <a:ext cx="1071371" cy="147828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7711" y="3652265"/>
              <a:ext cx="1208592" cy="1583313"/>
            </a:xfrm>
            <a:custGeom>
              <a:avLst/>
              <a:gdLst/>
              <a:ahLst/>
              <a:cxnLst/>
              <a:rect l="l" t="t" r="r" b="b"/>
              <a:pathLst>
                <a:path w="1224280" h="1550035">
                  <a:moveTo>
                    <a:pt x="1223772" y="0"/>
                  </a:moveTo>
                  <a:lnTo>
                    <a:pt x="0" y="0"/>
                  </a:lnTo>
                  <a:lnTo>
                    <a:pt x="0" y="1549908"/>
                  </a:lnTo>
                  <a:lnTo>
                    <a:pt x="1223772" y="1549908"/>
                  </a:lnTo>
                  <a:lnTo>
                    <a:pt x="12237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27710" y="3652265"/>
              <a:ext cx="1224280" cy="1550035"/>
            </a:xfrm>
            <a:custGeom>
              <a:avLst/>
              <a:gdLst/>
              <a:ahLst/>
              <a:cxnLst/>
              <a:rect l="l" t="t" r="r" b="b"/>
              <a:pathLst>
                <a:path w="1224280" h="1550035">
                  <a:moveTo>
                    <a:pt x="0" y="1549908"/>
                  </a:moveTo>
                  <a:lnTo>
                    <a:pt x="1223772" y="1549908"/>
                  </a:lnTo>
                  <a:lnTo>
                    <a:pt x="1223772" y="0"/>
                  </a:lnTo>
                  <a:lnTo>
                    <a:pt x="0" y="0"/>
                  </a:lnTo>
                  <a:lnTo>
                    <a:pt x="0" y="154990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247900" y="3450377"/>
            <a:ext cx="1176527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7620" algn="ctr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Low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-  level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spec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18710" y="3276600"/>
            <a:ext cx="5030090" cy="1166228"/>
            <a:chOff x="2609088" y="3613403"/>
            <a:chExt cx="5596255" cy="1682750"/>
          </a:xfrm>
        </p:grpSpPr>
        <p:sp>
          <p:nvSpPr>
            <p:cNvPr id="32" name="object 32"/>
            <p:cNvSpPr/>
            <p:nvPr/>
          </p:nvSpPr>
          <p:spPr>
            <a:xfrm>
              <a:off x="2609088" y="3613403"/>
              <a:ext cx="5596127" cy="1682495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647950" y="3652265"/>
              <a:ext cx="5463540" cy="1550035"/>
            </a:xfrm>
            <a:custGeom>
              <a:avLst/>
              <a:gdLst/>
              <a:ahLst/>
              <a:cxnLst/>
              <a:rect l="l" t="t" r="r" b="b"/>
              <a:pathLst>
                <a:path w="5463540" h="1550035">
                  <a:moveTo>
                    <a:pt x="5463540" y="0"/>
                  </a:moveTo>
                  <a:lnTo>
                    <a:pt x="0" y="0"/>
                  </a:lnTo>
                  <a:lnTo>
                    <a:pt x="0" y="1549908"/>
                  </a:lnTo>
                  <a:lnTo>
                    <a:pt x="5463540" y="1549908"/>
                  </a:lnTo>
                  <a:lnTo>
                    <a:pt x="5463540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4" name="object 34"/>
            <p:cNvSpPr/>
            <p:nvPr/>
          </p:nvSpPr>
          <p:spPr>
            <a:xfrm>
              <a:off x="2647950" y="3652265"/>
              <a:ext cx="5463540" cy="1550035"/>
            </a:xfrm>
            <a:custGeom>
              <a:avLst/>
              <a:gdLst/>
              <a:ahLst/>
              <a:cxnLst/>
              <a:rect l="l" t="t" r="r" b="b"/>
              <a:pathLst>
                <a:path w="5463540" h="1550035">
                  <a:moveTo>
                    <a:pt x="0" y="1549908"/>
                  </a:moveTo>
                  <a:lnTo>
                    <a:pt x="5463540" y="1549908"/>
                  </a:lnTo>
                  <a:lnTo>
                    <a:pt x="5463540" y="0"/>
                  </a:lnTo>
                  <a:lnTo>
                    <a:pt x="0" y="0"/>
                  </a:lnTo>
                  <a:lnTo>
                    <a:pt x="0" y="1549908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418711" y="3486997"/>
            <a:ext cx="489775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lang="en-US" sz="2400" spc="-5" dirty="0">
                <a:solidFill>
                  <a:srgbClr val="FFFFFF"/>
                </a:solidFill>
                <a:latin typeface="Carlito"/>
                <a:cs typeface="Carlito"/>
              </a:rPr>
              <a:t>Implementation in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Verifiable assembly</a:t>
            </a:r>
            <a:r>
              <a:rPr sz="2400" spc="-1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language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973581" y="2286001"/>
            <a:ext cx="2005583" cy="944879"/>
            <a:chOff x="364236" y="2525268"/>
            <a:chExt cx="2005583" cy="944879"/>
          </a:xfrm>
        </p:grpSpPr>
        <p:sp>
          <p:nvSpPr>
            <p:cNvPr id="52" name="object 52"/>
            <p:cNvSpPr/>
            <p:nvPr/>
          </p:nvSpPr>
          <p:spPr>
            <a:xfrm>
              <a:off x="364236" y="2546603"/>
              <a:ext cx="2005583" cy="8290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75488" y="2525268"/>
              <a:ext cx="1834895" cy="94487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4" name="object 54"/>
            <p:cNvSpPr/>
            <p:nvPr/>
          </p:nvSpPr>
          <p:spPr>
            <a:xfrm>
              <a:off x="403097" y="2585466"/>
              <a:ext cx="1873250" cy="696595"/>
            </a:xfrm>
            <a:custGeom>
              <a:avLst/>
              <a:gdLst/>
              <a:ahLst/>
              <a:cxnLst/>
              <a:rect l="l" t="t" r="r" b="b"/>
              <a:pathLst>
                <a:path w="1873250" h="696595">
                  <a:moveTo>
                    <a:pt x="1756918" y="0"/>
                  </a:moveTo>
                  <a:lnTo>
                    <a:pt x="116078" y="0"/>
                  </a:lnTo>
                  <a:lnTo>
                    <a:pt x="70894" y="9118"/>
                  </a:lnTo>
                  <a:lnTo>
                    <a:pt x="33997" y="33988"/>
                  </a:lnTo>
                  <a:lnTo>
                    <a:pt x="9121" y="70883"/>
                  </a:lnTo>
                  <a:lnTo>
                    <a:pt x="0" y="116078"/>
                  </a:lnTo>
                  <a:lnTo>
                    <a:pt x="0" y="580389"/>
                  </a:lnTo>
                  <a:lnTo>
                    <a:pt x="9121" y="625584"/>
                  </a:lnTo>
                  <a:lnTo>
                    <a:pt x="33997" y="662479"/>
                  </a:lnTo>
                  <a:lnTo>
                    <a:pt x="70894" y="687349"/>
                  </a:lnTo>
                  <a:lnTo>
                    <a:pt x="116078" y="696468"/>
                  </a:lnTo>
                  <a:lnTo>
                    <a:pt x="1756918" y="696468"/>
                  </a:lnTo>
                  <a:lnTo>
                    <a:pt x="1802112" y="687349"/>
                  </a:lnTo>
                  <a:lnTo>
                    <a:pt x="1839007" y="662479"/>
                  </a:lnTo>
                  <a:lnTo>
                    <a:pt x="1863877" y="625584"/>
                  </a:lnTo>
                  <a:lnTo>
                    <a:pt x="1872995" y="580389"/>
                  </a:lnTo>
                  <a:lnTo>
                    <a:pt x="1872995" y="116078"/>
                  </a:lnTo>
                  <a:lnTo>
                    <a:pt x="1863877" y="70883"/>
                  </a:lnTo>
                  <a:lnTo>
                    <a:pt x="1839007" y="33988"/>
                  </a:lnTo>
                  <a:lnTo>
                    <a:pt x="1802112" y="9118"/>
                  </a:lnTo>
                  <a:lnTo>
                    <a:pt x="1756918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/>
                <a:t> </a:t>
              </a:r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Space Translator</a:t>
              </a:r>
              <a:endParaRPr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403097" y="2585466"/>
              <a:ext cx="1873250" cy="696595"/>
            </a:xfrm>
            <a:custGeom>
              <a:avLst/>
              <a:gdLst/>
              <a:ahLst/>
              <a:cxnLst/>
              <a:rect l="l" t="t" r="r" b="b"/>
              <a:pathLst>
                <a:path w="1873250" h="696595">
                  <a:moveTo>
                    <a:pt x="0" y="116078"/>
                  </a:moveTo>
                  <a:lnTo>
                    <a:pt x="9121" y="70883"/>
                  </a:lnTo>
                  <a:lnTo>
                    <a:pt x="33997" y="33988"/>
                  </a:lnTo>
                  <a:lnTo>
                    <a:pt x="70894" y="9118"/>
                  </a:lnTo>
                  <a:lnTo>
                    <a:pt x="116078" y="0"/>
                  </a:lnTo>
                  <a:lnTo>
                    <a:pt x="1756918" y="0"/>
                  </a:lnTo>
                  <a:lnTo>
                    <a:pt x="1802112" y="9118"/>
                  </a:lnTo>
                  <a:lnTo>
                    <a:pt x="1839007" y="33988"/>
                  </a:lnTo>
                  <a:lnTo>
                    <a:pt x="1863877" y="70883"/>
                  </a:lnTo>
                  <a:lnTo>
                    <a:pt x="1872995" y="116078"/>
                  </a:lnTo>
                  <a:lnTo>
                    <a:pt x="1872995" y="580389"/>
                  </a:lnTo>
                  <a:lnTo>
                    <a:pt x="1863877" y="625584"/>
                  </a:lnTo>
                  <a:lnTo>
                    <a:pt x="1839007" y="662479"/>
                  </a:lnTo>
                  <a:lnTo>
                    <a:pt x="1802112" y="687349"/>
                  </a:lnTo>
                  <a:lnTo>
                    <a:pt x="1756918" y="696468"/>
                  </a:lnTo>
                  <a:lnTo>
                    <a:pt x="116078" y="696468"/>
                  </a:lnTo>
                  <a:lnTo>
                    <a:pt x="70894" y="687349"/>
                  </a:lnTo>
                  <a:lnTo>
                    <a:pt x="33997" y="662479"/>
                  </a:lnTo>
                  <a:lnTo>
                    <a:pt x="9121" y="625584"/>
                  </a:lnTo>
                  <a:lnTo>
                    <a:pt x="0" y="580389"/>
                  </a:lnTo>
                  <a:lnTo>
                    <a:pt x="0" y="116078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Arrow: Down 94">
            <a:extLst>
              <a:ext uri="{FF2B5EF4-FFF2-40B4-BE49-F238E27FC236}">
                <a16:creationId xmlns:a16="http://schemas.microsoft.com/office/drawing/2014/main" id="{0AF02D54-BD5A-42BD-A998-D02711204154}"/>
              </a:ext>
            </a:extLst>
          </p:cNvPr>
          <p:cNvSpPr/>
          <p:nvPr/>
        </p:nvSpPr>
        <p:spPr>
          <a:xfrm>
            <a:off x="2747774" y="4646458"/>
            <a:ext cx="147827" cy="458402"/>
          </a:xfrm>
          <a:prstGeom prst="downArrow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object 36">
            <a:extLst>
              <a:ext uri="{FF2B5EF4-FFF2-40B4-BE49-F238E27FC236}">
                <a16:creationId xmlns:a16="http://schemas.microsoft.com/office/drawing/2014/main" id="{53235193-FAEA-4CFC-9BD9-F8C5E0B80232}"/>
              </a:ext>
            </a:extLst>
          </p:cNvPr>
          <p:cNvGrpSpPr/>
          <p:nvPr/>
        </p:nvGrpSpPr>
        <p:grpSpPr>
          <a:xfrm>
            <a:off x="2077213" y="5053202"/>
            <a:ext cx="1580387" cy="737668"/>
            <a:chOff x="553212" y="5852159"/>
            <a:chExt cx="1628139" cy="832485"/>
          </a:xfrm>
        </p:grpSpPr>
        <p:sp>
          <p:nvSpPr>
            <p:cNvPr id="97" name="object 37">
              <a:extLst>
                <a:ext uri="{FF2B5EF4-FFF2-40B4-BE49-F238E27FC236}">
                  <a16:creationId xmlns:a16="http://schemas.microsoft.com/office/drawing/2014/main" id="{242A0105-AD68-4D72-8BE7-DC3CB0EADC93}"/>
                </a:ext>
              </a:extLst>
            </p:cNvPr>
            <p:cNvSpPr/>
            <p:nvPr/>
          </p:nvSpPr>
          <p:spPr>
            <a:xfrm>
              <a:off x="553212" y="5852159"/>
              <a:ext cx="1627632" cy="82753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38">
              <a:extLst>
                <a:ext uri="{FF2B5EF4-FFF2-40B4-BE49-F238E27FC236}">
                  <a16:creationId xmlns:a16="http://schemas.microsoft.com/office/drawing/2014/main" id="{C4DD8F35-F73D-40F8-B674-44E6FF39FD60}"/>
                </a:ext>
              </a:extLst>
            </p:cNvPr>
            <p:cNvSpPr/>
            <p:nvPr/>
          </p:nvSpPr>
          <p:spPr>
            <a:xfrm>
              <a:off x="667512" y="5937503"/>
              <a:ext cx="1395984" cy="74675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9" name="object 39">
              <a:extLst>
                <a:ext uri="{FF2B5EF4-FFF2-40B4-BE49-F238E27FC236}">
                  <a16:creationId xmlns:a16="http://schemas.microsoft.com/office/drawing/2014/main" id="{316F131B-A0A1-4CF5-AF93-576E8DAD9C75}"/>
                </a:ext>
              </a:extLst>
            </p:cNvPr>
            <p:cNvSpPr/>
            <p:nvPr/>
          </p:nvSpPr>
          <p:spPr>
            <a:xfrm>
              <a:off x="592074" y="5891021"/>
              <a:ext cx="1495425" cy="695325"/>
            </a:xfrm>
            <a:custGeom>
              <a:avLst/>
              <a:gdLst/>
              <a:ahLst/>
              <a:cxnLst/>
              <a:rect l="l" t="t" r="r" b="b"/>
              <a:pathLst>
                <a:path w="1495425" h="695325">
                  <a:moveTo>
                    <a:pt x="1379220" y="0"/>
                  </a:moveTo>
                  <a:lnTo>
                    <a:pt x="115824" y="0"/>
                  </a:lnTo>
                  <a:lnTo>
                    <a:pt x="70739" y="9101"/>
                  </a:lnTo>
                  <a:lnTo>
                    <a:pt x="33923" y="33923"/>
                  </a:lnTo>
                  <a:lnTo>
                    <a:pt x="9101" y="70739"/>
                  </a:lnTo>
                  <a:lnTo>
                    <a:pt x="0" y="115823"/>
                  </a:lnTo>
                  <a:lnTo>
                    <a:pt x="0" y="579119"/>
                  </a:lnTo>
                  <a:lnTo>
                    <a:pt x="9101" y="624204"/>
                  </a:lnTo>
                  <a:lnTo>
                    <a:pt x="33923" y="661020"/>
                  </a:lnTo>
                  <a:lnTo>
                    <a:pt x="70739" y="685842"/>
                  </a:lnTo>
                  <a:lnTo>
                    <a:pt x="115824" y="694943"/>
                  </a:lnTo>
                  <a:lnTo>
                    <a:pt x="1379220" y="694943"/>
                  </a:lnTo>
                  <a:lnTo>
                    <a:pt x="1424320" y="685842"/>
                  </a:lnTo>
                  <a:lnTo>
                    <a:pt x="1461134" y="661020"/>
                  </a:lnTo>
                  <a:lnTo>
                    <a:pt x="1485947" y="624204"/>
                  </a:lnTo>
                  <a:lnTo>
                    <a:pt x="1495044" y="579119"/>
                  </a:lnTo>
                  <a:lnTo>
                    <a:pt x="1495044" y="115823"/>
                  </a:lnTo>
                  <a:lnTo>
                    <a:pt x="1485947" y="70739"/>
                  </a:lnTo>
                  <a:lnTo>
                    <a:pt x="1461135" y="33923"/>
                  </a:lnTo>
                  <a:lnTo>
                    <a:pt x="1424320" y="9101"/>
                  </a:lnTo>
                  <a:lnTo>
                    <a:pt x="1379220" y="0"/>
                  </a:lnTo>
                  <a:close/>
                </a:path>
              </a:pathLst>
            </a:custGeom>
            <a:solidFill>
              <a:schemeClr val="accent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0" name="object 40">
              <a:extLst>
                <a:ext uri="{FF2B5EF4-FFF2-40B4-BE49-F238E27FC236}">
                  <a16:creationId xmlns:a16="http://schemas.microsoft.com/office/drawing/2014/main" id="{0518C2D5-EFF1-4CD8-8D70-81680558BAD3}"/>
                </a:ext>
              </a:extLst>
            </p:cNvPr>
            <p:cNvSpPr/>
            <p:nvPr/>
          </p:nvSpPr>
          <p:spPr>
            <a:xfrm>
              <a:off x="592074" y="5891021"/>
              <a:ext cx="1495425" cy="695325"/>
            </a:xfrm>
            <a:custGeom>
              <a:avLst/>
              <a:gdLst/>
              <a:ahLst/>
              <a:cxnLst/>
              <a:rect l="l" t="t" r="r" b="b"/>
              <a:pathLst>
                <a:path w="1495425" h="695325">
                  <a:moveTo>
                    <a:pt x="0" y="115823"/>
                  </a:moveTo>
                  <a:lnTo>
                    <a:pt x="9101" y="70739"/>
                  </a:lnTo>
                  <a:lnTo>
                    <a:pt x="33923" y="33923"/>
                  </a:lnTo>
                  <a:lnTo>
                    <a:pt x="70739" y="9101"/>
                  </a:lnTo>
                  <a:lnTo>
                    <a:pt x="115824" y="0"/>
                  </a:lnTo>
                  <a:lnTo>
                    <a:pt x="1379220" y="0"/>
                  </a:lnTo>
                  <a:lnTo>
                    <a:pt x="1424320" y="9101"/>
                  </a:lnTo>
                  <a:lnTo>
                    <a:pt x="1461135" y="33923"/>
                  </a:lnTo>
                  <a:lnTo>
                    <a:pt x="1485947" y="70739"/>
                  </a:lnTo>
                  <a:lnTo>
                    <a:pt x="1495044" y="115823"/>
                  </a:lnTo>
                  <a:lnTo>
                    <a:pt x="1495044" y="579119"/>
                  </a:lnTo>
                  <a:lnTo>
                    <a:pt x="1485947" y="624204"/>
                  </a:lnTo>
                  <a:lnTo>
                    <a:pt x="1461134" y="661020"/>
                  </a:lnTo>
                  <a:lnTo>
                    <a:pt x="1424320" y="685842"/>
                  </a:lnTo>
                  <a:lnTo>
                    <a:pt x="1379220" y="694943"/>
                  </a:lnTo>
                  <a:lnTo>
                    <a:pt x="115824" y="694943"/>
                  </a:lnTo>
                  <a:lnTo>
                    <a:pt x="70739" y="685842"/>
                  </a:lnTo>
                  <a:lnTo>
                    <a:pt x="33923" y="661020"/>
                  </a:lnTo>
                  <a:lnTo>
                    <a:pt x="9101" y="624204"/>
                  </a:lnTo>
                  <a:lnTo>
                    <a:pt x="0" y="579119"/>
                  </a:lnTo>
                  <a:lnTo>
                    <a:pt x="0" y="115823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41">
            <a:extLst>
              <a:ext uri="{FF2B5EF4-FFF2-40B4-BE49-F238E27FC236}">
                <a16:creationId xmlns:a16="http://schemas.microsoft.com/office/drawing/2014/main" id="{8C6805F4-AFE7-4C41-8E22-0CBDD378B00A}"/>
              </a:ext>
            </a:extLst>
          </p:cNvPr>
          <p:cNvSpPr txBox="1"/>
          <p:nvPr/>
        </p:nvSpPr>
        <p:spPr>
          <a:xfrm>
            <a:off x="2247899" y="5213236"/>
            <a:ext cx="10871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Verifi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er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B0176B4-DFF6-4F3F-9D8A-0EFE8FAFABCD}"/>
              </a:ext>
            </a:extLst>
          </p:cNvPr>
          <p:cNvSpPr/>
          <p:nvPr/>
        </p:nvSpPr>
        <p:spPr>
          <a:xfrm>
            <a:off x="3561880" y="5257802"/>
            <a:ext cx="820015" cy="1883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20E107-D1EB-4EFD-B47B-49127725DD3F}"/>
              </a:ext>
            </a:extLst>
          </p:cNvPr>
          <p:cNvSpPr txBox="1"/>
          <p:nvPr/>
        </p:nvSpPr>
        <p:spPr>
          <a:xfrm>
            <a:off x="4283760" y="5105401"/>
            <a:ext cx="1355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highlight>
                  <a:srgbClr val="EBF7F9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Matches</a:t>
            </a:r>
          </a:p>
        </p:txBody>
      </p:sp>
      <p:sp>
        <p:nvSpPr>
          <p:cNvPr id="49" name="object 22">
            <a:extLst>
              <a:ext uri="{FF2B5EF4-FFF2-40B4-BE49-F238E27FC236}">
                <a16:creationId xmlns:a16="http://schemas.microsoft.com/office/drawing/2014/main" id="{2EEF3AB2-9A0E-406C-A400-65E2B3C42464}"/>
              </a:ext>
            </a:extLst>
          </p:cNvPr>
          <p:cNvSpPr/>
          <p:nvPr/>
        </p:nvSpPr>
        <p:spPr>
          <a:xfrm>
            <a:off x="5569380" y="4822412"/>
            <a:ext cx="2812621" cy="390824"/>
          </a:xfrm>
          <a:custGeom>
            <a:avLst/>
            <a:gdLst/>
            <a:ahLst/>
            <a:cxnLst/>
            <a:rect l="l" t="t" r="r" b="b"/>
            <a:pathLst>
              <a:path w="4715509" h="696595">
                <a:moveTo>
                  <a:pt x="4599178" y="0"/>
                </a:moveTo>
                <a:lnTo>
                  <a:pt x="116077" y="0"/>
                </a:lnTo>
                <a:lnTo>
                  <a:pt x="70883" y="9118"/>
                </a:lnTo>
                <a:lnTo>
                  <a:pt x="33988" y="33988"/>
                </a:lnTo>
                <a:lnTo>
                  <a:pt x="9118" y="70883"/>
                </a:lnTo>
                <a:lnTo>
                  <a:pt x="0" y="116078"/>
                </a:lnTo>
                <a:lnTo>
                  <a:pt x="0" y="580389"/>
                </a:lnTo>
                <a:lnTo>
                  <a:pt x="9118" y="625584"/>
                </a:lnTo>
                <a:lnTo>
                  <a:pt x="33988" y="662479"/>
                </a:lnTo>
                <a:lnTo>
                  <a:pt x="70883" y="687349"/>
                </a:lnTo>
                <a:lnTo>
                  <a:pt x="116077" y="696468"/>
                </a:lnTo>
                <a:lnTo>
                  <a:pt x="4599178" y="696468"/>
                </a:lnTo>
                <a:lnTo>
                  <a:pt x="4644372" y="687349"/>
                </a:lnTo>
                <a:lnTo>
                  <a:pt x="4681267" y="662479"/>
                </a:lnTo>
                <a:lnTo>
                  <a:pt x="4706137" y="625584"/>
                </a:lnTo>
                <a:lnTo>
                  <a:pt x="4715256" y="580389"/>
                </a:lnTo>
                <a:lnTo>
                  <a:pt x="4715256" y="116078"/>
                </a:lnTo>
                <a:lnTo>
                  <a:pt x="4706137" y="70883"/>
                </a:lnTo>
                <a:lnTo>
                  <a:pt x="4681267" y="33988"/>
                </a:lnTo>
                <a:lnTo>
                  <a:pt x="4644372" y="9118"/>
                </a:lnTo>
                <a:lnTo>
                  <a:pt x="4599178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Assembly and Linker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41F0A77A-8A34-4658-AD59-D21850BD4E42}"/>
              </a:ext>
            </a:extLst>
          </p:cNvPr>
          <p:cNvSpPr/>
          <p:nvPr/>
        </p:nvSpPr>
        <p:spPr>
          <a:xfrm>
            <a:off x="6858001" y="4375036"/>
            <a:ext cx="160147" cy="447376"/>
          </a:xfrm>
          <a:prstGeom prst="downArrow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Folded Corner 36">
            <a:extLst>
              <a:ext uri="{FF2B5EF4-FFF2-40B4-BE49-F238E27FC236}">
                <a16:creationId xmlns:a16="http://schemas.microsoft.com/office/drawing/2014/main" id="{C64370D6-00F1-462D-8782-F4584055438C}"/>
              </a:ext>
            </a:extLst>
          </p:cNvPr>
          <p:cNvSpPr/>
          <p:nvPr/>
        </p:nvSpPr>
        <p:spPr>
          <a:xfrm>
            <a:off x="7315200" y="5410200"/>
            <a:ext cx="1254760" cy="731602"/>
          </a:xfrm>
          <a:prstGeom prst="foldedCorne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Executable Image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D735DE01-F55D-412D-9E70-0F26C4DDEDB8}"/>
              </a:ext>
            </a:extLst>
          </p:cNvPr>
          <p:cNvSpPr/>
          <p:nvPr/>
        </p:nvSpPr>
        <p:spPr>
          <a:xfrm>
            <a:off x="6858000" y="5213236"/>
            <a:ext cx="152400" cy="64448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6CD87A4-C940-4871-842E-FB32C47F077B}"/>
              </a:ext>
            </a:extLst>
          </p:cNvPr>
          <p:cNvSpPr/>
          <p:nvPr/>
        </p:nvSpPr>
        <p:spPr>
          <a:xfrm>
            <a:off x="6858000" y="5724682"/>
            <a:ext cx="457200" cy="14271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Speech Bubble: Rectangle 55">
            <a:extLst>
              <a:ext uri="{FF2B5EF4-FFF2-40B4-BE49-F238E27FC236}">
                <a16:creationId xmlns:a16="http://schemas.microsoft.com/office/drawing/2014/main" id="{FE2679DA-8D3F-49FE-948F-DF1EF66EEE8A}"/>
              </a:ext>
            </a:extLst>
          </p:cNvPr>
          <p:cNvSpPr/>
          <p:nvPr/>
        </p:nvSpPr>
        <p:spPr>
          <a:xfrm flipV="1">
            <a:off x="10252918" y="1756891"/>
            <a:ext cx="1833066" cy="819994"/>
          </a:xfrm>
          <a:prstGeom prst="wedgeRectCallout">
            <a:avLst>
              <a:gd name="adj1" fmla="val -72376"/>
              <a:gd name="adj2" fmla="val 93277"/>
            </a:avLst>
          </a:prstGeom>
          <a:solidFill>
            <a:srgbClr val="7676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11F199-61F6-4218-946E-70E87B48D6DA}"/>
              </a:ext>
            </a:extLst>
          </p:cNvPr>
          <p:cNvSpPr txBox="1"/>
          <p:nvPr/>
        </p:nvSpPr>
        <p:spPr>
          <a:xfrm>
            <a:off x="10252917" y="1871500"/>
            <a:ext cx="1819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Easy to develop code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73C940-721D-4047-B286-441B0AEDC8F6}"/>
              </a:ext>
            </a:extLst>
          </p:cNvPr>
          <p:cNvSpPr/>
          <p:nvPr/>
        </p:nvSpPr>
        <p:spPr>
          <a:xfrm>
            <a:off x="1914145" y="733202"/>
            <a:ext cx="7920705" cy="1394083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Speech Bubble: Rectangle 61">
            <a:extLst>
              <a:ext uri="{FF2B5EF4-FFF2-40B4-BE49-F238E27FC236}">
                <a16:creationId xmlns:a16="http://schemas.microsoft.com/office/drawing/2014/main" id="{66E83102-48F5-4422-9D5F-7D0A0302EADF}"/>
              </a:ext>
            </a:extLst>
          </p:cNvPr>
          <p:cNvSpPr/>
          <p:nvPr/>
        </p:nvSpPr>
        <p:spPr>
          <a:xfrm flipV="1">
            <a:off x="304930" y="1872531"/>
            <a:ext cx="1609216" cy="819992"/>
          </a:xfrm>
          <a:prstGeom prst="wedgeRectCallout">
            <a:avLst>
              <a:gd name="adj1" fmla="val 67558"/>
              <a:gd name="adj2" fmla="val 110059"/>
            </a:avLst>
          </a:prstGeom>
          <a:solidFill>
            <a:srgbClr val="7676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DFD1F5-48A9-41AD-8D84-B209C4355CCE}"/>
              </a:ext>
            </a:extLst>
          </p:cNvPr>
          <p:cNvSpPr txBox="1"/>
          <p:nvPr/>
        </p:nvSpPr>
        <p:spPr>
          <a:xfrm>
            <a:off x="325385" y="1852280"/>
            <a:ext cx="1495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Simple &amp; declarative</a:t>
            </a:r>
          </a:p>
        </p:txBody>
      </p:sp>
      <p:sp>
        <p:nvSpPr>
          <p:cNvPr id="59" name="Speech Bubble: Rectangle 58">
            <a:extLst>
              <a:ext uri="{FF2B5EF4-FFF2-40B4-BE49-F238E27FC236}">
                <a16:creationId xmlns:a16="http://schemas.microsoft.com/office/drawing/2014/main" id="{30A00800-2AB2-41C6-A059-6AB93495AF29}"/>
              </a:ext>
            </a:extLst>
          </p:cNvPr>
          <p:cNvSpPr/>
          <p:nvPr/>
        </p:nvSpPr>
        <p:spPr>
          <a:xfrm flipV="1">
            <a:off x="1929414" y="6019800"/>
            <a:ext cx="1728186" cy="819992"/>
          </a:xfrm>
          <a:prstGeom prst="wedgeRectCallout">
            <a:avLst>
              <a:gd name="adj1" fmla="val -6136"/>
              <a:gd name="adj2" fmla="val 92444"/>
            </a:avLst>
          </a:prstGeom>
          <a:solidFill>
            <a:srgbClr val="7676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3CAB3D-733A-41A8-BD06-5329D731EE9A}"/>
              </a:ext>
            </a:extLst>
          </p:cNvPr>
          <p:cNvSpPr txBox="1"/>
          <p:nvPr/>
        </p:nvSpPr>
        <p:spPr>
          <a:xfrm>
            <a:off x="2003975" y="6095545"/>
            <a:ext cx="1680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Low Level Verification</a:t>
            </a:r>
          </a:p>
        </p:txBody>
      </p:sp>
      <p:sp>
        <p:nvSpPr>
          <p:cNvPr id="65" name="object 4">
            <a:extLst>
              <a:ext uri="{FF2B5EF4-FFF2-40B4-BE49-F238E27FC236}">
                <a16:creationId xmlns:a16="http://schemas.microsoft.com/office/drawing/2014/main" id="{837AA7F1-C984-4036-A58A-7FEBFB1419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4543" y="-41131"/>
            <a:ext cx="9238588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spc="-260" dirty="0">
                <a:latin typeface="Calibri" panose="020F0502020204030204" pitchFamily="34" charset="0"/>
                <a:cs typeface="Calibri" panose="020F0502020204030204" pitchFamily="34" charset="0"/>
              </a:rPr>
              <a:t>Verification </a:t>
            </a:r>
            <a:r>
              <a:rPr spc="-200" dirty="0">
                <a:latin typeface="Calibri" panose="020F0502020204030204" pitchFamily="34" charset="0"/>
                <a:cs typeface="Calibri" panose="020F0502020204030204" pitchFamily="34" charset="0"/>
              </a:rPr>
              <a:t>methodology:</a:t>
            </a:r>
            <a:r>
              <a:rPr lang="en-US" spc="-200" dirty="0">
                <a:latin typeface="Calibri" panose="020F0502020204030204" pitchFamily="34" charset="0"/>
                <a:cs typeface="Calibri" panose="020F0502020204030204" pitchFamily="34" charset="0"/>
              </a:rPr>
              <a:t> Benefits</a:t>
            </a:r>
            <a:endParaRPr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peech Bubble: Rectangle 60">
            <a:extLst>
              <a:ext uri="{FF2B5EF4-FFF2-40B4-BE49-F238E27FC236}">
                <a16:creationId xmlns:a16="http://schemas.microsoft.com/office/drawing/2014/main" id="{1E085EEF-9E62-4368-B79F-7D867A1D4ABD}"/>
              </a:ext>
            </a:extLst>
          </p:cNvPr>
          <p:cNvSpPr/>
          <p:nvPr/>
        </p:nvSpPr>
        <p:spPr>
          <a:xfrm flipV="1">
            <a:off x="9540060" y="3504247"/>
            <a:ext cx="1728186" cy="737776"/>
          </a:xfrm>
          <a:prstGeom prst="wedgeRectCallout">
            <a:avLst>
              <a:gd name="adj1" fmla="val -65564"/>
              <a:gd name="adj2" fmla="val 131862"/>
            </a:avLst>
          </a:prstGeom>
          <a:solidFill>
            <a:srgbClr val="7676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65A647-3C68-45AC-90D9-8ADD1342BAB0}"/>
              </a:ext>
            </a:extLst>
          </p:cNvPr>
          <p:cNvSpPr txBox="1"/>
          <p:nvPr/>
        </p:nvSpPr>
        <p:spPr>
          <a:xfrm>
            <a:off x="9483614" y="3562430"/>
            <a:ext cx="1636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Arbitrarily Complexity</a:t>
            </a:r>
          </a:p>
        </p:txBody>
      </p:sp>
    </p:spTree>
    <p:extLst>
      <p:ext uri="{BB962C8B-B14F-4D97-AF65-F5344CB8AC3E}">
        <p14:creationId xmlns:p14="http://schemas.microsoft.com/office/powerpoint/2010/main" val="252223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/>
      <p:bldP spid="62" grpId="0" animBg="1"/>
      <p:bldP spid="59" grpId="0" animBg="1"/>
      <p:bldP spid="60" grpId="0"/>
      <p:bldP spid="61" grpId="0" animBg="1"/>
      <p:bldP spid="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9C71C6-DB28-489A-BC37-D590508CFF38}"/>
              </a:ext>
            </a:extLst>
          </p:cNvPr>
          <p:cNvSpPr/>
          <p:nvPr/>
        </p:nvSpPr>
        <p:spPr>
          <a:xfrm>
            <a:off x="1041621" y="771570"/>
            <a:ext cx="79499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Two main types of specifications: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847C89-9A31-40F1-A10F-42B78970161C}"/>
              </a:ext>
            </a:extLst>
          </p:cNvPr>
          <p:cNvSpPr/>
          <p:nvPr/>
        </p:nvSpPr>
        <p:spPr>
          <a:xfrm>
            <a:off x="2027581" y="3682113"/>
            <a:ext cx="6629401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E9919-E6EA-40BC-9D5C-076E59A209E7}"/>
              </a:ext>
            </a:extLst>
          </p:cNvPr>
          <p:cNvSpPr txBox="1"/>
          <p:nvPr/>
        </p:nvSpPr>
        <p:spPr>
          <a:xfrm>
            <a:off x="2166067" y="3941136"/>
            <a:ext cx="6317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C12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meet this specification the have used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12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Spec-First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12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Idiomatic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12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 reviews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3F4987-2095-4F70-9DF2-1CB74984B89F}"/>
              </a:ext>
            </a:extLst>
          </p:cNvPr>
          <p:cNvSpPr/>
          <p:nvPr/>
        </p:nvSpPr>
        <p:spPr>
          <a:xfrm>
            <a:off x="985962" y="1633761"/>
            <a:ext cx="3967701" cy="6291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Hardware Spec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BC5BF-B2E6-4C76-9F3A-746C9ADE501C}"/>
              </a:ext>
            </a:extLst>
          </p:cNvPr>
          <p:cNvSpPr txBox="1"/>
          <p:nvPr/>
        </p:nvSpPr>
        <p:spPr>
          <a:xfrm>
            <a:off x="6096000" y="2286000"/>
            <a:ext cx="4757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abstract descriptions of desired</a:t>
            </a:r>
          </a:p>
          <a:p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behavior. These are written modularly in terms of</a:t>
            </a:r>
          </a:p>
          <a:p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lower-level library specs.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49394-4196-4228-88F0-E21E2FDFB4A5}"/>
              </a:ext>
            </a:extLst>
          </p:cNvPr>
          <p:cNvSpPr txBox="1"/>
          <p:nvPr/>
        </p:nvSpPr>
        <p:spPr>
          <a:xfrm>
            <a:off x="818985" y="2336899"/>
            <a:ext cx="5200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write a specification for each of assembly instructions.</a:t>
            </a:r>
          </a:p>
          <a:p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instruction’s spec describes its preconditions</a:t>
            </a:r>
          </a:p>
          <a:p>
            <a:r>
              <a:rPr lang="en-US" sz="2000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its effects on the system</a:t>
            </a:r>
            <a:r>
              <a:rPr lang="en-US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400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900B0E-64DC-44F7-8A8F-1D82FC5C11D3}"/>
              </a:ext>
            </a:extLst>
          </p:cNvPr>
          <p:cNvSpPr/>
          <p:nvPr/>
        </p:nvSpPr>
        <p:spPr>
          <a:xfrm>
            <a:off x="6166567" y="1645927"/>
            <a:ext cx="3605585" cy="6291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Apps Spec</a:t>
            </a:r>
            <a:endParaRPr lang="en-US" dirty="0"/>
          </a:p>
        </p:txBody>
      </p:sp>
      <p:pic>
        <p:nvPicPr>
          <p:cNvPr id="11" name="Picture 10" descr="A picture containing room&#10;&#10;Description automatically generated">
            <a:extLst>
              <a:ext uri="{FF2B5EF4-FFF2-40B4-BE49-F238E27FC236}">
                <a16:creationId xmlns:a16="http://schemas.microsoft.com/office/drawing/2014/main" id="{7D0040DC-6BE9-4528-A08C-52E2000E3D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625" y="3916393"/>
            <a:ext cx="1619146" cy="1619146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13F45CEB-48F5-4419-B77D-6520BDD26ADC}"/>
              </a:ext>
            </a:extLst>
          </p:cNvPr>
          <p:cNvSpPr txBox="1">
            <a:spLocks/>
          </p:cNvSpPr>
          <p:nvPr/>
        </p:nvSpPr>
        <p:spPr>
          <a:xfrm>
            <a:off x="818985" y="11361"/>
            <a:ext cx="9620416" cy="629018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390">
              <a:lnSpc>
                <a:spcPct val="100000"/>
              </a:lnSpc>
              <a:spcBef>
                <a:spcPts val="105"/>
              </a:spcBef>
            </a:pP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Writing trustworthy specifications</a:t>
            </a:r>
            <a:endParaRPr lang="en-US" sz="4000"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0A0964B4-470D-458E-99B0-CFD8FAB99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74" y="5541407"/>
            <a:ext cx="1008363" cy="1210035"/>
          </a:xfrm>
          <a:prstGeom prst="rect">
            <a:avLst/>
          </a:prstGeom>
        </p:spPr>
      </p:pic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249B3ED4-64B2-4ACA-B7C5-83A515E8AADA}"/>
              </a:ext>
            </a:extLst>
          </p:cNvPr>
          <p:cNvSpPr/>
          <p:nvPr/>
        </p:nvSpPr>
        <p:spPr>
          <a:xfrm>
            <a:off x="4238046" y="5514894"/>
            <a:ext cx="1550504" cy="1295400"/>
          </a:xfrm>
          <a:prstGeom prst="flowChartMultidocumen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4000 lines of instructions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798C32-3CF3-4C7A-B133-569B70C36E14}"/>
              </a:ext>
            </a:extLst>
          </p:cNvPr>
          <p:cNvCxnSpPr>
            <a:cxnSpLocks/>
          </p:cNvCxnSpPr>
          <p:nvPr/>
        </p:nvCxnSpPr>
        <p:spPr>
          <a:xfrm>
            <a:off x="5804452" y="6162594"/>
            <a:ext cx="2727297" cy="14641"/>
          </a:xfrm>
          <a:prstGeom prst="straightConnector1">
            <a:avLst/>
          </a:prstGeom>
          <a:ln w="41275"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2A35C24-84F7-476B-91E3-AB3B7CD877C9}"/>
              </a:ext>
            </a:extLst>
          </p:cNvPr>
          <p:cNvSpPr/>
          <p:nvPr/>
        </p:nvSpPr>
        <p:spPr>
          <a:xfrm>
            <a:off x="8515847" y="5659343"/>
            <a:ext cx="1192696" cy="1035784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Take just 2000lines</a:t>
            </a:r>
          </a:p>
        </p:txBody>
      </p:sp>
      <p:sp>
        <p:nvSpPr>
          <p:cNvPr id="21" name="Thought Bubble: Cloud 20">
            <a:extLst>
              <a:ext uri="{FF2B5EF4-FFF2-40B4-BE49-F238E27FC236}">
                <a16:creationId xmlns:a16="http://schemas.microsoft.com/office/drawing/2014/main" id="{0D043F02-515F-4021-8A09-6F752DC94B24}"/>
              </a:ext>
            </a:extLst>
          </p:cNvPr>
          <p:cNvSpPr/>
          <p:nvPr/>
        </p:nvSpPr>
        <p:spPr>
          <a:xfrm>
            <a:off x="237674" y="4470666"/>
            <a:ext cx="1392344" cy="896464"/>
          </a:xfrm>
          <a:prstGeom prst="cloudCallou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Verify First</a:t>
            </a:r>
          </a:p>
        </p:txBody>
      </p:sp>
    </p:spTree>
    <p:extLst>
      <p:ext uri="{BB962C8B-B14F-4D97-AF65-F5344CB8AC3E}">
        <p14:creationId xmlns:p14="http://schemas.microsoft.com/office/powerpoint/2010/main" val="364138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  <p:bldP spid="9" grpId="0"/>
      <p:bldP spid="10" grpId="0" animBg="1"/>
      <p:bldP spid="14" grpId="0" animBg="1"/>
      <p:bldP spid="16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60000"/>
                <a:lumOff val="40000"/>
              </a:schemeClr>
            </a:gs>
            <a:gs pos="74000">
              <a:schemeClr val="tx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851629" y="1444709"/>
            <a:ext cx="874838" cy="1258888"/>
          </a:xfrm>
          <a:prstGeom prst="rect">
            <a:avLst/>
          </a:prstGeom>
          <a:noFill/>
          <a:effectLst/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1881377" y="1465326"/>
            <a:ext cx="760730" cy="149335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907">
            <a:solidFill>
              <a:srgbClr val="8B3836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99060" marR="93345" indent="31750">
              <a:spcBef>
                <a:spcPts val="1505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App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spec</a:t>
            </a:r>
            <a:endParaRPr lang="en-US" sz="2400" spc="-5" dirty="0">
              <a:solidFill>
                <a:srgbClr val="FFFFFF"/>
              </a:solidFill>
              <a:latin typeface="Carlito"/>
              <a:cs typeface="Carlito"/>
            </a:endParaRPr>
          </a:p>
          <a:p>
            <a:pPr marL="99060" marR="93345" indent="31750">
              <a:spcBef>
                <a:spcPts val="1505"/>
              </a:spcBef>
            </a:pPr>
            <a:endParaRPr sz="2400" dirty="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66647" y="5887211"/>
            <a:ext cx="5917687" cy="746760"/>
            <a:chOff x="1342646" y="5887211"/>
            <a:chExt cx="5917687" cy="746760"/>
          </a:xfrm>
        </p:grpSpPr>
        <p:sp>
          <p:nvSpPr>
            <p:cNvPr id="18" name="object 18"/>
            <p:cNvSpPr/>
            <p:nvPr/>
          </p:nvSpPr>
          <p:spPr>
            <a:xfrm>
              <a:off x="1342646" y="5960364"/>
              <a:ext cx="5917687" cy="52120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6955" y="5887211"/>
              <a:ext cx="2446020" cy="7467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72361" y="5980938"/>
              <a:ext cx="5803900" cy="416559"/>
            </a:xfrm>
            <a:custGeom>
              <a:avLst/>
              <a:gdLst/>
              <a:ahLst/>
              <a:cxnLst/>
              <a:rect l="l" t="t" r="r" b="b"/>
              <a:pathLst>
                <a:path w="5803900" h="416560">
                  <a:moveTo>
                    <a:pt x="5803392" y="0"/>
                  </a:moveTo>
                  <a:lnTo>
                    <a:pt x="0" y="0"/>
                  </a:lnTo>
                  <a:lnTo>
                    <a:pt x="0" y="416052"/>
                  </a:lnTo>
                  <a:lnTo>
                    <a:pt x="5803392" y="416052"/>
                  </a:lnTo>
                  <a:lnTo>
                    <a:pt x="5803392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372361" y="5980938"/>
              <a:ext cx="5803900" cy="416559"/>
            </a:xfrm>
            <a:custGeom>
              <a:avLst/>
              <a:gdLst/>
              <a:ahLst/>
              <a:cxnLst/>
              <a:rect l="l" t="t" r="r" b="b"/>
              <a:pathLst>
                <a:path w="5803900" h="416560">
                  <a:moveTo>
                    <a:pt x="0" y="416052"/>
                  </a:moveTo>
                  <a:lnTo>
                    <a:pt x="5803392" y="416052"/>
                  </a:lnTo>
                  <a:lnTo>
                    <a:pt x="5803392" y="0"/>
                  </a:lnTo>
                  <a:lnTo>
                    <a:pt x="0" y="0"/>
                  </a:lnTo>
                  <a:lnTo>
                    <a:pt x="0" y="416052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>
            <a:spLocks noGrp="1"/>
          </p:cNvSpPr>
          <p:nvPr>
            <p:ph type="sldNum" sz="quarter" idx="12"/>
          </p:nvPr>
        </p:nvSpPr>
        <p:spPr>
          <a:xfrm>
            <a:off x="13562011" y="6106367"/>
            <a:ext cx="753545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14</a:t>
            </a:fld>
            <a:endParaRPr dirty="0"/>
          </a:p>
        </p:txBody>
      </p:sp>
      <p:sp>
        <p:nvSpPr>
          <p:cNvPr id="125" name="object 125"/>
          <p:cNvSpPr txBox="1"/>
          <p:nvPr/>
        </p:nvSpPr>
        <p:spPr>
          <a:xfrm>
            <a:off x="4797934" y="6050458"/>
            <a:ext cx="1998345" cy="312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Hardware</a:t>
            </a:r>
            <a:r>
              <a:rPr sz="24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specs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DF1C7DC7-6085-45B4-8AE2-3B63DF2495B4}"/>
              </a:ext>
            </a:extLst>
          </p:cNvPr>
          <p:cNvSpPr/>
          <p:nvPr/>
        </p:nvSpPr>
        <p:spPr>
          <a:xfrm>
            <a:off x="3276601" y="1433364"/>
            <a:ext cx="1835277" cy="928837"/>
          </a:xfrm>
          <a:prstGeom prst="wedgeRoundRectCallout">
            <a:avLst>
              <a:gd name="adj1" fmla="val -87180"/>
              <a:gd name="adj2" fmla="val -29128"/>
              <a:gd name="adj3" fmla="val 16667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C12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 machine</a:t>
            </a: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908EF00F-A8FB-4AEF-B894-D7B06988FE31}"/>
              </a:ext>
            </a:extLst>
          </p:cNvPr>
          <p:cNvSpPr/>
          <p:nvPr/>
        </p:nvSpPr>
        <p:spPr>
          <a:xfrm>
            <a:off x="4267202" y="4492126"/>
            <a:ext cx="2133599" cy="994274"/>
          </a:xfrm>
          <a:prstGeom prst="wedgeRoundRectCallout">
            <a:avLst>
              <a:gd name="adj1" fmla="val -23132"/>
              <a:gd name="adj2" fmla="val 97315"/>
              <a:gd name="adj3" fmla="val 16667"/>
            </a:avLst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2C12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 Functionality which we needed</a:t>
            </a: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77BC5E0A-8FC7-4B98-9563-DCD092E23916}"/>
              </a:ext>
            </a:extLst>
          </p:cNvPr>
          <p:cNvSpPr txBox="1">
            <a:spLocks/>
          </p:cNvSpPr>
          <p:nvPr/>
        </p:nvSpPr>
        <p:spPr>
          <a:xfrm>
            <a:off x="1981201" y="270738"/>
            <a:ext cx="8458199" cy="5674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390" algn="ctr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Writing trustworthy specifications</a:t>
            </a:r>
            <a:endParaRPr lang="en-US"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25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5" grpId="0"/>
      <p:bldP spid="6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881377" y="1465326"/>
            <a:ext cx="760730" cy="93166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907">
            <a:solidFill>
              <a:srgbClr val="8B3836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99060" marR="93345" indent="31750">
              <a:spcBef>
                <a:spcPts val="1505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App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spec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866646" y="2718262"/>
            <a:ext cx="5917687" cy="3915709"/>
            <a:chOff x="1342646" y="2718262"/>
            <a:chExt cx="5917687" cy="3915709"/>
          </a:xfrm>
        </p:grpSpPr>
        <p:sp>
          <p:nvSpPr>
            <p:cNvPr id="11" name="object 11"/>
            <p:cNvSpPr/>
            <p:nvPr/>
          </p:nvSpPr>
          <p:spPr>
            <a:xfrm>
              <a:off x="1350268" y="2727960"/>
              <a:ext cx="5910062" cy="22128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77142" y="2718262"/>
              <a:ext cx="5801958" cy="2168744"/>
            </a:xfrm>
            <a:custGeom>
              <a:avLst/>
              <a:gdLst/>
              <a:ahLst/>
              <a:cxnLst/>
              <a:rect l="l" t="t" r="r" b="b"/>
              <a:pathLst>
                <a:path w="5796280" h="2108200">
                  <a:moveTo>
                    <a:pt x="5795772" y="0"/>
                  </a:moveTo>
                  <a:lnTo>
                    <a:pt x="0" y="0"/>
                  </a:lnTo>
                  <a:lnTo>
                    <a:pt x="0" y="2107692"/>
                  </a:lnTo>
                  <a:lnTo>
                    <a:pt x="5795772" y="2107692"/>
                  </a:lnTo>
                  <a:lnTo>
                    <a:pt x="5795772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379981" y="2748534"/>
              <a:ext cx="5796280" cy="2108200"/>
            </a:xfrm>
            <a:custGeom>
              <a:avLst/>
              <a:gdLst/>
              <a:ahLst/>
              <a:cxnLst/>
              <a:rect l="l" t="t" r="r" b="b"/>
              <a:pathLst>
                <a:path w="5796280" h="2108200">
                  <a:moveTo>
                    <a:pt x="0" y="2107692"/>
                  </a:moveTo>
                  <a:lnTo>
                    <a:pt x="5795772" y="2107692"/>
                  </a:lnTo>
                  <a:lnTo>
                    <a:pt x="5795772" y="0"/>
                  </a:lnTo>
                  <a:lnTo>
                    <a:pt x="0" y="0"/>
                  </a:lnTo>
                  <a:lnTo>
                    <a:pt x="0" y="210769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01055" y="4311396"/>
              <a:ext cx="1687068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486400" y="4256532"/>
              <a:ext cx="1511807" cy="64008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39917" y="4350258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1500632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2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80" y="269240"/>
                  </a:lnTo>
                  <a:lnTo>
                    <a:pt x="1554480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39917" y="4350258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2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80" y="53848"/>
                  </a:lnTo>
                  <a:lnTo>
                    <a:pt x="1554480" y="269240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2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/>
            <p:nvPr/>
          </p:nvSpPr>
          <p:spPr>
            <a:xfrm>
              <a:off x="1342646" y="5960364"/>
              <a:ext cx="5917687" cy="5212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6955" y="5887211"/>
              <a:ext cx="2446020" cy="7467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72361" y="5980938"/>
              <a:ext cx="5803900" cy="416559"/>
            </a:xfrm>
            <a:custGeom>
              <a:avLst/>
              <a:gdLst/>
              <a:ahLst/>
              <a:cxnLst/>
              <a:rect l="l" t="t" r="r" b="b"/>
              <a:pathLst>
                <a:path w="5803900" h="416560">
                  <a:moveTo>
                    <a:pt x="5803392" y="0"/>
                  </a:moveTo>
                  <a:lnTo>
                    <a:pt x="0" y="0"/>
                  </a:lnTo>
                  <a:lnTo>
                    <a:pt x="0" y="416052"/>
                  </a:lnTo>
                  <a:lnTo>
                    <a:pt x="5803392" y="416052"/>
                  </a:lnTo>
                  <a:lnTo>
                    <a:pt x="5803392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372361" y="5980938"/>
              <a:ext cx="5803900" cy="416559"/>
            </a:xfrm>
            <a:custGeom>
              <a:avLst/>
              <a:gdLst/>
              <a:ahLst/>
              <a:cxnLst/>
              <a:rect l="l" t="t" r="r" b="b"/>
              <a:pathLst>
                <a:path w="5803900" h="416560">
                  <a:moveTo>
                    <a:pt x="0" y="416052"/>
                  </a:moveTo>
                  <a:lnTo>
                    <a:pt x="5803392" y="416052"/>
                  </a:lnTo>
                  <a:lnTo>
                    <a:pt x="5803392" y="0"/>
                  </a:lnTo>
                  <a:lnTo>
                    <a:pt x="0" y="0"/>
                  </a:lnTo>
                  <a:lnTo>
                    <a:pt x="0" y="416052"/>
                  </a:lnTo>
                  <a:close/>
                </a:path>
              </a:pathLst>
            </a:custGeom>
            <a:ln w="25908">
              <a:solidFill>
                <a:srgbClr val="8B38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77786" y="4330447"/>
            <a:ext cx="11245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Core</a:t>
            </a:r>
            <a:r>
              <a:rPr sz="2000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Math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74336" y="4256532"/>
            <a:ext cx="1687195" cy="640080"/>
            <a:chOff x="3450335" y="4256532"/>
            <a:chExt cx="1687195" cy="640080"/>
          </a:xfrm>
        </p:grpSpPr>
        <p:sp>
          <p:nvSpPr>
            <p:cNvPr id="24" name="object 24"/>
            <p:cNvSpPr/>
            <p:nvPr/>
          </p:nvSpPr>
          <p:spPr>
            <a:xfrm>
              <a:off x="3450335" y="4311396"/>
              <a:ext cx="1687067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05199" y="4256532"/>
              <a:ext cx="1574291" cy="64008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89197" y="4350258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1500631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1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79" y="269240"/>
                  </a:lnTo>
                  <a:lnTo>
                    <a:pt x="1554479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89197" y="4350258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1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79" y="53848"/>
                  </a:lnTo>
                  <a:lnTo>
                    <a:pt x="1554479" y="269240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1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195696" y="4330447"/>
            <a:ext cx="1188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TPM</a:t>
            </a:r>
            <a:r>
              <a:rPr sz="2000" spc="-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Driver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22092" y="4256532"/>
            <a:ext cx="1687195" cy="640080"/>
            <a:chOff x="1498091" y="4256532"/>
            <a:chExt cx="1687195" cy="640080"/>
          </a:xfrm>
        </p:grpSpPr>
        <p:sp>
          <p:nvSpPr>
            <p:cNvPr id="30" name="object 30"/>
            <p:cNvSpPr/>
            <p:nvPr/>
          </p:nvSpPr>
          <p:spPr>
            <a:xfrm>
              <a:off x="1498091" y="4311396"/>
              <a:ext cx="1687068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03247" y="4256532"/>
              <a:ext cx="1476755" cy="6400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6953" y="4350258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80" h="323214">
                  <a:moveTo>
                    <a:pt x="1500632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2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80" y="269240"/>
                  </a:lnTo>
                  <a:lnTo>
                    <a:pt x="1554480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6953" y="4350258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80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2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80" y="53848"/>
                  </a:lnTo>
                  <a:lnTo>
                    <a:pt x="1554480" y="269240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2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293111" y="4330447"/>
            <a:ext cx="10915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Net</a:t>
            </a:r>
            <a:r>
              <a:rPr sz="2000" spc="-8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Driver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022092" y="3320796"/>
            <a:ext cx="1687195" cy="640080"/>
            <a:chOff x="1498091" y="3320796"/>
            <a:chExt cx="1687195" cy="640080"/>
          </a:xfrm>
        </p:grpSpPr>
        <p:sp>
          <p:nvSpPr>
            <p:cNvPr id="36" name="object 36"/>
            <p:cNvSpPr/>
            <p:nvPr/>
          </p:nvSpPr>
          <p:spPr>
            <a:xfrm>
              <a:off x="1498091" y="3375660"/>
              <a:ext cx="1687068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63267" y="3320796"/>
              <a:ext cx="1156716" cy="64007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36953" y="3414522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80" h="323214">
                  <a:moveTo>
                    <a:pt x="1500632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39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2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80" y="269239"/>
                  </a:lnTo>
                  <a:lnTo>
                    <a:pt x="1554480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36953" y="3414522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80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2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80" y="53848"/>
                  </a:lnTo>
                  <a:lnTo>
                    <a:pt x="1554480" y="269239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2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453130" y="3394329"/>
            <a:ext cx="7715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UDP/IP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974336" y="3320796"/>
            <a:ext cx="1687195" cy="640080"/>
            <a:chOff x="3450335" y="3320796"/>
            <a:chExt cx="1687195" cy="640080"/>
          </a:xfrm>
        </p:grpSpPr>
        <p:sp>
          <p:nvSpPr>
            <p:cNvPr id="42" name="object 42"/>
            <p:cNvSpPr/>
            <p:nvPr/>
          </p:nvSpPr>
          <p:spPr>
            <a:xfrm>
              <a:off x="3450335" y="3375660"/>
              <a:ext cx="1687067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63111" y="3320796"/>
              <a:ext cx="1458467" cy="64007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89197" y="3414522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1500631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39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1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79" y="269239"/>
                  </a:lnTo>
                  <a:lnTo>
                    <a:pt x="1554479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89197" y="3414522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1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79" y="53848"/>
                  </a:lnTo>
                  <a:lnTo>
                    <a:pt x="1554479" y="269239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1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253609" y="3394329"/>
            <a:ext cx="10718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Datatypes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925056" y="3320796"/>
            <a:ext cx="1687195" cy="640080"/>
            <a:chOff x="5401055" y="3320796"/>
            <a:chExt cx="1687195" cy="640080"/>
          </a:xfrm>
        </p:grpSpPr>
        <p:sp>
          <p:nvSpPr>
            <p:cNvPr id="48" name="object 48"/>
            <p:cNvSpPr/>
            <p:nvPr/>
          </p:nvSpPr>
          <p:spPr>
            <a:xfrm>
              <a:off x="5401055" y="3375660"/>
              <a:ext cx="1687068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35395" y="3320796"/>
              <a:ext cx="815340" cy="64007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39917" y="3414522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1500632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39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2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80" y="269239"/>
                  </a:lnTo>
                  <a:lnTo>
                    <a:pt x="1554480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39917" y="3414522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2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80" y="53848"/>
                  </a:lnTo>
                  <a:lnTo>
                    <a:pt x="1554480" y="269239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2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7527164" y="3394329"/>
            <a:ext cx="4298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RSA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022092" y="3791711"/>
            <a:ext cx="1687195" cy="640080"/>
            <a:chOff x="1498091" y="3791711"/>
            <a:chExt cx="1687195" cy="640080"/>
          </a:xfrm>
        </p:grpSpPr>
        <p:sp>
          <p:nvSpPr>
            <p:cNvPr id="54" name="object 54"/>
            <p:cNvSpPr/>
            <p:nvPr/>
          </p:nvSpPr>
          <p:spPr>
            <a:xfrm>
              <a:off x="1498091" y="3846575"/>
              <a:ext cx="1687068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682495" y="3791711"/>
              <a:ext cx="1316736" cy="64008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536953" y="3885437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80" h="323214">
                  <a:moveTo>
                    <a:pt x="1500632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39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2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80" y="269239"/>
                  </a:lnTo>
                  <a:lnTo>
                    <a:pt x="1554480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36953" y="3885437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80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2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80" y="53848"/>
                  </a:lnTo>
                  <a:lnTo>
                    <a:pt x="1554480" y="269239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2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372358" y="3864991"/>
            <a:ext cx="930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Ethernet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925056" y="3791711"/>
            <a:ext cx="1687195" cy="640080"/>
            <a:chOff x="5401055" y="3791711"/>
            <a:chExt cx="1687195" cy="640080"/>
          </a:xfrm>
        </p:grpSpPr>
        <p:sp>
          <p:nvSpPr>
            <p:cNvPr id="60" name="object 60"/>
            <p:cNvSpPr/>
            <p:nvPr/>
          </p:nvSpPr>
          <p:spPr>
            <a:xfrm>
              <a:off x="5401055" y="3846575"/>
              <a:ext cx="1687068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628131" y="3791711"/>
              <a:ext cx="1229867" cy="64008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39917" y="3885437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1500632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39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2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80" y="269239"/>
                  </a:lnTo>
                  <a:lnTo>
                    <a:pt x="1554480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439917" y="3885437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2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80" y="53848"/>
                  </a:lnTo>
                  <a:lnTo>
                    <a:pt x="1554480" y="269239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2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319517" y="3864991"/>
            <a:ext cx="8445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BigNum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974336" y="3791711"/>
            <a:ext cx="1687195" cy="640080"/>
            <a:chOff x="3450335" y="3791711"/>
            <a:chExt cx="1687195" cy="640080"/>
          </a:xfrm>
        </p:grpSpPr>
        <p:sp>
          <p:nvSpPr>
            <p:cNvPr id="66" name="object 66"/>
            <p:cNvSpPr/>
            <p:nvPr/>
          </p:nvSpPr>
          <p:spPr>
            <a:xfrm>
              <a:off x="3450335" y="3846575"/>
              <a:ext cx="1687067" cy="455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640835" y="3791711"/>
              <a:ext cx="1301496" cy="64008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489197" y="3885437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1500631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39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500631" y="323088"/>
                  </a:lnTo>
                  <a:lnTo>
                    <a:pt x="1521583" y="318853"/>
                  </a:lnTo>
                  <a:lnTo>
                    <a:pt x="1538700" y="307308"/>
                  </a:lnTo>
                  <a:lnTo>
                    <a:pt x="1550245" y="290191"/>
                  </a:lnTo>
                  <a:lnTo>
                    <a:pt x="1554479" y="269239"/>
                  </a:lnTo>
                  <a:lnTo>
                    <a:pt x="1554479" y="53848"/>
                  </a:lnTo>
                  <a:lnTo>
                    <a:pt x="1550245" y="32896"/>
                  </a:lnTo>
                  <a:lnTo>
                    <a:pt x="1538700" y="15779"/>
                  </a:lnTo>
                  <a:lnTo>
                    <a:pt x="1521583" y="4234"/>
                  </a:lnTo>
                  <a:lnTo>
                    <a:pt x="150063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489197" y="3885437"/>
              <a:ext cx="1554480" cy="323215"/>
            </a:xfrm>
            <a:custGeom>
              <a:avLst/>
              <a:gdLst/>
              <a:ahLst/>
              <a:cxnLst/>
              <a:rect l="l" t="t" r="r" b="b"/>
              <a:pathLst>
                <a:path w="15544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500631" y="0"/>
                  </a:lnTo>
                  <a:lnTo>
                    <a:pt x="1521583" y="4234"/>
                  </a:lnTo>
                  <a:lnTo>
                    <a:pt x="1538700" y="15779"/>
                  </a:lnTo>
                  <a:lnTo>
                    <a:pt x="1550245" y="32896"/>
                  </a:lnTo>
                  <a:lnTo>
                    <a:pt x="1554479" y="53848"/>
                  </a:lnTo>
                  <a:lnTo>
                    <a:pt x="1554479" y="269239"/>
                  </a:lnTo>
                  <a:lnTo>
                    <a:pt x="1550245" y="290191"/>
                  </a:lnTo>
                  <a:lnTo>
                    <a:pt x="1538700" y="307308"/>
                  </a:lnTo>
                  <a:lnTo>
                    <a:pt x="1521583" y="318853"/>
                  </a:lnTo>
                  <a:lnTo>
                    <a:pt x="1500631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39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5331334" y="3864991"/>
            <a:ext cx="916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SH</a:t>
            </a:r>
            <a:r>
              <a:rPr sz="2000" spc="1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-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256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3877055" y="2849879"/>
            <a:ext cx="1929764" cy="640080"/>
            <a:chOff x="2353055" y="2849879"/>
            <a:chExt cx="1929764" cy="640080"/>
          </a:xfrm>
        </p:grpSpPr>
        <p:sp>
          <p:nvSpPr>
            <p:cNvPr id="72" name="object 72"/>
            <p:cNvSpPr/>
            <p:nvPr/>
          </p:nvSpPr>
          <p:spPr>
            <a:xfrm>
              <a:off x="2353055" y="2904743"/>
              <a:ext cx="1929383" cy="45567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732531" y="2849879"/>
              <a:ext cx="1167383" cy="64007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2391917" y="2943605"/>
              <a:ext cx="1797050" cy="323215"/>
            </a:xfrm>
            <a:custGeom>
              <a:avLst/>
              <a:gdLst/>
              <a:ahLst/>
              <a:cxnLst/>
              <a:rect l="l" t="t" r="r" b="b"/>
              <a:pathLst>
                <a:path w="1797050" h="323214">
                  <a:moveTo>
                    <a:pt x="1742947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742947" y="323088"/>
                  </a:lnTo>
                  <a:lnTo>
                    <a:pt x="1763899" y="318853"/>
                  </a:lnTo>
                  <a:lnTo>
                    <a:pt x="1781016" y="307308"/>
                  </a:lnTo>
                  <a:lnTo>
                    <a:pt x="1792561" y="290191"/>
                  </a:lnTo>
                  <a:lnTo>
                    <a:pt x="1796795" y="269240"/>
                  </a:lnTo>
                  <a:lnTo>
                    <a:pt x="1796795" y="53848"/>
                  </a:lnTo>
                  <a:lnTo>
                    <a:pt x="1792561" y="32896"/>
                  </a:lnTo>
                  <a:lnTo>
                    <a:pt x="1781016" y="15779"/>
                  </a:lnTo>
                  <a:lnTo>
                    <a:pt x="1763899" y="4234"/>
                  </a:lnTo>
                  <a:lnTo>
                    <a:pt x="174294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2391917" y="2943605"/>
              <a:ext cx="1797050" cy="323215"/>
            </a:xfrm>
            <a:custGeom>
              <a:avLst/>
              <a:gdLst/>
              <a:ahLst/>
              <a:cxnLst/>
              <a:rect l="l" t="t" r="r" b="b"/>
              <a:pathLst>
                <a:path w="1797050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742947" y="0"/>
                  </a:lnTo>
                  <a:lnTo>
                    <a:pt x="1763899" y="4234"/>
                  </a:lnTo>
                  <a:lnTo>
                    <a:pt x="1781016" y="15779"/>
                  </a:lnTo>
                  <a:lnTo>
                    <a:pt x="1792561" y="32896"/>
                  </a:lnTo>
                  <a:lnTo>
                    <a:pt x="1796795" y="53848"/>
                  </a:lnTo>
                  <a:lnTo>
                    <a:pt x="1796795" y="269240"/>
                  </a:lnTo>
                  <a:lnTo>
                    <a:pt x="1792561" y="290191"/>
                  </a:lnTo>
                  <a:lnTo>
                    <a:pt x="1781016" y="307308"/>
                  </a:lnTo>
                  <a:lnTo>
                    <a:pt x="1763899" y="318853"/>
                  </a:lnTo>
                  <a:lnTo>
                    <a:pt x="1742947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422395" y="2923414"/>
            <a:ext cx="7804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Std.</a:t>
            </a:r>
            <a:r>
              <a:rPr sz="20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Lib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829300" y="2849879"/>
            <a:ext cx="1927860" cy="640080"/>
            <a:chOff x="4305300" y="2849879"/>
            <a:chExt cx="1927860" cy="640080"/>
          </a:xfrm>
        </p:grpSpPr>
        <p:sp>
          <p:nvSpPr>
            <p:cNvPr id="78" name="object 78"/>
            <p:cNvSpPr/>
            <p:nvPr/>
          </p:nvSpPr>
          <p:spPr>
            <a:xfrm>
              <a:off x="4305300" y="2904743"/>
              <a:ext cx="1927860" cy="45567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354067" y="2849879"/>
              <a:ext cx="1825752" cy="64007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344161" y="2943605"/>
              <a:ext cx="1795780" cy="323215"/>
            </a:xfrm>
            <a:custGeom>
              <a:avLst/>
              <a:gdLst/>
              <a:ahLst/>
              <a:cxnLst/>
              <a:rect l="l" t="t" r="r" b="b"/>
              <a:pathLst>
                <a:path w="1795779" h="323214">
                  <a:moveTo>
                    <a:pt x="1741424" y="0"/>
                  </a:moveTo>
                  <a:lnTo>
                    <a:pt x="53848" y="0"/>
                  </a:lnTo>
                  <a:lnTo>
                    <a:pt x="32896" y="4234"/>
                  </a:lnTo>
                  <a:lnTo>
                    <a:pt x="15779" y="15779"/>
                  </a:lnTo>
                  <a:lnTo>
                    <a:pt x="4234" y="32896"/>
                  </a:lnTo>
                  <a:lnTo>
                    <a:pt x="0" y="53848"/>
                  </a:lnTo>
                  <a:lnTo>
                    <a:pt x="0" y="269240"/>
                  </a:lnTo>
                  <a:lnTo>
                    <a:pt x="4234" y="290191"/>
                  </a:lnTo>
                  <a:lnTo>
                    <a:pt x="15779" y="307308"/>
                  </a:lnTo>
                  <a:lnTo>
                    <a:pt x="32896" y="318853"/>
                  </a:lnTo>
                  <a:lnTo>
                    <a:pt x="53848" y="323088"/>
                  </a:lnTo>
                  <a:lnTo>
                    <a:pt x="1741424" y="323088"/>
                  </a:lnTo>
                  <a:lnTo>
                    <a:pt x="1762375" y="318853"/>
                  </a:lnTo>
                  <a:lnTo>
                    <a:pt x="1779492" y="307308"/>
                  </a:lnTo>
                  <a:lnTo>
                    <a:pt x="1791037" y="290191"/>
                  </a:lnTo>
                  <a:lnTo>
                    <a:pt x="1795272" y="269240"/>
                  </a:lnTo>
                  <a:lnTo>
                    <a:pt x="1795272" y="53848"/>
                  </a:lnTo>
                  <a:lnTo>
                    <a:pt x="1791037" y="32896"/>
                  </a:lnTo>
                  <a:lnTo>
                    <a:pt x="1779492" y="15779"/>
                  </a:lnTo>
                  <a:lnTo>
                    <a:pt x="1762375" y="4234"/>
                  </a:lnTo>
                  <a:lnTo>
                    <a:pt x="174142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344161" y="2943605"/>
              <a:ext cx="1795780" cy="323215"/>
            </a:xfrm>
            <a:custGeom>
              <a:avLst/>
              <a:gdLst/>
              <a:ahLst/>
              <a:cxnLst/>
              <a:rect l="l" t="t" r="r" b="b"/>
              <a:pathLst>
                <a:path w="1795779" h="323214">
                  <a:moveTo>
                    <a:pt x="0" y="53848"/>
                  </a:moveTo>
                  <a:lnTo>
                    <a:pt x="4234" y="32896"/>
                  </a:lnTo>
                  <a:lnTo>
                    <a:pt x="15779" y="15779"/>
                  </a:lnTo>
                  <a:lnTo>
                    <a:pt x="32896" y="4234"/>
                  </a:lnTo>
                  <a:lnTo>
                    <a:pt x="53848" y="0"/>
                  </a:lnTo>
                  <a:lnTo>
                    <a:pt x="1741424" y="0"/>
                  </a:lnTo>
                  <a:lnTo>
                    <a:pt x="1762375" y="4234"/>
                  </a:lnTo>
                  <a:lnTo>
                    <a:pt x="1779492" y="15779"/>
                  </a:lnTo>
                  <a:lnTo>
                    <a:pt x="1791037" y="32896"/>
                  </a:lnTo>
                  <a:lnTo>
                    <a:pt x="1795272" y="53848"/>
                  </a:lnTo>
                  <a:lnTo>
                    <a:pt x="1795272" y="269240"/>
                  </a:lnTo>
                  <a:lnTo>
                    <a:pt x="1791037" y="290191"/>
                  </a:lnTo>
                  <a:lnTo>
                    <a:pt x="1779492" y="307308"/>
                  </a:lnTo>
                  <a:lnTo>
                    <a:pt x="1762375" y="318853"/>
                  </a:lnTo>
                  <a:lnTo>
                    <a:pt x="1741424" y="323088"/>
                  </a:lnTo>
                  <a:lnTo>
                    <a:pt x="53848" y="323088"/>
                  </a:lnTo>
                  <a:lnTo>
                    <a:pt x="32896" y="318853"/>
                  </a:lnTo>
                  <a:lnTo>
                    <a:pt x="15779" y="307308"/>
                  </a:lnTo>
                  <a:lnTo>
                    <a:pt x="4234" y="290191"/>
                  </a:lnTo>
                  <a:lnTo>
                    <a:pt x="0" y="269240"/>
                  </a:lnTo>
                  <a:lnTo>
                    <a:pt x="0" y="5384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6044947" y="2923414"/>
            <a:ext cx="14395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App</a:t>
            </a:r>
            <a:r>
              <a:rPr sz="2000" spc="-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Common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865119" y="4946904"/>
            <a:ext cx="5928360" cy="1009015"/>
            <a:chOff x="1341119" y="4946903"/>
            <a:chExt cx="5928360" cy="1009015"/>
          </a:xfrm>
        </p:grpSpPr>
        <p:sp>
          <p:nvSpPr>
            <p:cNvPr id="86" name="object 86"/>
            <p:cNvSpPr/>
            <p:nvPr/>
          </p:nvSpPr>
          <p:spPr>
            <a:xfrm>
              <a:off x="1341119" y="4946903"/>
              <a:ext cx="5928359" cy="99821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379981" y="4985765"/>
              <a:ext cx="5796280" cy="866140"/>
            </a:xfrm>
            <a:custGeom>
              <a:avLst/>
              <a:gdLst/>
              <a:ahLst/>
              <a:cxnLst/>
              <a:rect l="l" t="t" r="r" b="b"/>
              <a:pathLst>
                <a:path w="5796280" h="866139">
                  <a:moveTo>
                    <a:pt x="5795772" y="0"/>
                  </a:moveTo>
                  <a:lnTo>
                    <a:pt x="0" y="0"/>
                  </a:lnTo>
                  <a:lnTo>
                    <a:pt x="0" y="865632"/>
                  </a:lnTo>
                  <a:lnTo>
                    <a:pt x="5795772" y="865632"/>
                  </a:lnTo>
                  <a:lnTo>
                    <a:pt x="5795772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8" name="object 88"/>
            <p:cNvSpPr/>
            <p:nvPr/>
          </p:nvSpPr>
          <p:spPr>
            <a:xfrm>
              <a:off x="1379981" y="4985765"/>
              <a:ext cx="5796280" cy="866140"/>
            </a:xfrm>
            <a:custGeom>
              <a:avLst/>
              <a:gdLst/>
              <a:ahLst/>
              <a:cxnLst/>
              <a:rect l="l" t="t" r="r" b="b"/>
              <a:pathLst>
                <a:path w="5796280" h="866139">
                  <a:moveTo>
                    <a:pt x="0" y="865632"/>
                  </a:moveTo>
                  <a:lnTo>
                    <a:pt x="5795772" y="865632"/>
                  </a:lnTo>
                  <a:lnTo>
                    <a:pt x="5795772" y="0"/>
                  </a:lnTo>
                  <a:lnTo>
                    <a:pt x="0" y="0"/>
                  </a:lnTo>
                  <a:lnTo>
                    <a:pt x="0" y="865632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90471" y="5045963"/>
              <a:ext cx="1187196" cy="800100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533143" y="5010911"/>
              <a:ext cx="1101852" cy="94487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529333" y="5084825"/>
              <a:ext cx="1054735" cy="668020"/>
            </a:xfrm>
            <a:custGeom>
              <a:avLst/>
              <a:gdLst/>
              <a:ahLst/>
              <a:cxnLst/>
              <a:rect l="l" t="t" r="r" b="b"/>
              <a:pathLst>
                <a:path w="1054735" h="668020">
                  <a:moveTo>
                    <a:pt x="943355" y="0"/>
                  </a:moveTo>
                  <a:lnTo>
                    <a:pt x="111252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1"/>
                  </a:lnTo>
                  <a:lnTo>
                    <a:pt x="0" y="556260"/>
                  </a:lnTo>
                  <a:lnTo>
                    <a:pt x="8739" y="599564"/>
                  </a:lnTo>
                  <a:lnTo>
                    <a:pt x="32575" y="634926"/>
                  </a:lnTo>
                  <a:lnTo>
                    <a:pt x="67937" y="658769"/>
                  </a:lnTo>
                  <a:lnTo>
                    <a:pt x="111252" y="667512"/>
                  </a:lnTo>
                  <a:lnTo>
                    <a:pt x="943355" y="667512"/>
                  </a:lnTo>
                  <a:lnTo>
                    <a:pt x="986670" y="658769"/>
                  </a:lnTo>
                  <a:lnTo>
                    <a:pt x="1022032" y="634926"/>
                  </a:lnTo>
                  <a:lnTo>
                    <a:pt x="1045868" y="599564"/>
                  </a:lnTo>
                  <a:lnTo>
                    <a:pt x="1054608" y="556260"/>
                  </a:lnTo>
                  <a:lnTo>
                    <a:pt x="1054608" y="111251"/>
                  </a:lnTo>
                  <a:lnTo>
                    <a:pt x="1045868" y="67937"/>
                  </a:lnTo>
                  <a:lnTo>
                    <a:pt x="1022032" y="32575"/>
                  </a:lnTo>
                  <a:lnTo>
                    <a:pt x="986670" y="8739"/>
                  </a:lnTo>
                  <a:lnTo>
                    <a:pt x="94335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529333" y="5084825"/>
              <a:ext cx="1054735" cy="668020"/>
            </a:xfrm>
            <a:custGeom>
              <a:avLst/>
              <a:gdLst/>
              <a:ahLst/>
              <a:cxnLst/>
              <a:rect l="l" t="t" r="r" b="b"/>
              <a:pathLst>
                <a:path w="1054735" h="668020">
                  <a:moveTo>
                    <a:pt x="0" y="111251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2" y="0"/>
                  </a:lnTo>
                  <a:lnTo>
                    <a:pt x="943355" y="0"/>
                  </a:lnTo>
                  <a:lnTo>
                    <a:pt x="986670" y="8739"/>
                  </a:lnTo>
                  <a:lnTo>
                    <a:pt x="1022032" y="32575"/>
                  </a:lnTo>
                  <a:lnTo>
                    <a:pt x="1045868" y="67937"/>
                  </a:lnTo>
                  <a:lnTo>
                    <a:pt x="1054608" y="111251"/>
                  </a:lnTo>
                  <a:lnTo>
                    <a:pt x="1054608" y="556260"/>
                  </a:lnTo>
                  <a:lnTo>
                    <a:pt x="1045868" y="599564"/>
                  </a:lnTo>
                  <a:lnTo>
                    <a:pt x="1022032" y="634926"/>
                  </a:lnTo>
                  <a:lnTo>
                    <a:pt x="986670" y="658769"/>
                  </a:lnTo>
                  <a:lnTo>
                    <a:pt x="943355" y="667512"/>
                  </a:lnTo>
                  <a:lnTo>
                    <a:pt x="111252" y="667512"/>
                  </a:lnTo>
                  <a:lnTo>
                    <a:pt x="67937" y="658769"/>
                  </a:lnTo>
                  <a:lnTo>
                    <a:pt x="32575" y="634926"/>
                  </a:lnTo>
                  <a:lnTo>
                    <a:pt x="8739" y="599564"/>
                  </a:lnTo>
                  <a:lnTo>
                    <a:pt x="0" y="556260"/>
                  </a:lnTo>
                  <a:lnTo>
                    <a:pt x="0" y="1112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3223005" y="5085080"/>
            <a:ext cx="7162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446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Late  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laun</a:t>
            </a:r>
            <a:r>
              <a:rPr sz="2000" spc="5" dirty="0">
                <a:solidFill>
                  <a:srgbClr val="FFFFFF"/>
                </a:solidFill>
                <a:latin typeface="Carlito"/>
                <a:cs typeface="Carlito"/>
              </a:rPr>
              <a:t>c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h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5455921" y="5045964"/>
            <a:ext cx="1243965" cy="800100"/>
            <a:chOff x="3931920" y="5045964"/>
            <a:chExt cx="1243965" cy="800100"/>
          </a:xfrm>
        </p:grpSpPr>
        <p:sp>
          <p:nvSpPr>
            <p:cNvPr id="95" name="object 95"/>
            <p:cNvSpPr/>
            <p:nvPr/>
          </p:nvSpPr>
          <p:spPr>
            <a:xfrm>
              <a:off x="3976116" y="5045964"/>
              <a:ext cx="1159764" cy="800100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931920" y="5163312"/>
              <a:ext cx="1243584" cy="64007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014978" y="5084826"/>
              <a:ext cx="1027430" cy="668020"/>
            </a:xfrm>
            <a:custGeom>
              <a:avLst/>
              <a:gdLst/>
              <a:ahLst/>
              <a:cxnLst/>
              <a:rect l="l" t="t" r="r" b="b"/>
              <a:pathLst>
                <a:path w="1027429" h="668020">
                  <a:moveTo>
                    <a:pt x="915924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1"/>
                  </a:lnTo>
                  <a:lnTo>
                    <a:pt x="0" y="556260"/>
                  </a:lnTo>
                  <a:lnTo>
                    <a:pt x="8739" y="599564"/>
                  </a:lnTo>
                  <a:lnTo>
                    <a:pt x="32575" y="634926"/>
                  </a:lnTo>
                  <a:lnTo>
                    <a:pt x="67937" y="658769"/>
                  </a:lnTo>
                  <a:lnTo>
                    <a:pt x="111251" y="667512"/>
                  </a:lnTo>
                  <a:lnTo>
                    <a:pt x="915924" y="667512"/>
                  </a:lnTo>
                  <a:lnTo>
                    <a:pt x="959238" y="658769"/>
                  </a:lnTo>
                  <a:lnTo>
                    <a:pt x="994600" y="634926"/>
                  </a:lnTo>
                  <a:lnTo>
                    <a:pt x="1018436" y="599564"/>
                  </a:lnTo>
                  <a:lnTo>
                    <a:pt x="1027176" y="556260"/>
                  </a:lnTo>
                  <a:lnTo>
                    <a:pt x="1027176" y="111251"/>
                  </a:lnTo>
                  <a:lnTo>
                    <a:pt x="1018436" y="67937"/>
                  </a:lnTo>
                  <a:lnTo>
                    <a:pt x="994600" y="32575"/>
                  </a:lnTo>
                  <a:lnTo>
                    <a:pt x="959238" y="8739"/>
                  </a:lnTo>
                  <a:lnTo>
                    <a:pt x="91592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014978" y="5084826"/>
              <a:ext cx="1027430" cy="668020"/>
            </a:xfrm>
            <a:custGeom>
              <a:avLst/>
              <a:gdLst/>
              <a:ahLst/>
              <a:cxnLst/>
              <a:rect l="l" t="t" r="r" b="b"/>
              <a:pathLst>
                <a:path w="1027429" h="668020">
                  <a:moveTo>
                    <a:pt x="0" y="111251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915924" y="0"/>
                  </a:lnTo>
                  <a:lnTo>
                    <a:pt x="959238" y="8739"/>
                  </a:lnTo>
                  <a:lnTo>
                    <a:pt x="994600" y="32575"/>
                  </a:lnTo>
                  <a:lnTo>
                    <a:pt x="1018436" y="67937"/>
                  </a:lnTo>
                  <a:lnTo>
                    <a:pt x="1027176" y="111251"/>
                  </a:lnTo>
                  <a:lnTo>
                    <a:pt x="1027176" y="556260"/>
                  </a:lnTo>
                  <a:lnTo>
                    <a:pt x="1018436" y="599564"/>
                  </a:lnTo>
                  <a:lnTo>
                    <a:pt x="994600" y="634926"/>
                  </a:lnTo>
                  <a:lnTo>
                    <a:pt x="959238" y="658769"/>
                  </a:lnTo>
                  <a:lnTo>
                    <a:pt x="915924" y="667512"/>
                  </a:lnTo>
                  <a:lnTo>
                    <a:pt x="111251" y="667512"/>
                  </a:lnTo>
                  <a:lnTo>
                    <a:pt x="67937" y="658769"/>
                  </a:lnTo>
                  <a:lnTo>
                    <a:pt x="32575" y="634926"/>
                  </a:lnTo>
                  <a:lnTo>
                    <a:pt x="8739" y="599564"/>
                  </a:lnTo>
                  <a:lnTo>
                    <a:pt x="0" y="556260"/>
                  </a:lnTo>
                  <a:lnTo>
                    <a:pt x="0" y="111251"/>
                  </a:lnTo>
                  <a:close/>
                </a:path>
              </a:pathLst>
            </a:custGeom>
            <a:ln w="2590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5622797" y="5237480"/>
            <a:ext cx="8572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IOMMU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4137660" y="5045964"/>
            <a:ext cx="1423670" cy="800100"/>
            <a:chOff x="2613660" y="5045964"/>
            <a:chExt cx="1423670" cy="800100"/>
          </a:xfrm>
        </p:grpSpPr>
        <p:sp>
          <p:nvSpPr>
            <p:cNvPr id="101" name="object 101"/>
            <p:cNvSpPr/>
            <p:nvPr/>
          </p:nvSpPr>
          <p:spPr>
            <a:xfrm>
              <a:off x="2676144" y="5045964"/>
              <a:ext cx="1301495" cy="800100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13660" y="5163312"/>
              <a:ext cx="1423415" cy="64007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715006" y="5084826"/>
              <a:ext cx="1169035" cy="668020"/>
            </a:xfrm>
            <a:custGeom>
              <a:avLst/>
              <a:gdLst/>
              <a:ahLst/>
              <a:cxnLst/>
              <a:rect l="l" t="t" r="r" b="b"/>
              <a:pathLst>
                <a:path w="1169035" h="668020">
                  <a:moveTo>
                    <a:pt x="1057656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1"/>
                  </a:lnTo>
                  <a:lnTo>
                    <a:pt x="0" y="556260"/>
                  </a:lnTo>
                  <a:lnTo>
                    <a:pt x="8739" y="599564"/>
                  </a:lnTo>
                  <a:lnTo>
                    <a:pt x="32575" y="634926"/>
                  </a:lnTo>
                  <a:lnTo>
                    <a:pt x="67937" y="658769"/>
                  </a:lnTo>
                  <a:lnTo>
                    <a:pt x="111251" y="667512"/>
                  </a:lnTo>
                  <a:lnTo>
                    <a:pt x="1057656" y="667512"/>
                  </a:lnTo>
                  <a:lnTo>
                    <a:pt x="1100970" y="658769"/>
                  </a:lnTo>
                  <a:lnTo>
                    <a:pt x="1136332" y="634926"/>
                  </a:lnTo>
                  <a:lnTo>
                    <a:pt x="1160168" y="599564"/>
                  </a:lnTo>
                  <a:lnTo>
                    <a:pt x="1168908" y="556260"/>
                  </a:lnTo>
                  <a:lnTo>
                    <a:pt x="1168908" y="111251"/>
                  </a:lnTo>
                  <a:lnTo>
                    <a:pt x="1160168" y="67937"/>
                  </a:lnTo>
                  <a:lnTo>
                    <a:pt x="1136332" y="32575"/>
                  </a:lnTo>
                  <a:lnTo>
                    <a:pt x="1100970" y="8739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715006" y="5084826"/>
              <a:ext cx="1169035" cy="668020"/>
            </a:xfrm>
            <a:custGeom>
              <a:avLst/>
              <a:gdLst/>
              <a:ahLst/>
              <a:cxnLst/>
              <a:rect l="l" t="t" r="r" b="b"/>
              <a:pathLst>
                <a:path w="1169035" h="668020">
                  <a:moveTo>
                    <a:pt x="0" y="111251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1057656" y="0"/>
                  </a:lnTo>
                  <a:lnTo>
                    <a:pt x="1100970" y="8739"/>
                  </a:lnTo>
                  <a:lnTo>
                    <a:pt x="1136332" y="32575"/>
                  </a:lnTo>
                  <a:lnTo>
                    <a:pt x="1160168" y="67937"/>
                  </a:lnTo>
                  <a:lnTo>
                    <a:pt x="1168908" y="111251"/>
                  </a:lnTo>
                  <a:lnTo>
                    <a:pt x="1168908" y="556260"/>
                  </a:lnTo>
                  <a:lnTo>
                    <a:pt x="1160168" y="599564"/>
                  </a:lnTo>
                  <a:lnTo>
                    <a:pt x="1136332" y="634926"/>
                  </a:lnTo>
                  <a:lnTo>
                    <a:pt x="1100970" y="658769"/>
                  </a:lnTo>
                  <a:lnTo>
                    <a:pt x="1057656" y="667512"/>
                  </a:lnTo>
                  <a:lnTo>
                    <a:pt x="111251" y="667512"/>
                  </a:lnTo>
                  <a:lnTo>
                    <a:pt x="67937" y="658769"/>
                  </a:lnTo>
                  <a:lnTo>
                    <a:pt x="32575" y="634926"/>
                  </a:lnTo>
                  <a:lnTo>
                    <a:pt x="8739" y="599564"/>
                  </a:lnTo>
                  <a:lnTo>
                    <a:pt x="0" y="556260"/>
                  </a:lnTo>
                  <a:lnTo>
                    <a:pt x="0" y="1112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4303903" y="5237480"/>
            <a:ext cx="103631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Segments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7758685" y="5045964"/>
            <a:ext cx="845819" cy="800100"/>
            <a:chOff x="6234684" y="5045964"/>
            <a:chExt cx="845819" cy="800100"/>
          </a:xfrm>
        </p:grpSpPr>
        <p:sp>
          <p:nvSpPr>
            <p:cNvPr id="107" name="object 107"/>
            <p:cNvSpPr/>
            <p:nvPr/>
          </p:nvSpPr>
          <p:spPr>
            <a:xfrm>
              <a:off x="6234684" y="5045964"/>
              <a:ext cx="845819" cy="80010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301740" y="5163312"/>
              <a:ext cx="707136" cy="64007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273546" y="5084826"/>
              <a:ext cx="713740" cy="668020"/>
            </a:xfrm>
            <a:custGeom>
              <a:avLst/>
              <a:gdLst/>
              <a:ahLst/>
              <a:cxnLst/>
              <a:rect l="l" t="t" r="r" b="b"/>
              <a:pathLst>
                <a:path w="713740" h="668020">
                  <a:moveTo>
                    <a:pt x="601979" y="0"/>
                  </a:moveTo>
                  <a:lnTo>
                    <a:pt x="111251" y="0"/>
                  </a:lnTo>
                  <a:lnTo>
                    <a:pt x="67937" y="8739"/>
                  </a:lnTo>
                  <a:lnTo>
                    <a:pt x="32575" y="32575"/>
                  </a:lnTo>
                  <a:lnTo>
                    <a:pt x="8739" y="67937"/>
                  </a:lnTo>
                  <a:lnTo>
                    <a:pt x="0" y="111251"/>
                  </a:lnTo>
                  <a:lnTo>
                    <a:pt x="0" y="556260"/>
                  </a:lnTo>
                  <a:lnTo>
                    <a:pt x="8739" y="599564"/>
                  </a:lnTo>
                  <a:lnTo>
                    <a:pt x="32575" y="634926"/>
                  </a:lnTo>
                  <a:lnTo>
                    <a:pt x="67937" y="658769"/>
                  </a:lnTo>
                  <a:lnTo>
                    <a:pt x="111251" y="667512"/>
                  </a:lnTo>
                  <a:lnTo>
                    <a:pt x="601979" y="667512"/>
                  </a:lnTo>
                  <a:lnTo>
                    <a:pt x="645294" y="658769"/>
                  </a:lnTo>
                  <a:lnTo>
                    <a:pt x="680656" y="634926"/>
                  </a:lnTo>
                  <a:lnTo>
                    <a:pt x="704492" y="599564"/>
                  </a:lnTo>
                  <a:lnTo>
                    <a:pt x="713231" y="556260"/>
                  </a:lnTo>
                  <a:lnTo>
                    <a:pt x="713231" y="111251"/>
                  </a:lnTo>
                  <a:lnTo>
                    <a:pt x="704492" y="67937"/>
                  </a:lnTo>
                  <a:lnTo>
                    <a:pt x="680656" y="32575"/>
                  </a:lnTo>
                  <a:lnTo>
                    <a:pt x="645294" y="8739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273546" y="5084826"/>
              <a:ext cx="713740" cy="668020"/>
            </a:xfrm>
            <a:custGeom>
              <a:avLst/>
              <a:gdLst/>
              <a:ahLst/>
              <a:cxnLst/>
              <a:rect l="l" t="t" r="r" b="b"/>
              <a:pathLst>
                <a:path w="713740" h="668020">
                  <a:moveTo>
                    <a:pt x="0" y="111251"/>
                  </a:moveTo>
                  <a:lnTo>
                    <a:pt x="8739" y="67937"/>
                  </a:lnTo>
                  <a:lnTo>
                    <a:pt x="32575" y="32575"/>
                  </a:lnTo>
                  <a:lnTo>
                    <a:pt x="67937" y="8739"/>
                  </a:lnTo>
                  <a:lnTo>
                    <a:pt x="111251" y="0"/>
                  </a:lnTo>
                  <a:lnTo>
                    <a:pt x="601979" y="0"/>
                  </a:lnTo>
                  <a:lnTo>
                    <a:pt x="645294" y="8739"/>
                  </a:lnTo>
                  <a:lnTo>
                    <a:pt x="680656" y="32575"/>
                  </a:lnTo>
                  <a:lnTo>
                    <a:pt x="704492" y="67937"/>
                  </a:lnTo>
                  <a:lnTo>
                    <a:pt x="713231" y="111251"/>
                  </a:lnTo>
                  <a:lnTo>
                    <a:pt x="713231" y="556260"/>
                  </a:lnTo>
                  <a:lnTo>
                    <a:pt x="704492" y="599564"/>
                  </a:lnTo>
                  <a:lnTo>
                    <a:pt x="680656" y="634926"/>
                  </a:lnTo>
                  <a:lnTo>
                    <a:pt x="645294" y="658769"/>
                  </a:lnTo>
                  <a:lnTo>
                    <a:pt x="601979" y="667512"/>
                  </a:lnTo>
                  <a:lnTo>
                    <a:pt x="111251" y="667512"/>
                  </a:lnTo>
                  <a:lnTo>
                    <a:pt x="67937" y="658769"/>
                  </a:lnTo>
                  <a:lnTo>
                    <a:pt x="32575" y="634926"/>
                  </a:lnTo>
                  <a:lnTo>
                    <a:pt x="8739" y="599564"/>
                  </a:lnTo>
                  <a:lnTo>
                    <a:pt x="0" y="556260"/>
                  </a:lnTo>
                  <a:lnTo>
                    <a:pt x="0" y="1112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7993127" y="5237480"/>
            <a:ext cx="3206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GC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6656832" y="5003291"/>
            <a:ext cx="1103630" cy="944880"/>
            <a:chOff x="5132832" y="5003291"/>
            <a:chExt cx="1103630" cy="944880"/>
          </a:xfrm>
        </p:grpSpPr>
        <p:sp>
          <p:nvSpPr>
            <p:cNvPr id="113" name="object 113"/>
            <p:cNvSpPr/>
            <p:nvPr/>
          </p:nvSpPr>
          <p:spPr>
            <a:xfrm>
              <a:off x="5134356" y="5045963"/>
              <a:ext cx="1101852" cy="784860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132832" y="5003291"/>
              <a:ext cx="1101852" cy="944880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5173218" y="5084825"/>
              <a:ext cx="969644" cy="652780"/>
            </a:xfrm>
            <a:custGeom>
              <a:avLst/>
              <a:gdLst/>
              <a:ahLst/>
              <a:cxnLst/>
              <a:rect l="l" t="t" r="r" b="b"/>
              <a:pathLst>
                <a:path w="969645" h="652779">
                  <a:moveTo>
                    <a:pt x="860552" y="0"/>
                  </a:moveTo>
                  <a:lnTo>
                    <a:pt x="108712" y="0"/>
                  </a:lnTo>
                  <a:lnTo>
                    <a:pt x="66383" y="8538"/>
                  </a:lnTo>
                  <a:lnTo>
                    <a:pt x="31829" y="31829"/>
                  </a:lnTo>
                  <a:lnTo>
                    <a:pt x="8538" y="66383"/>
                  </a:lnTo>
                  <a:lnTo>
                    <a:pt x="0" y="108712"/>
                  </a:lnTo>
                  <a:lnTo>
                    <a:pt x="0" y="543560"/>
                  </a:lnTo>
                  <a:lnTo>
                    <a:pt x="8538" y="585872"/>
                  </a:lnTo>
                  <a:lnTo>
                    <a:pt x="31829" y="620428"/>
                  </a:lnTo>
                  <a:lnTo>
                    <a:pt x="66383" y="643727"/>
                  </a:lnTo>
                  <a:lnTo>
                    <a:pt x="108712" y="652272"/>
                  </a:lnTo>
                  <a:lnTo>
                    <a:pt x="860552" y="652272"/>
                  </a:lnTo>
                  <a:lnTo>
                    <a:pt x="902880" y="643727"/>
                  </a:lnTo>
                  <a:lnTo>
                    <a:pt x="937434" y="620428"/>
                  </a:lnTo>
                  <a:lnTo>
                    <a:pt x="960725" y="585872"/>
                  </a:lnTo>
                  <a:lnTo>
                    <a:pt x="969264" y="543560"/>
                  </a:lnTo>
                  <a:lnTo>
                    <a:pt x="969264" y="108712"/>
                  </a:lnTo>
                  <a:lnTo>
                    <a:pt x="960725" y="66383"/>
                  </a:lnTo>
                  <a:lnTo>
                    <a:pt x="937434" y="31829"/>
                  </a:lnTo>
                  <a:lnTo>
                    <a:pt x="902880" y="8538"/>
                  </a:lnTo>
                  <a:lnTo>
                    <a:pt x="86055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173218" y="5084825"/>
              <a:ext cx="969644" cy="652780"/>
            </a:xfrm>
            <a:custGeom>
              <a:avLst/>
              <a:gdLst/>
              <a:ahLst/>
              <a:cxnLst/>
              <a:rect l="l" t="t" r="r" b="b"/>
              <a:pathLst>
                <a:path w="969645" h="652779">
                  <a:moveTo>
                    <a:pt x="0" y="108712"/>
                  </a:moveTo>
                  <a:lnTo>
                    <a:pt x="8538" y="66383"/>
                  </a:lnTo>
                  <a:lnTo>
                    <a:pt x="31829" y="31829"/>
                  </a:lnTo>
                  <a:lnTo>
                    <a:pt x="66383" y="8538"/>
                  </a:lnTo>
                  <a:lnTo>
                    <a:pt x="108712" y="0"/>
                  </a:lnTo>
                  <a:lnTo>
                    <a:pt x="860552" y="0"/>
                  </a:lnTo>
                  <a:lnTo>
                    <a:pt x="902880" y="8538"/>
                  </a:lnTo>
                  <a:lnTo>
                    <a:pt x="937434" y="31829"/>
                  </a:lnTo>
                  <a:lnTo>
                    <a:pt x="960725" y="66383"/>
                  </a:lnTo>
                  <a:lnTo>
                    <a:pt x="969264" y="108712"/>
                  </a:lnTo>
                  <a:lnTo>
                    <a:pt x="969264" y="543560"/>
                  </a:lnTo>
                  <a:lnTo>
                    <a:pt x="960725" y="585872"/>
                  </a:lnTo>
                  <a:lnTo>
                    <a:pt x="937434" y="620428"/>
                  </a:lnTo>
                  <a:lnTo>
                    <a:pt x="902880" y="643727"/>
                  </a:lnTo>
                  <a:lnTo>
                    <a:pt x="860552" y="652272"/>
                  </a:lnTo>
                  <a:lnTo>
                    <a:pt x="108712" y="652272"/>
                  </a:lnTo>
                  <a:lnTo>
                    <a:pt x="66383" y="643727"/>
                  </a:lnTo>
                  <a:lnTo>
                    <a:pt x="31829" y="620428"/>
                  </a:lnTo>
                  <a:lnTo>
                    <a:pt x="8538" y="585872"/>
                  </a:lnTo>
                  <a:lnTo>
                    <a:pt x="0" y="543560"/>
                  </a:lnTo>
                  <a:lnTo>
                    <a:pt x="0" y="10871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6824217" y="5077206"/>
            <a:ext cx="7150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Dev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i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ce 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IO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1881377" y="4985765"/>
            <a:ext cx="760730" cy="72904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907">
            <a:solidFill>
              <a:srgbClr val="8B3836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spcBef>
                <a:spcPts val="885"/>
              </a:spcBef>
            </a:pPr>
            <a:r>
              <a:rPr sz="2000" spc="5" dirty="0">
                <a:solidFill>
                  <a:srgbClr val="FFFFFF"/>
                </a:solidFill>
                <a:latin typeface="Carlito"/>
                <a:cs typeface="Carlito"/>
              </a:rPr>
              <a:t>OS</a:t>
            </a:r>
            <a:endParaRPr sz="200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specs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126" name="object 126"/>
          <p:cNvSpPr txBox="1">
            <a:spLocks noGrp="1"/>
          </p:cNvSpPr>
          <p:nvPr>
            <p:ph type="sldNum" sz="quarter" idx="12"/>
          </p:nvPr>
        </p:nvSpPr>
        <p:spPr>
          <a:xfrm>
            <a:off x="13562011" y="6106367"/>
            <a:ext cx="753545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15</a:t>
            </a:fld>
            <a:endParaRPr dirty="0"/>
          </a:p>
        </p:txBody>
      </p:sp>
      <p:sp>
        <p:nvSpPr>
          <p:cNvPr id="123" name="object 123"/>
          <p:cNvSpPr/>
          <p:nvPr/>
        </p:nvSpPr>
        <p:spPr>
          <a:xfrm>
            <a:off x="8794243" y="4985766"/>
            <a:ext cx="448309" cy="902335"/>
          </a:xfrm>
          <a:custGeom>
            <a:avLst/>
            <a:gdLst/>
            <a:ahLst/>
            <a:cxnLst/>
            <a:rect l="l" t="t" r="r" b="b"/>
            <a:pathLst>
              <a:path w="448309" h="902335">
                <a:moveTo>
                  <a:pt x="0" y="0"/>
                </a:moveTo>
                <a:lnTo>
                  <a:pt x="70798" y="1908"/>
                </a:lnTo>
                <a:lnTo>
                  <a:pt x="132295" y="7217"/>
                </a:lnTo>
                <a:lnTo>
                  <a:pt x="180795" y="15307"/>
                </a:lnTo>
                <a:lnTo>
                  <a:pt x="224027" y="37337"/>
                </a:lnTo>
                <a:lnTo>
                  <a:pt x="224027" y="413765"/>
                </a:lnTo>
                <a:lnTo>
                  <a:pt x="235451" y="425549"/>
                </a:lnTo>
                <a:lnTo>
                  <a:pt x="267260" y="435796"/>
                </a:lnTo>
                <a:lnTo>
                  <a:pt x="315760" y="443886"/>
                </a:lnTo>
                <a:lnTo>
                  <a:pt x="377257" y="449195"/>
                </a:lnTo>
                <a:lnTo>
                  <a:pt x="448055" y="451103"/>
                </a:lnTo>
                <a:lnTo>
                  <a:pt x="377257" y="453012"/>
                </a:lnTo>
                <a:lnTo>
                  <a:pt x="315760" y="458321"/>
                </a:lnTo>
                <a:lnTo>
                  <a:pt x="267260" y="466411"/>
                </a:lnTo>
                <a:lnTo>
                  <a:pt x="235451" y="476658"/>
                </a:lnTo>
                <a:lnTo>
                  <a:pt x="224027" y="488441"/>
                </a:lnTo>
                <a:lnTo>
                  <a:pt x="224027" y="864869"/>
                </a:lnTo>
                <a:lnTo>
                  <a:pt x="212604" y="876673"/>
                </a:lnTo>
                <a:lnTo>
                  <a:pt x="180795" y="886922"/>
                </a:lnTo>
                <a:lnTo>
                  <a:pt x="132295" y="895004"/>
                </a:lnTo>
                <a:lnTo>
                  <a:pt x="70798" y="900304"/>
                </a:lnTo>
                <a:lnTo>
                  <a:pt x="0" y="902207"/>
                </a:lnTo>
              </a:path>
            </a:pathLst>
          </a:custGeom>
          <a:ln w="381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9290050" y="5168010"/>
            <a:ext cx="1203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spc="-150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e</a:t>
            </a:r>
            <a:r>
              <a:rPr sz="2800" spc="15" dirty="0">
                <a:latin typeface="Carlito"/>
                <a:cs typeface="Carlito"/>
              </a:rPr>
              <a:t>r</a:t>
            </a:r>
            <a:r>
              <a:rPr sz="2800" spc="-30" dirty="0">
                <a:latin typeface="Carlito"/>
                <a:cs typeface="Carlito"/>
              </a:rPr>
              <a:t>v</a:t>
            </a:r>
            <a:r>
              <a:rPr sz="2800" spc="-5" dirty="0">
                <a:latin typeface="Carlito"/>
                <a:cs typeface="Carlito"/>
              </a:rPr>
              <a:t>e</a:t>
            </a:r>
            <a:r>
              <a:rPr sz="2800" spc="20" dirty="0">
                <a:latin typeface="Carlito"/>
                <a:cs typeface="Carlito"/>
              </a:rPr>
              <a:t>+</a:t>
            </a:r>
            <a:r>
              <a:rPr sz="2800" spc="-5" dirty="0">
                <a:latin typeface="Carlito"/>
                <a:cs typeface="Carlito"/>
              </a:rPr>
              <a:t>+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4797934" y="6050458"/>
            <a:ext cx="1998345" cy="312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Hardware</a:t>
            </a:r>
            <a:r>
              <a:rPr sz="24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specs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129" name="object 4">
            <a:extLst>
              <a:ext uri="{FF2B5EF4-FFF2-40B4-BE49-F238E27FC236}">
                <a16:creationId xmlns:a16="http://schemas.microsoft.com/office/drawing/2014/main" id="{96A3DADF-36A4-4B03-BA6F-10B10604B8DE}"/>
              </a:ext>
            </a:extLst>
          </p:cNvPr>
          <p:cNvSpPr txBox="1">
            <a:spLocks/>
          </p:cNvSpPr>
          <p:nvPr/>
        </p:nvSpPr>
        <p:spPr>
          <a:xfrm>
            <a:off x="1837268" y="42138"/>
            <a:ext cx="8602133" cy="567463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390" algn="ctr">
              <a:lnSpc>
                <a:spcPct val="100000"/>
              </a:lnSpc>
              <a:spcBef>
                <a:spcPts val="105"/>
              </a:spcBef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Architecture</a:t>
            </a:r>
            <a:endParaRPr lang="en-US"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lowchart: Process 82">
            <a:extLst>
              <a:ext uri="{FF2B5EF4-FFF2-40B4-BE49-F238E27FC236}">
                <a16:creationId xmlns:a16="http://schemas.microsoft.com/office/drawing/2014/main" id="{780886A5-F1A7-44C7-9C75-5A781FE76F16}"/>
              </a:ext>
            </a:extLst>
          </p:cNvPr>
          <p:cNvSpPr/>
          <p:nvPr/>
        </p:nvSpPr>
        <p:spPr>
          <a:xfrm>
            <a:off x="1881377" y="2748534"/>
            <a:ext cx="792479" cy="2016077"/>
          </a:xfrm>
          <a:prstGeom prst="flowChart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-5" dirty="0">
                <a:solidFill>
                  <a:srgbClr val="FFFFFF"/>
                </a:solidFill>
                <a:latin typeface="Carlito"/>
                <a:cs typeface="Carlito"/>
              </a:rPr>
              <a:t>Lib  specs</a:t>
            </a:r>
            <a:endParaRPr lang="en-US" dirty="0">
              <a:latin typeface="Carlito"/>
              <a:cs typeface="Carlito"/>
            </a:endParaRPr>
          </a:p>
          <a:p>
            <a:pPr algn="ctr"/>
            <a:endParaRPr lang="en-US" dirty="0"/>
          </a:p>
        </p:txBody>
      </p:sp>
      <p:sp>
        <p:nvSpPr>
          <p:cNvPr id="127" name="object 5">
            <a:extLst>
              <a:ext uri="{FF2B5EF4-FFF2-40B4-BE49-F238E27FC236}">
                <a16:creationId xmlns:a16="http://schemas.microsoft.com/office/drawing/2014/main" id="{AE933E6A-F1E2-4445-9C1A-12CB4AD4A012}"/>
              </a:ext>
            </a:extLst>
          </p:cNvPr>
          <p:cNvSpPr txBox="1"/>
          <p:nvPr/>
        </p:nvSpPr>
        <p:spPr>
          <a:xfrm>
            <a:off x="4625902" y="1408823"/>
            <a:ext cx="830020" cy="1124026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5907">
            <a:solidFill>
              <a:srgbClr val="8B3836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99060" marR="93345" indent="31750" algn="ctr">
              <a:spcBef>
                <a:spcPts val="1505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App</a:t>
            </a:r>
            <a:endParaRPr lang="en-US" sz="2400" dirty="0">
              <a:solidFill>
                <a:srgbClr val="FFFFFF"/>
              </a:solidFill>
              <a:latin typeface="Carlito"/>
              <a:cs typeface="Carlito"/>
            </a:endParaRPr>
          </a:p>
          <a:p>
            <a:pPr marL="99060" marR="93345" indent="31750" algn="ctr">
              <a:spcBef>
                <a:spcPts val="1505"/>
              </a:spcBef>
            </a:pPr>
            <a:endParaRPr lang="en-US" sz="2400" dirty="0">
              <a:solidFill>
                <a:srgbClr val="FFFFFF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296410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9" grpId="0"/>
      <p:bldP spid="105" grpId="0"/>
      <p:bldP spid="111" grpId="0"/>
      <p:bldP spid="117" grpId="0"/>
      <p:bldP spid="123" grpId="0" animBg="1"/>
      <p:bldP spid="124" grpId="0"/>
      <p:bldP spid="1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AC69C805-AF07-4999-A4ED-E74AB23AB478}"/>
              </a:ext>
            </a:extLst>
          </p:cNvPr>
          <p:cNvSpPr txBox="1">
            <a:spLocks/>
          </p:cNvSpPr>
          <p:nvPr/>
        </p:nvSpPr>
        <p:spPr>
          <a:xfrm>
            <a:off x="373711" y="1"/>
            <a:ext cx="6712889" cy="922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390"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Rapid verification</a:t>
            </a:r>
            <a:endParaRPr lang="en-US" spc="-2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AD3B27-3509-4E2A-A0C7-FF7EC01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6" y="893610"/>
            <a:ext cx="3370618" cy="3218939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9136A660-2A4C-4E3B-83D7-DE6D0485C66A}"/>
              </a:ext>
            </a:extLst>
          </p:cNvPr>
          <p:cNvSpPr/>
          <p:nvPr/>
        </p:nvSpPr>
        <p:spPr>
          <a:xfrm>
            <a:off x="954819" y="5432067"/>
            <a:ext cx="744140" cy="1143000"/>
          </a:xfrm>
          <a:prstGeom prst="flowChartDocumen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allout: Left Arrow 9">
            <a:extLst>
              <a:ext uri="{FF2B5EF4-FFF2-40B4-BE49-F238E27FC236}">
                <a16:creationId xmlns:a16="http://schemas.microsoft.com/office/drawing/2014/main" id="{87063822-30A9-49C0-9922-F1E83846D28C}"/>
              </a:ext>
            </a:extLst>
          </p:cNvPr>
          <p:cNvSpPr/>
          <p:nvPr/>
        </p:nvSpPr>
        <p:spPr>
          <a:xfrm>
            <a:off x="1945419" y="5432068"/>
            <a:ext cx="1143000" cy="1039813"/>
          </a:xfrm>
          <a:prstGeom prst="leftArrow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66CAFD-A184-471A-B704-0C1555C2C22B}"/>
              </a:ext>
            </a:extLst>
          </p:cNvPr>
          <p:cNvSpPr/>
          <p:nvPr/>
        </p:nvSpPr>
        <p:spPr>
          <a:xfrm>
            <a:off x="826936" y="4783375"/>
            <a:ext cx="4730897" cy="574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Modular verification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A50E4D-A581-4166-958F-9031B743604F}"/>
              </a:ext>
            </a:extLst>
          </p:cNvPr>
          <p:cNvSpPr/>
          <p:nvPr/>
        </p:nvSpPr>
        <p:spPr>
          <a:xfrm>
            <a:off x="6583680" y="1868557"/>
            <a:ext cx="4439778" cy="5749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286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Shared verification</a:t>
            </a:r>
          </a:p>
        </p:txBody>
      </p:sp>
      <p:sp>
        <p:nvSpPr>
          <p:cNvPr id="58" name="Thought Bubble: Cloud 57">
            <a:extLst>
              <a:ext uri="{FF2B5EF4-FFF2-40B4-BE49-F238E27FC236}">
                <a16:creationId xmlns:a16="http://schemas.microsoft.com/office/drawing/2014/main" id="{B9A2A1B3-6442-492B-BAF0-FD829CF74524}"/>
              </a:ext>
            </a:extLst>
          </p:cNvPr>
          <p:cNvSpPr/>
          <p:nvPr/>
        </p:nvSpPr>
        <p:spPr>
          <a:xfrm>
            <a:off x="6766559" y="2627837"/>
            <a:ext cx="3808675" cy="1786706"/>
          </a:xfrm>
          <a:prstGeom prst="cloudCallout">
            <a:avLst>
              <a:gd name="adj1" fmla="val -46883"/>
              <a:gd name="adj2" fmla="val 204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Iron Build</a:t>
            </a:r>
          </a:p>
        </p:txBody>
      </p:sp>
      <p:pic>
        <p:nvPicPr>
          <p:cNvPr id="59" name="Content Placeholder 14" descr="A drawing of a cartoon character&#10;&#10;Description automatically generated">
            <a:extLst>
              <a:ext uri="{FF2B5EF4-FFF2-40B4-BE49-F238E27FC236}">
                <a16:creationId xmlns:a16="http://schemas.microsoft.com/office/drawing/2014/main" id="{7C71D9A6-6F72-4F94-8418-5BD21E175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636" y="4412640"/>
            <a:ext cx="1951093" cy="1857628"/>
          </a:xfrm>
        </p:spPr>
      </p:pic>
      <p:pic>
        <p:nvPicPr>
          <p:cNvPr id="63" name="Picture 62" descr="A picture containing drawing, computer&#10;&#10;Description automatically generated">
            <a:extLst>
              <a:ext uri="{FF2B5EF4-FFF2-40B4-BE49-F238E27FC236}">
                <a16:creationId xmlns:a16="http://schemas.microsoft.com/office/drawing/2014/main" id="{1589972B-F876-4629-B176-EBBADD35E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374" y="4287530"/>
            <a:ext cx="1915901" cy="2094342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6685D6B-9523-4D58-8250-84FB9294E03A}"/>
              </a:ext>
            </a:extLst>
          </p:cNvPr>
          <p:cNvCxnSpPr>
            <a:cxnSpLocks/>
            <a:stCxn id="58" idx="1"/>
            <a:endCxn id="59" idx="3"/>
          </p:cNvCxnSpPr>
          <p:nvPr/>
        </p:nvCxnSpPr>
        <p:spPr>
          <a:xfrm flipH="1">
            <a:off x="7718729" y="4412640"/>
            <a:ext cx="952168" cy="928814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AA7BF22-2B19-4802-8709-B99505A29A04}"/>
              </a:ext>
            </a:extLst>
          </p:cNvPr>
          <p:cNvCxnSpPr>
            <a:cxnSpLocks/>
            <a:stCxn id="58" idx="1"/>
            <a:endCxn id="63" idx="1"/>
          </p:cNvCxnSpPr>
          <p:nvPr/>
        </p:nvCxnSpPr>
        <p:spPr>
          <a:xfrm>
            <a:off x="8670897" y="4412640"/>
            <a:ext cx="1228477" cy="922061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Folder">
            <a:extLst>
              <a:ext uri="{FF2B5EF4-FFF2-40B4-BE49-F238E27FC236}">
                <a16:creationId xmlns:a16="http://schemas.microsoft.com/office/drawing/2014/main" id="{D761639C-F24A-4458-9103-D47ECF730A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74020" y="5709101"/>
            <a:ext cx="561167" cy="56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6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 animBg="1"/>
      <p:bldP spid="12" grpId="0"/>
      <p:bldP spid="14" grpId="0"/>
      <p:bldP spid="5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object 2">
            <a:extLst>
              <a:ext uri="{FF2B5EF4-FFF2-40B4-BE49-F238E27FC236}">
                <a16:creationId xmlns:a16="http://schemas.microsoft.com/office/drawing/2014/main" id="{41546320-AF77-4900-972A-5DE6458E6F13}"/>
              </a:ext>
            </a:extLst>
          </p:cNvPr>
          <p:cNvGrpSpPr/>
          <p:nvPr/>
        </p:nvGrpSpPr>
        <p:grpSpPr>
          <a:xfrm>
            <a:off x="6917635" y="961392"/>
            <a:ext cx="3994526" cy="2301603"/>
            <a:chOff x="5595610" y="988713"/>
            <a:chExt cx="2723652" cy="2301603"/>
          </a:xfrm>
        </p:grpSpPr>
        <p:sp>
          <p:nvSpPr>
            <p:cNvPr id="47" name="object 4">
              <a:extLst>
                <a:ext uri="{FF2B5EF4-FFF2-40B4-BE49-F238E27FC236}">
                  <a16:creationId xmlns:a16="http://schemas.microsoft.com/office/drawing/2014/main" id="{0B7DCECE-238C-468F-B27D-6E1861F5536E}"/>
                </a:ext>
              </a:extLst>
            </p:cNvPr>
            <p:cNvSpPr/>
            <p:nvPr/>
          </p:nvSpPr>
          <p:spPr>
            <a:xfrm>
              <a:off x="7732775" y="3168396"/>
              <a:ext cx="134620" cy="121920"/>
            </a:xfrm>
            <a:custGeom>
              <a:avLst/>
              <a:gdLst/>
              <a:ahLst/>
              <a:cxnLst/>
              <a:rect l="l" t="t" r="r" b="b"/>
              <a:pathLst>
                <a:path w="134620" h="121920">
                  <a:moveTo>
                    <a:pt x="134111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134111" y="121920"/>
                  </a:lnTo>
                  <a:lnTo>
                    <a:pt x="1341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6">
              <a:extLst>
                <a:ext uri="{FF2B5EF4-FFF2-40B4-BE49-F238E27FC236}">
                  <a16:creationId xmlns:a16="http://schemas.microsoft.com/office/drawing/2014/main" id="{FA32BCBB-7BD5-41BC-963B-C3F710A940CE}"/>
                </a:ext>
              </a:extLst>
            </p:cNvPr>
            <p:cNvSpPr/>
            <p:nvPr/>
          </p:nvSpPr>
          <p:spPr>
            <a:xfrm>
              <a:off x="6388607" y="1022603"/>
              <a:ext cx="1120139" cy="6400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7">
              <a:extLst>
                <a:ext uri="{FF2B5EF4-FFF2-40B4-BE49-F238E27FC236}">
                  <a16:creationId xmlns:a16="http://schemas.microsoft.com/office/drawing/2014/main" id="{3B566753-CA6C-4AE3-A314-95802671B9C3}"/>
                </a:ext>
              </a:extLst>
            </p:cNvPr>
            <p:cNvSpPr/>
            <p:nvPr/>
          </p:nvSpPr>
          <p:spPr>
            <a:xfrm>
              <a:off x="5595610" y="988713"/>
              <a:ext cx="2723652" cy="451484"/>
            </a:xfrm>
            <a:custGeom>
              <a:avLst/>
              <a:gdLst/>
              <a:ahLst/>
              <a:cxnLst/>
              <a:rect l="l" t="t" r="r" b="b"/>
              <a:pathLst>
                <a:path w="2794000" h="451484">
                  <a:moveTo>
                    <a:pt x="2718308" y="0"/>
                  </a:moveTo>
                  <a:lnTo>
                    <a:pt x="75184" y="0"/>
                  </a:lnTo>
                  <a:lnTo>
                    <a:pt x="45916" y="5907"/>
                  </a:lnTo>
                  <a:lnTo>
                    <a:pt x="22018" y="22018"/>
                  </a:lnTo>
                  <a:lnTo>
                    <a:pt x="5907" y="45916"/>
                  </a:lnTo>
                  <a:lnTo>
                    <a:pt x="0" y="75183"/>
                  </a:lnTo>
                  <a:lnTo>
                    <a:pt x="0" y="375919"/>
                  </a:lnTo>
                  <a:lnTo>
                    <a:pt x="5907" y="405187"/>
                  </a:lnTo>
                  <a:lnTo>
                    <a:pt x="22018" y="429085"/>
                  </a:lnTo>
                  <a:lnTo>
                    <a:pt x="45916" y="445196"/>
                  </a:lnTo>
                  <a:lnTo>
                    <a:pt x="75184" y="451103"/>
                  </a:lnTo>
                  <a:lnTo>
                    <a:pt x="2718308" y="451103"/>
                  </a:lnTo>
                  <a:lnTo>
                    <a:pt x="2747575" y="445196"/>
                  </a:lnTo>
                  <a:lnTo>
                    <a:pt x="2771473" y="429085"/>
                  </a:lnTo>
                  <a:lnTo>
                    <a:pt x="2787584" y="405187"/>
                  </a:lnTo>
                  <a:lnTo>
                    <a:pt x="2793491" y="375919"/>
                  </a:lnTo>
                  <a:lnTo>
                    <a:pt x="2793491" y="75183"/>
                  </a:lnTo>
                  <a:lnTo>
                    <a:pt x="2787584" y="45916"/>
                  </a:lnTo>
                  <a:lnTo>
                    <a:pt x="2771473" y="22018"/>
                  </a:lnTo>
                  <a:lnTo>
                    <a:pt x="2747575" y="5907"/>
                  </a:lnTo>
                  <a:lnTo>
                    <a:pt x="271830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52" name="object 10">
            <a:extLst>
              <a:ext uri="{FF2B5EF4-FFF2-40B4-BE49-F238E27FC236}">
                <a16:creationId xmlns:a16="http://schemas.microsoft.com/office/drawing/2014/main" id="{3C51E379-6873-4097-963E-953EF82E80DD}"/>
              </a:ext>
            </a:extLst>
          </p:cNvPr>
          <p:cNvGrpSpPr/>
          <p:nvPr/>
        </p:nvGrpSpPr>
        <p:grpSpPr>
          <a:xfrm>
            <a:off x="6202017" y="4679949"/>
            <a:ext cx="4788531" cy="732605"/>
            <a:chOff x="4297426" y="4679950"/>
            <a:chExt cx="4493260" cy="604520"/>
          </a:xfrm>
        </p:grpSpPr>
        <p:sp>
          <p:nvSpPr>
            <p:cNvPr id="58" name="object 11">
              <a:extLst>
                <a:ext uri="{FF2B5EF4-FFF2-40B4-BE49-F238E27FC236}">
                  <a16:creationId xmlns:a16="http://schemas.microsoft.com/office/drawing/2014/main" id="{F284C990-C4BD-49D3-A1B3-EB5016807355}"/>
                </a:ext>
              </a:extLst>
            </p:cNvPr>
            <p:cNvSpPr/>
            <p:nvPr/>
          </p:nvSpPr>
          <p:spPr>
            <a:xfrm>
              <a:off x="4303776" y="4686300"/>
              <a:ext cx="4480560" cy="591820"/>
            </a:xfrm>
            <a:custGeom>
              <a:avLst/>
              <a:gdLst/>
              <a:ahLst/>
              <a:cxnLst/>
              <a:rect l="l" t="t" r="r" b="b"/>
              <a:pathLst>
                <a:path w="4480559" h="591820">
                  <a:moveTo>
                    <a:pt x="4184904" y="0"/>
                  </a:moveTo>
                  <a:lnTo>
                    <a:pt x="4184904" y="147827"/>
                  </a:lnTo>
                  <a:lnTo>
                    <a:pt x="0" y="147827"/>
                  </a:lnTo>
                  <a:lnTo>
                    <a:pt x="0" y="443483"/>
                  </a:lnTo>
                  <a:lnTo>
                    <a:pt x="4184904" y="443483"/>
                  </a:lnTo>
                  <a:lnTo>
                    <a:pt x="4184904" y="591312"/>
                  </a:lnTo>
                  <a:lnTo>
                    <a:pt x="4480559" y="295656"/>
                  </a:lnTo>
                  <a:lnTo>
                    <a:pt x="4184904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2">
              <a:extLst>
                <a:ext uri="{FF2B5EF4-FFF2-40B4-BE49-F238E27FC236}">
                  <a16:creationId xmlns:a16="http://schemas.microsoft.com/office/drawing/2014/main" id="{C62DF9BA-C3F6-4885-9701-03FD2616B37B}"/>
                </a:ext>
              </a:extLst>
            </p:cNvPr>
            <p:cNvSpPr/>
            <p:nvPr/>
          </p:nvSpPr>
          <p:spPr>
            <a:xfrm>
              <a:off x="4303776" y="4686300"/>
              <a:ext cx="4480560" cy="591820"/>
            </a:xfrm>
            <a:custGeom>
              <a:avLst/>
              <a:gdLst/>
              <a:ahLst/>
              <a:cxnLst/>
              <a:rect l="l" t="t" r="r" b="b"/>
              <a:pathLst>
                <a:path w="4480559" h="591820">
                  <a:moveTo>
                    <a:pt x="0" y="147827"/>
                  </a:moveTo>
                  <a:lnTo>
                    <a:pt x="4184904" y="147827"/>
                  </a:lnTo>
                  <a:lnTo>
                    <a:pt x="4184904" y="0"/>
                  </a:lnTo>
                  <a:lnTo>
                    <a:pt x="4480559" y="295656"/>
                  </a:lnTo>
                  <a:lnTo>
                    <a:pt x="4184904" y="591312"/>
                  </a:lnTo>
                  <a:lnTo>
                    <a:pt x="4184904" y="443483"/>
                  </a:lnTo>
                  <a:lnTo>
                    <a:pt x="0" y="443483"/>
                  </a:lnTo>
                  <a:lnTo>
                    <a:pt x="0" y="147827"/>
                  </a:lnTo>
                  <a:close/>
                </a:path>
              </a:pathLst>
            </a:custGeom>
            <a:ln w="12192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13">
            <a:extLst>
              <a:ext uri="{FF2B5EF4-FFF2-40B4-BE49-F238E27FC236}">
                <a16:creationId xmlns:a16="http://schemas.microsoft.com/office/drawing/2014/main" id="{34C97DEE-30C3-4A7C-90C8-C7F5252C0235}"/>
              </a:ext>
            </a:extLst>
          </p:cNvPr>
          <p:cNvSpPr txBox="1"/>
          <p:nvPr/>
        </p:nvSpPr>
        <p:spPr>
          <a:xfrm>
            <a:off x="6257829" y="4866199"/>
            <a:ext cx="149469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Insert</a:t>
            </a:r>
            <a:r>
              <a:rPr sz="2000" spc="-4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datum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61" name="object 14">
            <a:extLst>
              <a:ext uri="{FF2B5EF4-FFF2-40B4-BE49-F238E27FC236}">
                <a16:creationId xmlns:a16="http://schemas.microsoft.com/office/drawing/2014/main" id="{D4A18BC5-432C-46AC-A08A-A8D93C197F64}"/>
              </a:ext>
            </a:extLst>
          </p:cNvPr>
          <p:cNvGrpSpPr/>
          <p:nvPr/>
        </p:nvGrpSpPr>
        <p:grpSpPr>
          <a:xfrm>
            <a:off x="6208784" y="5660134"/>
            <a:ext cx="4882525" cy="605493"/>
            <a:chOff x="4303776" y="5660135"/>
            <a:chExt cx="4480560" cy="591820"/>
          </a:xfrm>
        </p:grpSpPr>
        <p:sp>
          <p:nvSpPr>
            <p:cNvPr id="62" name="object 15">
              <a:extLst>
                <a:ext uri="{FF2B5EF4-FFF2-40B4-BE49-F238E27FC236}">
                  <a16:creationId xmlns:a16="http://schemas.microsoft.com/office/drawing/2014/main" id="{62651A05-F7E7-47E2-B5FE-670D15423160}"/>
                </a:ext>
              </a:extLst>
            </p:cNvPr>
            <p:cNvSpPr/>
            <p:nvPr/>
          </p:nvSpPr>
          <p:spPr>
            <a:xfrm>
              <a:off x="4303776" y="5660135"/>
              <a:ext cx="4480560" cy="591820"/>
            </a:xfrm>
            <a:custGeom>
              <a:avLst/>
              <a:gdLst/>
              <a:ahLst/>
              <a:cxnLst/>
              <a:rect l="l" t="t" r="r" b="b"/>
              <a:pathLst>
                <a:path w="4480559" h="591820">
                  <a:moveTo>
                    <a:pt x="4184904" y="0"/>
                  </a:moveTo>
                  <a:lnTo>
                    <a:pt x="4184904" y="147827"/>
                  </a:lnTo>
                  <a:lnTo>
                    <a:pt x="0" y="147827"/>
                  </a:lnTo>
                  <a:lnTo>
                    <a:pt x="0" y="443483"/>
                  </a:lnTo>
                  <a:lnTo>
                    <a:pt x="4184904" y="443483"/>
                  </a:lnTo>
                  <a:lnTo>
                    <a:pt x="4184904" y="591311"/>
                  </a:lnTo>
                  <a:lnTo>
                    <a:pt x="4480559" y="295655"/>
                  </a:lnTo>
                  <a:lnTo>
                    <a:pt x="4184904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16">
              <a:extLst>
                <a:ext uri="{FF2B5EF4-FFF2-40B4-BE49-F238E27FC236}">
                  <a16:creationId xmlns:a16="http://schemas.microsoft.com/office/drawing/2014/main" id="{BCD2B5A2-2792-41AC-B381-892FE3AC6944}"/>
                </a:ext>
              </a:extLst>
            </p:cNvPr>
            <p:cNvSpPr/>
            <p:nvPr/>
          </p:nvSpPr>
          <p:spPr>
            <a:xfrm>
              <a:off x="4665358" y="5660135"/>
              <a:ext cx="4118978" cy="591820"/>
            </a:xfrm>
            <a:custGeom>
              <a:avLst/>
              <a:gdLst/>
              <a:ahLst/>
              <a:cxnLst/>
              <a:rect l="l" t="t" r="r" b="b"/>
              <a:pathLst>
                <a:path w="4480559" h="591820">
                  <a:moveTo>
                    <a:pt x="0" y="147827"/>
                  </a:moveTo>
                  <a:lnTo>
                    <a:pt x="4184904" y="147827"/>
                  </a:lnTo>
                  <a:lnTo>
                    <a:pt x="4184904" y="0"/>
                  </a:lnTo>
                  <a:lnTo>
                    <a:pt x="4480559" y="295655"/>
                  </a:lnTo>
                  <a:lnTo>
                    <a:pt x="4184904" y="591311"/>
                  </a:lnTo>
                  <a:lnTo>
                    <a:pt x="4184904" y="443483"/>
                  </a:lnTo>
                  <a:lnTo>
                    <a:pt x="0" y="443483"/>
                  </a:lnTo>
                  <a:lnTo>
                    <a:pt x="0" y="147827"/>
                  </a:lnTo>
                  <a:close/>
                </a:path>
              </a:pathLst>
            </a:custGeom>
            <a:ln w="12192">
              <a:solidFill>
                <a:srgbClr val="787878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4" name="object 17">
            <a:extLst>
              <a:ext uri="{FF2B5EF4-FFF2-40B4-BE49-F238E27FC236}">
                <a16:creationId xmlns:a16="http://schemas.microsoft.com/office/drawing/2014/main" id="{9C632D81-3F06-40F5-8FA6-E778A9D0C4AF}"/>
              </a:ext>
            </a:extLst>
          </p:cNvPr>
          <p:cNvSpPr txBox="1"/>
          <p:nvPr/>
        </p:nvSpPr>
        <p:spPr>
          <a:xfrm>
            <a:off x="6232786" y="5775453"/>
            <a:ext cx="1204151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Query</a:t>
            </a:r>
          </a:p>
        </p:txBody>
      </p:sp>
      <p:grpSp>
        <p:nvGrpSpPr>
          <p:cNvPr id="65" name="object 18">
            <a:extLst>
              <a:ext uri="{FF2B5EF4-FFF2-40B4-BE49-F238E27FC236}">
                <a16:creationId xmlns:a16="http://schemas.microsoft.com/office/drawing/2014/main" id="{AA868102-F310-4880-9521-E2D9E065832D}"/>
              </a:ext>
            </a:extLst>
          </p:cNvPr>
          <p:cNvGrpSpPr/>
          <p:nvPr/>
        </p:nvGrpSpPr>
        <p:grpSpPr>
          <a:xfrm>
            <a:off x="7840451" y="4366259"/>
            <a:ext cx="2365375" cy="2222500"/>
            <a:chOff x="5743955" y="4366259"/>
            <a:chExt cx="2365375" cy="2222500"/>
          </a:xfrm>
        </p:grpSpPr>
        <p:sp>
          <p:nvSpPr>
            <p:cNvPr id="66" name="object 19">
              <a:extLst>
                <a:ext uri="{FF2B5EF4-FFF2-40B4-BE49-F238E27FC236}">
                  <a16:creationId xmlns:a16="http://schemas.microsoft.com/office/drawing/2014/main" id="{7F69A0A9-5CBD-4FD3-ACEC-DEF723B74CE9}"/>
                </a:ext>
              </a:extLst>
            </p:cNvPr>
            <p:cNvSpPr/>
            <p:nvPr/>
          </p:nvSpPr>
          <p:spPr>
            <a:xfrm>
              <a:off x="5743955" y="4366259"/>
              <a:ext cx="2365375" cy="2222500"/>
            </a:xfrm>
            <a:custGeom>
              <a:avLst/>
              <a:gdLst/>
              <a:ahLst/>
              <a:cxnLst/>
              <a:rect l="l" t="t" r="r" b="b"/>
              <a:pathLst>
                <a:path w="2365375" h="2222500">
                  <a:moveTo>
                    <a:pt x="2365248" y="0"/>
                  </a:moveTo>
                  <a:lnTo>
                    <a:pt x="0" y="0"/>
                  </a:lnTo>
                  <a:lnTo>
                    <a:pt x="0" y="2221992"/>
                  </a:lnTo>
                  <a:lnTo>
                    <a:pt x="2365248" y="2221992"/>
                  </a:lnTo>
                  <a:lnTo>
                    <a:pt x="2365248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20">
              <a:extLst>
                <a:ext uri="{FF2B5EF4-FFF2-40B4-BE49-F238E27FC236}">
                  <a16:creationId xmlns:a16="http://schemas.microsoft.com/office/drawing/2014/main" id="{3DA84AF0-E6E0-44F7-A6EF-E14CE842435E}"/>
                </a:ext>
              </a:extLst>
            </p:cNvPr>
            <p:cNvSpPr/>
            <p:nvPr/>
          </p:nvSpPr>
          <p:spPr>
            <a:xfrm>
              <a:off x="5903975" y="5134355"/>
              <a:ext cx="2036445" cy="502920"/>
            </a:xfrm>
            <a:custGeom>
              <a:avLst/>
              <a:gdLst/>
              <a:ahLst/>
              <a:cxnLst/>
              <a:rect l="l" t="t" r="r" b="b"/>
              <a:pathLst>
                <a:path w="2036445" h="502920">
                  <a:moveTo>
                    <a:pt x="1952244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78" y="451726"/>
                  </a:lnTo>
                  <a:lnTo>
                    <a:pt x="24526" y="478369"/>
                  </a:lnTo>
                  <a:lnTo>
                    <a:pt x="51167" y="496332"/>
                  </a:lnTo>
                  <a:lnTo>
                    <a:pt x="83820" y="502920"/>
                  </a:lnTo>
                  <a:lnTo>
                    <a:pt x="1952244" y="502920"/>
                  </a:lnTo>
                  <a:lnTo>
                    <a:pt x="1984896" y="496332"/>
                  </a:lnTo>
                  <a:lnTo>
                    <a:pt x="2011537" y="478369"/>
                  </a:lnTo>
                  <a:lnTo>
                    <a:pt x="2029485" y="451726"/>
                  </a:lnTo>
                  <a:lnTo>
                    <a:pt x="2036064" y="419100"/>
                  </a:lnTo>
                  <a:lnTo>
                    <a:pt x="2036064" y="83820"/>
                  </a:lnTo>
                  <a:lnTo>
                    <a:pt x="2029485" y="51167"/>
                  </a:lnTo>
                  <a:lnTo>
                    <a:pt x="2011537" y="24526"/>
                  </a:lnTo>
                  <a:lnTo>
                    <a:pt x="1984896" y="6578"/>
                  </a:lnTo>
                  <a:lnTo>
                    <a:pt x="19522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21">
              <a:extLst>
                <a:ext uri="{FF2B5EF4-FFF2-40B4-BE49-F238E27FC236}">
                  <a16:creationId xmlns:a16="http://schemas.microsoft.com/office/drawing/2014/main" id="{CE9B59E6-1292-4E91-ACBC-D94EDFC00683}"/>
                </a:ext>
              </a:extLst>
            </p:cNvPr>
            <p:cNvSpPr/>
            <p:nvPr/>
          </p:nvSpPr>
          <p:spPr>
            <a:xfrm>
              <a:off x="5903975" y="5134355"/>
              <a:ext cx="2036445" cy="502920"/>
            </a:xfrm>
            <a:custGeom>
              <a:avLst/>
              <a:gdLst/>
              <a:ahLst/>
              <a:cxnLst/>
              <a:rect l="l" t="t" r="r" b="b"/>
              <a:pathLst>
                <a:path w="2036445" h="502920">
                  <a:moveTo>
                    <a:pt x="0" y="83820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1952244" y="0"/>
                  </a:lnTo>
                  <a:lnTo>
                    <a:pt x="1984896" y="6578"/>
                  </a:lnTo>
                  <a:lnTo>
                    <a:pt x="2011537" y="24526"/>
                  </a:lnTo>
                  <a:lnTo>
                    <a:pt x="2029485" y="51167"/>
                  </a:lnTo>
                  <a:lnTo>
                    <a:pt x="2036064" y="83820"/>
                  </a:lnTo>
                  <a:lnTo>
                    <a:pt x="2036064" y="419100"/>
                  </a:lnTo>
                  <a:lnTo>
                    <a:pt x="2029485" y="451726"/>
                  </a:lnTo>
                  <a:lnTo>
                    <a:pt x="2011537" y="478369"/>
                  </a:lnTo>
                  <a:lnTo>
                    <a:pt x="1984896" y="496332"/>
                  </a:lnTo>
                  <a:lnTo>
                    <a:pt x="1952244" y="502920"/>
                  </a:lnTo>
                  <a:lnTo>
                    <a:pt x="83820" y="502920"/>
                  </a:lnTo>
                  <a:lnTo>
                    <a:pt x="51167" y="496332"/>
                  </a:lnTo>
                  <a:lnTo>
                    <a:pt x="24526" y="478369"/>
                  </a:lnTo>
                  <a:lnTo>
                    <a:pt x="6578" y="451726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22">
              <a:extLst>
                <a:ext uri="{FF2B5EF4-FFF2-40B4-BE49-F238E27FC236}">
                  <a16:creationId xmlns:a16="http://schemas.microsoft.com/office/drawing/2014/main" id="{E1ED0402-34FC-4E77-965D-0CB064256956}"/>
                </a:ext>
              </a:extLst>
            </p:cNvPr>
            <p:cNvSpPr/>
            <p:nvPr/>
          </p:nvSpPr>
          <p:spPr>
            <a:xfrm>
              <a:off x="5903975" y="5774435"/>
              <a:ext cx="2036445" cy="730250"/>
            </a:xfrm>
            <a:custGeom>
              <a:avLst/>
              <a:gdLst/>
              <a:ahLst/>
              <a:cxnLst/>
              <a:rect l="l" t="t" r="r" b="b"/>
              <a:pathLst>
                <a:path w="2036445" h="730250">
                  <a:moveTo>
                    <a:pt x="1914398" y="0"/>
                  </a:moveTo>
                  <a:lnTo>
                    <a:pt x="121665" y="0"/>
                  </a:lnTo>
                  <a:lnTo>
                    <a:pt x="74312" y="9560"/>
                  </a:lnTo>
                  <a:lnTo>
                    <a:pt x="35639" y="35634"/>
                  </a:lnTo>
                  <a:lnTo>
                    <a:pt x="9562" y="74307"/>
                  </a:lnTo>
                  <a:lnTo>
                    <a:pt x="0" y="121665"/>
                  </a:lnTo>
                  <a:lnTo>
                    <a:pt x="0" y="608329"/>
                  </a:lnTo>
                  <a:lnTo>
                    <a:pt x="9562" y="655688"/>
                  </a:lnTo>
                  <a:lnTo>
                    <a:pt x="35639" y="694361"/>
                  </a:lnTo>
                  <a:lnTo>
                    <a:pt x="74312" y="720435"/>
                  </a:lnTo>
                  <a:lnTo>
                    <a:pt x="121665" y="729995"/>
                  </a:lnTo>
                  <a:lnTo>
                    <a:pt x="1914398" y="729995"/>
                  </a:lnTo>
                  <a:lnTo>
                    <a:pt x="1961751" y="720435"/>
                  </a:lnTo>
                  <a:lnTo>
                    <a:pt x="2000424" y="694361"/>
                  </a:lnTo>
                  <a:lnTo>
                    <a:pt x="2026501" y="655688"/>
                  </a:lnTo>
                  <a:lnTo>
                    <a:pt x="2036064" y="608329"/>
                  </a:lnTo>
                  <a:lnTo>
                    <a:pt x="2036064" y="121665"/>
                  </a:lnTo>
                  <a:lnTo>
                    <a:pt x="2026501" y="74307"/>
                  </a:lnTo>
                  <a:lnTo>
                    <a:pt x="2000424" y="35634"/>
                  </a:lnTo>
                  <a:lnTo>
                    <a:pt x="1961751" y="9560"/>
                  </a:lnTo>
                  <a:lnTo>
                    <a:pt x="19143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23">
              <a:extLst>
                <a:ext uri="{FF2B5EF4-FFF2-40B4-BE49-F238E27FC236}">
                  <a16:creationId xmlns:a16="http://schemas.microsoft.com/office/drawing/2014/main" id="{E4B15152-BD37-4AB0-A0BA-29B0E96019B0}"/>
                </a:ext>
              </a:extLst>
            </p:cNvPr>
            <p:cNvSpPr/>
            <p:nvPr/>
          </p:nvSpPr>
          <p:spPr>
            <a:xfrm>
              <a:off x="5903975" y="5774435"/>
              <a:ext cx="2036445" cy="730250"/>
            </a:xfrm>
            <a:custGeom>
              <a:avLst/>
              <a:gdLst/>
              <a:ahLst/>
              <a:cxnLst/>
              <a:rect l="l" t="t" r="r" b="b"/>
              <a:pathLst>
                <a:path w="2036445" h="730250">
                  <a:moveTo>
                    <a:pt x="0" y="121665"/>
                  </a:moveTo>
                  <a:lnTo>
                    <a:pt x="9562" y="74307"/>
                  </a:lnTo>
                  <a:lnTo>
                    <a:pt x="35639" y="35634"/>
                  </a:lnTo>
                  <a:lnTo>
                    <a:pt x="74312" y="9560"/>
                  </a:lnTo>
                  <a:lnTo>
                    <a:pt x="121665" y="0"/>
                  </a:lnTo>
                  <a:lnTo>
                    <a:pt x="1914398" y="0"/>
                  </a:lnTo>
                  <a:lnTo>
                    <a:pt x="1961751" y="9560"/>
                  </a:lnTo>
                  <a:lnTo>
                    <a:pt x="2000424" y="35634"/>
                  </a:lnTo>
                  <a:lnTo>
                    <a:pt x="2026501" y="74307"/>
                  </a:lnTo>
                  <a:lnTo>
                    <a:pt x="2036064" y="121665"/>
                  </a:lnTo>
                  <a:lnTo>
                    <a:pt x="2036064" y="608329"/>
                  </a:lnTo>
                  <a:lnTo>
                    <a:pt x="2026501" y="655688"/>
                  </a:lnTo>
                  <a:lnTo>
                    <a:pt x="2000424" y="694361"/>
                  </a:lnTo>
                  <a:lnTo>
                    <a:pt x="1961751" y="720435"/>
                  </a:lnTo>
                  <a:lnTo>
                    <a:pt x="1914398" y="729995"/>
                  </a:lnTo>
                  <a:lnTo>
                    <a:pt x="121665" y="729995"/>
                  </a:lnTo>
                  <a:lnTo>
                    <a:pt x="74312" y="720435"/>
                  </a:lnTo>
                  <a:lnTo>
                    <a:pt x="35639" y="694361"/>
                  </a:lnTo>
                  <a:lnTo>
                    <a:pt x="9562" y="655688"/>
                  </a:lnTo>
                  <a:lnTo>
                    <a:pt x="0" y="608329"/>
                  </a:lnTo>
                  <a:lnTo>
                    <a:pt x="0" y="121665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24">
              <a:extLst>
                <a:ext uri="{FF2B5EF4-FFF2-40B4-BE49-F238E27FC236}">
                  <a16:creationId xmlns:a16="http://schemas.microsoft.com/office/drawing/2014/main" id="{BE352EFF-272D-4A78-A719-FF33A24D7C6E}"/>
                </a:ext>
              </a:extLst>
            </p:cNvPr>
            <p:cNvSpPr/>
            <p:nvPr/>
          </p:nvSpPr>
          <p:spPr>
            <a:xfrm>
              <a:off x="5903975" y="4472939"/>
              <a:ext cx="2036445" cy="504825"/>
            </a:xfrm>
            <a:custGeom>
              <a:avLst/>
              <a:gdLst/>
              <a:ahLst/>
              <a:cxnLst/>
              <a:rect l="l" t="t" r="r" b="b"/>
              <a:pathLst>
                <a:path w="2036445" h="504825">
                  <a:moveTo>
                    <a:pt x="1951990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4"/>
                  </a:lnTo>
                  <a:lnTo>
                    <a:pt x="0" y="420370"/>
                  </a:lnTo>
                  <a:lnTo>
                    <a:pt x="6600" y="453116"/>
                  </a:lnTo>
                  <a:lnTo>
                    <a:pt x="24606" y="479837"/>
                  </a:lnTo>
                  <a:lnTo>
                    <a:pt x="51327" y="497843"/>
                  </a:lnTo>
                  <a:lnTo>
                    <a:pt x="84074" y="504444"/>
                  </a:lnTo>
                  <a:lnTo>
                    <a:pt x="1951990" y="504444"/>
                  </a:lnTo>
                  <a:lnTo>
                    <a:pt x="1984736" y="497843"/>
                  </a:lnTo>
                  <a:lnTo>
                    <a:pt x="2011457" y="479837"/>
                  </a:lnTo>
                  <a:lnTo>
                    <a:pt x="2029463" y="453116"/>
                  </a:lnTo>
                  <a:lnTo>
                    <a:pt x="2036064" y="420370"/>
                  </a:lnTo>
                  <a:lnTo>
                    <a:pt x="2036064" y="84074"/>
                  </a:lnTo>
                  <a:lnTo>
                    <a:pt x="2029463" y="51327"/>
                  </a:lnTo>
                  <a:lnTo>
                    <a:pt x="2011457" y="24606"/>
                  </a:lnTo>
                  <a:lnTo>
                    <a:pt x="1984736" y="6600"/>
                  </a:lnTo>
                  <a:lnTo>
                    <a:pt x="195199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25">
              <a:extLst>
                <a:ext uri="{FF2B5EF4-FFF2-40B4-BE49-F238E27FC236}">
                  <a16:creationId xmlns:a16="http://schemas.microsoft.com/office/drawing/2014/main" id="{DDB3A732-A8F1-4969-B34C-BEA0F2082B97}"/>
                </a:ext>
              </a:extLst>
            </p:cNvPr>
            <p:cNvSpPr/>
            <p:nvPr/>
          </p:nvSpPr>
          <p:spPr>
            <a:xfrm>
              <a:off x="5903975" y="4472939"/>
              <a:ext cx="2036445" cy="504825"/>
            </a:xfrm>
            <a:custGeom>
              <a:avLst/>
              <a:gdLst/>
              <a:ahLst/>
              <a:cxnLst/>
              <a:rect l="l" t="t" r="r" b="b"/>
              <a:pathLst>
                <a:path w="2036445" h="504825">
                  <a:moveTo>
                    <a:pt x="0" y="84074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1951990" y="0"/>
                  </a:lnTo>
                  <a:lnTo>
                    <a:pt x="1984736" y="6600"/>
                  </a:lnTo>
                  <a:lnTo>
                    <a:pt x="2011457" y="24606"/>
                  </a:lnTo>
                  <a:lnTo>
                    <a:pt x="2029463" y="51327"/>
                  </a:lnTo>
                  <a:lnTo>
                    <a:pt x="2036064" y="84074"/>
                  </a:lnTo>
                  <a:lnTo>
                    <a:pt x="2036064" y="420370"/>
                  </a:lnTo>
                  <a:lnTo>
                    <a:pt x="2029463" y="453116"/>
                  </a:lnTo>
                  <a:lnTo>
                    <a:pt x="2011457" y="479837"/>
                  </a:lnTo>
                  <a:lnTo>
                    <a:pt x="1984736" y="497843"/>
                  </a:lnTo>
                  <a:lnTo>
                    <a:pt x="1951990" y="504444"/>
                  </a:lnTo>
                  <a:lnTo>
                    <a:pt x="84074" y="504444"/>
                  </a:lnTo>
                  <a:lnTo>
                    <a:pt x="51327" y="497843"/>
                  </a:lnTo>
                  <a:lnTo>
                    <a:pt x="24606" y="479837"/>
                  </a:lnTo>
                  <a:lnTo>
                    <a:pt x="6600" y="453116"/>
                  </a:lnTo>
                  <a:lnTo>
                    <a:pt x="0" y="420370"/>
                  </a:lnTo>
                  <a:lnTo>
                    <a:pt x="0" y="84074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26">
            <a:extLst>
              <a:ext uri="{FF2B5EF4-FFF2-40B4-BE49-F238E27FC236}">
                <a16:creationId xmlns:a16="http://schemas.microsoft.com/office/drawing/2014/main" id="{CED5F4F3-3A92-4652-AEC2-F143AFD9FB3B}"/>
              </a:ext>
            </a:extLst>
          </p:cNvPr>
          <p:cNvSpPr txBox="1"/>
          <p:nvPr/>
        </p:nvSpPr>
        <p:spPr>
          <a:xfrm>
            <a:off x="7840451" y="4366259"/>
            <a:ext cx="2365375" cy="2133276"/>
          </a:xfrm>
          <a:prstGeom prst="rect">
            <a:avLst/>
          </a:prstGeom>
          <a:noFill/>
          <a:ln w="12192">
            <a:solidFill>
              <a:srgbClr val="787878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680720">
              <a:spcBef>
                <a:spcPts val="1235"/>
              </a:spcBef>
            </a:pPr>
            <a:r>
              <a:rPr sz="2400" spc="-20" dirty="0">
                <a:solidFill>
                  <a:srgbClr val="FFFFFF"/>
                </a:solidFill>
                <a:latin typeface="Carlito"/>
                <a:cs typeface="Carlito"/>
              </a:rPr>
              <a:t>Key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pair</a:t>
            </a:r>
            <a:endParaRPr sz="2400" dirty="0">
              <a:latin typeface="Carlito"/>
              <a:cs typeface="Carlito"/>
            </a:endParaRPr>
          </a:p>
          <a:p>
            <a:pPr>
              <a:spcBef>
                <a:spcPts val="5"/>
              </a:spcBef>
            </a:pPr>
            <a:endParaRPr sz="1900" dirty="0">
              <a:latin typeface="Carlito"/>
              <a:cs typeface="Carlito"/>
            </a:endParaRPr>
          </a:p>
          <a:p>
            <a:pPr marL="737870" indent="-136525"/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Database</a:t>
            </a:r>
            <a:endParaRPr sz="2400" dirty="0">
              <a:latin typeface="Carlito"/>
              <a:cs typeface="Carlito"/>
            </a:endParaRPr>
          </a:p>
          <a:p>
            <a:pPr marL="742315" marR="739775" indent="-5080">
              <a:spcBef>
                <a:spcPts val="1614"/>
              </a:spcBef>
            </a:pP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Pri</a:t>
            </a:r>
            <a:r>
              <a:rPr sz="2400" spc="-45" dirty="0">
                <a:solidFill>
                  <a:srgbClr val="FFFFFF"/>
                </a:solidFill>
                <a:latin typeface="Carlito"/>
                <a:cs typeface="Carlito"/>
              </a:rPr>
              <a:t>v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acy  </a:t>
            </a:r>
            <a:r>
              <a:rPr sz="2400" spc="-5" dirty="0">
                <a:solidFill>
                  <a:srgbClr val="FFFFFF"/>
                </a:solidFill>
                <a:latin typeface="Carlito"/>
                <a:cs typeface="Carlito"/>
              </a:rPr>
              <a:t>bud</a:t>
            </a:r>
            <a:r>
              <a:rPr sz="2400" spc="-35" dirty="0">
                <a:solidFill>
                  <a:srgbClr val="FFFFFF"/>
                </a:solidFill>
                <a:latin typeface="Carlito"/>
                <a:cs typeface="Carlito"/>
              </a:rPr>
              <a:t>g</a:t>
            </a:r>
            <a:r>
              <a:rPr sz="2400" spc="-10" dirty="0">
                <a:solidFill>
                  <a:srgbClr val="FFFFFF"/>
                </a:solidFill>
                <a:latin typeface="Carlito"/>
                <a:cs typeface="Carlito"/>
              </a:rPr>
              <a:t>e</a:t>
            </a:r>
            <a:r>
              <a:rPr sz="240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endParaRPr sz="2400" dirty="0">
              <a:latin typeface="Carlito"/>
              <a:cs typeface="Carlito"/>
            </a:endParaRPr>
          </a:p>
        </p:txBody>
      </p:sp>
      <p:grpSp>
        <p:nvGrpSpPr>
          <p:cNvPr id="74" name="object 27">
            <a:extLst>
              <a:ext uri="{FF2B5EF4-FFF2-40B4-BE49-F238E27FC236}">
                <a16:creationId xmlns:a16="http://schemas.microsoft.com/office/drawing/2014/main" id="{42D16037-A795-49B6-BCD0-47FCD03D5E09}"/>
              </a:ext>
            </a:extLst>
          </p:cNvPr>
          <p:cNvGrpSpPr/>
          <p:nvPr/>
        </p:nvGrpSpPr>
        <p:grpSpPr>
          <a:xfrm>
            <a:off x="828363" y="1029127"/>
            <a:ext cx="3618763" cy="640079"/>
            <a:chOff x="765810" y="1022603"/>
            <a:chExt cx="2631185" cy="640079"/>
          </a:xfrm>
        </p:grpSpPr>
        <p:sp>
          <p:nvSpPr>
            <p:cNvPr id="76" name="object 29">
              <a:extLst>
                <a:ext uri="{FF2B5EF4-FFF2-40B4-BE49-F238E27FC236}">
                  <a16:creationId xmlns:a16="http://schemas.microsoft.com/office/drawing/2014/main" id="{C1C17DD7-738D-4641-96C5-238BC90CA3FD}"/>
                </a:ext>
              </a:extLst>
            </p:cNvPr>
            <p:cNvSpPr/>
            <p:nvPr/>
          </p:nvSpPr>
          <p:spPr>
            <a:xfrm>
              <a:off x="979931" y="1022603"/>
              <a:ext cx="2417064" cy="64007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30">
              <a:extLst>
                <a:ext uri="{FF2B5EF4-FFF2-40B4-BE49-F238E27FC236}">
                  <a16:creationId xmlns:a16="http://schemas.microsoft.com/office/drawing/2014/main" id="{EE260DD7-C8ED-440B-82AD-F0444839BBD8}"/>
                </a:ext>
              </a:extLst>
            </p:cNvPr>
            <p:cNvSpPr/>
            <p:nvPr/>
          </p:nvSpPr>
          <p:spPr>
            <a:xfrm>
              <a:off x="765810" y="1052321"/>
              <a:ext cx="2631185" cy="451484"/>
            </a:xfrm>
            <a:custGeom>
              <a:avLst/>
              <a:gdLst/>
              <a:ahLst/>
              <a:cxnLst/>
              <a:rect l="l" t="t" r="r" b="b"/>
              <a:pathLst>
                <a:path w="2794000" h="451484">
                  <a:moveTo>
                    <a:pt x="2718307" y="0"/>
                  </a:moveTo>
                  <a:lnTo>
                    <a:pt x="75184" y="0"/>
                  </a:lnTo>
                  <a:lnTo>
                    <a:pt x="45916" y="5907"/>
                  </a:lnTo>
                  <a:lnTo>
                    <a:pt x="22018" y="22018"/>
                  </a:lnTo>
                  <a:lnTo>
                    <a:pt x="5907" y="45916"/>
                  </a:lnTo>
                  <a:lnTo>
                    <a:pt x="0" y="75183"/>
                  </a:lnTo>
                  <a:lnTo>
                    <a:pt x="0" y="375919"/>
                  </a:lnTo>
                  <a:lnTo>
                    <a:pt x="5907" y="405187"/>
                  </a:lnTo>
                  <a:lnTo>
                    <a:pt x="22018" y="429085"/>
                  </a:lnTo>
                  <a:lnTo>
                    <a:pt x="45916" y="445196"/>
                  </a:lnTo>
                  <a:lnTo>
                    <a:pt x="75184" y="451103"/>
                  </a:lnTo>
                  <a:lnTo>
                    <a:pt x="2718307" y="451103"/>
                  </a:lnTo>
                  <a:lnTo>
                    <a:pt x="2747575" y="445196"/>
                  </a:lnTo>
                  <a:lnTo>
                    <a:pt x="2771473" y="429085"/>
                  </a:lnTo>
                  <a:lnTo>
                    <a:pt x="2787584" y="405187"/>
                  </a:lnTo>
                  <a:lnTo>
                    <a:pt x="2793491" y="375919"/>
                  </a:lnTo>
                  <a:lnTo>
                    <a:pt x="2793491" y="75183"/>
                  </a:lnTo>
                  <a:lnTo>
                    <a:pt x="2787584" y="45916"/>
                  </a:lnTo>
                  <a:lnTo>
                    <a:pt x="2771473" y="22018"/>
                  </a:lnTo>
                  <a:lnTo>
                    <a:pt x="2747575" y="5907"/>
                  </a:lnTo>
                  <a:lnTo>
                    <a:pt x="2718307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9" name="object 32">
            <a:extLst>
              <a:ext uri="{FF2B5EF4-FFF2-40B4-BE49-F238E27FC236}">
                <a16:creationId xmlns:a16="http://schemas.microsoft.com/office/drawing/2014/main" id="{326289B3-F300-456C-983D-288ACFA29320}"/>
              </a:ext>
            </a:extLst>
          </p:cNvPr>
          <p:cNvSpPr txBox="1"/>
          <p:nvPr/>
        </p:nvSpPr>
        <p:spPr>
          <a:xfrm>
            <a:off x="1579552" y="1096138"/>
            <a:ext cx="3121022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Carlito"/>
                <a:cs typeface="Carlito"/>
              </a:rPr>
              <a:t>Password</a:t>
            </a:r>
            <a:r>
              <a:rPr sz="20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Protector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80" name="object 33">
            <a:extLst>
              <a:ext uri="{FF2B5EF4-FFF2-40B4-BE49-F238E27FC236}">
                <a16:creationId xmlns:a16="http://schemas.microsoft.com/office/drawing/2014/main" id="{D399E253-F0E6-4D95-9FAE-18D2DC3A0F05}"/>
              </a:ext>
            </a:extLst>
          </p:cNvPr>
          <p:cNvSpPr txBox="1"/>
          <p:nvPr/>
        </p:nvSpPr>
        <p:spPr>
          <a:xfrm>
            <a:off x="7267956" y="1056383"/>
            <a:ext cx="30403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No</a:t>
            </a:r>
            <a:r>
              <a:rPr sz="2000" spc="-2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2000" spc="5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2000" dirty="0">
                <a:solidFill>
                  <a:srgbClr val="FFFFFF"/>
                </a:solidFill>
                <a:latin typeface="Carlito"/>
                <a:cs typeface="Carlito"/>
              </a:rPr>
              <a:t>y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81" name="object 34">
            <a:extLst>
              <a:ext uri="{FF2B5EF4-FFF2-40B4-BE49-F238E27FC236}">
                <a16:creationId xmlns:a16="http://schemas.microsoft.com/office/drawing/2014/main" id="{BD793AAE-B470-41EC-81F6-EB1440D1FE30}"/>
              </a:ext>
            </a:extLst>
          </p:cNvPr>
          <p:cNvGrpSpPr/>
          <p:nvPr/>
        </p:nvGrpSpPr>
        <p:grpSpPr>
          <a:xfrm>
            <a:off x="814598" y="3610234"/>
            <a:ext cx="3356863" cy="2903020"/>
            <a:chOff x="627126" y="3610250"/>
            <a:chExt cx="3356863" cy="2903020"/>
          </a:xfrm>
        </p:grpSpPr>
        <p:sp>
          <p:nvSpPr>
            <p:cNvPr id="84" name="object 37">
              <a:extLst>
                <a:ext uri="{FF2B5EF4-FFF2-40B4-BE49-F238E27FC236}">
                  <a16:creationId xmlns:a16="http://schemas.microsoft.com/office/drawing/2014/main" id="{43EFEF05-53D5-46B8-8822-2A7FD347B960}"/>
                </a:ext>
              </a:extLst>
            </p:cNvPr>
            <p:cNvSpPr/>
            <p:nvPr/>
          </p:nvSpPr>
          <p:spPr>
            <a:xfrm>
              <a:off x="765810" y="3610250"/>
              <a:ext cx="3125738" cy="444731"/>
            </a:xfrm>
            <a:custGeom>
              <a:avLst/>
              <a:gdLst/>
              <a:ahLst/>
              <a:cxnLst/>
              <a:rect l="l" t="t" r="r" b="b"/>
              <a:pathLst>
                <a:path w="2794000" h="451485">
                  <a:moveTo>
                    <a:pt x="2718307" y="0"/>
                  </a:moveTo>
                  <a:lnTo>
                    <a:pt x="75184" y="0"/>
                  </a:lnTo>
                  <a:lnTo>
                    <a:pt x="45916" y="5907"/>
                  </a:lnTo>
                  <a:lnTo>
                    <a:pt x="22018" y="22018"/>
                  </a:lnTo>
                  <a:lnTo>
                    <a:pt x="5907" y="45916"/>
                  </a:lnTo>
                  <a:lnTo>
                    <a:pt x="0" y="75183"/>
                  </a:lnTo>
                  <a:lnTo>
                    <a:pt x="0" y="375919"/>
                  </a:lnTo>
                  <a:lnTo>
                    <a:pt x="5907" y="405187"/>
                  </a:lnTo>
                  <a:lnTo>
                    <a:pt x="22018" y="429085"/>
                  </a:lnTo>
                  <a:lnTo>
                    <a:pt x="45916" y="445196"/>
                  </a:lnTo>
                  <a:lnTo>
                    <a:pt x="75184" y="451103"/>
                  </a:lnTo>
                  <a:lnTo>
                    <a:pt x="2718307" y="451103"/>
                  </a:lnTo>
                  <a:lnTo>
                    <a:pt x="2747575" y="445196"/>
                  </a:lnTo>
                  <a:lnTo>
                    <a:pt x="2771473" y="429085"/>
                  </a:lnTo>
                  <a:lnTo>
                    <a:pt x="2787584" y="405187"/>
                  </a:lnTo>
                  <a:lnTo>
                    <a:pt x="2793491" y="375919"/>
                  </a:lnTo>
                  <a:lnTo>
                    <a:pt x="2793491" y="75183"/>
                  </a:lnTo>
                  <a:lnTo>
                    <a:pt x="2787584" y="45916"/>
                  </a:lnTo>
                  <a:lnTo>
                    <a:pt x="2771473" y="22018"/>
                  </a:lnTo>
                  <a:lnTo>
                    <a:pt x="2747575" y="5907"/>
                  </a:lnTo>
                  <a:lnTo>
                    <a:pt x="2718307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6" name="object 39">
              <a:extLst>
                <a:ext uri="{FF2B5EF4-FFF2-40B4-BE49-F238E27FC236}">
                  <a16:creationId xmlns:a16="http://schemas.microsoft.com/office/drawing/2014/main" id="{F388AC9F-E2B1-496A-B53B-67724F33A62F}"/>
                </a:ext>
              </a:extLst>
            </p:cNvPr>
            <p:cNvSpPr/>
            <p:nvPr/>
          </p:nvSpPr>
          <p:spPr>
            <a:xfrm>
              <a:off x="1003998" y="4202569"/>
              <a:ext cx="1277048" cy="13329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40">
              <a:extLst>
                <a:ext uri="{FF2B5EF4-FFF2-40B4-BE49-F238E27FC236}">
                  <a16:creationId xmlns:a16="http://schemas.microsoft.com/office/drawing/2014/main" id="{0F130085-8EFF-4F65-98A6-5E5A80886EBC}"/>
                </a:ext>
              </a:extLst>
            </p:cNvPr>
            <p:cNvSpPr/>
            <p:nvPr/>
          </p:nvSpPr>
          <p:spPr>
            <a:xfrm>
              <a:off x="627126" y="4528565"/>
              <a:ext cx="989330" cy="489584"/>
            </a:xfrm>
            <a:custGeom>
              <a:avLst/>
              <a:gdLst/>
              <a:ahLst/>
              <a:cxnLst/>
              <a:rect l="l" t="t" r="r" b="b"/>
              <a:pathLst>
                <a:path w="989330" h="489585">
                  <a:moveTo>
                    <a:pt x="989076" y="0"/>
                  </a:moveTo>
                  <a:lnTo>
                    <a:pt x="0" y="0"/>
                  </a:lnTo>
                  <a:lnTo>
                    <a:pt x="0" y="489204"/>
                  </a:lnTo>
                  <a:lnTo>
                    <a:pt x="989076" y="489204"/>
                  </a:lnTo>
                  <a:lnTo>
                    <a:pt x="989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41">
              <a:extLst>
                <a:ext uri="{FF2B5EF4-FFF2-40B4-BE49-F238E27FC236}">
                  <a16:creationId xmlns:a16="http://schemas.microsoft.com/office/drawing/2014/main" id="{CD36DC84-127A-4C69-9AFB-131AC3E4312A}"/>
                </a:ext>
              </a:extLst>
            </p:cNvPr>
            <p:cNvSpPr/>
            <p:nvPr/>
          </p:nvSpPr>
          <p:spPr>
            <a:xfrm>
              <a:off x="627126" y="4528565"/>
              <a:ext cx="989330" cy="489584"/>
            </a:xfrm>
            <a:custGeom>
              <a:avLst/>
              <a:gdLst/>
              <a:ahLst/>
              <a:cxnLst/>
              <a:rect l="l" t="t" r="r" b="b"/>
              <a:pathLst>
                <a:path w="989330" h="489585">
                  <a:moveTo>
                    <a:pt x="0" y="489204"/>
                  </a:moveTo>
                  <a:lnTo>
                    <a:pt x="989076" y="489204"/>
                  </a:lnTo>
                  <a:lnTo>
                    <a:pt x="989076" y="0"/>
                  </a:lnTo>
                  <a:lnTo>
                    <a:pt x="0" y="0"/>
                  </a:lnTo>
                  <a:lnTo>
                    <a:pt x="0" y="48920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42">
              <a:extLst>
                <a:ext uri="{FF2B5EF4-FFF2-40B4-BE49-F238E27FC236}">
                  <a16:creationId xmlns:a16="http://schemas.microsoft.com/office/drawing/2014/main" id="{DEC8510E-6210-4728-A680-CAA2F0FC9116}"/>
                </a:ext>
              </a:extLst>
            </p:cNvPr>
            <p:cNvSpPr/>
            <p:nvPr/>
          </p:nvSpPr>
          <p:spPr>
            <a:xfrm>
              <a:off x="914696" y="4606162"/>
              <a:ext cx="238125" cy="33337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43">
              <a:extLst>
                <a:ext uri="{FF2B5EF4-FFF2-40B4-BE49-F238E27FC236}">
                  <a16:creationId xmlns:a16="http://schemas.microsoft.com/office/drawing/2014/main" id="{6EE4FFDA-32AE-4016-9601-F6E346DC7B3A}"/>
                </a:ext>
              </a:extLst>
            </p:cNvPr>
            <p:cNvSpPr/>
            <p:nvPr/>
          </p:nvSpPr>
          <p:spPr>
            <a:xfrm>
              <a:off x="1334899" y="4606162"/>
              <a:ext cx="238125" cy="33337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44">
              <a:extLst>
                <a:ext uri="{FF2B5EF4-FFF2-40B4-BE49-F238E27FC236}">
                  <a16:creationId xmlns:a16="http://schemas.microsoft.com/office/drawing/2014/main" id="{4C75062A-46C7-4505-AEC6-796B56DE837E}"/>
                </a:ext>
              </a:extLst>
            </p:cNvPr>
            <p:cNvSpPr/>
            <p:nvPr/>
          </p:nvSpPr>
          <p:spPr>
            <a:xfrm>
              <a:off x="2668168" y="4202607"/>
              <a:ext cx="1291818" cy="134627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45">
              <a:extLst>
                <a:ext uri="{FF2B5EF4-FFF2-40B4-BE49-F238E27FC236}">
                  <a16:creationId xmlns:a16="http://schemas.microsoft.com/office/drawing/2014/main" id="{47419F96-8B57-48E6-B0B9-EE0E946F34DD}"/>
                </a:ext>
              </a:extLst>
            </p:cNvPr>
            <p:cNvSpPr/>
            <p:nvPr/>
          </p:nvSpPr>
          <p:spPr>
            <a:xfrm>
              <a:off x="2218181" y="4533137"/>
              <a:ext cx="988060" cy="489584"/>
            </a:xfrm>
            <a:custGeom>
              <a:avLst/>
              <a:gdLst/>
              <a:ahLst/>
              <a:cxnLst/>
              <a:rect l="l" t="t" r="r" b="b"/>
              <a:pathLst>
                <a:path w="988060" h="489585">
                  <a:moveTo>
                    <a:pt x="987552" y="0"/>
                  </a:moveTo>
                  <a:lnTo>
                    <a:pt x="0" y="0"/>
                  </a:lnTo>
                  <a:lnTo>
                    <a:pt x="0" y="489204"/>
                  </a:lnTo>
                  <a:lnTo>
                    <a:pt x="987552" y="489204"/>
                  </a:lnTo>
                  <a:lnTo>
                    <a:pt x="987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46">
              <a:extLst>
                <a:ext uri="{FF2B5EF4-FFF2-40B4-BE49-F238E27FC236}">
                  <a16:creationId xmlns:a16="http://schemas.microsoft.com/office/drawing/2014/main" id="{8FD02B4A-D62E-427F-9D44-16C494BE472C}"/>
                </a:ext>
              </a:extLst>
            </p:cNvPr>
            <p:cNvSpPr/>
            <p:nvPr/>
          </p:nvSpPr>
          <p:spPr>
            <a:xfrm>
              <a:off x="2218181" y="4533137"/>
              <a:ext cx="988060" cy="489584"/>
            </a:xfrm>
            <a:custGeom>
              <a:avLst/>
              <a:gdLst/>
              <a:ahLst/>
              <a:cxnLst/>
              <a:rect l="l" t="t" r="r" b="b"/>
              <a:pathLst>
                <a:path w="988060" h="489585">
                  <a:moveTo>
                    <a:pt x="0" y="489204"/>
                  </a:moveTo>
                  <a:lnTo>
                    <a:pt x="987552" y="489204"/>
                  </a:lnTo>
                  <a:lnTo>
                    <a:pt x="987552" y="0"/>
                  </a:lnTo>
                  <a:lnTo>
                    <a:pt x="0" y="0"/>
                  </a:lnTo>
                  <a:lnTo>
                    <a:pt x="0" y="48920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47">
              <a:extLst>
                <a:ext uri="{FF2B5EF4-FFF2-40B4-BE49-F238E27FC236}">
                  <a16:creationId xmlns:a16="http://schemas.microsoft.com/office/drawing/2014/main" id="{CF5EFD8E-BD38-4F2E-A5AF-10B79A03541E}"/>
                </a:ext>
              </a:extLst>
            </p:cNvPr>
            <p:cNvSpPr/>
            <p:nvPr/>
          </p:nvSpPr>
          <p:spPr>
            <a:xfrm>
              <a:off x="2742090" y="4610480"/>
              <a:ext cx="250825" cy="33337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48">
              <a:extLst>
                <a:ext uri="{FF2B5EF4-FFF2-40B4-BE49-F238E27FC236}">
                  <a16:creationId xmlns:a16="http://schemas.microsoft.com/office/drawing/2014/main" id="{F3487C09-32C7-43C4-ABAD-A7BBF5DB5375}"/>
                </a:ext>
              </a:extLst>
            </p:cNvPr>
            <p:cNvSpPr/>
            <p:nvPr/>
          </p:nvSpPr>
          <p:spPr>
            <a:xfrm>
              <a:off x="977442" y="5142204"/>
              <a:ext cx="1319352" cy="137106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49">
              <a:extLst>
                <a:ext uri="{FF2B5EF4-FFF2-40B4-BE49-F238E27FC236}">
                  <a16:creationId xmlns:a16="http://schemas.microsoft.com/office/drawing/2014/main" id="{66D80893-5C97-4B27-AFE0-6D8332103D6E}"/>
                </a:ext>
              </a:extLst>
            </p:cNvPr>
            <p:cNvSpPr/>
            <p:nvPr/>
          </p:nvSpPr>
          <p:spPr>
            <a:xfrm>
              <a:off x="627126" y="5473445"/>
              <a:ext cx="989330" cy="489584"/>
            </a:xfrm>
            <a:custGeom>
              <a:avLst/>
              <a:gdLst/>
              <a:ahLst/>
              <a:cxnLst/>
              <a:rect l="l" t="t" r="r" b="b"/>
              <a:pathLst>
                <a:path w="989330" h="489585">
                  <a:moveTo>
                    <a:pt x="989076" y="0"/>
                  </a:moveTo>
                  <a:lnTo>
                    <a:pt x="0" y="0"/>
                  </a:lnTo>
                  <a:lnTo>
                    <a:pt x="0" y="489203"/>
                  </a:lnTo>
                  <a:lnTo>
                    <a:pt x="989076" y="489203"/>
                  </a:lnTo>
                  <a:lnTo>
                    <a:pt x="9890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50">
              <a:extLst>
                <a:ext uri="{FF2B5EF4-FFF2-40B4-BE49-F238E27FC236}">
                  <a16:creationId xmlns:a16="http://schemas.microsoft.com/office/drawing/2014/main" id="{2A0F038C-7685-4D06-B17D-03F6299A9CF5}"/>
                </a:ext>
              </a:extLst>
            </p:cNvPr>
            <p:cNvSpPr/>
            <p:nvPr/>
          </p:nvSpPr>
          <p:spPr>
            <a:xfrm>
              <a:off x="627126" y="5473445"/>
              <a:ext cx="989330" cy="489584"/>
            </a:xfrm>
            <a:custGeom>
              <a:avLst/>
              <a:gdLst/>
              <a:ahLst/>
              <a:cxnLst/>
              <a:rect l="l" t="t" r="r" b="b"/>
              <a:pathLst>
                <a:path w="989330" h="489585">
                  <a:moveTo>
                    <a:pt x="0" y="489203"/>
                  </a:moveTo>
                  <a:lnTo>
                    <a:pt x="989076" y="489203"/>
                  </a:lnTo>
                  <a:lnTo>
                    <a:pt x="989076" y="0"/>
                  </a:lnTo>
                  <a:lnTo>
                    <a:pt x="0" y="0"/>
                  </a:lnTo>
                  <a:lnTo>
                    <a:pt x="0" y="48920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51">
              <a:extLst>
                <a:ext uri="{FF2B5EF4-FFF2-40B4-BE49-F238E27FC236}">
                  <a16:creationId xmlns:a16="http://schemas.microsoft.com/office/drawing/2014/main" id="{EFC86829-198A-4C72-85CD-57AF9015EF10}"/>
                </a:ext>
              </a:extLst>
            </p:cNvPr>
            <p:cNvSpPr/>
            <p:nvPr/>
          </p:nvSpPr>
          <p:spPr>
            <a:xfrm>
              <a:off x="905692" y="5551398"/>
              <a:ext cx="250825" cy="33337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52">
              <a:extLst>
                <a:ext uri="{FF2B5EF4-FFF2-40B4-BE49-F238E27FC236}">
                  <a16:creationId xmlns:a16="http://schemas.microsoft.com/office/drawing/2014/main" id="{4E3C8C81-E056-45C3-999E-9B852C24555F}"/>
                </a:ext>
              </a:extLst>
            </p:cNvPr>
            <p:cNvSpPr/>
            <p:nvPr/>
          </p:nvSpPr>
          <p:spPr>
            <a:xfrm>
              <a:off x="2562783" y="5050523"/>
              <a:ext cx="1421206" cy="146274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0" name="object 53">
              <a:extLst>
                <a:ext uri="{FF2B5EF4-FFF2-40B4-BE49-F238E27FC236}">
                  <a16:creationId xmlns:a16="http://schemas.microsoft.com/office/drawing/2014/main" id="{A8923896-C623-4F0E-97F9-E63FBBD21AF9}"/>
                </a:ext>
              </a:extLst>
            </p:cNvPr>
            <p:cNvSpPr/>
            <p:nvPr/>
          </p:nvSpPr>
          <p:spPr>
            <a:xfrm>
              <a:off x="2218181" y="5473445"/>
              <a:ext cx="988060" cy="489584"/>
            </a:xfrm>
            <a:custGeom>
              <a:avLst/>
              <a:gdLst/>
              <a:ahLst/>
              <a:cxnLst/>
              <a:rect l="l" t="t" r="r" b="b"/>
              <a:pathLst>
                <a:path w="988060" h="489585">
                  <a:moveTo>
                    <a:pt x="987552" y="0"/>
                  </a:moveTo>
                  <a:lnTo>
                    <a:pt x="0" y="0"/>
                  </a:lnTo>
                  <a:lnTo>
                    <a:pt x="0" y="489203"/>
                  </a:lnTo>
                  <a:lnTo>
                    <a:pt x="987552" y="489203"/>
                  </a:lnTo>
                  <a:lnTo>
                    <a:pt x="987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54">
              <a:extLst>
                <a:ext uri="{FF2B5EF4-FFF2-40B4-BE49-F238E27FC236}">
                  <a16:creationId xmlns:a16="http://schemas.microsoft.com/office/drawing/2014/main" id="{3510A699-1163-4542-A238-460305817A33}"/>
                </a:ext>
              </a:extLst>
            </p:cNvPr>
            <p:cNvSpPr/>
            <p:nvPr/>
          </p:nvSpPr>
          <p:spPr>
            <a:xfrm>
              <a:off x="2218181" y="5473445"/>
              <a:ext cx="988060" cy="489584"/>
            </a:xfrm>
            <a:custGeom>
              <a:avLst/>
              <a:gdLst/>
              <a:ahLst/>
              <a:cxnLst/>
              <a:rect l="l" t="t" r="r" b="b"/>
              <a:pathLst>
                <a:path w="988060" h="489585">
                  <a:moveTo>
                    <a:pt x="0" y="489203"/>
                  </a:moveTo>
                  <a:lnTo>
                    <a:pt x="987552" y="489203"/>
                  </a:lnTo>
                  <a:lnTo>
                    <a:pt x="987552" y="0"/>
                  </a:lnTo>
                  <a:lnTo>
                    <a:pt x="0" y="0"/>
                  </a:lnTo>
                  <a:lnTo>
                    <a:pt x="0" y="489203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55">
            <a:extLst>
              <a:ext uri="{FF2B5EF4-FFF2-40B4-BE49-F238E27FC236}">
                <a16:creationId xmlns:a16="http://schemas.microsoft.com/office/drawing/2014/main" id="{2E08768F-25C7-46C7-84B5-79C89A56DF55}"/>
              </a:ext>
            </a:extLst>
          </p:cNvPr>
          <p:cNvSpPr txBox="1"/>
          <p:nvPr/>
        </p:nvSpPr>
        <p:spPr>
          <a:xfrm>
            <a:off x="870655" y="3647948"/>
            <a:ext cx="2552065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975">
              <a:spcBef>
                <a:spcPts val="100"/>
              </a:spcBef>
            </a:pPr>
            <a:r>
              <a:rPr sz="2000" spc="-25" dirty="0">
                <a:solidFill>
                  <a:srgbClr val="FFFFFF"/>
                </a:solidFill>
                <a:latin typeface="Carlito"/>
                <a:cs typeface="Carlito"/>
              </a:rPr>
              <a:t>Trusted</a:t>
            </a:r>
            <a:r>
              <a:rPr sz="2000" spc="-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Incrementer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spcBef>
                <a:spcPts val="1260"/>
              </a:spcBef>
              <a:tabLst>
                <a:tab pos="1590040" algn="l"/>
              </a:tabLst>
            </a:pPr>
            <a:r>
              <a:rPr sz="4000" i="1" spc="-360" dirty="0">
                <a:latin typeface="Arial"/>
                <a:cs typeface="Arial"/>
              </a:rPr>
              <a:t>0</a:t>
            </a:r>
            <a:r>
              <a:rPr sz="4000" i="1" spc="-720" dirty="0">
                <a:latin typeface="Arial"/>
                <a:cs typeface="Arial"/>
              </a:rPr>
              <a:t></a:t>
            </a:r>
            <a:r>
              <a:rPr sz="4000" i="1" spc="-830" dirty="0">
                <a:latin typeface="Arial"/>
                <a:cs typeface="Arial"/>
              </a:rPr>
              <a:t>7</a:t>
            </a:r>
            <a:r>
              <a:rPr sz="4000" i="1" dirty="0">
                <a:latin typeface="Arial"/>
                <a:cs typeface="Arial"/>
              </a:rPr>
              <a:t>	</a:t>
            </a:r>
            <a:r>
              <a:rPr sz="4000" i="1" spc="-640" dirty="0">
                <a:latin typeface="Arial"/>
                <a:cs typeface="Arial"/>
              </a:rPr>
              <a:t>00</a:t>
            </a:r>
            <a:r>
              <a:rPr sz="4000" i="1" spc="-1010" dirty="0">
                <a:latin typeface="Arial"/>
                <a:cs typeface="Arial"/>
              </a:rPr>
              <a:t></a:t>
            </a:r>
            <a:r>
              <a:rPr sz="4000" i="1" spc="-875" dirty="0">
                <a:latin typeface="Arial"/>
                <a:cs typeface="Arial"/>
              </a:rPr>
              <a:t>7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106" name="object 59">
            <a:extLst>
              <a:ext uri="{FF2B5EF4-FFF2-40B4-BE49-F238E27FC236}">
                <a16:creationId xmlns:a16="http://schemas.microsoft.com/office/drawing/2014/main" id="{9028572B-8E13-4F05-AB62-1362DB8CC7BF}"/>
              </a:ext>
            </a:extLst>
          </p:cNvPr>
          <p:cNvSpPr/>
          <p:nvPr/>
        </p:nvSpPr>
        <p:spPr>
          <a:xfrm>
            <a:off x="6776592" y="3703861"/>
            <a:ext cx="3920938" cy="424802"/>
          </a:xfrm>
          <a:custGeom>
            <a:avLst/>
            <a:gdLst/>
            <a:ahLst/>
            <a:cxnLst/>
            <a:rect l="l" t="t" r="r" b="b"/>
            <a:pathLst>
              <a:path w="2794000" h="451485">
                <a:moveTo>
                  <a:pt x="2718308" y="0"/>
                </a:moveTo>
                <a:lnTo>
                  <a:pt x="75184" y="0"/>
                </a:lnTo>
                <a:lnTo>
                  <a:pt x="45916" y="5907"/>
                </a:lnTo>
                <a:lnTo>
                  <a:pt x="22018" y="22018"/>
                </a:lnTo>
                <a:lnTo>
                  <a:pt x="5907" y="45916"/>
                </a:lnTo>
                <a:lnTo>
                  <a:pt x="0" y="75183"/>
                </a:lnTo>
                <a:lnTo>
                  <a:pt x="0" y="375919"/>
                </a:lnTo>
                <a:lnTo>
                  <a:pt x="5907" y="405187"/>
                </a:lnTo>
                <a:lnTo>
                  <a:pt x="22018" y="429085"/>
                </a:lnTo>
                <a:lnTo>
                  <a:pt x="45916" y="445196"/>
                </a:lnTo>
                <a:lnTo>
                  <a:pt x="75184" y="451103"/>
                </a:lnTo>
                <a:lnTo>
                  <a:pt x="2718308" y="451103"/>
                </a:lnTo>
                <a:lnTo>
                  <a:pt x="2747575" y="445196"/>
                </a:lnTo>
                <a:lnTo>
                  <a:pt x="2771473" y="429085"/>
                </a:lnTo>
                <a:lnTo>
                  <a:pt x="2787584" y="405187"/>
                </a:lnTo>
                <a:lnTo>
                  <a:pt x="2793491" y="375919"/>
                </a:lnTo>
                <a:lnTo>
                  <a:pt x="2793491" y="75183"/>
                </a:lnTo>
                <a:lnTo>
                  <a:pt x="2787584" y="45916"/>
                </a:lnTo>
                <a:lnTo>
                  <a:pt x="2771473" y="22018"/>
                </a:lnTo>
                <a:lnTo>
                  <a:pt x="2747575" y="5907"/>
                </a:lnTo>
                <a:lnTo>
                  <a:pt x="271830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8" name="object 61">
            <a:extLst>
              <a:ext uri="{FF2B5EF4-FFF2-40B4-BE49-F238E27FC236}">
                <a16:creationId xmlns:a16="http://schemas.microsoft.com/office/drawing/2014/main" id="{3BD6E01D-8082-42C5-929A-1B5D634EAF58}"/>
              </a:ext>
            </a:extLst>
          </p:cNvPr>
          <p:cNvSpPr txBox="1"/>
          <p:nvPr/>
        </p:nvSpPr>
        <p:spPr>
          <a:xfrm>
            <a:off x="7243453" y="3752833"/>
            <a:ext cx="325703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Differentially </a:t>
            </a:r>
            <a:r>
              <a:rPr sz="2000" spc="-15" dirty="0">
                <a:solidFill>
                  <a:srgbClr val="FFFFFF"/>
                </a:solidFill>
                <a:latin typeface="Carlito"/>
                <a:cs typeface="Carlito"/>
              </a:rPr>
              <a:t>Private</a:t>
            </a:r>
            <a:r>
              <a:rPr sz="20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rlito"/>
                <a:cs typeface="Carlito"/>
              </a:rPr>
              <a:t>DB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109" name="object 62">
            <a:extLst>
              <a:ext uri="{FF2B5EF4-FFF2-40B4-BE49-F238E27FC236}">
                <a16:creationId xmlns:a16="http://schemas.microsoft.com/office/drawing/2014/main" id="{11809142-5C22-4247-A8EA-6A03C0AC705B}"/>
              </a:ext>
            </a:extLst>
          </p:cNvPr>
          <p:cNvSpPr txBox="1"/>
          <p:nvPr/>
        </p:nvSpPr>
        <p:spPr>
          <a:xfrm>
            <a:off x="1678866" y="1609421"/>
            <a:ext cx="1984017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Carlito"/>
                <a:cs typeface="Carlito"/>
              </a:rPr>
              <a:t>password</a:t>
            </a:r>
            <a:endParaRPr dirty="0">
              <a:latin typeface="Carlito"/>
              <a:cs typeface="Carlito"/>
            </a:endParaRPr>
          </a:p>
          <a:p>
            <a:pPr marL="12700">
              <a:spcBef>
                <a:spcPts val="5"/>
              </a:spcBef>
            </a:pPr>
            <a:r>
              <a:rPr spc="-5" dirty="0">
                <a:latin typeface="Carlito"/>
                <a:cs typeface="Carlito"/>
              </a:rPr>
              <a:t>123456</a:t>
            </a:r>
            <a:endParaRPr dirty="0">
              <a:latin typeface="Carlito"/>
              <a:cs typeface="Carlito"/>
            </a:endParaRPr>
          </a:p>
          <a:p>
            <a:pPr marL="12700"/>
            <a:r>
              <a:rPr spc="-5" dirty="0">
                <a:latin typeface="Carlito"/>
                <a:cs typeface="Carlito"/>
              </a:rPr>
              <a:t>123</a:t>
            </a:r>
            <a:r>
              <a:rPr lang="en-US" spc="-5" dirty="0">
                <a:latin typeface="Carlito"/>
                <a:cs typeface="Carlito"/>
              </a:rPr>
              <a:t>7378</a:t>
            </a:r>
            <a:r>
              <a:rPr spc="-5" dirty="0">
                <a:latin typeface="Carlito"/>
                <a:cs typeface="Carlito"/>
              </a:rPr>
              <a:t>45678</a:t>
            </a:r>
            <a:endParaRPr dirty="0">
              <a:latin typeface="Carlito"/>
              <a:cs typeface="Carlito"/>
            </a:endParaRPr>
          </a:p>
          <a:p>
            <a:pPr marL="12700" marR="195580" algn="just"/>
            <a:r>
              <a:rPr lang="en-US" dirty="0" err="1">
                <a:latin typeface="Carlito"/>
                <a:cs typeface="Carlito"/>
              </a:rPr>
              <a:t>jdsndcjd</a:t>
            </a:r>
            <a:endParaRPr lang="en-US" dirty="0">
              <a:latin typeface="Carlito"/>
              <a:cs typeface="Carlito"/>
            </a:endParaRPr>
          </a:p>
          <a:p>
            <a:pPr marL="12700" marR="195580" algn="just"/>
            <a:r>
              <a:rPr lang="en-US" dirty="0">
                <a:latin typeface="Carlito"/>
                <a:cs typeface="Carlito"/>
              </a:rPr>
              <a:t>ca</a:t>
            </a:r>
            <a:r>
              <a:rPr dirty="0">
                <a:latin typeface="Carlito"/>
                <a:cs typeface="Carlito"/>
              </a:rPr>
              <a:t> </a:t>
            </a:r>
            <a:r>
              <a:rPr lang="en-US" dirty="0" err="1">
                <a:latin typeface="Carlito"/>
                <a:cs typeface="Carlito"/>
              </a:rPr>
              <a:t>sfvsf</a:t>
            </a:r>
            <a:endParaRPr lang="en-US" dirty="0">
              <a:latin typeface="Carlito"/>
              <a:cs typeface="Carlito"/>
            </a:endParaRPr>
          </a:p>
          <a:p>
            <a:pPr marL="12700" marR="195580" algn="just"/>
            <a:r>
              <a:rPr dirty="0">
                <a:latin typeface="Carlito"/>
                <a:cs typeface="Carlito"/>
              </a:rPr>
              <a:t> </a:t>
            </a:r>
            <a:r>
              <a:rPr spc="-5" dirty="0" err="1">
                <a:latin typeface="Carlito"/>
                <a:cs typeface="Carlito"/>
              </a:rPr>
              <a:t>qw</a:t>
            </a:r>
            <a:r>
              <a:rPr lang="en-US" spc="-5" dirty="0" err="1">
                <a:latin typeface="Carlito"/>
                <a:cs typeface="Carlito"/>
              </a:rPr>
              <a:t>habka</a:t>
            </a:r>
            <a:r>
              <a:rPr spc="-5" dirty="0" err="1">
                <a:latin typeface="Carlito"/>
                <a:cs typeface="Carlito"/>
              </a:rPr>
              <a:t>erty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113" name="object 9">
            <a:extLst>
              <a:ext uri="{FF2B5EF4-FFF2-40B4-BE49-F238E27FC236}">
                <a16:creationId xmlns:a16="http://schemas.microsoft.com/office/drawing/2014/main" id="{F3144E0C-F565-4DF7-9707-60AA3608D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722" y="118231"/>
            <a:ext cx="6279453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1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Ironclad</a:t>
            </a:r>
            <a:r>
              <a:rPr spc="-409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4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Apps</a:t>
            </a:r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61D4038A-CC75-4EF7-B804-CA8643857D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30" y="1767499"/>
            <a:ext cx="1242962" cy="1213784"/>
          </a:xfrm>
          <a:prstGeom prst="rect">
            <a:avLst/>
          </a:prstGeom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6252B57D-8581-4C3C-AFFF-8E267A2116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264" y="1442494"/>
            <a:ext cx="2792561" cy="186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5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/>
      <p:bldP spid="73" grpId="0" animBg="1"/>
      <p:bldP spid="79" grpId="0"/>
      <p:bldP spid="80" grpId="0"/>
      <p:bldP spid="102" grpId="0"/>
      <p:bldP spid="106" grpId="0" animBg="1"/>
      <p:bldP spid="10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22BD53-47C5-43FF-9D3C-72AAA9277BA0}"/>
              </a:ext>
            </a:extLst>
          </p:cNvPr>
          <p:cNvSpPr/>
          <p:nvPr/>
        </p:nvSpPr>
        <p:spPr>
          <a:xfrm>
            <a:off x="667910" y="449249"/>
            <a:ext cx="10487770" cy="513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Experiences and Lessons Learned</a:t>
            </a:r>
          </a:p>
          <a:p>
            <a:pPr marL="12700">
              <a:spcBef>
                <a:spcPts val="105"/>
              </a:spcBef>
            </a:pPr>
            <a:endParaRPr lang="en-US" sz="2000" spc="-10" dirty="0">
              <a:latin typeface="Carlito"/>
              <a:cs typeface="Carlito"/>
            </a:endParaRPr>
          </a:p>
          <a:p>
            <a:pPr marL="12700">
              <a:spcBef>
                <a:spcPts val="105"/>
              </a:spcBef>
            </a:pP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Automated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≠</a:t>
            </a:r>
            <a:r>
              <a:rPr lang="en-US" sz="3200" spc="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Automatic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Verification automation varies by theory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Verification needs some manual control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Existing tools make simple specs difficult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Systems often use bounded integer types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Libraries should start with generality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Spec reviews are productive</a:t>
            </a:r>
          </a:p>
          <a:p>
            <a:pPr marL="298450" indent="-285750"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High-level tools have bugs</a:t>
            </a:r>
          </a:p>
        </p:txBody>
      </p:sp>
    </p:spTree>
    <p:extLst>
      <p:ext uri="{BB962C8B-B14F-4D97-AF65-F5344CB8AC3E}">
        <p14:creationId xmlns:p14="http://schemas.microsoft.com/office/powerpoint/2010/main" val="266210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0">
              <a:schemeClr val="tx2">
                <a:lumMod val="50000"/>
              </a:schemeClr>
            </a:gs>
            <a:gs pos="99000">
              <a:schemeClr val="accent4">
                <a:lumMod val="75000"/>
              </a:schemeClr>
            </a:gs>
            <a:gs pos="94000">
              <a:srgbClr val="AAC0A9"/>
            </a:gs>
            <a:gs pos="100000">
              <a:schemeClr val="tx2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861" y="49236"/>
            <a:ext cx="6989477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25" dirty="0"/>
              <a:t>Eval: </a:t>
            </a:r>
            <a:r>
              <a:rPr spc="-220" dirty="0"/>
              <a:t>System</a:t>
            </a:r>
            <a:r>
              <a:rPr spc="-450" dirty="0"/>
              <a:t> </a:t>
            </a:r>
            <a:r>
              <a:rPr spc="-265" dirty="0"/>
              <a:t>size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12"/>
          </p:nvPr>
        </p:nvSpPr>
        <p:spPr>
          <a:xfrm>
            <a:off x="13562011" y="6106367"/>
            <a:ext cx="753545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pPr marL="38100">
                <a:lnSpc>
                  <a:spcPts val="1240"/>
                </a:lnSpc>
              </a:pPr>
              <a:t>19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3252547" y="1004399"/>
            <a:ext cx="7113163" cy="5091700"/>
            <a:chOff x="3102864" y="1374007"/>
            <a:chExt cx="5353307" cy="4516507"/>
          </a:xfrm>
        </p:grpSpPr>
        <p:sp>
          <p:nvSpPr>
            <p:cNvPr id="4" name="object 4"/>
            <p:cNvSpPr/>
            <p:nvPr/>
          </p:nvSpPr>
          <p:spPr>
            <a:xfrm>
              <a:off x="4152900" y="3506724"/>
              <a:ext cx="1051560" cy="2383790"/>
            </a:xfrm>
            <a:custGeom>
              <a:avLst/>
              <a:gdLst/>
              <a:ahLst/>
              <a:cxnLst/>
              <a:rect l="l" t="t" r="r" b="b"/>
              <a:pathLst>
                <a:path w="1051560" h="2383790">
                  <a:moveTo>
                    <a:pt x="0" y="2270760"/>
                  </a:moveTo>
                  <a:lnTo>
                    <a:pt x="0" y="2383536"/>
                  </a:lnTo>
                </a:path>
                <a:path w="1051560" h="2383790">
                  <a:moveTo>
                    <a:pt x="0" y="1892808"/>
                  </a:moveTo>
                  <a:lnTo>
                    <a:pt x="0" y="2119884"/>
                  </a:lnTo>
                </a:path>
                <a:path w="1051560" h="2383790">
                  <a:moveTo>
                    <a:pt x="1051560" y="2270760"/>
                  </a:moveTo>
                  <a:lnTo>
                    <a:pt x="1051560" y="2383536"/>
                  </a:lnTo>
                </a:path>
                <a:path w="1051560" h="2383790">
                  <a:moveTo>
                    <a:pt x="1051560" y="0"/>
                  </a:moveTo>
                  <a:lnTo>
                    <a:pt x="1051560" y="2119884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02864" y="5626608"/>
              <a:ext cx="2813685" cy="151130"/>
            </a:xfrm>
            <a:custGeom>
              <a:avLst/>
              <a:gdLst/>
              <a:ahLst/>
              <a:cxnLst/>
              <a:rect l="l" t="t" r="r" b="b"/>
              <a:pathLst>
                <a:path w="2813685" h="151129">
                  <a:moveTo>
                    <a:pt x="2813304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2813304" y="150875"/>
                  </a:lnTo>
                  <a:lnTo>
                    <a:pt x="281330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52900" y="3506724"/>
              <a:ext cx="0" cy="1740535"/>
            </a:xfrm>
            <a:custGeom>
              <a:avLst/>
              <a:gdLst/>
              <a:ahLst/>
              <a:cxnLst/>
              <a:rect l="l" t="t" r="r" b="b"/>
              <a:pathLst>
                <a:path h="1740535">
                  <a:moveTo>
                    <a:pt x="0" y="0"/>
                  </a:moveTo>
                  <a:lnTo>
                    <a:pt x="0" y="1740408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02864" y="5247132"/>
              <a:ext cx="622300" cy="152400"/>
            </a:xfrm>
            <a:custGeom>
              <a:avLst/>
              <a:gdLst/>
              <a:ahLst/>
              <a:cxnLst/>
              <a:rect l="l" t="t" r="r" b="b"/>
              <a:pathLst>
                <a:path w="622300" h="152400">
                  <a:moveTo>
                    <a:pt x="621791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621791" y="152400"/>
                  </a:lnTo>
                  <a:lnTo>
                    <a:pt x="621791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3102864" y="4491227"/>
              <a:ext cx="1953895" cy="908685"/>
            </a:xfrm>
            <a:custGeom>
              <a:avLst/>
              <a:gdLst/>
              <a:ahLst/>
              <a:cxnLst/>
              <a:rect l="l" t="t" r="r" b="b"/>
              <a:pathLst>
                <a:path w="1953895" h="908685">
                  <a:moveTo>
                    <a:pt x="283464" y="0"/>
                  </a:moveTo>
                  <a:lnTo>
                    <a:pt x="0" y="0"/>
                  </a:lnTo>
                  <a:lnTo>
                    <a:pt x="0" y="150876"/>
                  </a:lnTo>
                  <a:lnTo>
                    <a:pt x="283464" y="150876"/>
                  </a:lnTo>
                  <a:lnTo>
                    <a:pt x="283464" y="0"/>
                  </a:lnTo>
                  <a:close/>
                </a:path>
                <a:path w="1953895" h="908685">
                  <a:moveTo>
                    <a:pt x="705612" y="377952"/>
                  </a:moveTo>
                  <a:lnTo>
                    <a:pt x="0" y="377952"/>
                  </a:lnTo>
                  <a:lnTo>
                    <a:pt x="0" y="528828"/>
                  </a:lnTo>
                  <a:lnTo>
                    <a:pt x="705612" y="528828"/>
                  </a:lnTo>
                  <a:lnTo>
                    <a:pt x="705612" y="377952"/>
                  </a:lnTo>
                  <a:close/>
                </a:path>
                <a:path w="1953895" h="908685">
                  <a:moveTo>
                    <a:pt x="1953768" y="755904"/>
                  </a:moveTo>
                  <a:lnTo>
                    <a:pt x="621792" y="755904"/>
                  </a:lnTo>
                  <a:lnTo>
                    <a:pt x="621792" y="908304"/>
                  </a:lnTo>
                  <a:lnTo>
                    <a:pt x="1953768" y="908304"/>
                  </a:lnTo>
                  <a:lnTo>
                    <a:pt x="1953768" y="755904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02864" y="4111751"/>
              <a:ext cx="372110" cy="152400"/>
            </a:xfrm>
            <a:custGeom>
              <a:avLst/>
              <a:gdLst/>
              <a:ahLst/>
              <a:cxnLst/>
              <a:rect l="l" t="t" r="r" b="b"/>
              <a:pathLst>
                <a:path w="372110" h="152400">
                  <a:moveTo>
                    <a:pt x="371856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371856" y="152400"/>
                  </a:lnTo>
                  <a:lnTo>
                    <a:pt x="371856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4720" y="4111751"/>
              <a:ext cx="655320" cy="152400"/>
            </a:xfrm>
            <a:custGeom>
              <a:avLst/>
              <a:gdLst/>
              <a:ahLst/>
              <a:cxnLst/>
              <a:rect l="l" t="t" r="r" b="b"/>
              <a:pathLst>
                <a:path w="655320" h="152400">
                  <a:moveTo>
                    <a:pt x="655319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655319" y="152400"/>
                  </a:lnTo>
                  <a:lnTo>
                    <a:pt x="65531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02864" y="3733800"/>
              <a:ext cx="151130" cy="151130"/>
            </a:xfrm>
            <a:custGeom>
              <a:avLst/>
              <a:gdLst/>
              <a:ahLst/>
              <a:cxnLst/>
              <a:rect l="l" t="t" r="r" b="b"/>
              <a:pathLst>
                <a:path w="151129" h="151129">
                  <a:moveTo>
                    <a:pt x="150875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150875" y="150875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3740" y="3733800"/>
              <a:ext cx="433070" cy="151130"/>
            </a:xfrm>
            <a:custGeom>
              <a:avLst/>
              <a:gdLst/>
              <a:ahLst/>
              <a:cxnLst/>
              <a:rect l="l" t="t" r="r" b="b"/>
              <a:pathLst>
                <a:path w="433070" h="151129">
                  <a:moveTo>
                    <a:pt x="432815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432815" y="150875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52900" y="2749295"/>
              <a:ext cx="0" cy="607060"/>
            </a:xfrm>
            <a:custGeom>
              <a:avLst/>
              <a:gdLst/>
              <a:ahLst/>
              <a:cxnLst/>
              <a:rect l="l" t="t" r="r" b="b"/>
              <a:pathLst>
                <a:path h="607060">
                  <a:moveTo>
                    <a:pt x="0" y="379475"/>
                  </a:moveTo>
                  <a:lnTo>
                    <a:pt x="0" y="606551"/>
                  </a:lnTo>
                </a:path>
                <a:path h="607060">
                  <a:moveTo>
                    <a:pt x="0" y="0"/>
                  </a:moveTo>
                  <a:lnTo>
                    <a:pt x="0" y="227075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2864" y="2976372"/>
              <a:ext cx="1917700" cy="152400"/>
            </a:xfrm>
            <a:custGeom>
              <a:avLst/>
              <a:gdLst/>
              <a:ahLst/>
              <a:cxnLst/>
              <a:rect l="l" t="t" r="r" b="b"/>
              <a:pathLst>
                <a:path w="1917700" h="152400">
                  <a:moveTo>
                    <a:pt x="1917191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917191" y="152400"/>
                  </a:lnTo>
                  <a:lnTo>
                    <a:pt x="1917191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152900" y="2485644"/>
              <a:ext cx="0" cy="113030"/>
            </a:xfrm>
            <a:custGeom>
              <a:avLst/>
              <a:gdLst/>
              <a:ahLst/>
              <a:cxnLst/>
              <a:rect l="l" t="t" r="r" b="b"/>
              <a:pathLst>
                <a:path h="113030">
                  <a:moveTo>
                    <a:pt x="0" y="0"/>
                  </a:moveTo>
                  <a:lnTo>
                    <a:pt x="0" y="112775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02864" y="2598420"/>
              <a:ext cx="1335405" cy="151130"/>
            </a:xfrm>
            <a:custGeom>
              <a:avLst/>
              <a:gdLst/>
              <a:ahLst/>
              <a:cxnLst/>
              <a:rect l="l" t="t" r="r" b="b"/>
              <a:pathLst>
                <a:path w="1335404" h="151130">
                  <a:moveTo>
                    <a:pt x="1335024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1335024" y="150875"/>
                  </a:lnTo>
                  <a:lnTo>
                    <a:pt x="1335024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4460" y="3128772"/>
              <a:ext cx="1050290" cy="2761615"/>
            </a:xfrm>
            <a:custGeom>
              <a:avLst/>
              <a:gdLst/>
              <a:ahLst/>
              <a:cxnLst/>
              <a:rect l="l" t="t" r="r" b="b"/>
              <a:pathLst>
                <a:path w="1050289" h="2761615">
                  <a:moveTo>
                    <a:pt x="0" y="0"/>
                  </a:moveTo>
                  <a:lnTo>
                    <a:pt x="0" y="227075"/>
                  </a:lnTo>
                </a:path>
                <a:path w="1050289" h="2761615">
                  <a:moveTo>
                    <a:pt x="1050036" y="377951"/>
                  </a:moveTo>
                  <a:lnTo>
                    <a:pt x="1050036" y="2761488"/>
                  </a:lnTo>
                </a:path>
                <a:path w="1050289" h="2761615">
                  <a:moveTo>
                    <a:pt x="1050036" y="0"/>
                  </a:moveTo>
                  <a:lnTo>
                    <a:pt x="1050036" y="227075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02864" y="3355847"/>
              <a:ext cx="3374390" cy="151130"/>
            </a:xfrm>
            <a:custGeom>
              <a:avLst/>
              <a:gdLst/>
              <a:ahLst/>
              <a:cxnLst/>
              <a:rect l="l" t="t" r="r" b="b"/>
              <a:pathLst>
                <a:path w="3374390" h="151129">
                  <a:moveTo>
                    <a:pt x="3374136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3374136" y="150875"/>
                  </a:lnTo>
                  <a:lnTo>
                    <a:pt x="337413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04460" y="2485644"/>
              <a:ext cx="2101850" cy="3404870"/>
            </a:xfrm>
            <a:custGeom>
              <a:avLst/>
              <a:gdLst/>
              <a:ahLst/>
              <a:cxnLst/>
              <a:rect l="l" t="t" r="r" b="b"/>
              <a:pathLst>
                <a:path w="2101850" h="3404870">
                  <a:moveTo>
                    <a:pt x="0" y="263651"/>
                  </a:moveTo>
                  <a:lnTo>
                    <a:pt x="0" y="490727"/>
                  </a:lnTo>
                </a:path>
                <a:path w="2101850" h="3404870">
                  <a:moveTo>
                    <a:pt x="1050036" y="263651"/>
                  </a:moveTo>
                  <a:lnTo>
                    <a:pt x="1050036" y="490727"/>
                  </a:lnTo>
                </a:path>
                <a:path w="2101850" h="3404870">
                  <a:moveTo>
                    <a:pt x="2101595" y="643127"/>
                  </a:moveTo>
                  <a:lnTo>
                    <a:pt x="2101595" y="3404616"/>
                  </a:lnTo>
                </a:path>
                <a:path w="2101850" h="3404870">
                  <a:moveTo>
                    <a:pt x="2101595" y="0"/>
                  </a:moveTo>
                  <a:lnTo>
                    <a:pt x="2101595" y="490727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020056" y="2976372"/>
              <a:ext cx="2731135" cy="152400"/>
            </a:xfrm>
            <a:custGeom>
              <a:avLst/>
              <a:gdLst/>
              <a:ahLst/>
              <a:cxnLst/>
              <a:rect l="l" t="t" r="r" b="b"/>
              <a:pathLst>
                <a:path w="2731134" h="152400">
                  <a:moveTo>
                    <a:pt x="2731008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2731008" y="152400"/>
                  </a:lnTo>
                  <a:lnTo>
                    <a:pt x="27310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204460" y="2485644"/>
              <a:ext cx="1050290" cy="113030"/>
            </a:xfrm>
            <a:custGeom>
              <a:avLst/>
              <a:gdLst/>
              <a:ahLst/>
              <a:cxnLst/>
              <a:rect l="l" t="t" r="r" b="b"/>
              <a:pathLst>
                <a:path w="1050289" h="113030">
                  <a:moveTo>
                    <a:pt x="0" y="0"/>
                  </a:moveTo>
                  <a:lnTo>
                    <a:pt x="0" y="112775"/>
                  </a:lnTo>
                </a:path>
                <a:path w="1050289" h="113030">
                  <a:moveTo>
                    <a:pt x="1050036" y="0"/>
                  </a:moveTo>
                  <a:lnTo>
                    <a:pt x="1050036" y="112775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37888" y="2598420"/>
              <a:ext cx="2316480" cy="151130"/>
            </a:xfrm>
            <a:custGeom>
              <a:avLst/>
              <a:gdLst/>
              <a:ahLst/>
              <a:cxnLst/>
              <a:rect l="l" t="t" r="r" b="b"/>
              <a:pathLst>
                <a:path w="2316479" h="151130">
                  <a:moveTo>
                    <a:pt x="2316480" y="0"/>
                  </a:moveTo>
                  <a:lnTo>
                    <a:pt x="0" y="0"/>
                  </a:lnTo>
                  <a:lnTo>
                    <a:pt x="0" y="150875"/>
                  </a:lnTo>
                  <a:lnTo>
                    <a:pt x="2316480" y="150875"/>
                  </a:lnTo>
                  <a:lnTo>
                    <a:pt x="231648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3"/>
            <p:cNvSpPr/>
            <p:nvPr/>
          </p:nvSpPr>
          <p:spPr>
            <a:xfrm>
              <a:off x="3102864" y="2485644"/>
              <a:ext cx="5253355" cy="3404870"/>
            </a:xfrm>
            <a:custGeom>
              <a:avLst/>
              <a:gdLst/>
              <a:ahLst/>
              <a:cxnLst/>
              <a:rect l="l" t="t" r="r" b="b"/>
              <a:pathLst>
                <a:path w="5253355" h="3404870">
                  <a:moveTo>
                    <a:pt x="0" y="3404616"/>
                  </a:moveTo>
                  <a:lnTo>
                    <a:pt x="0" y="0"/>
                  </a:lnTo>
                </a:path>
                <a:path w="5253355" h="3404870">
                  <a:moveTo>
                    <a:pt x="5253228" y="0"/>
                  </a:moveTo>
                  <a:lnTo>
                    <a:pt x="5253228" y="3404616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77254" y="1374007"/>
              <a:ext cx="1978917" cy="557960"/>
            </a:xfrm>
            <a:custGeom>
              <a:avLst/>
              <a:gdLst/>
              <a:ahLst/>
              <a:cxnLst/>
              <a:rect l="l" t="t" r="r" b="b"/>
              <a:pathLst>
                <a:path w="2517775" h="873760">
                  <a:moveTo>
                    <a:pt x="2372106" y="0"/>
                  </a:moveTo>
                  <a:lnTo>
                    <a:pt x="145541" y="0"/>
                  </a:lnTo>
                  <a:lnTo>
                    <a:pt x="99535" y="7418"/>
                  </a:lnTo>
                  <a:lnTo>
                    <a:pt x="59582" y="28078"/>
                  </a:lnTo>
                  <a:lnTo>
                    <a:pt x="28078" y="59582"/>
                  </a:lnTo>
                  <a:lnTo>
                    <a:pt x="7418" y="99535"/>
                  </a:lnTo>
                  <a:lnTo>
                    <a:pt x="0" y="145542"/>
                  </a:lnTo>
                  <a:lnTo>
                    <a:pt x="0" y="727710"/>
                  </a:lnTo>
                  <a:lnTo>
                    <a:pt x="7418" y="773716"/>
                  </a:lnTo>
                  <a:lnTo>
                    <a:pt x="28078" y="813669"/>
                  </a:lnTo>
                  <a:lnTo>
                    <a:pt x="59582" y="845173"/>
                  </a:lnTo>
                  <a:lnTo>
                    <a:pt x="99535" y="865833"/>
                  </a:lnTo>
                  <a:lnTo>
                    <a:pt x="145541" y="873251"/>
                  </a:lnTo>
                  <a:lnTo>
                    <a:pt x="2372106" y="873251"/>
                  </a:lnTo>
                  <a:lnTo>
                    <a:pt x="2418112" y="865833"/>
                  </a:lnTo>
                  <a:lnTo>
                    <a:pt x="2458065" y="845173"/>
                  </a:lnTo>
                  <a:lnTo>
                    <a:pt x="2489569" y="813669"/>
                  </a:lnTo>
                  <a:lnTo>
                    <a:pt x="2510229" y="773716"/>
                  </a:lnTo>
                  <a:lnTo>
                    <a:pt x="2517647" y="727710"/>
                  </a:lnTo>
                  <a:lnTo>
                    <a:pt x="2517647" y="145542"/>
                  </a:lnTo>
                  <a:lnTo>
                    <a:pt x="2510229" y="99535"/>
                  </a:lnTo>
                  <a:lnTo>
                    <a:pt x="2489569" y="59582"/>
                  </a:lnTo>
                  <a:lnTo>
                    <a:pt x="2458065" y="28078"/>
                  </a:lnTo>
                  <a:lnTo>
                    <a:pt x="2418112" y="7418"/>
                  </a:lnTo>
                  <a:lnTo>
                    <a:pt x="2372106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18900000" algn="bl" rotWithShape="0">
                <a:schemeClr val="tx2">
                  <a:lumMod val="20000"/>
                  <a:lumOff val="80000"/>
                  <a:alpha val="40000"/>
                </a:schemeClr>
              </a:outerShdw>
            </a:effectLst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191637" y="6323680"/>
            <a:ext cx="1282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" dirty="0">
                <a:latin typeface="Carlito"/>
                <a:cs typeface="Carlito"/>
              </a:rPr>
              <a:t>0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55451" y="6298742"/>
            <a:ext cx="33401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latin typeface="Carlito"/>
                <a:cs typeface="Carlito"/>
              </a:rPr>
              <a:t>5</a:t>
            </a:r>
            <a:r>
              <a:rPr sz="1600" spc="-10" dirty="0">
                <a:latin typeface="Carlito"/>
                <a:cs typeface="Carlito"/>
              </a:rPr>
              <a:t>0</a:t>
            </a:r>
            <a:r>
              <a:rPr sz="1600" spc="-5" dirty="0">
                <a:latin typeface="Carlito"/>
                <a:cs typeface="Carlito"/>
              </a:rPr>
              <a:t>0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00001" y="6309956"/>
            <a:ext cx="501046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latin typeface="Carlito"/>
                <a:cs typeface="Carlito"/>
              </a:rPr>
              <a:t>1</a:t>
            </a:r>
            <a:r>
              <a:rPr sz="1600" spc="-10" dirty="0">
                <a:latin typeface="Carlito"/>
                <a:cs typeface="Carlito"/>
              </a:rPr>
              <a:t>0</a:t>
            </a:r>
            <a:r>
              <a:rPr sz="1600" dirty="0">
                <a:latin typeface="Carlito"/>
                <a:cs typeface="Carlito"/>
              </a:rPr>
              <a:t>0</a:t>
            </a:r>
            <a:r>
              <a:rPr sz="1600" spc="-5" dirty="0">
                <a:latin typeface="Carlito"/>
                <a:cs typeface="Carlito"/>
              </a:rPr>
              <a:t>0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47128" y="6323679"/>
            <a:ext cx="489112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latin typeface="Carlito"/>
                <a:cs typeface="Carlito"/>
              </a:rPr>
              <a:t>1</a:t>
            </a:r>
            <a:r>
              <a:rPr sz="1600" spc="-10" dirty="0">
                <a:latin typeface="Carlito"/>
                <a:cs typeface="Carlito"/>
              </a:rPr>
              <a:t>5</a:t>
            </a:r>
            <a:r>
              <a:rPr sz="1600" dirty="0">
                <a:latin typeface="Carlito"/>
                <a:cs typeface="Carlito"/>
              </a:rPr>
              <a:t>0</a:t>
            </a:r>
            <a:r>
              <a:rPr sz="1600" spc="-5" dirty="0">
                <a:latin typeface="Carlito"/>
                <a:cs typeface="Carlito"/>
              </a:rPr>
              <a:t>0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20564" y="6223926"/>
            <a:ext cx="4375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latin typeface="Carlito"/>
                <a:cs typeface="Carlito"/>
              </a:rPr>
              <a:t>2</a:t>
            </a:r>
            <a:r>
              <a:rPr sz="1600" spc="-10" dirty="0">
                <a:latin typeface="Carlito"/>
                <a:cs typeface="Carlito"/>
              </a:rPr>
              <a:t>0</a:t>
            </a:r>
            <a:r>
              <a:rPr sz="1600" dirty="0">
                <a:latin typeface="Carlito"/>
                <a:cs typeface="Carlito"/>
              </a:rPr>
              <a:t>0</a:t>
            </a:r>
            <a:r>
              <a:rPr sz="1600" spc="-5" dirty="0">
                <a:latin typeface="Carlito"/>
                <a:cs typeface="Carlito"/>
              </a:rPr>
              <a:t>0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929182" y="6223926"/>
            <a:ext cx="43751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dirty="0">
                <a:latin typeface="Carlito"/>
                <a:cs typeface="Carlito"/>
              </a:rPr>
              <a:t>2</a:t>
            </a:r>
            <a:r>
              <a:rPr sz="1600" spc="-10" dirty="0">
                <a:latin typeface="Carlito"/>
                <a:cs typeface="Carlito"/>
              </a:rPr>
              <a:t>5</a:t>
            </a:r>
            <a:r>
              <a:rPr sz="1600" dirty="0">
                <a:latin typeface="Carlito"/>
                <a:cs typeface="Carlito"/>
              </a:rPr>
              <a:t>0</a:t>
            </a:r>
            <a:r>
              <a:rPr sz="1600" spc="-5" dirty="0">
                <a:latin typeface="Carlito"/>
                <a:cs typeface="Carlito"/>
              </a:rPr>
              <a:t>0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5331" y="2311709"/>
            <a:ext cx="2761615" cy="344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175" marR="5080" indent="1901825" algn="r">
              <a:lnSpc>
                <a:spcPct val="138000"/>
              </a:lnSpc>
              <a:spcBef>
                <a:spcPts val="100"/>
              </a:spcBef>
            </a:pPr>
            <a:r>
              <a:rPr dirty="0">
                <a:latin typeface="Carlito"/>
                <a:cs typeface="Carlito"/>
              </a:rPr>
              <a:t>Apps  </a:t>
            </a:r>
            <a:r>
              <a:rPr spc="-5" dirty="0">
                <a:latin typeface="Carlito"/>
                <a:cs typeface="Carlito"/>
              </a:rPr>
              <a:t>Crypto (SHA, HMAC,</a:t>
            </a:r>
            <a:r>
              <a:rPr spc="-80" dirty="0">
                <a:latin typeface="Carlito"/>
                <a:cs typeface="Carlito"/>
              </a:rPr>
              <a:t> </a:t>
            </a:r>
            <a:r>
              <a:rPr dirty="0">
                <a:latin typeface="Carlito"/>
                <a:cs typeface="Carlito"/>
              </a:rPr>
              <a:t>RSA)</a:t>
            </a:r>
          </a:p>
          <a:p>
            <a:pPr marL="1925955" marR="5080" indent="-37465" algn="r">
              <a:lnSpc>
                <a:spcPct val="138000"/>
              </a:lnSpc>
            </a:pPr>
            <a:r>
              <a:rPr spc="-5" dirty="0">
                <a:latin typeface="Carlito"/>
                <a:cs typeface="Carlito"/>
              </a:rPr>
              <a:t>BigInt</a:t>
            </a:r>
            <a:r>
              <a:rPr spc="-8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Lib </a:t>
            </a:r>
            <a:r>
              <a:rPr dirty="0">
                <a:latin typeface="Carlito"/>
                <a:cs typeface="Carlito"/>
              </a:rPr>
              <a:t> Math</a:t>
            </a:r>
            <a:r>
              <a:rPr spc="-95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Lib</a:t>
            </a:r>
            <a:endParaRPr dirty="0">
              <a:latin typeface="Carlito"/>
              <a:cs typeface="Carlito"/>
            </a:endParaRPr>
          </a:p>
          <a:p>
            <a:pPr marR="8890" algn="r">
              <a:spcBef>
                <a:spcPts val="819"/>
              </a:spcBef>
            </a:pPr>
            <a:r>
              <a:rPr spc="-5" dirty="0">
                <a:latin typeface="Carlito"/>
                <a:cs typeface="Carlito"/>
              </a:rPr>
              <a:t>Std. Lib (bytes, words,</a:t>
            </a:r>
            <a:r>
              <a:rPr spc="-5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arrays)</a:t>
            </a:r>
            <a:endParaRPr dirty="0">
              <a:latin typeface="Carlito"/>
              <a:cs typeface="Carlito"/>
            </a:endParaRPr>
          </a:p>
          <a:p>
            <a:pPr marL="1321435" marR="5715" indent="-143510" algn="r">
              <a:lnSpc>
                <a:spcPct val="138000"/>
              </a:lnSpc>
            </a:pPr>
            <a:r>
              <a:rPr dirty="0">
                <a:latin typeface="Carlito"/>
                <a:cs typeface="Carlito"/>
              </a:rPr>
              <a:t>UD</a:t>
            </a:r>
            <a:r>
              <a:rPr spc="-10" dirty="0">
                <a:latin typeface="Carlito"/>
                <a:cs typeface="Carlito"/>
              </a:rPr>
              <a:t>P</a:t>
            </a:r>
            <a:r>
              <a:rPr spc="-5" dirty="0">
                <a:latin typeface="Carlito"/>
                <a:cs typeface="Carlito"/>
              </a:rPr>
              <a:t>/IP/Ethernet  Network</a:t>
            </a:r>
            <a:r>
              <a:rPr spc="-65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Driver </a:t>
            </a:r>
            <a:r>
              <a:rPr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TPM</a:t>
            </a:r>
            <a:r>
              <a:rPr spc="-10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Driver</a:t>
            </a:r>
            <a:endParaRPr dirty="0">
              <a:latin typeface="Carlito"/>
              <a:cs typeface="Carlito"/>
            </a:endParaRPr>
          </a:p>
          <a:p>
            <a:pPr marR="6350" algn="r">
              <a:spcBef>
                <a:spcPts val="815"/>
              </a:spcBef>
            </a:pPr>
            <a:r>
              <a:rPr spc="-10" dirty="0">
                <a:latin typeface="Carlito"/>
                <a:cs typeface="Carlito"/>
              </a:rPr>
              <a:t>OS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03068" y="1203151"/>
            <a:ext cx="1683385" cy="627736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2260"/>
              </a:lnSpc>
              <a:spcBef>
                <a:spcPts val="295"/>
              </a:spcBef>
            </a:pPr>
            <a:r>
              <a:rPr sz="2000" spc="-25" dirty="0">
                <a:latin typeface="Carlito"/>
                <a:cs typeface="Carlito"/>
              </a:rPr>
              <a:t>Trusted </a:t>
            </a:r>
            <a:r>
              <a:rPr sz="2000" spc="-5" dirty="0">
                <a:latin typeface="Carlito"/>
                <a:cs typeface="Carlito"/>
              </a:rPr>
              <a:t>Spec  </a:t>
            </a:r>
            <a:r>
              <a:rPr sz="2000" dirty="0">
                <a:latin typeface="Carlito"/>
                <a:cs typeface="Carlito"/>
              </a:rPr>
              <a:t>I</a:t>
            </a:r>
            <a:r>
              <a:rPr sz="2000" spc="-10" dirty="0">
                <a:latin typeface="Carlito"/>
                <a:cs typeface="Carlito"/>
              </a:rPr>
              <a:t>m</a:t>
            </a:r>
            <a:r>
              <a:rPr sz="2000" spc="-5" dirty="0">
                <a:latin typeface="Carlito"/>
                <a:cs typeface="Carlito"/>
              </a:rPr>
              <a:t>ple</a:t>
            </a:r>
            <a:r>
              <a:rPr sz="2000" spc="-10" dirty="0">
                <a:latin typeface="Carlito"/>
                <a:cs typeface="Carlito"/>
              </a:rPr>
              <a:t>m</a:t>
            </a:r>
            <a:r>
              <a:rPr sz="2000" dirty="0">
                <a:latin typeface="Carlito"/>
                <a:cs typeface="Carlito"/>
              </a:rPr>
              <a:t>e</a:t>
            </a:r>
            <a:r>
              <a:rPr sz="2000" spc="-25" dirty="0">
                <a:latin typeface="Carlito"/>
                <a:cs typeface="Carlito"/>
              </a:rPr>
              <a:t>nta</a:t>
            </a:r>
            <a:r>
              <a:rPr sz="2000" dirty="0">
                <a:latin typeface="Carlito"/>
                <a:cs typeface="Carlito"/>
              </a:rPr>
              <a:t>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07336" y="1305515"/>
            <a:ext cx="317500" cy="177165"/>
          </a:xfrm>
          <a:custGeom>
            <a:avLst/>
            <a:gdLst/>
            <a:ahLst/>
            <a:cxnLst/>
            <a:rect l="l" t="t" r="r" b="b"/>
            <a:pathLst>
              <a:path w="317500" h="177164">
                <a:moveTo>
                  <a:pt x="316992" y="0"/>
                </a:moveTo>
                <a:lnTo>
                  <a:pt x="0" y="0"/>
                </a:lnTo>
                <a:lnTo>
                  <a:pt x="0" y="176784"/>
                </a:lnTo>
                <a:lnTo>
                  <a:pt x="316992" y="176784"/>
                </a:lnTo>
                <a:lnTo>
                  <a:pt x="316992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07336" y="1585931"/>
            <a:ext cx="317500" cy="177165"/>
          </a:xfrm>
          <a:custGeom>
            <a:avLst/>
            <a:gdLst/>
            <a:ahLst/>
            <a:cxnLst/>
            <a:rect l="l" t="t" r="r" b="b"/>
            <a:pathLst>
              <a:path w="317500" h="177164">
                <a:moveTo>
                  <a:pt x="316992" y="0"/>
                </a:moveTo>
                <a:lnTo>
                  <a:pt x="0" y="0"/>
                </a:lnTo>
                <a:lnTo>
                  <a:pt x="0" y="176784"/>
                </a:lnTo>
                <a:lnTo>
                  <a:pt x="316992" y="176784"/>
                </a:lnTo>
                <a:lnTo>
                  <a:pt x="316992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186678" y="1030191"/>
            <a:ext cx="1060450" cy="74168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spcBef>
                <a:spcPts val="520"/>
              </a:spcBef>
            </a:pPr>
            <a:r>
              <a:rPr sz="2000" b="1" u="heavy" spc="-15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Hardware</a:t>
            </a:r>
            <a:endParaRPr sz="2000" dirty="0">
              <a:latin typeface="Carlito"/>
              <a:cs typeface="Carlito"/>
            </a:endParaRPr>
          </a:p>
          <a:p>
            <a:pPr marL="17145">
              <a:spcBef>
                <a:spcPts val="415"/>
              </a:spcBef>
            </a:pPr>
            <a:r>
              <a:rPr sz="2000" dirty="0">
                <a:latin typeface="Carlito"/>
                <a:cs typeface="Carlito"/>
              </a:rPr>
              <a:t>1750</a:t>
            </a:r>
            <a:r>
              <a:rPr sz="2000" spc="-6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LoC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97984" y="974102"/>
            <a:ext cx="9785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rlito"/>
                <a:cs typeface="Carlito"/>
              </a:rPr>
              <a:t>Software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720845" y="1313572"/>
            <a:ext cx="974725" cy="622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50"/>
              </a:lnSpc>
              <a:spcBef>
                <a:spcPts val="105"/>
              </a:spcBef>
            </a:pPr>
            <a:r>
              <a:rPr sz="2000" dirty="0">
                <a:latin typeface="Carlito"/>
                <a:cs typeface="Carlito"/>
              </a:rPr>
              <a:t>1796</a:t>
            </a:r>
            <a:r>
              <a:rPr sz="2000" spc="-12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LoC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dirty="0">
                <a:latin typeface="Carlito"/>
                <a:cs typeface="Carlito"/>
              </a:rPr>
              <a:t>6971</a:t>
            </a:r>
            <a:r>
              <a:rPr sz="2000" spc="-11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LoC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665338" y="360220"/>
            <a:ext cx="2576688" cy="489373"/>
          </a:xfrm>
          <a:custGeom>
            <a:avLst/>
            <a:gdLst/>
            <a:ahLst/>
            <a:cxnLst/>
            <a:rect l="l" t="t" r="r" b="b"/>
            <a:pathLst>
              <a:path w="2794000" h="451485">
                <a:moveTo>
                  <a:pt x="2718307" y="0"/>
                </a:moveTo>
                <a:lnTo>
                  <a:pt x="75184" y="0"/>
                </a:lnTo>
                <a:lnTo>
                  <a:pt x="45916" y="5907"/>
                </a:lnTo>
                <a:lnTo>
                  <a:pt x="22018" y="22018"/>
                </a:lnTo>
                <a:lnTo>
                  <a:pt x="5907" y="45916"/>
                </a:lnTo>
                <a:lnTo>
                  <a:pt x="0" y="75184"/>
                </a:lnTo>
                <a:lnTo>
                  <a:pt x="0" y="375920"/>
                </a:lnTo>
                <a:lnTo>
                  <a:pt x="5907" y="405187"/>
                </a:lnTo>
                <a:lnTo>
                  <a:pt x="22018" y="429085"/>
                </a:lnTo>
                <a:lnTo>
                  <a:pt x="45916" y="445196"/>
                </a:lnTo>
                <a:lnTo>
                  <a:pt x="75184" y="451104"/>
                </a:lnTo>
                <a:lnTo>
                  <a:pt x="2718307" y="451104"/>
                </a:lnTo>
                <a:lnTo>
                  <a:pt x="2747575" y="445196"/>
                </a:lnTo>
                <a:lnTo>
                  <a:pt x="2771473" y="429085"/>
                </a:lnTo>
                <a:lnTo>
                  <a:pt x="2787584" y="405187"/>
                </a:lnTo>
                <a:lnTo>
                  <a:pt x="2793492" y="375920"/>
                </a:lnTo>
                <a:lnTo>
                  <a:pt x="2793492" y="75184"/>
                </a:lnTo>
                <a:lnTo>
                  <a:pt x="2787584" y="45916"/>
                </a:lnTo>
                <a:lnTo>
                  <a:pt x="2771473" y="22018"/>
                </a:lnTo>
                <a:lnTo>
                  <a:pt x="2747575" y="5907"/>
                </a:lnTo>
                <a:lnTo>
                  <a:pt x="2718307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/>
          <p:cNvSpPr txBox="1"/>
          <p:nvPr/>
        </p:nvSpPr>
        <p:spPr>
          <a:xfrm>
            <a:off x="7738238" y="467026"/>
            <a:ext cx="240410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spc="-5" dirty="0">
                <a:solidFill>
                  <a:srgbClr val="2C12AE"/>
                </a:solidFill>
                <a:latin typeface="Carlito"/>
                <a:cs typeface="Carlito"/>
              </a:rPr>
              <a:t>SW Impl </a:t>
            </a:r>
            <a:r>
              <a:rPr sz="2000" dirty="0">
                <a:solidFill>
                  <a:srgbClr val="2C12AE"/>
                </a:solidFill>
                <a:latin typeface="Carlito"/>
                <a:cs typeface="Carlito"/>
              </a:rPr>
              <a:t>: </a:t>
            </a:r>
            <a:r>
              <a:rPr sz="2000" spc="-5" dirty="0">
                <a:solidFill>
                  <a:srgbClr val="2C12AE"/>
                </a:solidFill>
                <a:latin typeface="Carlito"/>
                <a:cs typeface="Carlito"/>
              </a:rPr>
              <a:t>Spec </a:t>
            </a:r>
            <a:r>
              <a:rPr sz="2000" dirty="0">
                <a:solidFill>
                  <a:srgbClr val="2C12AE"/>
                </a:solidFill>
                <a:latin typeface="Carlito"/>
                <a:cs typeface="Carlito"/>
              </a:rPr>
              <a:t>= 3.9 :</a:t>
            </a:r>
            <a:r>
              <a:rPr sz="2000" spc="-95" dirty="0">
                <a:solidFill>
                  <a:srgbClr val="2C12AE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2C12AE"/>
                </a:solidFill>
                <a:latin typeface="Carlito"/>
                <a:cs typeface="Carlito"/>
              </a:rPr>
              <a:t>1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6417424" y="6516503"/>
            <a:ext cx="1025202" cy="312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spc="-5" dirty="0">
                <a:latin typeface="Carlito"/>
                <a:cs typeface="Carlito"/>
              </a:rPr>
              <a:t>Lines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797166" y="1061180"/>
            <a:ext cx="234518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9079">
              <a:spcBef>
                <a:spcPts val="105"/>
              </a:spcBef>
            </a:pPr>
            <a:r>
              <a:rPr sz="2000" dirty="0">
                <a:solidFill>
                  <a:srgbClr val="2C12AE"/>
                </a:solidFill>
                <a:latin typeface="Carlito"/>
                <a:cs typeface="Carlito"/>
              </a:rPr>
              <a:t>41,566</a:t>
            </a:r>
            <a:r>
              <a:rPr lang="en-US" sz="2000" spc="-65" dirty="0">
                <a:solidFill>
                  <a:srgbClr val="2C12AE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2C12AE"/>
                </a:solidFill>
                <a:latin typeface="Carlito"/>
                <a:cs typeface="Carlito"/>
              </a:rPr>
              <a:t>instructions</a:t>
            </a:r>
            <a:endParaRPr sz="2000" dirty="0">
              <a:solidFill>
                <a:srgbClr val="2C12AE"/>
              </a:solidFill>
              <a:latin typeface="Carlito"/>
              <a:cs typeface="Carlito"/>
            </a:endParaRPr>
          </a:p>
          <a:p>
            <a:pPr marL="866775"/>
            <a:r>
              <a:rPr sz="2000" dirty="0">
                <a:solidFill>
                  <a:srgbClr val="2C12AE"/>
                </a:solidFill>
                <a:latin typeface="Carlito"/>
                <a:cs typeface="Carlito"/>
              </a:rPr>
              <a:t>23.1 :</a:t>
            </a:r>
            <a:r>
              <a:rPr sz="2000" spc="-45" dirty="0">
                <a:solidFill>
                  <a:srgbClr val="2C12AE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2C12AE"/>
                </a:solidFill>
                <a:latin typeface="Carlito"/>
                <a:cs typeface="Carlito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9545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09F3-18C2-45AA-B590-243FED42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18AA-C786-4EAE-BEAE-05147398D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3" y="1752601"/>
            <a:ext cx="9560178" cy="4922519"/>
          </a:xfrm>
        </p:spPr>
        <p:txBody>
          <a:bodyPr>
            <a:noAutofit/>
          </a:bodyPr>
          <a:lstStyle/>
          <a:p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Liveness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Absence </a:t>
            </a:r>
            <a:r>
              <a:rPr lang="en-US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of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en-US" sz="3200" spc="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5" dirty="0">
                <a:latin typeface="Calibri" panose="020F0502020204030204" pitchFamily="34" charset="0"/>
                <a:cs typeface="Calibri" panose="020F0502020204030204" pitchFamily="34" charset="0"/>
              </a:rPr>
              <a:t>channels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Guarantees only hold if specs, both of hardware and apps, are correct.</a:t>
            </a:r>
          </a:p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An error can enter in system while trying to keep code small</a:t>
            </a:r>
          </a:p>
          <a:p>
            <a:r>
              <a:rPr lang="en-US" sz="3200" spc="-20" dirty="0">
                <a:latin typeface="Calibri" panose="020F0502020204030204" pitchFamily="34" charset="0"/>
                <a:cs typeface="Calibri" panose="020F0502020204030204" pitchFamily="34" charset="0"/>
              </a:rPr>
              <a:t>Physical</a:t>
            </a:r>
            <a:r>
              <a:rPr lang="en-US" sz="3200" spc="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spc="-10" dirty="0">
                <a:latin typeface="Calibri" panose="020F0502020204030204" pitchFamily="34" charset="0"/>
                <a:cs typeface="Calibri" panose="020F0502020204030204" pitchFamily="34" charset="0"/>
              </a:rPr>
              <a:t>security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Dependent on the correctness of verification tools, namely our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Dafny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spec translator, </a:t>
            </a:r>
            <a:r>
              <a:rPr lang="en-US" sz="3200" dirty="0" err="1">
                <a:latin typeface="Calibri" panose="020F0502020204030204" pitchFamily="34" charset="0"/>
                <a:cs typeface="Calibri" panose="020F0502020204030204" pitchFamily="34" charset="0"/>
              </a:rPr>
              <a:t>SymDiff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, Boogie, and Z3.</a:t>
            </a:r>
          </a:p>
        </p:txBody>
      </p:sp>
    </p:spTree>
    <p:extLst>
      <p:ext uri="{BB962C8B-B14F-4D97-AF65-F5344CB8AC3E}">
        <p14:creationId xmlns:p14="http://schemas.microsoft.com/office/powerpoint/2010/main" val="2145215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810" y="291968"/>
            <a:ext cx="4414166" cy="844462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75" dirty="0"/>
              <a:t>Conclusions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810" y="1126999"/>
            <a:ext cx="9891039" cy="3084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rlito"/>
                <a:cs typeface="Carlito"/>
              </a:rPr>
              <a:t>Ironclad guarantees </a:t>
            </a:r>
            <a:r>
              <a:rPr sz="2800" spc="-10" dirty="0">
                <a:latin typeface="Carlito"/>
                <a:cs typeface="Carlito"/>
              </a:rPr>
              <a:t>end-to-end security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5" dirty="0">
                <a:latin typeface="Carlito"/>
                <a:cs typeface="Carlito"/>
              </a:rPr>
              <a:t>remote  </a:t>
            </a:r>
            <a:r>
              <a:rPr sz="2800" spc="-10" dirty="0">
                <a:latin typeface="Carlito"/>
                <a:cs typeface="Carlito"/>
              </a:rPr>
              <a:t>parties: </a:t>
            </a:r>
            <a:r>
              <a:rPr sz="2800" spc="-20" dirty="0">
                <a:latin typeface="Carlito"/>
                <a:cs typeface="Carlito"/>
              </a:rPr>
              <a:t>Every </a:t>
            </a:r>
            <a:r>
              <a:rPr sz="2800" spc="-10" dirty="0">
                <a:latin typeface="Carlito"/>
                <a:cs typeface="Carlito"/>
              </a:rPr>
              <a:t>instruction </a:t>
            </a:r>
            <a:r>
              <a:rPr sz="2800" spc="-5" dirty="0">
                <a:latin typeface="Carlito"/>
                <a:cs typeface="Carlito"/>
              </a:rPr>
              <a:t>meets the </a:t>
            </a:r>
            <a:r>
              <a:rPr sz="2800" spc="-40" dirty="0">
                <a:latin typeface="Carlito"/>
                <a:cs typeface="Carlito"/>
              </a:rPr>
              <a:t>app’s </a:t>
            </a:r>
            <a:r>
              <a:rPr sz="2800" spc="-10" dirty="0">
                <a:latin typeface="Carlito"/>
                <a:cs typeface="Carlito"/>
              </a:rPr>
              <a:t>security</a:t>
            </a:r>
            <a:r>
              <a:rPr sz="2800" spc="22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spec</a:t>
            </a:r>
            <a:endParaRPr sz="2800" dirty="0">
              <a:latin typeface="Carlito"/>
              <a:cs typeface="Carlito"/>
            </a:endParaRPr>
          </a:p>
          <a:p>
            <a:pPr marL="241300" indent="-228600">
              <a:spcBef>
                <a:spcPts val="22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Achieved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via:</a:t>
            </a:r>
            <a:endParaRPr sz="2800" dirty="0">
              <a:latin typeface="Carlito"/>
              <a:cs typeface="Carlito"/>
            </a:endParaRPr>
          </a:p>
          <a:p>
            <a:pPr marL="698500" lvl="1" indent="-229235">
              <a:spcBef>
                <a:spcPts val="530"/>
              </a:spcBef>
              <a:buChar char="─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modified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tools</a:t>
            </a:r>
            <a:endParaRPr sz="2400" dirty="0">
              <a:latin typeface="Carlito"/>
              <a:cs typeface="Carlito"/>
            </a:endParaRPr>
          </a:p>
          <a:p>
            <a:pPr marL="698500" lvl="1" indent="-229235">
              <a:spcBef>
                <a:spcPts val="495"/>
              </a:spcBef>
              <a:buChar char="─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methodology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rapid verification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systems</a:t>
            </a:r>
            <a:r>
              <a:rPr sz="2400" spc="-15" dirty="0">
                <a:latin typeface="Carlito"/>
                <a:cs typeface="Carlito"/>
              </a:rPr>
              <a:t> software</a:t>
            </a:r>
            <a:endParaRPr sz="2400" dirty="0">
              <a:latin typeface="Carlito"/>
              <a:cs typeface="Carlito"/>
            </a:endParaRPr>
          </a:p>
          <a:p>
            <a:pPr marL="241300" indent="-228600">
              <a:spcBef>
                <a:spcPts val="161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rlito"/>
                <a:cs typeface="Carlito"/>
              </a:rPr>
              <a:t>Verification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5" dirty="0">
                <a:latin typeface="Carlito"/>
                <a:cs typeface="Carlito"/>
              </a:rPr>
              <a:t>systems </a:t>
            </a:r>
            <a:r>
              <a:rPr sz="2800" spc="-10" dirty="0">
                <a:latin typeface="Carlito"/>
                <a:cs typeface="Carlito"/>
              </a:rPr>
              <a:t>code </a:t>
            </a:r>
            <a:r>
              <a:rPr sz="2800" spc="-5" dirty="0">
                <a:latin typeface="Carlito"/>
                <a:cs typeface="Carlito"/>
              </a:rPr>
              <a:t>is </a:t>
            </a:r>
            <a:r>
              <a:rPr sz="2800" spc="-15" dirty="0">
                <a:latin typeface="Carlito"/>
                <a:cs typeface="Carlito"/>
              </a:rPr>
              <a:t>quite</a:t>
            </a:r>
            <a:r>
              <a:rPr sz="2800" spc="9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feasible!</a:t>
            </a:r>
            <a:endParaRPr sz="2800" dirty="0">
              <a:latin typeface="Carlito"/>
              <a:cs typeface="Carli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2DB302-C29F-45A1-A44C-F1327843DC88}"/>
              </a:ext>
            </a:extLst>
          </p:cNvPr>
          <p:cNvSpPr txBox="1"/>
          <p:nvPr/>
        </p:nvSpPr>
        <p:spPr>
          <a:xfrm>
            <a:off x="3100648" y="4829695"/>
            <a:ext cx="5319784" cy="1015663"/>
          </a:xfrm>
          <a:prstGeom prst="rect">
            <a:avLst/>
          </a:prstGeom>
          <a:gradFill>
            <a:gsLst>
              <a:gs pos="10000">
                <a:schemeClr val="tx2">
                  <a:lumMod val="50000"/>
                </a:schemeClr>
              </a:gs>
              <a:gs pos="99000">
                <a:schemeClr val="accent4">
                  <a:lumMod val="75000"/>
                </a:schemeClr>
              </a:gs>
              <a:gs pos="94000">
                <a:srgbClr val="AAC0A9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141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56337C21E97943B77F703B00F006CC" ma:contentTypeVersion="12" ma:contentTypeDescription="Create a new document." ma:contentTypeScope="" ma:versionID="70cd6f9b10d935d6aa2e879f2edc89e5">
  <xsd:schema xmlns:xsd="http://www.w3.org/2001/XMLSchema" xmlns:xs="http://www.w3.org/2001/XMLSchema" xmlns:p="http://schemas.microsoft.com/office/2006/metadata/properties" xmlns:ns3="4a0426a5-add7-4edc-b55c-242840025848" xmlns:ns4="991166d0-852a-4f80-8d43-4ba4dcdc289e" targetNamespace="http://schemas.microsoft.com/office/2006/metadata/properties" ma:root="true" ma:fieldsID="4d3d950c2c95936bafeb0f5d889b1fed" ns3:_="" ns4:_="">
    <xsd:import namespace="4a0426a5-add7-4edc-b55c-242840025848"/>
    <xsd:import namespace="991166d0-852a-4f80-8d43-4ba4dcdc28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0426a5-add7-4edc-b55c-2428400258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1166d0-852a-4f80-8d43-4ba4dcdc28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FB4F64-192E-40F3-8AF0-1C71B29E1D72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a0426a5-add7-4edc-b55c-242840025848"/>
    <ds:schemaRef ds:uri="http://purl.org/dc/elements/1.1/"/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991166d0-852a-4f80-8d43-4ba4dcdc289e"/>
  </ds:schemaRefs>
</ds:datastoreItem>
</file>

<file path=customXml/itemProps2.xml><?xml version="1.0" encoding="utf-8"?>
<ds:datastoreItem xmlns:ds="http://schemas.openxmlformats.org/officeDocument/2006/customXml" ds:itemID="{A96E5B61-051E-4231-8C73-1A0E7A21A2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F8B38C-FFEC-4C44-8D7F-B8940A047B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0426a5-add7-4edc-b55c-242840025848"/>
    <ds:schemaRef ds:uri="991166d0-852a-4f80-8d43-4ba4dcdc28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880</Words>
  <Application>Microsoft Office PowerPoint</Application>
  <PresentationFormat>Widescreen</PresentationFormat>
  <Paragraphs>208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Carlito</vt:lpstr>
      <vt:lpstr>Corbel</vt:lpstr>
      <vt:lpstr>Depth</vt:lpstr>
      <vt:lpstr>PowerPoint Presentation</vt:lpstr>
      <vt:lpstr>PowerPoint Presentation</vt:lpstr>
      <vt:lpstr>An ironclad app guarantees to remote parties  that every instruction it executes adheres to  a high-level security spec.</vt:lpstr>
      <vt:lpstr>PowerPoint Presentation</vt:lpstr>
      <vt:lpstr>Ironclad combines:</vt:lpstr>
      <vt:lpstr>Ironclad combines:</vt:lpstr>
      <vt:lpstr>Ironclad combines:</vt:lpstr>
      <vt:lpstr>Verification  implies:</vt:lpstr>
      <vt:lpstr>Verification  0f Goals</vt:lpstr>
      <vt:lpstr>Verification methodology:</vt:lpstr>
      <vt:lpstr>Verification methodology:</vt:lpstr>
      <vt:lpstr>Verification methodology: Benefits</vt:lpstr>
      <vt:lpstr>PowerPoint Presentation</vt:lpstr>
      <vt:lpstr>PowerPoint Presentation</vt:lpstr>
      <vt:lpstr>PowerPoint Presentation</vt:lpstr>
      <vt:lpstr>PowerPoint Presentation</vt:lpstr>
      <vt:lpstr>Ironclad Apps</vt:lpstr>
      <vt:lpstr>PowerPoint Presentation</vt:lpstr>
      <vt:lpstr>Eval: System size</vt:lpstr>
      <vt:lpstr>Limitations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Ironclad Apps: End-to-End Security via Automated Full-System Verification</dc:title>
  <dc:creator>manisha wa</dc:creator>
  <cp:lastModifiedBy>manisha wa</cp:lastModifiedBy>
  <cp:revision>23</cp:revision>
  <dcterms:created xsi:type="dcterms:W3CDTF">2020-03-13T01:01:32Z</dcterms:created>
  <dcterms:modified xsi:type="dcterms:W3CDTF">2020-03-14T01:15:30Z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0x010100D856337C21E97943B77F703B00F006CC</vt:lpwstr>
  </property>
</Properties>
</file>