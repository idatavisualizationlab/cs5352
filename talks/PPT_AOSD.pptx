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oboto"/>
      <p:regular r:id="rId25"/>
      <p:bold r:id="rId26"/>
      <p:italic r:id="rId27"/>
      <p:boldItalic r:id="rId28"/>
    </p:embeddedFont>
    <p:embeddedFont>
      <p:font typeface="Nuni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italic.fntdata"/><Relationship Id="rId30" Type="http://schemas.openxmlformats.org/officeDocument/2006/relationships/font" Target="fonts/Nunit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Nuni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1" name="Shape 131"/>
        <p:cNvGrpSpPr/>
        <p:nvPr/>
      </p:nvGrpSpPr>
      <p:grpSpPr>
        <a:xfrm>
          <a:off x="0" y="0"/>
          <a:ext cx="0" cy="0"/>
          <a:chOff x="0" y="0"/>
          <a:chExt cx="0" cy="0"/>
        </a:xfrm>
      </p:grpSpPr>
      <p:sp>
        <p:nvSpPr>
          <p:cNvPr id="132" name="Google Shape;132;g816fe12b02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816fe12b02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7" name="Shape 137"/>
        <p:cNvGrpSpPr/>
        <p:nvPr/>
      </p:nvGrpSpPr>
      <p:grpSpPr>
        <a:xfrm>
          <a:off x="0" y="0"/>
          <a:ext cx="0" cy="0"/>
          <a:chOff x="0" y="0"/>
          <a:chExt cx="0" cy="0"/>
        </a:xfrm>
      </p:grpSpPr>
      <p:sp>
        <p:nvSpPr>
          <p:cNvPr id="138" name="Google Shape;138;g816fe12b02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816fe12b02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3" name="Shape 143"/>
        <p:cNvGrpSpPr/>
        <p:nvPr/>
      </p:nvGrpSpPr>
      <p:grpSpPr>
        <a:xfrm>
          <a:off x="0" y="0"/>
          <a:ext cx="0" cy="0"/>
          <a:chOff x="0" y="0"/>
          <a:chExt cx="0" cy="0"/>
        </a:xfrm>
      </p:grpSpPr>
      <p:sp>
        <p:nvSpPr>
          <p:cNvPr id="144" name="Google Shape;144;g816fe12b02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816fe12b02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9" name="Shape 149"/>
        <p:cNvGrpSpPr/>
        <p:nvPr/>
      </p:nvGrpSpPr>
      <p:grpSpPr>
        <a:xfrm>
          <a:off x="0" y="0"/>
          <a:ext cx="0" cy="0"/>
          <a:chOff x="0" y="0"/>
          <a:chExt cx="0" cy="0"/>
        </a:xfrm>
      </p:grpSpPr>
      <p:sp>
        <p:nvSpPr>
          <p:cNvPr id="150" name="Google Shape;150;g816fe12b02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816fe12b02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5" name="Shape 155"/>
        <p:cNvGrpSpPr/>
        <p:nvPr/>
      </p:nvGrpSpPr>
      <p:grpSpPr>
        <a:xfrm>
          <a:off x="0" y="0"/>
          <a:ext cx="0" cy="0"/>
          <a:chOff x="0" y="0"/>
          <a:chExt cx="0" cy="0"/>
        </a:xfrm>
      </p:grpSpPr>
      <p:sp>
        <p:nvSpPr>
          <p:cNvPr id="156" name="Google Shape;156;g816fe12b02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816fe12b02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1" name="Shape 161"/>
        <p:cNvGrpSpPr/>
        <p:nvPr/>
      </p:nvGrpSpPr>
      <p:grpSpPr>
        <a:xfrm>
          <a:off x="0" y="0"/>
          <a:ext cx="0" cy="0"/>
          <a:chOff x="0" y="0"/>
          <a:chExt cx="0" cy="0"/>
        </a:xfrm>
      </p:grpSpPr>
      <p:sp>
        <p:nvSpPr>
          <p:cNvPr id="162" name="Google Shape;162;g816fe12b02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816fe12b02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9" name="Shape 169"/>
        <p:cNvGrpSpPr/>
        <p:nvPr/>
      </p:nvGrpSpPr>
      <p:grpSpPr>
        <a:xfrm>
          <a:off x="0" y="0"/>
          <a:ext cx="0" cy="0"/>
          <a:chOff x="0" y="0"/>
          <a:chExt cx="0" cy="0"/>
        </a:xfrm>
      </p:grpSpPr>
      <p:sp>
        <p:nvSpPr>
          <p:cNvPr id="170" name="Google Shape;170;g816fe12b02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816fe12b02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5" name="Shape 175"/>
        <p:cNvGrpSpPr/>
        <p:nvPr/>
      </p:nvGrpSpPr>
      <p:grpSpPr>
        <a:xfrm>
          <a:off x="0" y="0"/>
          <a:ext cx="0" cy="0"/>
          <a:chOff x="0" y="0"/>
          <a:chExt cx="0" cy="0"/>
        </a:xfrm>
      </p:grpSpPr>
      <p:sp>
        <p:nvSpPr>
          <p:cNvPr id="176" name="Google Shape;176;g816fe12b02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816fe12b02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1" name="Shape 181"/>
        <p:cNvGrpSpPr/>
        <p:nvPr/>
      </p:nvGrpSpPr>
      <p:grpSpPr>
        <a:xfrm>
          <a:off x="0" y="0"/>
          <a:ext cx="0" cy="0"/>
          <a:chOff x="0" y="0"/>
          <a:chExt cx="0" cy="0"/>
        </a:xfrm>
      </p:grpSpPr>
      <p:sp>
        <p:nvSpPr>
          <p:cNvPr id="182" name="Google Shape;182;g816fe12b02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816fe12b02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7" name="Shape 187"/>
        <p:cNvGrpSpPr/>
        <p:nvPr/>
      </p:nvGrpSpPr>
      <p:grpSpPr>
        <a:xfrm>
          <a:off x="0" y="0"/>
          <a:ext cx="0" cy="0"/>
          <a:chOff x="0" y="0"/>
          <a:chExt cx="0" cy="0"/>
        </a:xfrm>
      </p:grpSpPr>
      <p:sp>
        <p:nvSpPr>
          <p:cNvPr id="188" name="Google Shape;188;g816fe12b02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816fe12b02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5" name="Shape 195"/>
        <p:cNvGrpSpPr/>
        <p:nvPr/>
      </p:nvGrpSpPr>
      <p:grpSpPr>
        <a:xfrm>
          <a:off x="0" y="0"/>
          <a:ext cx="0" cy="0"/>
          <a:chOff x="0" y="0"/>
          <a:chExt cx="0" cy="0"/>
        </a:xfrm>
      </p:grpSpPr>
      <p:sp>
        <p:nvSpPr>
          <p:cNvPr id="196" name="Google Shape;196;g816fe12b02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816fe12b02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3" name="Shape 203"/>
        <p:cNvGrpSpPr/>
        <p:nvPr/>
      </p:nvGrpSpPr>
      <p:grpSpPr>
        <a:xfrm>
          <a:off x="0" y="0"/>
          <a:ext cx="0" cy="0"/>
          <a:chOff x="0" y="0"/>
          <a:chExt cx="0" cy="0"/>
        </a:xfrm>
      </p:grpSpPr>
      <p:sp>
        <p:nvSpPr>
          <p:cNvPr id="204" name="Google Shape;204;g816fe12b02_1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816fe12b02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9" name="Shape 209"/>
        <p:cNvGrpSpPr/>
        <p:nvPr/>
      </p:nvGrpSpPr>
      <p:grpSpPr>
        <a:xfrm>
          <a:off x="0" y="0"/>
          <a:ext cx="0" cy="0"/>
          <a:chOff x="0" y="0"/>
          <a:chExt cx="0" cy="0"/>
        </a:xfrm>
      </p:grpSpPr>
      <p:sp>
        <p:nvSpPr>
          <p:cNvPr id="210" name="Google Shape;210;g816fe12b02_1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816fe12b02_1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5" name="Shape 215"/>
        <p:cNvGrpSpPr/>
        <p:nvPr/>
      </p:nvGrpSpPr>
      <p:grpSpPr>
        <a:xfrm>
          <a:off x="0" y="0"/>
          <a:ext cx="0" cy="0"/>
          <a:chOff x="0" y="0"/>
          <a:chExt cx="0" cy="0"/>
        </a:xfrm>
      </p:grpSpPr>
      <p:sp>
        <p:nvSpPr>
          <p:cNvPr id="216" name="Google Shape;216;g816fe12b02_1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816fe12b02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2" name="Shape 222"/>
        <p:cNvGrpSpPr/>
        <p:nvPr/>
      </p:nvGrpSpPr>
      <p:grpSpPr>
        <a:xfrm>
          <a:off x="0" y="0"/>
          <a:ext cx="0" cy="0"/>
          <a:chOff x="0" y="0"/>
          <a:chExt cx="0" cy="0"/>
        </a:xfrm>
      </p:grpSpPr>
      <p:sp>
        <p:nvSpPr>
          <p:cNvPr id="223" name="Google Shape;223;g816fe12b02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816fe12b02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8" name="Shape 228"/>
        <p:cNvGrpSpPr/>
        <p:nvPr/>
      </p:nvGrpSpPr>
      <p:grpSpPr>
        <a:xfrm>
          <a:off x="0" y="0"/>
          <a:ext cx="0" cy="0"/>
          <a:chOff x="0" y="0"/>
          <a:chExt cx="0" cy="0"/>
        </a:xfrm>
      </p:grpSpPr>
      <p:sp>
        <p:nvSpPr>
          <p:cNvPr id="229" name="Google Shape;229;g816fe12b02_1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816fe12b02_1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5" name="Shape 235"/>
        <p:cNvGrpSpPr/>
        <p:nvPr/>
      </p:nvGrpSpPr>
      <p:grpSpPr>
        <a:xfrm>
          <a:off x="0" y="0"/>
          <a:ext cx="0" cy="0"/>
          <a:chOff x="0" y="0"/>
          <a:chExt cx="0" cy="0"/>
        </a:xfrm>
      </p:grpSpPr>
      <p:sp>
        <p:nvSpPr>
          <p:cNvPr id="236" name="Google Shape;236;g816fe12b02_1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816fe12b02_1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1" name="Shape 241"/>
        <p:cNvGrpSpPr/>
        <p:nvPr/>
      </p:nvGrpSpPr>
      <p:grpSpPr>
        <a:xfrm>
          <a:off x="0" y="0"/>
          <a:ext cx="0" cy="0"/>
          <a:chOff x="0" y="0"/>
          <a:chExt cx="0" cy="0"/>
        </a:xfrm>
      </p:grpSpPr>
      <p:sp>
        <p:nvSpPr>
          <p:cNvPr id="242" name="Google Shape;242;g816fe12b02_1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816fe12b02_1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Autofit/>
          </a:bodyPr>
          <a:lstStyle>
            <a:lvl1pPr indent="-311150" lvl="0" marL="457200" algn="ctr">
              <a:spcBef>
                <a:spcPts val="0"/>
              </a:spcBef>
              <a:spcAft>
                <a:spcPts val="0"/>
              </a:spcAft>
              <a:buSzPts val="1300"/>
              <a:buChar char="●"/>
              <a:defRPr/>
            </a:lvl1pPr>
            <a:lvl2pPr indent="-298450" lvl="1" marL="914400" algn="ctr">
              <a:spcBef>
                <a:spcPts val="1600"/>
              </a:spcBef>
              <a:spcAft>
                <a:spcPts val="0"/>
              </a:spcAft>
              <a:buSzPts val="1100"/>
              <a:buChar char="○"/>
              <a:defRPr/>
            </a:lvl2pPr>
            <a:lvl3pPr indent="-298450" lvl="2" marL="1371600" algn="ctr">
              <a:spcBef>
                <a:spcPts val="1600"/>
              </a:spcBef>
              <a:spcAft>
                <a:spcPts val="0"/>
              </a:spcAft>
              <a:buSzPts val="1100"/>
              <a:buChar char="■"/>
              <a:defRPr/>
            </a:lvl3pPr>
            <a:lvl4pPr indent="-298450" lvl="3" marL="1828800" algn="ctr">
              <a:spcBef>
                <a:spcPts val="1600"/>
              </a:spcBef>
              <a:spcAft>
                <a:spcPts val="0"/>
              </a:spcAft>
              <a:buSzPts val="1100"/>
              <a:buChar char="●"/>
              <a:defRPr/>
            </a:lvl4pPr>
            <a:lvl5pPr indent="-298450" lvl="4" marL="2286000" algn="ctr">
              <a:spcBef>
                <a:spcPts val="1600"/>
              </a:spcBef>
              <a:spcAft>
                <a:spcPts val="0"/>
              </a:spcAft>
              <a:buSzPts val="1100"/>
              <a:buChar char="○"/>
              <a:defRPr/>
            </a:lvl5pPr>
            <a:lvl6pPr indent="-298450" lvl="5" marL="2743200" algn="ctr">
              <a:spcBef>
                <a:spcPts val="1600"/>
              </a:spcBef>
              <a:spcAft>
                <a:spcPts val="0"/>
              </a:spcAft>
              <a:buSzPts val="1100"/>
              <a:buChar char="■"/>
              <a:defRPr/>
            </a:lvl6pPr>
            <a:lvl7pPr indent="-298450" lvl="6" marL="3200400" algn="ctr">
              <a:spcBef>
                <a:spcPts val="1600"/>
              </a:spcBef>
              <a:spcAft>
                <a:spcPts val="0"/>
              </a:spcAft>
              <a:buSzPts val="1100"/>
              <a:buChar char="●"/>
              <a:defRPr/>
            </a:lvl7pPr>
            <a:lvl8pPr indent="-298450" lvl="7" marL="3657600" algn="ctr">
              <a:spcBef>
                <a:spcPts val="1600"/>
              </a:spcBef>
              <a:spcAft>
                <a:spcPts val="0"/>
              </a:spcAft>
              <a:buSzPts val="1100"/>
              <a:buChar char="○"/>
              <a:defRPr/>
            </a:lvl8pPr>
            <a:lvl9pPr indent="-298450" lvl="8" marL="4114800" algn="ctr">
              <a:spcBef>
                <a:spcPts val="1600"/>
              </a:spcBef>
              <a:spcAft>
                <a:spcPts val="160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1600"/>
              </a:spcBef>
              <a:spcAft>
                <a:spcPts val="160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239125" y="3277475"/>
            <a:ext cx="8520600" cy="128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6"/>
                </a:solidFill>
                <a:latin typeface="Times New Roman"/>
                <a:ea typeface="Times New Roman"/>
                <a:cs typeface="Times New Roman"/>
                <a:sym typeface="Times New Roman"/>
              </a:rPr>
              <a:t>Automated Performance Modeling of HPC Applications Using Machine Learning</a:t>
            </a:r>
            <a:endParaRPr b="1">
              <a:solidFill>
                <a:schemeClr val="accent6"/>
              </a:solidFill>
              <a:latin typeface="Times New Roman"/>
              <a:ea typeface="Times New Roman"/>
              <a:cs typeface="Times New Roman"/>
              <a:sym typeface="Times New Roman"/>
            </a:endParaRPr>
          </a:p>
          <a:p>
            <a:pPr indent="0" lvl="0" marL="0" rtl="0" algn="ctr">
              <a:spcBef>
                <a:spcPts val="0"/>
              </a:spcBef>
              <a:spcAft>
                <a:spcPts val="0"/>
              </a:spcAft>
              <a:buNone/>
            </a:pPr>
            <a:r>
              <a:t/>
            </a:r>
            <a:endParaRPr>
              <a:latin typeface="Times New Roman"/>
              <a:ea typeface="Times New Roman"/>
              <a:cs typeface="Times New Roman"/>
              <a:sym typeface="Times New Roman"/>
            </a:endParaRPr>
          </a:p>
          <a:p>
            <a:pPr indent="0" lvl="0" marL="0" rtl="0" algn="ctr">
              <a:spcBef>
                <a:spcPts val="0"/>
              </a:spcBef>
              <a:spcAft>
                <a:spcPts val="0"/>
              </a:spcAft>
              <a:buNone/>
            </a:pPr>
            <a:r>
              <a:t/>
            </a:r>
            <a:endParaRPr>
              <a:latin typeface="Times New Roman"/>
              <a:ea typeface="Times New Roman"/>
              <a:cs typeface="Times New Roman"/>
              <a:sym typeface="Times New Roman"/>
            </a:endParaRPr>
          </a:p>
          <a:p>
            <a:pPr indent="0" lvl="0" marL="0" rtl="0" algn="ctr">
              <a:spcBef>
                <a:spcPts val="0"/>
              </a:spcBef>
              <a:spcAft>
                <a:spcPts val="0"/>
              </a:spcAft>
              <a:buNone/>
            </a:pPr>
            <a:r>
              <a:t/>
            </a:r>
            <a:endParaRPr>
              <a:latin typeface="Times New Roman"/>
              <a:ea typeface="Times New Roman"/>
              <a:cs typeface="Times New Roman"/>
              <a:sym typeface="Times New Roman"/>
            </a:endParaRPr>
          </a:p>
          <a:p>
            <a:pPr indent="0" lvl="0" marL="0" rtl="0" algn="ctr">
              <a:spcBef>
                <a:spcPts val="0"/>
              </a:spcBef>
              <a:spcAft>
                <a:spcPts val="0"/>
              </a:spcAft>
              <a:buNone/>
            </a:pPr>
            <a:r>
              <a:t/>
            </a:r>
            <a:endParaRPr>
              <a:latin typeface="Times New Roman"/>
              <a:ea typeface="Times New Roman"/>
              <a:cs typeface="Times New Roman"/>
              <a:sym typeface="Times New Roman"/>
            </a:endParaRPr>
          </a:p>
          <a:p>
            <a:pPr indent="0" lvl="0" marL="457200" rtl="0" algn="ctr">
              <a:spcBef>
                <a:spcPts val="0"/>
              </a:spcBef>
              <a:spcAft>
                <a:spcPts val="0"/>
              </a:spcAft>
              <a:buNone/>
            </a:pPr>
            <a:r>
              <a:t/>
            </a:r>
            <a:endParaRPr>
              <a:solidFill>
                <a:srgbClr val="FFFFFF"/>
              </a:solidFill>
              <a:latin typeface="Times New Roman"/>
              <a:ea typeface="Times New Roman"/>
              <a:cs typeface="Times New Roman"/>
              <a:sym typeface="Times New Roman"/>
            </a:endParaRPr>
          </a:p>
        </p:txBody>
      </p:sp>
      <p:sp>
        <p:nvSpPr>
          <p:cNvPr id="129" name="Google Shape;129;p13"/>
          <p:cNvSpPr txBox="1"/>
          <p:nvPr/>
        </p:nvSpPr>
        <p:spPr>
          <a:xfrm>
            <a:off x="4354450" y="4378550"/>
            <a:ext cx="4862400" cy="680400"/>
          </a:xfrm>
          <a:prstGeom prst="rect">
            <a:avLst/>
          </a:prstGeom>
          <a:noFill/>
          <a:ln>
            <a:noFill/>
          </a:ln>
        </p:spPr>
        <p:txBody>
          <a:bodyPr anchorCtr="0" anchor="t" bIns="91425" lIns="91425" spcFirstLastPara="1" rIns="91425" wrap="square" tIns="91425">
            <a:noAutofit/>
          </a:bodyPr>
          <a:lstStyle/>
          <a:p>
            <a:pPr indent="-381000" lvl="0" marL="457200" rtl="0" algn="ctr">
              <a:spcBef>
                <a:spcPts val="0"/>
              </a:spcBef>
              <a:spcAft>
                <a:spcPts val="0"/>
              </a:spcAft>
              <a:buClr>
                <a:srgbClr val="FFFFFF"/>
              </a:buClr>
              <a:buSzPts val="2400"/>
              <a:buFont typeface="Roboto"/>
              <a:buChar char="-"/>
            </a:pPr>
            <a:r>
              <a:rPr b="1" lang="en" sz="2400">
                <a:solidFill>
                  <a:srgbClr val="FFFFFF"/>
                </a:solidFill>
                <a:latin typeface="Roboto"/>
                <a:ea typeface="Roboto"/>
                <a:cs typeface="Roboto"/>
                <a:sym typeface="Roboto"/>
              </a:rPr>
              <a:t>Dhruv Chetan Mehta</a:t>
            </a:r>
            <a:endParaRPr b="1" sz="2400">
              <a:solidFill>
                <a:srgbClr val="FFFFFF"/>
              </a:solidFill>
              <a:latin typeface="Roboto"/>
              <a:ea typeface="Roboto"/>
              <a:cs typeface="Roboto"/>
              <a:sym typeface="Roboto"/>
            </a:endParaRPr>
          </a:p>
        </p:txBody>
      </p:sp>
      <p:sp>
        <p:nvSpPr>
          <p:cNvPr id="130" name="Google Shape;130;p13"/>
          <p:cNvSpPr txBox="1"/>
          <p:nvPr/>
        </p:nvSpPr>
        <p:spPr>
          <a:xfrm>
            <a:off x="5379525" y="4305950"/>
            <a:ext cx="3438300" cy="535200"/>
          </a:xfrm>
          <a:prstGeom prst="rect">
            <a:avLst/>
          </a:prstGeom>
          <a:noFill/>
          <a:ln>
            <a:noFill/>
          </a:ln>
        </p:spPr>
        <p:txBody>
          <a:bodyPr anchorCtr="0" anchor="t" bIns="91425" lIns="91425" spcFirstLastPara="1" rIns="91425" wrap="square" tIns="91425">
            <a:noAutofit/>
          </a:bodyPr>
          <a:lstStyle/>
          <a:p>
            <a:pPr indent="-381000" lvl="0" marL="457200" rtl="0" algn="l">
              <a:spcBef>
                <a:spcPts val="0"/>
              </a:spcBef>
              <a:spcAft>
                <a:spcPts val="0"/>
              </a:spcAft>
              <a:buClr>
                <a:schemeClr val="lt1"/>
              </a:buClr>
              <a:buSzPts val="2400"/>
              <a:buFont typeface="Times New Roman"/>
              <a:buChar char="-"/>
            </a:pPr>
            <a:r>
              <a:rPr b="1" lang="en" sz="2400">
                <a:solidFill>
                  <a:schemeClr val="lt1"/>
                </a:solidFill>
                <a:latin typeface="Times New Roman"/>
                <a:ea typeface="Times New Roman"/>
                <a:cs typeface="Times New Roman"/>
                <a:sym typeface="Times New Roman"/>
              </a:rPr>
              <a:t>Dhruv Chetan Mehta</a:t>
            </a:r>
            <a:endParaRPr b="1" sz="2400">
              <a:solidFill>
                <a:schemeClr val="lt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4" name="Shape 134"/>
        <p:cNvGrpSpPr/>
        <p:nvPr/>
      </p:nvGrpSpPr>
      <p:grpSpPr>
        <a:xfrm>
          <a:off x="0" y="0"/>
          <a:ext cx="0" cy="0"/>
          <a:chOff x="0" y="0"/>
          <a:chExt cx="0" cy="0"/>
        </a:xfrm>
      </p:grpSpPr>
      <p:sp>
        <p:nvSpPr>
          <p:cNvPr id="135" name="Google Shape;135;p14"/>
          <p:cNvSpPr txBox="1"/>
          <p:nvPr>
            <p:ph type="title"/>
          </p:nvPr>
        </p:nvSpPr>
        <p:spPr>
          <a:xfrm>
            <a:off x="732125" y="2354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6"/>
                </a:solidFill>
                <a:latin typeface="Times New Roman"/>
                <a:ea typeface="Times New Roman"/>
                <a:cs typeface="Times New Roman"/>
                <a:sym typeface="Times New Roman"/>
              </a:rPr>
              <a:t>Content </a:t>
            </a:r>
            <a:endParaRPr b="1" sz="2400">
              <a:solidFill>
                <a:schemeClr val="accent6"/>
              </a:solidFill>
              <a:latin typeface="Times New Roman"/>
              <a:ea typeface="Times New Roman"/>
              <a:cs typeface="Times New Roman"/>
              <a:sym typeface="Times New Roman"/>
            </a:endParaRPr>
          </a:p>
        </p:txBody>
      </p:sp>
      <p:sp>
        <p:nvSpPr>
          <p:cNvPr id="136" name="Google Shape;136;p14"/>
          <p:cNvSpPr txBox="1"/>
          <p:nvPr>
            <p:ph idx="1" type="body"/>
          </p:nvPr>
        </p:nvSpPr>
        <p:spPr>
          <a:xfrm>
            <a:off x="819150" y="629750"/>
            <a:ext cx="7505700" cy="3966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lt1"/>
              </a:buClr>
              <a:buSzPts val="1800"/>
              <a:buFont typeface="Times New Roman"/>
              <a:buAutoNum type="arabicPeriod"/>
            </a:pPr>
            <a:r>
              <a:rPr lang="en" sz="1800">
                <a:solidFill>
                  <a:schemeClr val="lt1"/>
                </a:solidFill>
                <a:latin typeface="Times New Roman"/>
                <a:ea typeface="Times New Roman"/>
                <a:cs typeface="Times New Roman"/>
                <a:sym typeface="Times New Roman"/>
              </a:rPr>
              <a:t>Performance Modeling</a:t>
            </a:r>
            <a:endParaRPr sz="1800">
              <a:solidFill>
                <a:schemeClr val="lt1"/>
              </a:solidFill>
              <a:latin typeface="Times New Roman"/>
              <a:ea typeface="Times New Roman"/>
              <a:cs typeface="Times New Roman"/>
              <a:sym typeface="Times New Roman"/>
            </a:endParaRPr>
          </a:p>
          <a:p>
            <a:pPr indent="-342900" lvl="0" marL="457200" rtl="0" algn="l">
              <a:spcBef>
                <a:spcPts val="0"/>
              </a:spcBef>
              <a:spcAft>
                <a:spcPts val="0"/>
              </a:spcAft>
              <a:buClr>
                <a:schemeClr val="lt1"/>
              </a:buClr>
              <a:buSzPts val="1800"/>
              <a:buFont typeface="Times New Roman"/>
              <a:buAutoNum type="arabicPeriod"/>
            </a:pPr>
            <a:r>
              <a:rPr lang="en" sz="1800">
                <a:solidFill>
                  <a:schemeClr val="lt1"/>
                </a:solidFill>
                <a:latin typeface="Times New Roman"/>
                <a:ea typeface="Times New Roman"/>
                <a:cs typeface="Times New Roman"/>
                <a:sym typeface="Times New Roman"/>
              </a:rPr>
              <a:t>HPC (High-Performance Computing)</a:t>
            </a:r>
            <a:endParaRPr sz="1800">
              <a:solidFill>
                <a:schemeClr val="lt1"/>
              </a:solidFill>
              <a:latin typeface="Times New Roman"/>
              <a:ea typeface="Times New Roman"/>
              <a:cs typeface="Times New Roman"/>
              <a:sym typeface="Times New Roman"/>
            </a:endParaRPr>
          </a:p>
          <a:p>
            <a:pPr indent="-342900" lvl="0" marL="457200" rtl="0" algn="l">
              <a:spcBef>
                <a:spcPts val="0"/>
              </a:spcBef>
              <a:spcAft>
                <a:spcPts val="0"/>
              </a:spcAft>
              <a:buClr>
                <a:schemeClr val="lt1"/>
              </a:buClr>
              <a:buSzPts val="1800"/>
              <a:buFont typeface="Times New Roman"/>
              <a:buAutoNum type="arabicPeriod"/>
            </a:pPr>
            <a:r>
              <a:rPr lang="en" sz="1800">
                <a:solidFill>
                  <a:schemeClr val="lt1"/>
                </a:solidFill>
                <a:latin typeface="Times New Roman"/>
                <a:ea typeface="Times New Roman"/>
                <a:cs typeface="Times New Roman"/>
                <a:sym typeface="Times New Roman"/>
              </a:rPr>
              <a:t>Review of Literature</a:t>
            </a:r>
            <a:endParaRPr sz="1800">
              <a:solidFill>
                <a:schemeClr val="lt1"/>
              </a:solidFill>
              <a:latin typeface="Times New Roman"/>
              <a:ea typeface="Times New Roman"/>
              <a:cs typeface="Times New Roman"/>
              <a:sym typeface="Times New Roman"/>
            </a:endParaRPr>
          </a:p>
          <a:p>
            <a:pPr indent="-342900" lvl="0" marL="457200" rtl="0" algn="l">
              <a:spcBef>
                <a:spcPts val="0"/>
              </a:spcBef>
              <a:spcAft>
                <a:spcPts val="0"/>
              </a:spcAft>
              <a:buClr>
                <a:schemeClr val="lt1"/>
              </a:buClr>
              <a:buSzPts val="1800"/>
              <a:buFont typeface="Times New Roman"/>
              <a:buAutoNum type="arabicPeriod"/>
            </a:pPr>
            <a:r>
              <a:rPr lang="en" sz="1800">
                <a:solidFill>
                  <a:schemeClr val="lt1"/>
                </a:solidFill>
                <a:latin typeface="Times New Roman"/>
                <a:ea typeface="Times New Roman"/>
                <a:cs typeface="Times New Roman"/>
                <a:sym typeface="Times New Roman"/>
              </a:rPr>
              <a:t>Automated Performance Modeling</a:t>
            </a:r>
            <a:endParaRPr sz="1800">
              <a:solidFill>
                <a:schemeClr val="lt1"/>
              </a:solidFill>
              <a:latin typeface="Times New Roman"/>
              <a:ea typeface="Times New Roman"/>
              <a:cs typeface="Times New Roman"/>
              <a:sym typeface="Times New Roman"/>
            </a:endParaRPr>
          </a:p>
          <a:p>
            <a:pPr indent="-342900" lvl="0" marL="457200" rtl="0" algn="l">
              <a:spcBef>
                <a:spcPts val="0"/>
              </a:spcBef>
              <a:spcAft>
                <a:spcPts val="0"/>
              </a:spcAft>
              <a:buClr>
                <a:schemeClr val="lt1"/>
              </a:buClr>
              <a:buSzPts val="1800"/>
              <a:buFont typeface="Times New Roman"/>
              <a:buAutoNum type="arabicPeriod"/>
            </a:pPr>
            <a:r>
              <a:rPr lang="en" sz="1800">
                <a:solidFill>
                  <a:schemeClr val="lt1"/>
                </a:solidFill>
                <a:latin typeface="Times New Roman"/>
                <a:ea typeface="Times New Roman"/>
                <a:cs typeface="Times New Roman"/>
                <a:sym typeface="Times New Roman"/>
              </a:rPr>
              <a:t>Main Idea of the Paper</a:t>
            </a:r>
            <a:endParaRPr sz="1800">
              <a:solidFill>
                <a:schemeClr val="lt1"/>
              </a:solidFill>
              <a:latin typeface="Times New Roman"/>
              <a:ea typeface="Times New Roman"/>
              <a:cs typeface="Times New Roman"/>
              <a:sym typeface="Times New Roman"/>
            </a:endParaRPr>
          </a:p>
          <a:p>
            <a:pPr indent="-342900" lvl="0" marL="457200" rtl="0" algn="l">
              <a:spcBef>
                <a:spcPts val="0"/>
              </a:spcBef>
              <a:spcAft>
                <a:spcPts val="0"/>
              </a:spcAft>
              <a:buClr>
                <a:schemeClr val="lt1"/>
              </a:buClr>
              <a:buSzPts val="1800"/>
              <a:buFont typeface="Times New Roman"/>
              <a:buAutoNum type="arabicPeriod"/>
            </a:pPr>
            <a:r>
              <a:rPr lang="en" sz="1800">
                <a:solidFill>
                  <a:schemeClr val="lt1"/>
                </a:solidFill>
                <a:latin typeface="Times New Roman"/>
                <a:ea typeface="Times New Roman"/>
                <a:cs typeface="Times New Roman"/>
                <a:sym typeface="Times New Roman"/>
              </a:rPr>
              <a:t>Architecture</a:t>
            </a:r>
            <a:endParaRPr sz="1800">
              <a:solidFill>
                <a:schemeClr val="lt1"/>
              </a:solidFill>
              <a:latin typeface="Times New Roman"/>
              <a:ea typeface="Times New Roman"/>
              <a:cs typeface="Times New Roman"/>
              <a:sym typeface="Times New Roman"/>
            </a:endParaRPr>
          </a:p>
          <a:p>
            <a:pPr indent="-342900" lvl="0" marL="457200" rtl="0" algn="l">
              <a:spcBef>
                <a:spcPts val="0"/>
              </a:spcBef>
              <a:spcAft>
                <a:spcPts val="0"/>
              </a:spcAft>
              <a:buClr>
                <a:schemeClr val="lt1"/>
              </a:buClr>
              <a:buSzPts val="1800"/>
              <a:buFont typeface="Times New Roman"/>
              <a:buAutoNum type="arabicPeriod"/>
            </a:pPr>
            <a:r>
              <a:rPr lang="en" sz="1800">
                <a:solidFill>
                  <a:schemeClr val="lt1"/>
                </a:solidFill>
                <a:latin typeface="Times New Roman"/>
                <a:ea typeface="Times New Roman"/>
                <a:cs typeface="Times New Roman"/>
                <a:sym typeface="Times New Roman"/>
              </a:rPr>
              <a:t>Architecture of the Training Phase </a:t>
            </a:r>
            <a:endParaRPr sz="1800">
              <a:solidFill>
                <a:schemeClr val="lt1"/>
              </a:solidFill>
              <a:latin typeface="Times New Roman"/>
              <a:ea typeface="Times New Roman"/>
              <a:cs typeface="Times New Roman"/>
              <a:sym typeface="Times New Roman"/>
            </a:endParaRPr>
          </a:p>
          <a:p>
            <a:pPr indent="-342900" lvl="0" marL="457200" rtl="0" algn="l">
              <a:spcBef>
                <a:spcPts val="0"/>
              </a:spcBef>
              <a:spcAft>
                <a:spcPts val="0"/>
              </a:spcAft>
              <a:buClr>
                <a:schemeClr val="lt1"/>
              </a:buClr>
              <a:buSzPts val="1800"/>
              <a:buFont typeface="Times New Roman"/>
              <a:buAutoNum type="arabicPeriod"/>
            </a:pPr>
            <a:r>
              <a:rPr lang="en" sz="1800">
                <a:solidFill>
                  <a:schemeClr val="lt1"/>
                </a:solidFill>
                <a:latin typeface="Times New Roman"/>
                <a:ea typeface="Times New Roman"/>
                <a:cs typeface="Times New Roman"/>
                <a:sym typeface="Times New Roman"/>
              </a:rPr>
              <a:t>Architecture of the Predicting Phase</a:t>
            </a:r>
            <a:endParaRPr sz="1800">
              <a:solidFill>
                <a:schemeClr val="lt1"/>
              </a:solidFill>
              <a:latin typeface="Times New Roman"/>
              <a:ea typeface="Times New Roman"/>
              <a:cs typeface="Times New Roman"/>
              <a:sym typeface="Times New Roman"/>
            </a:endParaRPr>
          </a:p>
          <a:p>
            <a:pPr indent="-342900" lvl="0" marL="457200" rtl="0" algn="l">
              <a:spcBef>
                <a:spcPts val="0"/>
              </a:spcBef>
              <a:spcAft>
                <a:spcPts val="0"/>
              </a:spcAft>
              <a:buClr>
                <a:schemeClr val="lt1"/>
              </a:buClr>
              <a:buSzPts val="1800"/>
              <a:buFont typeface="Times New Roman"/>
              <a:buAutoNum type="arabicPeriod"/>
            </a:pPr>
            <a:r>
              <a:rPr lang="en" sz="1800">
                <a:solidFill>
                  <a:schemeClr val="lt1"/>
                </a:solidFill>
                <a:latin typeface="Times New Roman"/>
                <a:ea typeface="Times New Roman"/>
                <a:cs typeface="Times New Roman"/>
                <a:sym typeface="Times New Roman"/>
              </a:rPr>
              <a:t>Results</a:t>
            </a: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0" name="Shape 140"/>
        <p:cNvGrpSpPr/>
        <p:nvPr/>
      </p:nvGrpSpPr>
      <p:grpSpPr>
        <a:xfrm>
          <a:off x="0" y="0"/>
          <a:ext cx="0" cy="0"/>
          <a:chOff x="0" y="0"/>
          <a:chExt cx="0" cy="0"/>
        </a:xfrm>
      </p:grpSpPr>
      <p:sp>
        <p:nvSpPr>
          <p:cNvPr id="141" name="Google Shape;141;p15"/>
          <p:cNvSpPr txBox="1"/>
          <p:nvPr>
            <p:ph type="title"/>
          </p:nvPr>
        </p:nvSpPr>
        <p:spPr>
          <a:xfrm>
            <a:off x="773800" y="25095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6"/>
                </a:solidFill>
                <a:latin typeface="Times New Roman"/>
                <a:ea typeface="Times New Roman"/>
                <a:cs typeface="Times New Roman"/>
                <a:sym typeface="Times New Roman"/>
              </a:rPr>
              <a:t>Performance Modeling </a:t>
            </a:r>
            <a:endParaRPr b="1" sz="2400">
              <a:solidFill>
                <a:schemeClr val="accent6"/>
              </a:solidFill>
              <a:latin typeface="Times New Roman"/>
              <a:ea typeface="Times New Roman"/>
              <a:cs typeface="Times New Roman"/>
              <a:sym typeface="Times New Roman"/>
            </a:endParaRPr>
          </a:p>
        </p:txBody>
      </p:sp>
      <p:sp>
        <p:nvSpPr>
          <p:cNvPr id="142" name="Google Shape;142;p15"/>
          <p:cNvSpPr txBox="1"/>
          <p:nvPr>
            <p:ph idx="1" type="body"/>
          </p:nvPr>
        </p:nvSpPr>
        <p:spPr>
          <a:xfrm>
            <a:off x="819150" y="663125"/>
            <a:ext cx="7505700" cy="3934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lt1"/>
              </a:buClr>
              <a:buSzPts val="1800"/>
              <a:buFont typeface="Times New Roman"/>
              <a:buAutoNum type="arabicPeriod"/>
            </a:pPr>
            <a:r>
              <a:rPr lang="en" sz="1800">
                <a:solidFill>
                  <a:schemeClr val="lt1"/>
                </a:solidFill>
                <a:highlight>
                  <a:srgbClr val="FFFFFF"/>
                </a:highlight>
                <a:latin typeface="Times New Roman"/>
                <a:ea typeface="Times New Roman"/>
                <a:cs typeface="Times New Roman"/>
                <a:sym typeface="Times New Roman"/>
              </a:rPr>
              <a:t>Modelling means prediction i.e. estimating the performance of a new system, estimating the impact of change on an existing system or estimating the impact of a change of workload on an existing system</a:t>
            </a:r>
            <a:endParaRPr sz="1800">
              <a:solidFill>
                <a:schemeClr val="lt1"/>
              </a:solidFill>
              <a:highlight>
                <a:srgbClr val="FFFFFF"/>
              </a:highlight>
              <a:latin typeface="Times New Roman"/>
              <a:ea typeface="Times New Roman"/>
              <a:cs typeface="Times New Roman"/>
              <a:sym typeface="Times New Roman"/>
            </a:endParaRPr>
          </a:p>
          <a:p>
            <a:pPr indent="-342900" lvl="0" marL="457200" rtl="0" algn="l">
              <a:spcBef>
                <a:spcPts val="0"/>
              </a:spcBef>
              <a:spcAft>
                <a:spcPts val="0"/>
              </a:spcAft>
              <a:buClr>
                <a:schemeClr val="lt1"/>
              </a:buClr>
              <a:buSzPts val="1800"/>
              <a:buFont typeface="Times New Roman"/>
              <a:buAutoNum type="arabicPeriod"/>
            </a:pPr>
            <a:r>
              <a:rPr lang="en" sz="1800">
                <a:solidFill>
                  <a:schemeClr val="lt1"/>
                </a:solidFill>
                <a:highlight>
                  <a:srgbClr val="FFFFFF"/>
                </a:highlight>
                <a:latin typeface="Times New Roman"/>
                <a:ea typeface="Times New Roman"/>
                <a:cs typeface="Times New Roman"/>
                <a:sym typeface="Times New Roman"/>
              </a:rPr>
              <a:t>Performance modeling and analysis has been and continues to be of great practical and theoretical importance in research labs in the design, development and optimization of computer and communication systems and applications</a:t>
            </a:r>
            <a:endParaRPr sz="1800">
              <a:solidFill>
                <a:schemeClr val="lt1"/>
              </a:solidFill>
              <a:highlight>
                <a:srgbClr val="FFFFFF"/>
              </a:highlight>
              <a:latin typeface="Times New Roman"/>
              <a:ea typeface="Times New Roman"/>
              <a:cs typeface="Times New Roman"/>
              <a:sym typeface="Times New Roman"/>
            </a:endParaRPr>
          </a:p>
          <a:p>
            <a:pPr indent="-342900" lvl="0" marL="457200" rtl="0" algn="l">
              <a:spcBef>
                <a:spcPts val="0"/>
              </a:spcBef>
              <a:spcAft>
                <a:spcPts val="0"/>
              </a:spcAft>
              <a:buClr>
                <a:schemeClr val="lt1"/>
              </a:buClr>
              <a:buSzPts val="1800"/>
              <a:buFont typeface="Times New Roman"/>
              <a:buAutoNum type="arabicPeriod"/>
            </a:pPr>
            <a:r>
              <a:rPr lang="en" sz="1800">
                <a:solidFill>
                  <a:schemeClr val="lt1"/>
                </a:solidFill>
                <a:highlight>
                  <a:srgbClr val="FFFFFF"/>
                </a:highlight>
                <a:latin typeface="Times New Roman"/>
                <a:ea typeface="Times New Roman"/>
                <a:cs typeface="Times New Roman"/>
                <a:sym typeface="Times New Roman"/>
              </a:rPr>
              <a:t>Includes a broad spectrum of research activities from the use of more empirical methods (ranging from experimental tweaking of simple existing models up to building and experimenting with prototype implementations) through the use of simulation to more sophisticated mathematical methods</a:t>
            </a: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6" name="Shape 146"/>
        <p:cNvGrpSpPr/>
        <p:nvPr/>
      </p:nvGrpSpPr>
      <p:grpSpPr>
        <a:xfrm>
          <a:off x="0" y="0"/>
          <a:ext cx="0" cy="0"/>
          <a:chOff x="0" y="0"/>
          <a:chExt cx="0" cy="0"/>
        </a:xfrm>
      </p:grpSpPr>
      <p:sp>
        <p:nvSpPr>
          <p:cNvPr id="147" name="Google Shape;147;p16"/>
          <p:cNvSpPr txBox="1"/>
          <p:nvPr>
            <p:ph type="title"/>
          </p:nvPr>
        </p:nvSpPr>
        <p:spPr>
          <a:xfrm>
            <a:off x="773800" y="346675"/>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6"/>
                </a:solidFill>
                <a:latin typeface="Times New Roman"/>
                <a:ea typeface="Times New Roman"/>
                <a:cs typeface="Times New Roman"/>
                <a:sym typeface="Times New Roman"/>
              </a:rPr>
              <a:t>HPC (High-Performance Computing) </a:t>
            </a:r>
            <a:endParaRPr b="1" sz="2400">
              <a:solidFill>
                <a:schemeClr val="accent6"/>
              </a:solidFill>
              <a:latin typeface="Times New Roman"/>
              <a:ea typeface="Times New Roman"/>
              <a:cs typeface="Times New Roman"/>
              <a:sym typeface="Times New Roman"/>
            </a:endParaRPr>
          </a:p>
        </p:txBody>
      </p:sp>
      <p:sp>
        <p:nvSpPr>
          <p:cNvPr id="148" name="Google Shape;148;p16"/>
          <p:cNvSpPr txBox="1"/>
          <p:nvPr>
            <p:ph idx="1" type="body"/>
          </p:nvPr>
        </p:nvSpPr>
        <p:spPr>
          <a:xfrm>
            <a:off x="819150" y="802375"/>
            <a:ext cx="7505700" cy="3981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lt1"/>
              </a:buClr>
              <a:buSzPts val="1800"/>
              <a:buFont typeface="Times New Roman"/>
              <a:buAutoNum type="arabicPeriod"/>
            </a:pPr>
            <a:r>
              <a:rPr lang="en" sz="1800">
                <a:solidFill>
                  <a:schemeClr val="lt1"/>
                </a:solidFill>
                <a:latin typeface="Times New Roman"/>
                <a:ea typeface="Times New Roman"/>
                <a:cs typeface="Times New Roman"/>
                <a:sym typeface="Times New Roman"/>
              </a:rPr>
              <a:t>Practice of aggregating computing power that delivers a much higher performance than one could get out of a typical computer </a:t>
            </a:r>
            <a:endParaRPr sz="1800">
              <a:solidFill>
                <a:schemeClr val="lt1"/>
              </a:solidFill>
              <a:latin typeface="Times New Roman"/>
              <a:ea typeface="Times New Roman"/>
              <a:cs typeface="Times New Roman"/>
              <a:sym typeface="Times New Roman"/>
            </a:endParaRPr>
          </a:p>
          <a:p>
            <a:pPr indent="-342900" lvl="0" marL="457200" rtl="0" algn="l">
              <a:spcBef>
                <a:spcPts val="0"/>
              </a:spcBef>
              <a:spcAft>
                <a:spcPts val="0"/>
              </a:spcAft>
              <a:buClr>
                <a:schemeClr val="lt1"/>
              </a:buClr>
              <a:buSzPts val="1800"/>
              <a:buFont typeface="Times New Roman"/>
              <a:buAutoNum type="arabicPeriod"/>
            </a:pPr>
            <a:r>
              <a:rPr lang="en" sz="1800">
                <a:solidFill>
                  <a:schemeClr val="lt1"/>
                </a:solidFill>
                <a:highlight>
                  <a:srgbClr val="FFFFFF"/>
                </a:highlight>
                <a:latin typeface="Times New Roman"/>
                <a:ea typeface="Times New Roman"/>
                <a:cs typeface="Times New Roman"/>
                <a:sym typeface="Times New Roman"/>
              </a:rPr>
              <a:t>HPC brings together several technologies such as computer architecture, algorithms, programs and electronics, and system software under a single canopy to solve advanced problems effectively and quickly</a:t>
            </a:r>
            <a:endParaRPr sz="1800">
              <a:solidFill>
                <a:schemeClr val="lt1"/>
              </a:solidFill>
              <a:highlight>
                <a:srgbClr val="FFFFFF"/>
              </a:highlight>
              <a:latin typeface="Times New Roman"/>
              <a:ea typeface="Times New Roman"/>
              <a:cs typeface="Times New Roman"/>
              <a:sym typeface="Times New Roman"/>
            </a:endParaRPr>
          </a:p>
          <a:p>
            <a:pPr indent="-342900" lvl="0" marL="457200" rtl="0" algn="l">
              <a:spcBef>
                <a:spcPts val="0"/>
              </a:spcBef>
              <a:spcAft>
                <a:spcPts val="0"/>
              </a:spcAft>
              <a:buClr>
                <a:schemeClr val="lt1"/>
              </a:buClr>
              <a:buSzPts val="1800"/>
              <a:buFont typeface="Times New Roman"/>
              <a:buAutoNum type="arabicPeriod"/>
            </a:pPr>
            <a:r>
              <a:rPr lang="en" sz="1800">
                <a:solidFill>
                  <a:schemeClr val="lt1"/>
                </a:solidFill>
                <a:highlight>
                  <a:srgbClr val="FFFFFF"/>
                </a:highlight>
                <a:latin typeface="Times New Roman"/>
                <a:ea typeface="Times New Roman"/>
                <a:cs typeface="Times New Roman"/>
                <a:sym typeface="Times New Roman"/>
              </a:rPr>
              <a:t>A highly efficient HPC system requires a high-bandwidth, low-latency network to connect multiple nodes and clusters</a:t>
            </a:r>
            <a:endParaRPr sz="1800">
              <a:solidFill>
                <a:schemeClr val="lt1"/>
              </a:solidFill>
              <a:highlight>
                <a:srgbClr val="FFFFFF"/>
              </a:highlight>
              <a:latin typeface="Times New Roman"/>
              <a:ea typeface="Times New Roman"/>
              <a:cs typeface="Times New Roman"/>
              <a:sym typeface="Times New Roman"/>
            </a:endParaRPr>
          </a:p>
          <a:p>
            <a:pPr indent="-342900" lvl="0" marL="457200" rtl="0" algn="l">
              <a:spcBef>
                <a:spcPts val="0"/>
              </a:spcBef>
              <a:spcAft>
                <a:spcPts val="0"/>
              </a:spcAft>
              <a:buClr>
                <a:schemeClr val="lt1"/>
              </a:buClr>
              <a:buSzPts val="1800"/>
              <a:buFont typeface="Times New Roman"/>
              <a:buAutoNum type="arabicPeriod"/>
            </a:pPr>
            <a:r>
              <a:rPr lang="en" sz="1800">
                <a:solidFill>
                  <a:schemeClr val="lt1"/>
                </a:solidFill>
                <a:highlight>
                  <a:srgbClr val="FFFFFF"/>
                </a:highlight>
                <a:latin typeface="Times New Roman"/>
                <a:ea typeface="Times New Roman"/>
                <a:cs typeface="Times New Roman"/>
                <a:sym typeface="Times New Roman"/>
              </a:rPr>
              <a:t>HPC technology is implemented in multidisciplinary areas including: Biosciences, Geographical data, Climate Modeling etc</a:t>
            </a:r>
            <a:endParaRPr sz="1800">
              <a:solidFill>
                <a:schemeClr val="lt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2" name="Shape 152"/>
        <p:cNvGrpSpPr/>
        <p:nvPr/>
      </p:nvGrpSpPr>
      <p:grpSpPr>
        <a:xfrm>
          <a:off x="0" y="0"/>
          <a:ext cx="0" cy="0"/>
          <a:chOff x="0" y="0"/>
          <a:chExt cx="0" cy="0"/>
        </a:xfrm>
      </p:grpSpPr>
      <p:sp>
        <p:nvSpPr>
          <p:cNvPr id="153" name="Google Shape;153;p17"/>
          <p:cNvSpPr txBox="1"/>
          <p:nvPr>
            <p:ph type="title"/>
          </p:nvPr>
        </p:nvSpPr>
        <p:spPr>
          <a:xfrm>
            <a:off x="489000" y="2189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6"/>
                </a:solidFill>
                <a:latin typeface="Times New Roman"/>
                <a:ea typeface="Times New Roman"/>
                <a:cs typeface="Times New Roman"/>
                <a:sym typeface="Times New Roman"/>
              </a:rPr>
              <a:t>Review of Literature</a:t>
            </a:r>
            <a:endParaRPr b="1" sz="2400">
              <a:solidFill>
                <a:schemeClr val="accent6"/>
              </a:solidFill>
              <a:latin typeface="Times New Roman"/>
              <a:ea typeface="Times New Roman"/>
              <a:cs typeface="Times New Roman"/>
              <a:sym typeface="Times New Roman"/>
            </a:endParaRPr>
          </a:p>
        </p:txBody>
      </p:sp>
      <p:sp>
        <p:nvSpPr>
          <p:cNvPr id="154" name="Google Shape;154;p17"/>
          <p:cNvSpPr txBox="1"/>
          <p:nvPr>
            <p:ph idx="1" type="body"/>
          </p:nvPr>
        </p:nvSpPr>
        <p:spPr>
          <a:xfrm>
            <a:off x="819150" y="618450"/>
            <a:ext cx="7903800" cy="3906600"/>
          </a:xfrm>
          <a:prstGeom prst="rect">
            <a:avLst/>
          </a:prstGeom>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Clr>
                <a:schemeClr val="lt1"/>
              </a:buClr>
              <a:buSzPts val="1600"/>
              <a:buFont typeface="Times New Roman"/>
              <a:buAutoNum type="arabicPeriod"/>
            </a:pPr>
            <a:r>
              <a:rPr b="1" lang="en" sz="1600">
                <a:solidFill>
                  <a:schemeClr val="accent2"/>
                </a:solidFill>
                <a:latin typeface="Times New Roman"/>
                <a:ea typeface="Times New Roman"/>
                <a:cs typeface="Times New Roman"/>
                <a:sym typeface="Times New Roman"/>
              </a:rPr>
              <a:t>Analytical Model:</a:t>
            </a:r>
            <a:r>
              <a:rPr lang="en" sz="1600">
                <a:solidFill>
                  <a:schemeClr val="lt1"/>
                </a:solidFill>
                <a:latin typeface="Times New Roman"/>
                <a:ea typeface="Times New Roman"/>
                <a:cs typeface="Times New Roman"/>
                <a:sym typeface="Times New Roman"/>
              </a:rPr>
              <a:t> Has arithmetic formulae describing parallel program performance &amp; can offer prediction of execution time faster</a:t>
            </a:r>
            <a:endParaRPr sz="1600">
              <a:solidFill>
                <a:schemeClr val="lt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rPr b="1" lang="en" sz="1600">
                <a:solidFill>
                  <a:schemeClr val="accent2"/>
                </a:solidFill>
                <a:latin typeface="Times New Roman"/>
                <a:ea typeface="Times New Roman"/>
                <a:cs typeface="Times New Roman"/>
                <a:sym typeface="Times New Roman"/>
              </a:rPr>
              <a:t>Drawback:</a:t>
            </a:r>
            <a:r>
              <a:rPr lang="en" sz="1600">
                <a:solidFill>
                  <a:schemeClr val="accent1"/>
                </a:solidFill>
                <a:latin typeface="Times New Roman"/>
                <a:ea typeface="Times New Roman"/>
                <a:cs typeface="Times New Roman"/>
                <a:sym typeface="Times New Roman"/>
              </a:rPr>
              <a:t> </a:t>
            </a:r>
            <a:r>
              <a:rPr lang="en" sz="1600">
                <a:solidFill>
                  <a:schemeClr val="lt1"/>
                </a:solidFill>
                <a:latin typeface="Times New Roman"/>
                <a:ea typeface="Times New Roman"/>
                <a:cs typeface="Times New Roman"/>
                <a:sym typeface="Times New Roman"/>
              </a:rPr>
              <a:t>Needs human-experts with understanding of a particular HPC application</a:t>
            </a:r>
            <a:endParaRPr sz="1600">
              <a:solidFill>
                <a:schemeClr val="lt1"/>
              </a:solidFill>
              <a:latin typeface="Times New Roman"/>
              <a:ea typeface="Times New Roman"/>
              <a:cs typeface="Times New Roman"/>
              <a:sym typeface="Times New Roman"/>
            </a:endParaRPr>
          </a:p>
          <a:p>
            <a:pPr indent="-330200" lvl="0" marL="457200" rtl="0" algn="just">
              <a:spcBef>
                <a:spcPts val="0"/>
              </a:spcBef>
              <a:spcAft>
                <a:spcPts val="0"/>
              </a:spcAft>
              <a:buClr>
                <a:schemeClr val="lt1"/>
              </a:buClr>
              <a:buSzPts val="1600"/>
              <a:buFont typeface="Times New Roman"/>
              <a:buAutoNum type="arabicPeriod"/>
            </a:pPr>
            <a:r>
              <a:rPr b="1" lang="en" sz="1600">
                <a:solidFill>
                  <a:schemeClr val="accent2"/>
                </a:solidFill>
                <a:latin typeface="Times New Roman"/>
                <a:ea typeface="Times New Roman"/>
                <a:cs typeface="Times New Roman"/>
                <a:sym typeface="Times New Roman"/>
              </a:rPr>
              <a:t>Replay-Based Model:</a:t>
            </a:r>
            <a:r>
              <a:rPr lang="en" sz="1600">
                <a:solidFill>
                  <a:schemeClr val="accent1"/>
                </a:solidFill>
                <a:latin typeface="Times New Roman"/>
                <a:ea typeface="Times New Roman"/>
                <a:cs typeface="Times New Roman"/>
                <a:sym typeface="Times New Roman"/>
              </a:rPr>
              <a:t> </a:t>
            </a:r>
            <a:r>
              <a:rPr lang="en" sz="1600">
                <a:solidFill>
                  <a:schemeClr val="lt1"/>
                </a:solidFill>
                <a:latin typeface="Times New Roman"/>
                <a:ea typeface="Times New Roman"/>
                <a:cs typeface="Times New Roman"/>
                <a:sym typeface="Times New Roman"/>
              </a:rPr>
              <a:t>Built from historical execution traces containing information about computing and communication of the HPC program</a:t>
            </a:r>
            <a:r>
              <a:rPr b="1" lang="en" sz="1600">
                <a:solidFill>
                  <a:schemeClr val="lt1"/>
                </a:solidFill>
                <a:latin typeface="Times New Roman"/>
                <a:ea typeface="Times New Roman"/>
                <a:cs typeface="Times New Roman"/>
                <a:sym typeface="Times New Roman"/>
              </a:rPr>
              <a:t>. </a:t>
            </a:r>
            <a:r>
              <a:rPr lang="en" sz="1600">
                <a:solidFill>
                  <a:schemeClr val="lt1"/>
                </a:solidFill>
                <a:latin typeface="Times New Roman"/>
                <a:ea typeface="Times New Roman"/>
                <a:cs typeface="Times New Roman"/>
                <a:sym typeface="Times New Roman"/>
              </a:rPr>
              <a:t>Through these traces a synthetic program can be reconstructed for replaying behaviors of the original program &amp; predicting its performance</a:t>
            </a:r>
            <a:endParaRPr sz="1600">
              <a:solidFill>
                <a:schemeClr val="lt1"/>
              </a:solidFill>
              <a:latin typeface="Times New Roman"/>
              <a:ea typeface="Times New Roman"/>
              <a:cs typeface="Times New Roman"/>
              <a:sym typeface="Times New Roman"/>
            </a:endParaRPr>
          </a:p>
          <a:p>
            <a:pPr indent="0" lvl="0" marL="457200" rtl="0" algn="just">
              <a:spcBef>
                <a:spcPts val="0"/>
              </a:spcBef>
              <a:spcAft>
                <a:spcPts val="0"/>
              </a:spcAft>
              <a:buNone/>
            </a:pPr>
            <a:r>
              <a:rPr b="1" lang="en" sz="1600">
                <a:solidFill>
                  <a:schemeClr val="accent2"/>
                </a:solidFill>
                <a:latin typeface="Times New Roman"/>
                <a:ea typeface="Times New Roman"/>
                <a:cs typeface="Times New Roman"/>
                <a:sym typeface="Times New Roman"/>
              </a:rPr>
              <a:t>Drawback:</a:t>
            </a:r>
            <a:r>
              <a:rPr lang="en" sz="1600">
                <a:solidFill>
                  <a:schemeClr val="accent2"/>
                </a:solidFill>
                <a:latin typeface="Times New Roman"/>
                <a:ea typeface="Times New Roman"/>
                <a:cs typeface="Times New Roman"/>
                <a:sym typeface="Times New Roman"/>
              </a:rPr>
              <a:t> </a:t>
            </a:r>
            <a:r>
              <a:rPr lang="en" sz="1600">
                <a:solidFill>
                  <a:schemeClr val="lt1"/>
                </a:solidFill>
                <a:latin typeface="Times New Roman"/>
                <a:ea typeface="Times New Roman"/>
                <a:cs typeface="Times New Roman"/>
                <a:sym typeface="Times New Roman"/>
              </a:rPr>
              <a:t>Requires large storage space to keep the traces (hundreds or MBs to tens of GBs). Moreover, a synthetic program can only represent 1 execution path of the original program which restricts the application</a:t>
            </a:r>
            <a:endParaRPr sz="1600">
              <a:solidFill>
                <a:schemeClr val="lt1"/>
              </a:solidFill>
              <a:latin typeface="Times New Roman"/>
              <a:ea typeface="Times New Roman"/>
              <a:cs typeface="Times New Roman"/>
              <a:sym typeface="Times New Roman"/>
            </a:endParaRPr>
          </a:p>
          <a:p>
            <a:pPr indent="-330200" lvl="0" marL="457200" rtl="0" algn="just">
              <a:spcBef>
                <a:spcPts val="0"/>
              </a:spcBef>
              <a:spcAft>
                <a:spcPts val="0"/>
              </a:spcAft>
              <a:buClr>
                <a:schemeClr val="lt1"/>
              </a:buClr>
              <a:buSzPts val="1600"/>
              <a:buFont typeface="Times New Roman"/>
              <a:buAutoNum type="arabicPeriod"/>
            </a:pPr>
            <a:r>
              <a:rPr b="1" lang="en" sz="1600">
                <a:solidFill>
                  <a:schemeClr val="accent2"/>
                </a:solidFill>
                <a:latin typeface="Times New Roman"/>
                <a:ea typeface="Times New Roman"/>
                <a:cs typeface="Times New Roman"/>
                <a:sym typeface="Times New Roman"/>
              </a:rPr>
              <a:t>Statistical Model:</a:t>
            </a:r>
            <a:r>
              <a:rPr lang="en" sz="1600">
                <a:solidFill>
                  <a:schemeClr val="lt1"/>
                </a:solidFill>
                <a:latin typeface="Times New Roman"/>
                <a:ea typeface="Times New Roman"/>
                <a:cs typeface="Times New Roman"/>
                <a:sym typeface="Times New Roman"/>
              </a:rPr>
              <a:t> Uses machine learning techniques to fit the mapping function between performance metrics and some more features. With the training data, this model can make predictions without domain knowledge &amp; human efforts</a:t>
            </a:r>
            <a:endParaRPr sz="1600">
              <a:solidFill>
                <a:schemeClr val="lt1"/>
              </a:solidFill>
              <a:latin typeface="Times New Roman"/>
              <a:ea typeface="Times New Roman"/>
              <a:cs typeface="Times New Roman"/>
              <a:sym typeface="Times New Roman"/>
            </a:endParaRPr>
          </a:p>
          <a:p>
            <a:pPr indent="0" lvl="0" marL="457200" rtl="0" algn="just">
              <a:spcBef>
                <a:spcPts val="0"/>
              </a:spcBef>
              <a:spcAft>
                <a:spcPts val="0"/>
              </a:spcAft>
              <a:buNone/>
            </a:pPr>
            <a:r>
              <a:rPr b="1" lang="en" sz="1600">
                <a:solidFill>
                  <a:schemeClr val="accent2"/>
                </a:solidFill>
                <a:latin typeface="Times New Roman"/>
                <a:ea typeface="Times New Roman"/>
                <a:cs typeface="Times New Roman"/>
                <a:sym typeface="Times New Roman"/>
              </a:rPr>
              <a:t>Drawback:</a:t>
            </a:r>
            <a:r>
              <a:rPr lang="en" sz="1600">
                <a:solidFill>
                  <a:schemeClr val="lt1"/>
                </a:solidFill>
                <a:latin typeface="Times New Roman"/>
                <a:ea typeface="Times New Roman"/>
                <a:cs typeface="Times New Roman"/>
                <a:sym typeface="Times New Roman"/>
              </a:rPr>
              <a:t> Absence of domain experts to parse non-scalar inputs and input parameters cannot cover all performance features</a:t>
            </a:r>
            <a:endParaRPr sz="1600">
              <a:solidFill>
                <a:schemeClr val="lt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lt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 sz="1400">
                <a:solidFill>
                  <a:schemeClr val="lt1"/>
                </a:solidFill>
                <a:latin typeface="Times New Roman"/>
                <a:ea typeface="Times New Roman"/>
                <a:cs typeface="Times New Roman"/>
                <a:sym typeface="Times New Roman"/>
              </a:rPr>
              <a:t>          </a:t>
            </a:r>
            <a:endParaRPr sz="1400">
              <a:solidFill>
                <a:schemeClr val="lt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400">
              <a:solidFill>
                <a:schemeClr val="lt1"/>
              </a:solidFill>
              <a:latin typeface="Times New Roman"/>
              <a:ea typeface="Times New Roman"/>
              <a:cs typeface="Times New Roman"/>
              <a:sym typeface="Times New Roman"/>
            </a:endParaRPr>
          </a:p>
          <a:p>
            <a:pPr indent="0" lvl="0" marL="0" rtl="0" algn="l">
              <a:spcBef>
                <a:spcPts val="0"/>
              </a:spcBef>
              <a:spcAft>
                <a:spcPts val="1600"/>
              </a:spcAft>
              <a:buNone/>
            </a:pPr>
            <a:r>
              <a:t/>
            </a:r>
            <a:endParaRPr b="1" sz="1400" u="sng">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8" name="Shape 158"/>
        <p:cNvGrpSpPr/>
        <p:nvPr/>
      </p:nvGrpSpPr>
      <p:grpSpPr>
        <a:xfrm>
          <a:off x="0" y="0"/>
          <a:ext cx="0" cy="0"/>
          <a:chOff x="0" y="0"/>
          <a:chExt cx="0" cy="0"/>
        </a:xfrm>
      </p:grpSpPr>
      <p:sp>
        <p:nvSpPr>
          <p:cNvPr id="159" name="Google Shape;159;p18"/>
          <p:cNvSpPr txBox="1"/>
          <p:nvPr>
            <p:ph type="title"/>
          </p:nvPr>
        </p:nvSpPr>
        <p:spPr>
          <a:xfrm>
            <a:off x="773800" y="346675"/>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6"/>
                </a:solidFill>
                <a:latin typeface="Times New Roman"/>
                <a:ea typeface="Times New Roman"/>
                <a:cs typeface="Times New Roman"/>
                <a:sym typeface="Times New Roman"/>
              </a:rPr>
              <a:t>Main Idea of Paper</a:t>
            </a:r>
            <a:r>
              <a:rPr b="1" lang="en" sz="2400">
                <a:solidFill>
                  <a:schemeClr val="accent6"/>
                </a:solidFill>
                <a:latin typeface="Times New Roman"/>
                <a:ea typeface="Times New Roman"/>
                <a:cs typeface="Times New Roman"/>
                <a:sym typeface="Times New Roman"/>
              </a:rPr>
              <a:t> </a:t>
            </a:r>
            <a:endParaRPr b="1" sz="2400">
              <a:solidFill>
                <a:schemeClr val="accent6"/>
              </a:solidFill>
              <a:latin typeface="Times New Roman"/>
              <a:ea typeface="Times New Roman"/>
              <a:cs typeface="Times New Roman"/>
              <a:sym typeface="Times New Roman"/>
            </a:endParaRPr>
          </a:p>
        </p:txBody>
      </p:sp>
      <p:sp>
        <p:nvSpPr>
          <p:cNvPr id="160" name="Google Shape;160;p18"/>
          <p:cNvSpPr txBox="1"/>
          <p:nvPr>
            <p:ph idx="1" type="body"/>
          </p:nvPr>
        </p:nvSpPr>
        <p:spPr>
          <a:xfrm>
            <a:off x="819150" y="802375"/>
            <a:ext cx="7505700" cy="3981600"/>
          </a:xfrm>
          <a:prstGeom prst="rect">
            <a:avLst/>
          </a:prstGeom>
        </p:spPr>
        <p:txBody>
          <a:bodyPr anchorCtr="0" anchor="t" bIns="91425" lIns="91425" spcFirstLastPara="1" rIns="91425" wrap="square" tIns="91425">
            <a:noAutofit/>
          </a:bodyPr>
          <a:lstStyle/>
          <a:p>
            <a:pPr indent="-330200" lvl="0" marL="457200" rtl="0" algn="just">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In this paper, they proposed a performance modeling and prediction method, which identifies runtime features that is highly relevant to performance, without requiring domain knowledge and human efforts</a:t>
            </a:r>
            <a:endParaRPr sz="1600">
              <a:solidFill>
                <a:schemeClr val="lt1"/>
              </a:solidFill>
              <a:latin typeface="Times New Roman"/>
              <a:ea typeface="Times New Roman"/>
              <a:cs typeface="Times New Roman"/>
              <a:sym typeface="Times New Roman"/>
            </a:endParaRPr>
          </a:p>
          <a:p>
            <a:pPr indent="-330200" lvl="0" marL="457200" rtl="0" algn="just">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It automatically inserts instrumentation code, detects runtime features, and analyzes feature data</a:t>
            </a:r>
            <a:endParaRPr sz="1600">
              <a:solidFill>
                <a:schemeClr val="lt1"/>
              </a:solidFill>
              <a:latin typeface="Times New Roman"/>
              <a:ea typeface="Times New Roman"/>
              <a:cs typeface="Times New Roman"/>
              <a:sym typeface="Times New Roman"/>
            </a:endParaRPr>
          </a:p>
          <a:p>
            <a:pPr indent="-330200" lvl="0" marL="457200" rtl="0" algn="just">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The random forest regression approach is used to predict execution time</a:t>
            </a:r>
            <a:endParaRPr sz="1600">
              <a:solidFill>
                <a:schemeClr val="lt1"/>
              </a:solidFill>
              <a:latin typeface="Times New Roman"/>
              <a:ea typeface="Times New Roman"/>
              <a:cs typeface="Times New Roman"/>
              <a:sym typeface="Times New Roman"/>
            </a:endParaRPr>
          </a:p>
          <a:p>
            <a:pPr indent="-330200" lvl="0" marL="457200" rtl="0" algn="just">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With this approach, the performance model can fit the complex nonlinear mapping function between features and performance. It can also analyze the statistical importance of each feature and only reserve a subset of important features to further reduce the overhead of instrumentations</a:t>
            </a:r>
            <a:endParaRPr sz="1600">
              <a:solidFill>
                <a:schemeClr val="lt1"/>
              </a:solidFill>
              <a:latin typeface="Times New Roman"/>
              <a:ea typeface="Times New Roman"/>
              <a:cs typeface="Times New Roman"/>
              <a:sym typeface="Times New Roman"/>
            </a:endParaRPr>
          </a:p>
          <a:p>
            <a:pPr indent="-330200" lvl="0" marL="457200" rtl="0" algn="just">
              <a:spcBef>
                <a:spcPts val="0"/>
              </a:spcBef>
              <a:spcAft>
                <a:spcPts val="160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This research focus is inspired by the fact that a typical HPC application consists of three phases: initialization, repetitive calculation, and termination. Among these three phases, the initialization phase is usually used to define what will be calculated and how to be calculated</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4" name="Shape 164"/>
        <p:cNvGrpSpPr/>
        <p:nvPr/>
      </p:nvGrpSpPr>
      <p:grpSpPr>
        <a:xfrm>
          <a:off x="0" y="0"/>
          <a:ext cx="0" cy="0"/>
          <a:chOff x="0" y="0"/>
          <a:chExt cx="0" cy="0"/>
        </a:xfrm>
      </p:grpSpPr>
      <p:sp>
        <p:nvSpPr>
          <p:cNvPr id="165" name="Google Shape;165;p19"/>
          <p:cNvSpPr txBox="1"/>
          <p:nvPr>
            <p:ph type="title"/>
          </p:nvPr>
        </p:nvSpPr>
        <p:spPr>
          <a:xfrm>
            <a:off x="773800" y="346675"/>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6"/>
                </a:solidFill>
                <a:latin typeface="Times New Roman"/>
                <a:ea typeface="Times New Roman"/>
                <a:cs typeface="Times New Roman"/>
                <a:sym typeface="Times New Roman"/>
              </a:rPr>
              <a:t>Architecture </a:t>
            </a:r>
            <a:endParaRPr b="1" sz="2400">
              <a:solidFill>
                <a:schemeClr val="accent6"/>
              </a:solidFill>
              <a:latin typeface="Times New Roman"/>
              <a:ea typeface="Times New Roman"/>
              <a:cs typeface="Times New Roman"/>
              <a:sym typeface="Times New Roman"/>
            </a:endParaRPr>
          </a:p>
        </p:txBody>
      </p:sp>
      <p:sp>
        <p:nvSpPr>
          <p:cNvPr id="166" name="Google Shape;166;p19"/>
          <p:cNvSpPr txBox="1"/>
          <p:nvPr>
            <p:ph idx="1" type="body"/>
          </p:nvPr>
        </p:nvSpPr>
        <p:spPr>
          <a:xfrm>
            <a:off x="266850" y="802375"/>
            <a:ext cx="8624700" cy="39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0" lvl="0" marL="0" rtl="0" algn="l">
              <a:spcBef>
                <a:spcPts val="1600"/>
              </a:spcBef>
              <a:spcAft>
                <a:spcPts val="0"/>
              </a:spcAft>
              <a:buNone/>
            </a:pPr>
            <a:r>
              <a:t/>
            </a:r>
            <a:endParaRPr sz="1800">
              <a:solidFill>
                <a:schemeClr val="lt1"/>
              </a:solidFill>
              <a:latin typeface="Times New Roman"/>
              <a:ea typeface="Times New Roman"/>
              <a:cs typeface="Times New Roman"/>
              <a:sym typeface="Times New Roman"/>
            </a:endParaRPr>
          </a:p>
          <a:p>
            <a:pPr indent="0" lvl="0" marL="0" rtl="0" algn="l">
              <a:spcBef>
                <a:spcPts val="1600"/>
              </a:spcBef>
              <a:spcAft>
                <a:spcPts val="0"/>
              </a:spcAft>
              <a:buNone/>
            </a:pPr>
            <a:r>
              <a:t/>
            </a:r>
            <a:endParaRPr sz="1800">
              <a:solidFill>
                <a:schemeClr val="lt1"/>
              </a:solidFill>
              <a:latin typeface="Times New Roman"/>
              <a:ea typeface="Times New Roman"/>
              <a:cs typeface="Times New Roman"/>
              <a:sym typeface="Times New Roman"/>
            </a:endParaRPr>
          </a:p>
          <a:p>
            <a:pPr indent="0" lvl="0" marL="457200" rtl="0" algn="l">
              <a:spcBef>
                <a:spcPts val="1600"/>
              </a:spcBef>
              <a:spcAft>
                <a:spcPts val="1600"/>
              </a:spcAft>
              <a:buNone/>
            </a:pPr>
            <a:r>
              <a:t/>
            </a:r>
            <a:endParaRPr sz="1800">
              <a:solidFill>
                <a:schemeClr val="lt1"/>
              </a:solidFill>
              <a:latin typeface="Times New Roman"/>
              <a:ea typeface="Times New Roman"/>
              <a:cs typeface="Times New Roman"/>
              <a:sym typeface="Times New Roman"/>
            </a:endParaRPr>
          </a:p>
        </p:txBody>
      </p:sp>
      <p:pic>
        <p:nvPicPr>
          <p:cNvPr id="167" name="Google Shape;167;p19"/>
          <p:cNvPicPr preferRelativeResize="0"/>
          <p:nvPr/>
        </p:nvPicPr>
        <p:blipFill>
          <a:blip r:embed="rId3">
            <a:alphaModFix/>
          </a:blip>
          <a:stretch>
            <a:fillRect/>
          </a:stretch>
        </p:blipFill>
        <p:spPr>
          <a:xfrm>
            <a:off x="439350" y="879175"/>
            <a:ext cx="4281025" cy="3716500"/>
          </a:xfrm>
          <a:prstGeom prst="rect">
            <a:avLst/>
          </a:prstGeom>
          <a:noFill/>
          <a:ln>
            <a:noFill/>
          </a:ln>
        </p:spPr>
      </p:pic>
      <p:pic>
        <p:nvPicPr>
          <p:cNvPr id="168" name="Google Shape;168;p19"/>
          <p:cNvPicPr preferRelativeResize="0"/>
          <p:nvPr/>
        </p:nvPicPr>
        <p:blipFill>
          <a:blip r:embed="rId4">
            <a:alphaModFix/>
          </a:blip>
          <a:stretch>
            <a:fillRect/>
          </a:stretch>
        </p:blipFill>
        <p:spPr>
          <a:xfrm>
            <a:off x="4720375" y="942338"/>
            <a:ext cx="4061475" cy="3590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2" name="Shape 172"/>
        <p:cNvGrpSpPr/>
        <p:nvPr/>
      </p:nvGrpSpPr>
      <p:grpSpPr>
        <a:xfrm>
          <a:off x="0" y="0"/>
          <a:ext cx="0" cy="0"/>
          <a:chOff x="0" y="0"/>
          <a:chExt cx="0" cy="0"/>
        </a:xfrm>
      </p:grpSpPr>
      <p:sp>
        <p:nvSpPr>
          <p:cNvPr id="173" name="Google Shape;173;p20"/>
          <p:cNvSpPr txBox="1"/>
          <p:nvPr>
            <p:ph type="title"/>
          </p:nvPr>
        </p:nvSpPr>
        <p:spPr>
          <a:xfrm>
            <a:off x="773800" y="242425"/>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6"/>
                </a:solidFill>
                <a:latin typeface="Times New Roman"/>
                <a:ea typeface="Times New Roman"/>
                <a:cs typeface="Times New Roman"/>
                <a:sym typeface="Times New Roman"/>
              </a:rPr>
              <a:t>Architecture</a:t>
            </a:r>
            <a:endParaRPr b="1" sz="2400">
              <a:solidFill>
                <a:schemeClr val="accent6"/>
              </a:solidFill>
              <a:latin typeface="Times New Roman"/>
              <a:ea typeface="Times New Roman"/>
              <a:cs typeface="Times New Roman"/>
              <a:sym typeface="Times New Roman"/>
            </a:endParaRPr>
          </a:p>
        </p:txBody>
      </p:sp>
      <p:sp>
        <p:nvSpPr>
          <p:cNvPr id="174" name="Google Shape;174;p20"/>
          <p:cNvSpPr txBox="1"/>
          <p:nvPr>
            <p:ph idx="1" type="body"/>
          </p:nvPr>
        </p:nvSpPr>
        <p:spPr>
          <a:xfrm>
            <a:off x="819150" y="693900"/>
            <a:ext cx="7505700" cy="3981600"/>
          </a:xfrm>
          <a:prstGeom prst="rect">
            <a:avLst/>
          </a:prstGeom>
        </p:spPr>
        <p:txBody>
          <a:bodyPr anchorCtr="0" anchor="t" bIns="91425" lIns="91425" spcFirstLastPara="1" rIns="91425" wrap="square" tIns="91425">
            <a:noAutofit/>
          </a:bodyPr>
          <a:lstStyle/>
          <a:p>
            <a:pPr indent="-330200" lvl="0" marL="457200" rtl="0" algn="just">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Our method of performance modeling and prediction includes two phases: a training phase and a predicting phase, as shown above</a:t>
            </a:r>
            <a:endParaRPr sz="1600">
              <a:solidFill>
                <a:schemeClr val="lt1"/>
              </a:solidFill>
              <a:latin typeface="Times New Roman"/>
              <a:ea typeface="Times New Roman"/>
              <a:cs typeface="Times New Roman"/>
              <a:sym typeface="Times New Roman"/>
            </a:endParaRPr>
          </a:p>
          <a:p>
            <a:pPr indent="-330200" lvl="0" marL="457200" rtl="0" algn="just">
              <a:spcBef>
                <a:spcPts val="160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The training phase is used to collect data and build a performance model. It mainly consists of four stages: instrumentation, model learning, feature reduction, and model transfer</a:t>
            </a:r>
            <a:endParaRPr sz="1600">
              <a:solidFill>
                <a:schemeClr val="lt1"/>
              </a:solidFill>
              <a:latin typeface="Times New Roman"/>
              <a:ea typeface="Times New Roman"/>
              <a:cs typeface="Times New Roman"/>
              <a:sym typeface="Times New Roman"/>
            </a:endParaRPr>
          </a:p>
          <a:p>
            <a:pPr indent="-330200" lvl="0" marL="457200" rtl="0" algn="just">
              <a:spcBef>
                <a:spcPts val="1600"/>
              </a:spcBef>
              <a:spcAft>
                <a:spcPts val="160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The predicting phase is used to handle a new input data of the target program, calculate the value of features, and output a predictive execution time with the transferred model or the non-transferred model depending on whether the transferred model is available</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8" name="Shape 178"/>
        <p:cNvGrpSpPr/>
        <p:nvPr/>
      </p:nvGrpSpPr>
      <p:grpSpPr>
        <a:xfrm>
          <a:off x="0" y="0"/>
          <a:ext cx="0" cy="0"/>
          <a:chOff x="0" y="0"/>
          <a:chExt cx="0" cy="0"/>
        </a:xfrm>
      </p:grpSpPr>
      <p:sp>
        <p:nvSpPr>
          <p:cNvPr id="179" name="Google Shape;179;p21"/>
          <p:cNvSpPr txBox="1"/>
          <p:nvPr>
            <p:ph type="title"/>
          </p:nvPr>
        </p:nvSpPr>
        <p:spPr>
          <a:xfrm>
            <a:off x="739025" y="242425"/>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6"/>
                </a:solidFill>
                <a:latin typeface="Times New Roman"/>
                <a:ea typeface="Times New Roman"/>
                <a:cs typeface="Times New Roman"/>
                <a:sym typeface="Times New Roman"/>
              </a:rPr>
              <a:t>Training Phase : Instrumentation</a:t>
            </a:r>
            <a:endParaRPr b="1" sz="2400">
              <a:solidFill>
                <a:schemeClr val="accent6"/>
              </a:solidFill>
              <a:latin typeface="Times New Roman"/>
              <a:ea typeface="Times New Roman"/>
              <a:cs typeface="Times New Roman"/>
              <a:sym typeface="Times New Roman"/>
            </a:endParaRPr>
          </a:p>
        </p:txBody>
      </p:sp>
      <p:sp>
        <p:nvSpPr>
          <p:cNvPr id="180" name="Google Shape;180;p21"/>
          <p:cNvSpPr txBox="1"/>
          <p:nvPr>
            <p:ph idx="1" type="body"/>
          </p:nvPr>
        </p:nvSpPr>
        <p:spPr>
          <a:xfrm>
            <a:off x="819150" y="689425"/>
            <a:ext cx="7505700" cy="4146900"/>
          </a:xfrm>
          <a:prstGeom prst="rect">
            <a:avLst/>
          </a:prstGeom>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To capture behavior patterns of parallel programs without domain knowledge, we collect the runtime features through instrumentation</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Instrumentation is a dynamic analysis for a program, which extracts program features from sample executions</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The instrumentor automatically analyzes the abstract syntax tree (AST) of the source code of the target program, and inserts detective code around assignments, branches, loops, and communications to generate the instrumented program</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lt1"/>
              </a:buClr>
              <a:buSzPts val="1600"/>
              <a:buFont typeface="Times New Roman"/>
              <a:buAutoNum type="arabicPeriod"/>
            </a:pPr>
            <a:r>
              <a:rPr b="1" lang="en" sz="1600">
                <a:solidFill>
                  <a:schemeClr val="accent2"/>
                </a:solidFill>
                <a:latin typeface="Times New Roman"/>
                <a:ea typeface="Times New Roman"/>
                <a:cs typeface="Times New Roman"/>
                <a:sym typeface="Times New Roman"/>
              </a:rPr>
              <a:t>Assignment: </a:t>
            </a:r>
            <a:r>
              <a:rPr lang="en" sz="1600">
                <a:solidFill>
                  <a:schemeClr val="lt1"/>
                </a:solidFill>
                <a:latin typeface="Times New Roman"/>
                <a:ea typeface="Times New Roman"/>
                <a:cs typeface="Times New Roman"/>
                <a:sym typeface="Times New Roman"/>
              </a:rPr>
              <a:t>The size of a problem and the amount of calculation are decided by key variables like the problem size, iteration count, convergence condition, and solution accuracy. To discover the key variables from the source code, we insert the instrumentation code after assignments</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lt1"/>
              </a:buClr>
              <a:buSzPts val="1600"/>
              <a:buFont typeface="Times New Roman"/>
              <a:buAutoNum type="arabicPeriod"/>
            </a:pPr>
            <a:r>
              <a:rPr b="1" lang="en" sz="1600">
                <a:solidFill>
                  <a:schemeClr val="accent2"/>
                </a:solidFill>
                <a:latin typeface="Times New Roman"/>
                <a:ea typeface="Times New Roman"/>
                <a:cs typeface="Times New Roman"/>
                <a:sym typeface="Times New Roman"/>
              </a:rPr>
              <a:t>Branches:</a:t>
            </a:r>
            <a:r>
              <a:rPr lang="en" sz="1600">
                <a:solidFill>
                  <a:schemeClr val="lt1"/>
                </a:solidFill>
                <a:latin typeface="Times New Roman"/>
                <a:ea typeface="Times New Roman"/>
                <a:cs typeface="Times New Roman"/>
                <a:sym typeface="Times New Roman"/>
              </a:rPr>
              <a:t> Branches can lead to different execution paths, which may have </a:t>
            </a:r>
            <a:r>
              <a:rPr lang="en" sz="1550">
                <a:solidFill>
                  <a:schemeClr val="lt1"/>
                </a:solidFill>
                <a:latin typeface="Times New Roman"/>
                <a:ea typeface="Times New Roman"/>
                <a:cs typeface="Times New Roman"/>
                <a:sym typeface="Times New Roman"/>
              </a:rPr>
              <a:t>significantly different execution times. We insert instrumentation code after the conditional statement of branches and record their results as runtime features</a:t>
            </a:r>
            <a:endParaRPr sz="1550">
              <a:solidFill>
                <a:schemeClr val="lt1"/>
              </a:solidFill>
              <a:latin typeface="Times New Roman"/>
              <a:ea typeface="Times New Roman"/>
              <a:cs typeface="Times New Roman"/>
              <a:sym typeface="Times New Roman"/>
            </a:endParaRPr>
          </a:p>
          <a:p>
            <a:pPr indent="-327025" lvl="0" marL="457200" rtl="0" algn="just">
              <a:lnSpc>
                <a:spcPct val="100000"/>
              </a:lnSpc>
              <a:spcBef>
                <a:spcPts val="0"/>
              </a:spcBef>
              <a:spcAft>
                <a:spcPts val="0"/>
              </a:spcAft>
              <a:buClr>
                <a:schemeClr val="lt1"/>
              </a:buClr>
              <a:buSzPts val="1550"/>
              <a:buFont typeface="Times New Roman"/>
              <a:buAutoNum type="arabicPeriod"/>
            </a:pPr>
            <a:r>
              <a:rPr b="1" lang="en" sz="1600">
                <a:solidFill>
                  <a:schemeClr val="accent2"/>
                </a:solidFill>
                <a:latin typeface="Times New Roman"/>
                <a:ea typeface="Times New Roman"/>
                <a:cs typeface="Times New Roman"/>
                <a:sym typeface="Times New Roman"/>
              </a:rPr>
              <a:t>Loops:</a:t>
            </a:r>
            <a:r>
              <a:rPr lang="en" sz="1600">
                <a:solidFill>
                  <a:schemeClr val="lt1"/>
                </a:solidFill>
                <a:latin typeface="Times New Roman"/>
                <a:ea typeface="Times New Roman"/>
                <a:cs typeface="Times New Roman"/>
                <a:sym typeface="Times New Roman"/>
              </a:rPr>
              <a:t> The amount of iterations of loops has a direct impact and correlation with the performance. An instrumentation code line is inserted in each loop</a:t>
            </a:r>
            <a:endParaRPr sz="1550">
              <a:solidFill>
                <a:schemeClr val="lt1"/>
              </a:solidFill>
              <a:latin typeface="Times New Roman"/>
              <a:ea typeface="Times New Roman"/>
              <a:cs typeface="Times New Roman"/>
              <a:sym typeface="Times New Roman"/>
            </a:endParaRPr>
          </a:p>
          <a:p>
            <a:pPr indent="0" lvl="0" marL="914400" rtl="0" algn="just">
              <a:lnSpc>
                <a:spcPct val="100000"/>
              </a:lnSpc>
              <a:spcBef>
                <a:spcPts val="0"/>
              </a:spcBef>
              <a:spcAft>
                <a:spcPts val="1600"/>
              </a:spcAft>
              <a:buNone/>
            </a:pPr>
            <a:r>
              <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4" name="Shape 184"/>
        <p:cNvGrpSpPr/>
        <p:nvPr/>
      </p:nvGrpSpPr>
      <p:grpSpPr>
        <a:xfrm>
          <a:off x="0" y="0"/>
          <a:ext cx="0" cy="0"/>
          <a:chOff x="0" y="0"/>
          <a:chExt cx="0" cy="0"/>
        </a:xfrm>
      </p:grpSpPr>
      <p:sp>
        <p:nvSpPr>
          <p:cNvPr id="185" name="Google Shape;185;p22"/>
          <p:cNvSpPr txBox="1"/>
          <p:nvPr>
            <p:ph type="title"/>
          </p:nvPr>
        </p:nvSpPr>
        <p:spPr>
          <a:xfrm>
            <a:off x="765100" y="268475"/>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6"/>
                </a:solidFill>
                <a:latin typeface="Times New Roman"/>
                <a:ea typeface="Times New Roman"/>
                <a:cs typeface="Times New Roman"/>
                <a:sym typeface="Times New Roman"/>
              </a:rPr>
              <a:t>Training Phase : Instrumentation</a:t>
            </a:r>
            <a:endParaRPr b="1" sz="2400">
              <a:solidFill>
                <a:schemeClr val="accent6"/>
              </a:solidFill>
              <a:latin typeface="Times New Roman"/>
              <a:ea typeface="Times New Roman"/>
              <a:cs typeface="Times New Roman"/>
              <a:sym typeface="Times New Roman"/>
            </a:endParaRPr>
          </a:p>
        </p:txBody>
      </p:sp>
      <p:sp>
        <p:nvSpPr>
          <p:cNvPr id="186" name="Google Shape;186;p22"/>
          <p:cNvSpPr txBox="1"/>
          <p:nvPr>
            <p:ph idx="1" type="body"/>
          </p:nvPr>
        </p:nvSpPr>
        <p:spPr>
          <a:xfrm>
            <a:off x="819150" y="758950"/>
            <a:ext cx="7505700" cy="4146900"/>
          </a:xfrm>
          <a:prstGeom prst="rect">
            <a:avLst/>
          </a:prstGeom>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Clr>
                <a:schemeClr val="lt1"/>
              </a:buClr>
              <a:buSzPts val="1600"/>
              <a:buFont typeface="Times New Roman"/>
              <a:buAutoNum type="arabicPeriod" startAt="7"/>
            </a:pPr>
            <a:r>
              <a:rPr b="1" lang="en" sz="1600">
                <a:solidFill>
                  <a:schemeClr val="accent2"/>
                </a:solidFill>
                <a:latin typeface="Times New Roman"/>
                <a:ea typeface="Times New Roman"/>
                <a:cs typeface="Times New Roman"/>
                <a:sym typeface="Times New Roman"/>
              </a:rPr>
              <a:t>MPI Communications:</a:t>
            </a:r>
            <a:r>
              <a:rPr lang="en" sz="1600">
                <a:solidFill>
                  <a:schemeClr val="lt1"/>
                </a:solidFill>
                <a:latin typeface="Times New Roman"/>
                <a:ea typeface="Times New Roman"/>
                <a:cs typeface="Times New Roman"/>
                <a:sym typeface="Times New Roman"/>
              </a:rPr>
              <a:t> Communication tracing can capture information of a network, like latency, bandwidth automatically, but tracing MPI events of a parallel program completely generates traces that often need very complex analysis even though a program has fixed behavior. We take the data size and the number of targets of MPI communication function calls to represent communication features</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0" name="Shape 190"/>
        <p:cNvGrpSpPr/>
        <p:nvPr/>
      </p:nvGrpSpPr>
      <p:grpSpPr>
        <a:xfrm>
          <a:off x="0" y="0"/>
          <a:ext cx="0" cy="0"/>
          <a:chOff x="0" y="0"/>
          <a:chExt cx="0" cy="0"/>
        </a:xfrm>
      </p:grpSpPr>
      <p:sp>
        <p:nvSpPr>
          <p:cNvPr id="191" name="Google Shape;191;p23"/>
          <p:cNvSpPr txBox="1"/>
          <p:nvPr>
            <p:ph type="title"/>
          </p:nvPr>
        </p:nvSpPr>
        <p:spPr>
          <a:xfrm>
            <a:off x="773800" y="1754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6"/>
                </a:solidFill>
                <a:latin typeface="Times New Roman"/>
                <a:ea typeface="Times New Roman"/>
                <a:cs typeface="Times New Roman"/>
                <a:sym typeface="Times New Roman"/>
              </a:rPr>
              <a:t>Examples of Instrumentation</a:t>
            </a:r>
            <a:endParaRPr b="1" sz="2400">
              <a:solidFill>
                <a:schemeClr val="accent6"/>
              </a:solidFill>
              <a:latin typeface="Times New Roman"/>
              <a:ea typeface="Times New Roman"/>
              <a:cs typeface="Times New Roman"/>
              <a:sym typeface="Times New Roman"/>
            </a:endParaRPr>
          </a:p>
        </p:txBody>
      </p:sp>
      <p:sp>
        <p:nvSpPr>
          <p:cNvPr id="192" name="Google Shape;192;p23"/>
          <p:cNvSpPr txBox="1"/>
          <p:nvPr>
            <p:ph idx="1" type="body"/>
          </p:nvPr>
        </p:nvSpPr>
        <p:spPr>
          <a:xfrm>
            <a:off x="819150" y="802375"/>
            <a:ext cx="7505700" cy="4146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600">
                <a:solidFill>
                  <a:schemeClr val="accent2"/>
                </a:solidFill>
                <a:latin typeface="Times New Roman"/>
                <a:ea typeface="Times New Roman"/>
                <a:cs typeface="Times New Roman"/>
                <a:sym typeface="Times New Roman"/>
              </a:rPr>
              <a:t>Assignment: </a:t>
            </a:r>
            <a:r>
              <a:rPr lang="en" sz="1600">
                <a:solidFill>
                  <a:schemeClr val="lt1"/>
                </a:solidFill>
                <a:latin typeface="Times New Roman"/>
                <a:ea typeface="Times New Roman"/>
                <a:cs typeface="Times New Roman"/>
                <a:sym typeface="Times New Roman"/>
              </a:rPr>
              <a:t>                                                       </a:t>
            </a:r>
            <a:r>
              <a:rPr b="1" lang="en" sz="1600">
                <a:solidFill>
                  <a:schemeClr val="accent2"/>
                </a:solidFill>
                <a:latin typeface="Times New Roman"/>
                <a:ea typeface="Times New Roman"/>
                <a:cs typeface="Times New Roman"/>
                <a:sym typeface="Times New Roman"/>
              </a:rPr>
              <a:t>Branches:</a:t>
            </a:r>
            <a:r>
              <a:rPr lang="en" sz="1600">
                <a:solidFill>
                  <a:schemeClr val="lt1"/>
                </a:solidFill>
                <a:latin typeface="Times New Roman"/>
                <a:ea typeface="Times New Roman"/>
                <a:cs typeface="Times New Roman"/>
                <a:sym typeface="Times New Roman"/>
              </a:rPr>
              <a:t>	</a:t>
            </a:r>
            <a:endParaRPr sz="1600">
              <a:solidFill>
                <a:schemeClr val="lt1"/>
              </a:solidFill>
              <a:latin typeface="Times New Roman"/>
              <a:ea typeface="Times New Roman"/>
              <a:cs typeface="Times New Roman"/>
              <a:sym typeface="Times New Roman"/>
            </a:endParaRPr>
          </a:p>
        </p:txBody>
      </p:sp>
      <p:pic>
        <p:nvPicPr>
          <p:cNvPr id="193" name="Google Shape;193;p23"/>
          <p:cNvPicPr preferRelativeResize="0"/>
          <p:nvPr/>
        </p:nvPicPr>
        <p:blipFill>
          <a:blip r:embed="rId3">
            <a:alphaModFix/>
          </a:blip>
          <a:stretch>
            <a:fillRect/>
          </a:stretch>
        </p:blipFill>
        <p:spPr>
          <a:xfrm>
            <a:off x="819150" y="1130000"/>
            <a:ext cx="3195550" cy="3293175"/>
          </a:xfrm>
          <a:prstGeom prst="rect">
            <a:avLst/>
          </a:prstGeom>
          <a:noFill/>
          <a:ln>
            <a:noFill/>
          </a:ln>
        </p:spPr>
      </p:pic>
      <p:pic>
        <p:nvPicPr>
          <p:cNvPr id="194" name="Google Shape;194;p23"/>
          <p:cNvPicPr preferRelativeResize="0"/>
          <p:nvPr/>
        </p:nvPicPr>
        <p:blipFill>
          <a:blip r:embed="rId4">
            <a:alphaModFix/>
          </a:blip>
          <a:stretch>
            <a:fillRect/>
          </a:stretch>
        </p:blipFill>
        <p:spPr>
          <a:xfrm>
            <a:off x="4767425" y="1130000"/>
            <a:ext cx="3512075" cy="3293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8" name="Shape 198"/>
        <p:cNvGrpSpPr/>
        <p:nvPr/>
      </p:nvGrpSpPr>
      <p:grpSpPr>
        <a:xfrm>
          <a:off x="0" y="0"/>
          <a:ext cx="0" cy="0"/>
          <a:chOff x="0" y="0"/>
          <a:chExt cx="0" cy="0"/>
        </a:xfrm>
      </p:grpSpPr>
      <p:sp>
        <p:nvSpPr>
          <p:cNvPr id="199" name="Google Shape;199;p24"/>
          <p:cNvSpPr txBox="1"/>
          <p:nvPr>
            <p:ph type="title"/>
          </p:nvPr>
        </p:nvSpPr>
        <p:spPr>
          <a:xfrm>
            <a:off x="773800" y="242425"/>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6"/>
                </a:solidFill>
                <a:latin typeface="Times New Roman"/>
                <a:ea typeface="Times New Roman"/>
                <a:cs typeface="Times New Roman"/>
                <a:sym typeface="Times New Roman"/>
              </a:rPr>
              <a:t>Examples of Instrumentation</a:t>
            </a:r>
            <a:endParaRPr b="1" sz="2400">
              <a:solidFill>
                <a:schemeClr val="accent6"/>
              </a:solidFill>
              <a:latin typeface="Times New Roman"/>
              <a:ea typeface="Times New Roman"/>
              <a:cs typeface="Times New Roman"/>
              <a:sym typeface="Times New Roman"/>
            </a:endParaRPr>
          </a:p>
        </p:txBody>
      </p:sp>
      <p:sp>
        <p:nvSpPr>
          <p:cNvPr id="200" name="Google Shape;200;p24"/>
          <p:cNvSpPr txBox="1"/>
          <p:nvPr>
            <p:ph idx="1" type="body"/>
          </p:nvPr>
        </p:nvSpPr>
        <p:spPr>
          <a:xfrm>
            <a:off x="773800" y="710375"/>
            <a:ext cx="7505700" cy="4146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600">
                <a:solidFill>
                  <a:schemeClr val="accent2"/>
                </a:solidFill>
                <a:latin typeface="Times New Roman"/>
                <a:ea typeface="Times New Roman"/>
                <a:cs typeface="Times New Roman"/>
                <a:sym typeface="Times New Roman"/>
              </a:rPr>
              <a:t>Loops</a:t>
            </a:r>
            <a:r>
              <a:rPr b="1" lang="en" sz="1600">
                <a:solidFill>
                  <a:schemeClr val="accent2"/>
                </a:solidFill>
                <a:latin typeface="Times New Roman"/>
                <a:ea typeface="Times New Roman"/>
                <a:cs typeface="Times New Roman"/>
                <a:sym typeface="Times New Roman"/>
              </a:rPr>
              <a:t>:   </a:t>
            </a:r>
            <a:r>
              <a:rPr lang="en" sz="1600">
                <a:solidFill>
                  <a:schemeClr val="lt1"/>
                </a:solidFill>
                <a:latin typeface="Times New Roman"/>
                <a:ea typeface="Times New Roman"/>
                <a:cs typeface="Times New Roman"/>
                <a:sym typeface="Times New Roman"/>
              </a:rPr>
              <a:t>                                                     	     </a:t>
            </a:r>
            <a:r>
              <a:rPr b="1" lang="en" sz="1600">
                <a:solidFill>
                  <a:schemeClr val="accent2"/>
                </a:solidFill>
                <a:latin typeface="Times New Roman"/>
                <a:ea typeface="Times New Roman"/>
                <a:cs typeface="Times New Roman"/>
                <a:sym typeface="Times New Roman"/>
              </a:rPr>
              <a:t>MPI </a:t>
            </a:r>
            <a:r>
              <a:rPr b="1" lang="en" sz="1600">
                <a:solidFill>
                  <a:schemeClr val="accent2"/>
                </a:solidFill>
                <a:latin typeface="Times New Roman"/>
                <a:ea typeface="Times New Roman"/>
                <a:cs typeface="Times New Roman"/>
                <a:sym typeface="Times New Roman"/>
              </a:rPr>
              <a:t>Communication:	</a:t>
            </a:r>
            <a:r>
              <a:rPr lang="en" sz="1600">
                <a:solidFill>
                  <a:schemeClr val="lt1"/>
                </a:solidFill>
                <a:latin typeface="Times New Roman"/>
                <a:ea typeface="Times New Roman"/>
                <a:cs typeface="Times New Roman"/>
                <a:sym typeface="Times New Roman"/>
              </a:rPr>
              <a:t>																																																																																																																																																																																																																		</a:t>
            </a:r>
            <a:endParaRPr sz="1600">
              <a:solidFill>
                <a:schemeClr val="lt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pic>
        <p:nvPicPr>
          <p:cNvPr id="201" name="Google Shape;201;p24"/>
          <p:cNvPicPr preferRelativeResize="0"/>
          <p:nvPr/>
        </p:nvPicPr>
        <p:blipFill>
          <a:blip r:embed="rId3">
            <a:alphaModFix/>
          </a:blip>
          <a:stretch>
            <a:fillRect/>
          </a:stretch>
        </p:blipFill>
        <p:spPr>
          <a:xfrm>
            <a:off x="4766100" y="1301286"/>
            <a:ext cx="3657600" cy="2965100"/>
          </a:xfrm>
          <a:prstGeom prst="rect">
            <a:avLst/>
          </a:prstGeom>
          <a:noFill/>
          <a:ln>
            <a:noFill/>
          </a:ln>
        </p:spPr>
      </p:pic>
      <p:pic>
        <p:nvPicPr>
          <p:cNvPr id="202" name="Google Shape;202;p24"/>
          <p:cNvPicPr preferRelativeResize="0"/>
          <p:nvPr/>
        </p:nvPicPr>
        <p:blipFill>
          <a:blip r:embed="rId4">
            <a:alphaModFix/>
          </a:blip>
          <a:stretch>
            <a:fillRect/>
          </a:stretch>
        </p:blipFill>
        <p:spPr>
          <a:xfrm>
            <a:off x="819150" y="1301275"/>
            <a:ext cx="3457575" cy="2965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6" name="Shape 206"/>
        <p:cNvGrpSpPr/>
        <p:nvPr/>
      </p:nvGrpSpPr>
      <p:grpSpPr>
        <a:xfrm>
          <a:off x="0" y="0"/>
          <a:ext cx="0" cy="0"/>
          <a:chOff x="0" y="0"/>
          <a:chExt cx="0" cy="0"/>
        </a:xfrm>
      </p:grpSpPr>
      <p:sp>
        <p:nvSpPr>
          <p:cNvPr id="207" name="Google Shape;207;p25"/>
          <p:cNvSpPr txBox="1"/>
          <p:nvPr>
            <p:ph type="title"/>
          </p:nvPr>
        </p:nvSpPr>
        <p:spPr>
          <a:xfrm>
            <a:off x="773800" y="277175"/>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6"/>
                </a:solidFill>
                <a:latin typeface="Times New Roman"/>
                <a:ea typeface="Times New Roman"/>
                <a:cs typeface="Times New Roman"/>
                <a:sym typeface="Times New Roman"/>
              </a:rPr>
              <a:t>Training Phase : </a:t>
            </a:r>
            <a:r>
              <a:rPr b="1" lang="en" sz="2400">
                <a:solidFill>
                  <a:schemeClr val="accent6"/>
                </a:solidFill>
                <a:latin typeface="Times New Roman"/>
                <a:ea typeface="Times New Roman"/>
                <a:cs typeface="Times New Roman"/>
                <a:sym typeface="Times New Roman"/>
              </a:rPr>
              <a:t>Model Learning</a:t>
            </a:r>
            <a:endParaRPr b="1" sz="2400">
              <a:solidFill>
                <a:schemeClr val="accent6"/>
              </a:solidFill>
              <a:latin typeface="Times New Roman"/>
              <a:ea typeface="Times New Roman"/>
              <a:cs typeface="Times New Roman"/>
              <a:sym typeface="Times New Roman"/>
            </a:endParaRPr>
          </a:p>
        </p:txBody>
      </p:sp>
      <p:sp>
        <p:nvSpPr>
          <p:cNvPr id="208" name="Google Shape;208;p25"/>
          <p:cNvSpPr txBox="1"/>
          <p:nvPr>
            <p:ph idx="1" type="body"/>
          </p:nvPr>
        </p:nvSpPr>
        <p:spPr>
          <a:xfrm>
            <a:off x="819150" y="802375"/>
            <a:ext cx="7505700" cy="4146900"/>
          </a:xfrm>
          <a:prstGeom prst="rect">
            <a:avLst/>
          </a:prstGeom>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After collecting runtime features via instrumentation, we then try to discover the correlation between features and program execution time</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Each sample is expressed as (x; y), where x is a vector consisting of m features and y is the corresponding execution time. The goal of this regression problem is to find a mapping relation, f : x -&gt; y</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Random forest is widely used in classification or regression tasks. Besides the capabilit</a:t>
            </a:r>
            <a:r>
              <a:rPr lang="en" sz="1600">
                <a:solidFill>
                  <a:schemeClr val="lt1"/>
                </a:solidFill>
                <a:latin typeface="Times New Roman"/>
                <a:ea typeface="Times New Roman"/>
                <a:cs typeface="Times New Roman"/>
                <a:sym typeface="Times New Roman"/>
              </a:rPr>
              <a:t>y </a:t>
            </a:r>
            <a:r>
              <a:rPr lang="en" sz="1600">
                <a:solidFill>
                  <a:schemeClr val="lt1"/>
                </a:solidFill>
                <a:latin typeface="Times New Roman"/>
                <a:ea typeface="Times New Roman"/>
                <a:cs typeface="Times New Roman"/>
                <a:sym typeface="Times New Roman"/>
              </a:rPr>
              <a:t>of modeling complex nonlinear data, another advantage of random forest is that it can process mixed different types of features including float, integer, and enumeration</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Such a characteristic makes it suitable to model the runtime features we trace from MPI program execution. Besides, random forest can analyze the importance of each feature</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It enables reducing redundant features and corresponding instrumentations</a:t>
            </a:r>
            <a:endParaRPr sz="16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 sz="1600">
                <a:solidFill>
                  <a:schemeClr val="lt1"/>
                </a:solidFill>
                <a:latin typeface="Times New Roman"/>
                <a:ea typeface="Times New Roman"/>
                <a:cs typeface="Times New Roman"/>
                <a:sym typeface="Times New Roman"/>
              </a:rPr>
              <a:t>	</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2" name="Shape 212"/>
        <p:cNvGrpSpPr/>
        <p:nvPr/>
      </p:nvGrpSpPr>
      <p:grpSpPr>
        <a:xfrm>
          <a:off x="0" y="0"/>
          <a:ext cx="0" cy="0"/>
          <a:chOff x="0" y="0"/>
          <a:chExt cx="0" cy="0"/>
        </a:xfrm>
      </p:grpSpPr>
      <p:sp>
        <p:nvSpPr>
          <p:cNvPr id="213" name="Google Shape;213;p26"/>
          <p:cNvSpPr txBox="1"/>
          <p:nvPr>
            <p:ph type="title"/>
          </p:nvPr>
        </p:nvSpPr>
        <p:spPr>
          <a:xfrm>
            <a:off x="773800" y="346675"/>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6"/>
                </a:solidFill>
                <a:latin typeface="Times New Roman"/>
                <a:ea typeface="Times New Roman"/>
                <a:cs typeface="Times New Roman"/>
                <a:sym typeface="Times New Roman"/>
              </a:rPr>
              <a:t>Training Phase : Feature Reduction</a:t>
            </a:r>
            <a:endParaRPr b="1" sz="2400">
              <a:solidFill>
                <a:schemeClr val="accent6"/>
              </a:solidFill>
              <a:latin typeface="Times New Roman"/>
              <a:ea typeface="Times New Roman"/>
              <a:cs typeface="Times New Roman"/>
              <a:sym typeface="Times New Roman"/>
            </a:endParaRPr>
          </a:p>
        </p:txBody>
      </p:sp>
      <p:sp>
        <p:nvSpPr>
          <p:cNvPr id="214" name="Google Shape;214;p26"/>
          <p:cNvSpPr txBox="1"/>
          <p:nvPr>
            <p:ph idx="1" type="body"/>
          </p:nvPr>
        </p:nvSpPr>
        <p:spPr>
          <a:xfrm>
            <a:off x="819150" y="802375"/>
            <a:ext cx="7505700" cy="4146900"/>
          </a:xfrm>
          <a:prstGeom prst="rect">
            <a:avLst/>
          </a:prstGeom>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After the first 2 methods, we generate a fairly complex model, because a parallel program may contain many assignments, branches, loops, and communications</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This will increase the number of feature and take significant storage and introduce extra overhead but such a complex model tends to be over-fitting, which has a poor generalization performance</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This gets us to the third part of the training phase i.e. feature reduction</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accent2"/>
              </a:buClr>
              <a:buSzPts val="1600"/>
              <a:buFont typeface="Times New Roman"/>
              <a:buAutoNum type="arabicPeriod"/>
            </a:pPr>
            <a:r>
              <a:rPr b="1" lang="en" sz="1600">
                <a:solidFill>
                  <a:schemeClr val="accent2"/>
                </a:solidFill>
                <a:latin typeface="Times New Roman"/>
                <a:ea typeface="Times New Roman"/>
                <a:cs typeface="Times New Roman"/>
                <a:sym typeface="Times New Roman"/>
              </a:rPr>
              <a:t>Reduction by Time:</a:t>
            </a:r>
            <a:endParaRPr b="1" sz="1600">
              <a:solidFill>
                <a:schemeClr val="accent2"/>
              </a:solidFill>
              <a:latin typeface="Times New Roman"/>
              <a:ea typeface="Times New Roman"/>
              <a:cs typeface="Times New Roman"/>
              <a:sym typeface="Times New Roman"/>
            </a:endParaRPr>
          </a:p>
          <a:p>
            <a:pPr indent="-330200" lvl="1" marL="914400" rtl="0" algn="just">
              <a:lnSpc>
                <a:spcPct val="100000"/>
              </a:lnSpc>
              <a:spcBef>
                <a:spcPts val="0"/>
              </a:spcBef>
              <a:spcAft>
                <a:spcPts val="0"/>
              </a:spcAft>
              <a:buClr>
                <a:schemeClr val="lt1"/>
              </a:buClr>
              <a:buSzPts val="1600"/>
              <a:buFont typeface="Times New Roman"/>
              <a:buAutoNum type="alphaLcPeriod"/>
            </a:pPr>
            <a:r>
              <a:rPr lang="en" sz="1600">
                <a:solidFill>
                  <a:schemeClr val="lt1"/>
                </a:solidFill>
                <a:latin typeface="Times New Roman"/>
                <a:ea typeface="Times New Roman"/>
                <a:cs typeface="Times New Roman"/>
                <a:sym typeface="Times New Roman"/>
              </a:rPr>
              <a:t>Some features are too expensive to fetch their values when predicting the execution time of a new input</a:t>
            </a:r>
            <a:endParaRPr sz="1600">
              <a:solidFill>
                <a:schemeClr val="lt1"/>
              </a:solidFill>
              <a:latin typeface="Times New Roman"/>
              <a:ea typeface="Times New Roman"/>
              <a:cs typeface="Times New Roman"/>
              <a:sym typeface="Times New Roman"/>
            </a:endParaRPr>
          </a:p>
          <a:p>
            <a:pPr indent="-330200" lvl="1" marL="914400" rtl="0" algn="just">
              <a:lnSpc>
                <a:spcPct val="100000"/>
              </a:lnSpc>
              <a:spcBef>
                <a:spcPts val="0"/>
              </a:spcBef>
              <a:spcAft>
                <a:spcPts val="0"/>
              </a:spcAft>
              <a:buClr>
                <a:schemeClr val="lt1"/>
              </a:buClr>
              <a:buSzPts val="1600"/>
              <a:buFont typeface="Times New Roman"/>
              <a:buAutoNum type="alphaLcPeriod"/>
            </a:pPr>
            <a:r>
              <a:rPr lang="en" sz="1600">
                <a:solidFill>
                  <a:schemeClr val="lt1"/>
                </a:solidFill>
                <a:latin typeface="Times New Roman"/>
                <a:ea typeface="Times New Roman"/>
                <a:cs typeface="Times New Roman"/>
                <a:sym typeface="Times New Roman"/>
              </a:rPr>
              <a:t>This problem can be solved by setting a time threshold that only reserves the features below the threshold</a:t>
            </a:r>
            <a:endParaRPr sz="1600">
              <a:solidFill>
                <a:schemeClr val="lt1"/>
              </a:solidFill>
              <a:latin typeface="Times New Roman"/>
              <a:ea typeface="Times New Roman"/>
              <a:cs typeface="Times New Roman"/>
              <a:sym typeface="Times New Roman"/>
            </a:endParaRPr>
          </a:p>
          <a:p>
            <a:pPr indent="-330200" lvl="1" marL="914400" rtl="0" algn="just">
              <a:lnSpc>
                <a:spcPct val="100000"/>
              </a:lnSpc>
              <a:spcBef>
                <a:spcPts val="0"/>
              </a:spcBef>
              <a:spcAft>
                <a:spcPts val="0"/>
              </a:spcAft>
              <a:buClr>
                <a:schemeClr val="lt1"/>
              </a:buClr>
              <a:buSzPts val="1600"/>
              <a:buFont typeface="Times New Roman"/>
              <a:buAutoNum type="alphaLcPeriod"/>
            </a:pPr>
            <a:r>
              <a:rPr lang="en" sz="1600">
                <a:solidFill>
                  <a:schemeClr val="lt1"/>
                </a:solidFill>
                <a:latin typeface="Times New Roman"/>
                <a:ea typeface="Times New Roman"/>
                <a:cs typeface="Times New Roman"/>
                <a:sym typeface="Times New Roman"/>
              </a:rPr>
              <a:t>The trade-off between reduction effectiveness and prediction accuracy depends on the characteristics of the target application</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accent2"/>
              </a:buClr>
              <a:buSzPts val="1600"/>
              <a:buFont typeface="Times New Roman"/>
              <a:buAutoNum type="arabicPeriod"/>
            </a:pPr>
            <a:r>
              <a:rPr b="1" lang="en" sz="1600">
                <a:solidFill>
                  <a:schemeClr val="accent2"/>
                </a:solidFill>
                <a:latin typeface="Times New Roman"/>
                <a:ea typeface="Times New Roman"/>
                <a:cs typeface="Times New Roman"/>
                <a:sym typeface="Times New Roman"/>
              </a:rPr>
              <a:t>Reduction by Importance:</a:t>
            </a:r>
            <a:endParaRPr b="1" sz="1600">
              <a:solidFill>
                <a:schemeClr val="accent2"/>
              </a:solidFill>
              <a:latin typeface="Times New Roman"/>
              <a:ea typeface="Times New Roman"/>
              <a:cs typeface="Times New Roman"/>
              <a:sym typeface="Times New Roman"/>
            </a:endParaRPr>
          </a:p>
          <a:p>
            <a:pPr indent="-330200" lvl="1" marL="914400" rtl="0" algn="just">
              <a:lnSpc>
                <a:spcPct val="100000"/>
              </a:lnSpc>
              <a:spcBef>
                <a:spcPts val="0"/>
              </a:spcBef>
              <a:spcAft>
                <a:spcPts val="0"/>
              </a:spcAft>
              <a:buClr>
                <a:schemeClr val="lt1"/>
              </a:buClr>
              <a:buSzPts val="1600"/>
              <a:buFont typeface="Times New Roman"/>
              <a:buAutoNum type="alphaLcPeriod"/>
            </a:pPr>
            <a:r>
              <a:rPr lang="en" sz="1600">
                <a:solidFill>
                  <a:schemeClr val="lt1"/>
                </a:solidFill>
                <a:latin typeface="Times New Roman"/>
                <a:ea typeface="Times New Roman"/>
                <a:cs typeface="Times New Roman"/>
                <a:sym typeface="Times New Roman"/>
              </a:rPr>
              <a:t>After reducing features by time threshold, we can further remove some features that have less impact on performance																																</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8" name="Shape 218"/>
        <p:cNvGrpSpPr/>
        <p:nvPr/>
      </p:nvGrpSpPr>
      <p:grpSpPr>
        <a:xfrm>
          <a:off x="0" y="0"/>
          <a:ext cx="0" cy="0"/>
          <a:chOff x="0" y="0"/>
          <a:chExt cx="0" cy="0"/>
        </a:xfrm>
      </p:grpSpPr>
      <p:sp>
        <p:nvSpPr>
          <p:cNvPr id="219" name="Google Shape;219;p27"/>
          <p:cNvSpPr txBox="1"/>
          <p:nvPr>
            <p:ph type="title"/>
          </p:nvPr>
        </p:nvSpPr>
        <p:spPr>
          <a:xfrm>
            <a:off x="773800" y="346675"/>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6"/>
                </a:solidFill>
                <a:latin typeface="Times New Roman"/>
                <a:ea typeface="Times New Roman"/>
                <a:cs typeface="Times New Roman"/>
                <a:sym typeface="Times New Roman"/>
              </a:rPr>
              <a:t>Training Phase : Feature Reduction</a:t>
            </a:r>
            <a:endParaRPr b="1" sz="2400">
              <a:solidFill>
                <a:schemeClr val="accent6"/>
              </a:solidFill>
              <a:latin typeface="Times New Roman"/>
              <a:ea typeface="Times New Roman"/>
              <a:cs typeface="Times New Roman"/>
              <a:sym typeface="Times New Roman"/>
            </a:endParaRPr>
          </a:p>
        </p:txBody>
      </p:sp>
      <p:sp>
        <p:nvSpPr>
          <p:cNvPr id="220" name="Google Shape;220;p27"/>
          <p:cNvSpPr txBox="1"/>
          <p:nvPr>
            <p:ph idx="1" type="body"/>
          </p:nvPr>
        </p:nvSpPr>
        <p:spPr>
          <a:xfrm>
            <a:off x="819150" y="802375"/>
            <a:ext cx="7505700" cy="4028400"/>
          </a:xfrm>
          <a:prstGeom prst="rect">
            <a:avLst/>
          </a:prstGeom>
        </p:spPr>
        <p:txBody>
          <a:bodyPr anchorCtr="0" anchor="t" bIns="91425" lIns="91425" spcFirstLastPara="1" rIns="91425" wrap="square" tIns="91425">
            <a:noAutofit/>
          </a:bodyPr>
          <a:lstStyle/>
          <a:p>
            <a:pPr indent="0" lvl="0" marL="4114800" rtl="0" algn="just">
              <a:lnSpc>
                <a:spcPct val="100000"/>
              </a:lnSpc>
              <a:spcBef>
                <a:spcPts val="0"/>
              </a:spcBef>
              <a:spcAft>
                <a:spcPts val="0"/>
              </a:spcAft>
              <a:buNone/>
            </a:pPr>
            <a:r>
              <a:rPr lang="en" sz="1600">
                <a:solidFill>
                  <a:schemeClr val="lt1"/>
                </a:solidFill>
                <a:latin typeface="Times New Roman"/>
                <a:ea typeface="Times New Roman"/>
                <a:cs typeface="Times New Roman"/>
                <a:sym typeface="Times New Roman"/>
              </a:rPr>
              <a:t>This is the pseudocode of calculating the importance of features using the random forest.</a:t>
            </a:r>
            <a:endParaRPr sz="1600">
              <a:solidFill>
                <a:schemeClr val="lt1"/>
              </a:solidFill>
              <a:latin typeface="Times New Roman"/>
              <a:ea typeface="Times New Roman"/>
              <a:cs typeface="Times New Roman"/>
              <a:sym typeface="Times New Roman"/>
            </a:endParaRPr>
          </a:p>
          <a:p>
            <a:pPr indent="0" lvl="0" marL="4114800" rtl="0" algn="just">
              <a:lnSpc>
                <a:spcPct val="100000"/>
              </a:lnSpc>
              <a:spcBef>
                <a:spcPts val="0"/>
              </a:spcBef>
              <a:spcAft>
                <a:spcPts val="0"/>
              </a:spcAft>
              <a:buNone/>
            </a:pPr>
            <a:r>
              <a:rPr lang="en" sz="1600">
                <a:solidFill>
                  <a:schemeClr val="lt1"/>
                </a:solidFill>
                <a:latin typeface="Times New Roman"/>
                <a:ea typeface="Times New Roman"/>
                <a:cs typeface="Times New Roman"/>
                <a:sym typeface="Times New Roman"/>
              </a:rPr>
              <a:t>Traditional dimensionality reduction techniques, like principal component analysis (PCA) or singular value decomposition (SVD), can effectively reduce the number of features.</a:t>
            </a:r>
            <a:endParaRPr sz="1600">
              <a:solidFill>
                <a:schemeClr val="lt1"/>
              </a:solidFill>
              <a:latin typeface="Times New Roman"/>
              <a:ea typeface="Times New Roman"/>
              <a:cs typeface="Times New Roman"/>
              <a:sym typeface="Times New Roman"/>
            </a:endParaRPr>
          </a:p>
          <a:p>
            <a:pPr indent="0" lvl="0" marL="4114800" rtl="0" algn="l">
              <a:lnSpc>
                <a:spcPct val="100000"/>
              </a:lnSpc>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pic>
        <p:nvPicPr>
          <p:cNvPr id="221" name="Google Shape;221;p27"/>
          <p:cNvPicPr preferRelativeResize="0"/>
          <p:nvPr/>
        </p:nvPicPr>
        <p:blipFill>
          <a:blip r:embed="rId3">
            <a:alphaModFix/>
          </a:blip>
          <a:stretch>
            <a:fillRect/>
          </a:stretch>
        </p:blipFill>
        <p:spPr>
          <a:xfrm>
            <a:off x="819150" y="910550"/>
            <a:ext cx="3979625" cy="3749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5" name="Shape 225"/>
        <p:cNvGrpSpPr/>
        <p:nvPr/>
      </p:nvGrpSpPr>
      <p:grpSpPr>
        <a:xfrm>
          <a:off x="0" y="0"/>
          <a:ext cx="0" cy="0"/>
          <a:chOff x="0" y="0"/>
          <a:chExt cx="0" cy="0"/>
        </a:xfrm>
      </p:grpSpPr>
      <p:sp>
        <p:nvSpPr>
          <p:cNvPr id="226" name="Google Shape;226;p28"/>
          <p:cNvSpPr txBox="1"/>
          <p:nvPr>
            <p:ph type="title"/>
          </p:nvPr>
        </p:nvSpPr>
        <p:spPr>
          <a:xfrm>
            <a:off x="773800" y="346675"/>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6"/>
                </a:solidFill>
                <a:latin typeface="Times New Roman"/>
                <a:ea typeface="Times New Roman"/>
                <a:cs typeface="Times New Roman"/>
                <a:sym typeface="Times New Roman"/>
              </a:rPr>
              <a:t>Training Phase : Model Transferring</a:t>
            </a:r>
            <a:endParaRPr b="1" sz="2400">
              <a:solidFill>
                <a:schemeClr val="accent6"/>
              </a:solidFill>
              <a:latin typeface="Times New Roman"/>
              <a:ea typeface="Times New Roman"/>
              <a:cs typeface="Times New Roman"/>
              <a:sym typeface="Times New Roman"/>
            </a:endParaRPr>
          </a:p>
        </p:txBody>
      </p:sp>
      <p:sp>
        <p:nvSpPr>
          <p:cNvPr id="227" name="Google Shape;227;p28"/>
          <p:cNvSpPr txBox="1"/>
          <p:nvPr>
            <p:ph idx="1" type="body"/>
          </p:nvPr>
        </p:nvSpPr>
        <p:spPr>
          <a:xfrm>
            <a:off x="819150" y="802375"/>
            <a:ext cx="7505700" cy="4028400"/>
          </a:xfrm>
          <a:prstGeom prst="rect">
            <a:avLst/>
          </a:prstGeom>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The methodology we spoke about till this point requires training and testing on same platform but the platform settings may be modified or the application may need to be run on a completely new platform</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It is feasible to repeat the modeling process, like collecting data, building model, and reducing features, on the new platform, but the new model may not achieve the desired accuracy until a sufficient amount of execution samples are collected and analyzed. This challenge is commonly referred as the cold start problem</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We introduce an instance-transfer method to solve this problem. An instance refers to an execution sample. An execution sample of an application on a certain platform</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can be regarded as a measure of this platform, and the measurement result is represented by a (m+1)-dimension point (y; x1;...;xm). Thus on two different platforms, multiple executions will generate two point sets with different marginal probability distributions of y in the same (m+1)-dimension space</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1" name="Shape 231"/>
        <p:cNvGrpSpPr/>
        <p:nvPr/>
      </p:nvGrpSpPr>
      <p:grpSpPr>
        <a:xfrm>
          <a:off x="0" y="0"/>
          <a:ext cx="0" cy="0"/>
          <a:chOff x="0" y="0"/>
          <a:chExt cx="0" cy="0"/>
        </a:xfrm>
      </p:grpSpPr>
      <p:sp>
        <p:nvSpPr>
          <p:cNvPr id="232" name="Google Shape;232;p29"/>
          <p:cNvSpPr txBox="1"/>
          <p:nvPr>
            <p:ph type="title"/>
          </p:nvPr>
        </p:nvSpPr>
        <p:spPr>
          <a:xfrm>
            <a:off x="782500" y="259775"/>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6"/>
                </a:solidFill>
                <a:latin typeface="Times New Roman"/>
                <a:ea typeface="Times New Roman"/>
                <a:cs typeface="Times New Roman"/>
                <a:sym typeface="Times New Roman"/>
              </a:rPr>
              <a:t>Predicting </a:t>
            </a:r>
            <a:r>
              <a:rPr b="1" lang="en" sz="2400">
                <a:solidFill>
                  <a:schemeClr val="accent6"/>
                </a:solidFill>
                <a:latin typeface="Times New Roman"/>
                <a:ea typeface="Times New Roman"/>
                <a:cs typeface="Times New Roman"/>
                <a:sym typeface="Times New Roman"/>
              </a:rPr>
              <a:t>Phase</a:t>
            </a:r>
            <a:endParaRPr b="1" sz="2400">
              <a:solidFill>
                <a:schemeClr val="accent6"/>
              </a:solidFill>
              <a:latin typeface="Times New Roman"/>
              <a:ea typeface="Times New Roman"/>
              <a:cs typeface="Times New Roman"/>
              <a:sym typeface="Times New Roman"/>
            </a:endParaRPr>
          </a:p>
        </p:txBody>
      </p:sp>
      <p:sp>
        <p:nvSpPr>
          <p:cNvPr id="233" name="Google Shape;233;p29"/>
          <p:cNvSpPr txBox="1"/>
          <p:nvPr>
            <p:ph idx="1" type="body"/>
          </p:nvPr>
        </p:nvSpPr>
        <p:spPr>
          <a:xfrm>
            <a:off x="819150" y="802375"/>
            <a:ext cx="7505700" cy="4028400"/>
          </a:xfrm>
          <a:prstGeom prst="rect">
            <a:avLst/>
          </a:prstGeom>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The predicting phase of our method is simpler than the training phase. There are two types of predictions: (1) using a non-transferred model to predict the performance on the target platform with all trace data from this platform itself, and (2) using a transferred model to predict the performance on the target platform with help from a source platform</a:t>
            </a:r>
            <a:endParaRPr sz="1600">
              <a:solidFill>
                <a:schemeClr val="lt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t/>
            </a:r>
            <a:endParaRPr sz="1600">
              <a:solidFill>
                <a:schemeClr val="lt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t/>
            </a:r>
            <a:endParaRPr sz="1600">
              <a:solidFill>
                <a:schemeClr val="lt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t/>
            </a:r>
            <a:endParaRPr sz="1600">
              <a:solidFill>
                <a:schemeClr val="lt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t/>
            </a:r>
            <a:endParaRPr sz="1600">
              <a:solidFill>
                <a:schemeClr val="lt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t/>
            </a:r>
            <a:endParaRPr sz="1600">
              <a:solidFill>
                <a:schemeClr val="lt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t/>
            </a:r>
            <a:endParaRPr sz="1600">
              <a:solidFill>
                <a:schemeClr val="lt1"/>
              </a:solidFill>
              <a:latin typeface="Times New Roman"/>
              <a:ea typeface="Times New Roman"/>
              <a:cs typeface="Times New Roman"/>
              <a:sym typeface="Times New Roman"/>
            </a:endParaRPr>
          </a:p>
          <a:p>
            <a:pPr indent="0" lvl="0" marL="457200" rtl="0" algn="just">
              <a:lnSpc>
                <a:spcPct val="100000"/>
              </a:lnSpc>
              <a:spcBef>
                <a:spcPts val="0"/>
              </a:spcBef>
              <a:spcAft>
                <a:spcPts val="0"/>
              </a:spcAft>
              <a:buNone/>
            </a:pPr>
            <a:r>
              <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Algorithm 2 shows the procedure of predicting the execution time of an application with an input instance on the target platform</a:t>
            </a:r>
            <a:endParaRPr sz="1600">
              <a:solidFill>
                <a:schemeClr val="lt1"/>
              </a:solidFill>
              <a:latin typeface="Times New Roman"/>
              <a:ea typeface="Times New Roman"/>
              <a:cs typeface="Times New Roman"/>
              <a:sym typeface="Times New Roman"/>
            </a:endParaRPr>
          </a:p>
        </p:txBody>
      </p:sp>
      <p:pic>
        <p:nvPicPr>
          <p:cNvPr id="234" name="Google Shape;234;p29"/>
          <p:cNvPicPr preferRelativeResize="0"/>
          <p:nvPr/>
        </p:nvPicPr>
        <p:blipFill>
          <a:blip r:embed="rId3">
            <a:alphaModFix/>
          </a:blip>
          <a:stretch>
            <a:fillRect/>
          </a:stretch>
        </p:blipFill>
        <p:spPr>
          <a:xfrm>
            <a:off x="1349550" y="2300225"/>
            <a:ext cx="6866925" cy="15049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8" name="Shape 238"/>
        <p:cNvGrpSpPr/>
        <p:nvPr/>
      </p:nvGrpSpPr>
      <p:grpSpPr>
        <a:xfrm>
          <a:off x="0" y="0"/>
          <a:ext cx="0" cy="0"/>
          <a:chOff x="0" y="0"/>
          <a:chExt cx="0" cy="0"/>
        </a:xfrm>
      </p:grpSpPr>
      <p:sp>
        <p:nvSpPr>
          <p:cNvPr id="239" name="Google Shape;239;p30"/>
          <p:cNvSpPr txBox="1"/>
          <p:nvPr>
            <p:ph type="title"/>
          </p:nvPr>
        </p:nvSpPr>
        <p:spPr>
          <a:xfrm>
            <a:off x="773800" y="346675"/>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6"/>
                </a:solidFill>
                <a:latin typeface="Times New Roman"/>
                <a:ea typeface="Times New Roman"/>
                <a:cs typeface="Times New Roman"/>
                <a:sym typeface="Times New Roman"/>
              </a:rPr>
              <a:t>Predicting Phase</a:t>
            </a:r>
            <a:endParaRPr b="1" sz="2400">
              <a:solidFill>
                <a:schemeClr val="accent6"/>
              </a:solidFill>
              <a:latin typeface="Times New Roman"/>
              <a:ea typeface="Times New Roman"/>
              <a:cs typeface="Times New Roman"/>
              <a:sym typeface="Times New Roman"/>
            </a:endParaRPr>
          </a:p>
        </p:txBody>
      </p:sp>
      <p:sp>
        <p:nvSpPr>
          <p:cNvPr id="240" name="Google Shape;240;p30"/>
          <p:cNvSpPr txBox="1"/>
          <p:nvPr>
            <p:ph idx="1" type="body"/>
          </p:nvPr>
        </p:nvSpPr>
        <p:spPr>
          <a:xfrm>
            <a:off x="819150" y="802375"/>
            <a:ext cx="7505700" cy="4028400"/>
          </a:xfrm>
          <a:prstGeom prst="rect">
            <a:avLst/>
          </a:prstGeom>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Clr>
                <a:schemeClr val="lt1"/>
              </a:buClr>
              <a:buSzPts val="1600"/>
              <a:buFont typeface="Times New Roman"/>
              <a:buAutoNum type="arabicPeriod" startAt="3"/>
            </a:pPr>
            <a:r>
              <a:rPr lang="en" sz="1600">
                <a:solidFill>
                  <a:schemeClr val="lt1"/>
                </a:solidFill>
                <a:latin typeface="Times New Roman"/>
                <a:ea typeface="Times New Roman"/>
                <a:cs typeface="Times New Roman"/>
                <a:sym typeface="Times New Roman"/>
              </a:rPr>
              <a:t>Its parameters include the instrumented application instru app, an input instance inst of the application, the transfer function h(.), the performance model on the source platform fs(.) (a random forest trained by all trace data from the source platform), the performance model on the target platform ft(.) (a random forest trained by all trace data from the target platform), and the polynomial expansion function Ø(.)</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lt1"/>
              </a:buClr>
              <a:buSzPts val="1600"/>
              <a:buFont typeface="Times New Roman"/>
              <a:buAutoNum type="arabicPeriod" startAt="3"/>
            </a:pPr>
            <a:r>
              <a:rPr lang="en" sz="1600">
                <a:solidFill>
                  <a:schemeClr val="lt1"/>
                </a:solidFill>
                <a:latin typeface="Times New Roman"/>
                <a:ea typeface="Times New Roman"/>
                <a:cs typeface="Times New Roman"/>
                <a:sym typeface="Times New Roman"/>
              </a:rPr>
              <a:t>First, it executes the instrumented application with inst</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lt1"/>
              </a:buClr>
              <a:buSzPts val="1600"/>
              <a:buFont typeface="Times New Roman"/>
              <a:buAutoNum type="arabicPeriod" startAt="3"/>
            </a:pPr>
            <a:r>
              <a:rPr lang="en" sz="1600">
                <a:solidFill>
                  <a:schemeClr val="lt1"/>
                </a:solidFill>
                <a:latin typeface="Times New Roman"/>
                <a:ea typeface="Times New Roman"/>
                <a:cs typeface="Times New Roman"/>
                <a:sym typeface="Times New Roman"/>
              </a:rPr>
              <a:t>If a source model or a transfer function does not exist, we can only make a prediction with the model ft()</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lt1"/>
              </a:buClr>
              <a:buSzPts val="1600"/>
              <a:buFont typeface="Times New Roman"/>
              <a:buAutoNum type="arabicPeriod" startAt="3"/>
            </a:pPr>
            <a:r>
              <a:rPr lang="en" sz="1600">
                <a:solidFill>
                  <a:schemeClr val="lt1"/>
                </a:solidFill>
                <a:latin typeface="Times New Roman"/>
                <a:ea typeface="Times New Roman"/>
                <a:cs typeface="Times New Roman"/>
                <a:sym typeface="Times New Roman"/>
              </a:rPr>
              <a:t>If a source model fs() and a corresponding transfer function h() exist, we first use fs() to produce a prediction, and then transfer the prediction to the target platform</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lt1"/>
              </a:buClr>
              <a:buSzPts val="1600"/>
              <a:buFont typeface="Times New Roman"/>
              <a:buAutoNum type="arabicPeriod" startAt="3"/>
            </a:pPr>
            <a:r>
              <a:rPr lang="en" sz="1600">
                <a:solidFill>
                  <a:schemeClr val="lt1"/>
                </a:solidFill>
                <a:latin typeface="Times New Roman"/>
                <a:ea typeface="Times New Roman"/>
                <a:cs typeface="Times New Roman"/>
                <a:sym typeface="Times New Roman"/>
              </a:rPr>
              <a:t>In general, both the non-transfer model ft() and the transfer model h(fs((x)); x) can predict the execution time of inst on the target platform</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4" name="Shape 244"/>
        <p:cNvGrpSpPr/>
        <p:nvPr/>
      </p:nvGrpSpPr>
      <p:grpSpPr>
        <a:xfrm>
          <a:off x="0" y="0"/>
          <a:ext cx="0" cy="0"/>
          <a:chOff x="0" y="0"/>
          <a:chExt cx="0" cy="0"/>
        </a:xfrm>
      </p:grpSpPr>
      <p:sp>
        <p:nvSpPr>
          <p:cNvPr id="245" name="Google Shape;245;p31"/>
          <p:cNvSpPr txBox="1"/>
          <p:nvPr>
            <p:ph type="title"/>
          </p:nvPr>
        </p:nvSpPr>
        <p:spPr>
          <a:xfrm>
            <a:off x="773800" y="2598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6"/>
                </a:solidFill>
                <a:latin typeface="Times New Roman"/>
                <a:ea typeface="Times New Roman"/>
                <a:cs typeface="Times New Roman"/>
                <a:sym typeface="Times New Roman"/>
              </a:rPr>
              <a:t>Results</a:t>
            </a:r>
            <a:endParaRPr b="1" sz="2400">
              <a:solidFill>
                <a:schemeClr val="accent6"/>
              </a:solidFill>
              <a:latin typeface="Times New Roman"/>
              <a:ea typeface="Times New Roman"/>
              <a:cs typeface="Times New Roman"/>
              <a:sym typeface="Times New Roman"/>
            </a:endParaRPr>
          </a:p>
        </p:txBody>
      </p:sp>
      <p:sp>
        <p:nvSpPr>
          <p:cNvPr id="246" name="Google Shape;246;p31"/>
          <p:cNvSpPr txBox="1"/>
          <p:nvPr>
            <p:ph idx="1" type="body"/>
          </p:nvPr>
        </p:nvSpPr>
        <p:spPr>
          <a:xfrm>
            <a:off x="819150" y="802375"/>
            <a:ext cx="7505700" cy="4028400"/>
          </a:xfrm>
          <a:prstGeom prst="rect">
            <a:avLst/>
          </a:prstGeom>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lang="en" sz="1600">
                <a:solidFill>
                  <a:schemeClr val="lt1"/>
                </a:solidFill>
                <a:latin typeface="Times New Roman"/>
                <a:ea typeface="Times New Roman"/>
                <a:cs typeface="Times New Roman"/>
                <a:sym typeface="Times New Roman"/>
              </a:rPr>
              <a:t>They ran each application on each platform 1,000 times with different input parameters. In other words, each modeling task had 1,000 data samples. The input parameters we used for experiments were generated from the parameter value range of each application uniformly and randomly.</a:t>
            </a:r>
            <a:endParaRPr sz="16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 sz="1600">
                <a:solidFill>
                  <a:schemeClr val="lt1"/>
                </a:solidFill>
                <a:latin typeface="Times New Roman"/>
                <a:ea typeface="Times New Roman"/>
                <a:cs typeface="Times New Roman"/>
                <a:sym typeface="Times New Roman"/>
              </a:rPr>
              <a:t>The three parallel programs used for the experimental study are Graph500, GalaxSee, and SMG2000.</a:t>
            </a:r>
            <a:endParaRPr sz="1600">
              <a:solidFill>
                <a:schemeClr val="lt1"/>
              </a:solidFill>
              <a:latin typeface="Times New Roman"/>
              <a:ea typeface="Times New Roman"/>
              <a:cs typeface="Times New Roman"/>
              <a:sym typeface="Times New Roman"/>
            </a:endParaRPr>
          </a:p>
          <a:p>
            <a:pPr indent="0" lvl="0" marL="3657600" rtl="0" algn="just">
              <a:lnSpc>
                <a:spcPct val="100000"/>
              </a:lnSpc>
              <a:spcBef>
                <a:spcPts val="0"/>
              </a:spcBef>
              <a:spcAft>
                <a:spcPts val="0"/>
              </a:spcAft>
              <a:buNone/>
            </a:pPr>
            <a:r>
              <a:rPr lang="en" sz="1600">
                <a:solidFill>
                  <a:schemeClr val="lt1"/>
                </a:solidFill>
                <a:latin typeface="Times New Roman"/>
                <a:ea typeface="Times New Roman"/>
                <a:cs typeface="Times New Roman"/>
                <a:sym typeface="Times New Roman"/>
              </a:rPr>
              <a:t>The figure besides shows the experimental results of three applications on three platforms. Considering all experimental configurations, the accuracy of predicting the performance rank of each sample pair is around 90%. It confirms that in most cases, their model ca</a:t>
            </a:r>
            <a:r>
              <a:rPr lang="en" sz="1600">
                <a:solidFill>
                  <a:schemeClr val="lt1"/>
                </a:solidFill>
                <a:latin typeface="Times New Roman"/>
                <a:ea typeface="Times New Roman"/>
                <a:cs typeface="Times New Roman"/>
                <a:sym typeface="Times New Roman"/>
              </a:rPr>
              <a:t>n </a:t>
            </a:r>
            <a:r>
              <a:rPr lang="en" sz="1600">
                <a:solidFill>
                  <a:schemeClr val="lt1"/>
                </a:solidFill>
                <a:latin typeface="Times New Roman"/>
                <a:ea typeface="Times New Roman"/>
                <a:cs typeface="Times New Roman"/>
                <a:sym typeface="Times New Roman"/>
              </a:rPr>
              <a:t>predict the correct rank relationship when comparing the performance of two different input parameters.</a:t>
            </a:r>
            <a:endParaRPr sz="1600">
              <a:solidFill>
                <a:schemeClr val="lt1"/>
              </a:solidFill>
              <a:latin typeface="Times New Roman"/>
              <a:ea typeface="Times New Roman"/>
              <a:cs typeface="Times New Roman"/>
              <a:sym typeface="Times New Roman"/>
            </a:endParaRPr>
          </a:p>
          <a:p>
            <a:pPr indent="-330200" lvl="0" marL="457200" rtl="0" algn="just">
              <a:lnSpc>
                <a:spcPct val="100000"/>
              </a:lnSpc>
              <a:spcBef>
                <a:spcPts val="0"/>
              </a:spcBef>
              <a:spcAft>
                <a:spcPts val="0"/>
              </a:spcAft>
              <a:buClr>
                <a:schemeClr val="lt1"/>
              </a:buClr>
              <a:buSzPts val="1600"/>
              <a:buFont typeface="Times New Roman"/>
              <a:buAutoNum type="arabicPeriod"/>
            </a:pPr>
            <a:r>
              <a:rPr lang="en" sz="1600">
                <a:solidFill>
                  <a:schemeClr val="lt1"/>
                </a:solidFill>
                <a:latin typeface="Times New Roman"/>
                <a:ea typeface="Times New Roman"/>
                <a:cs typeface="Times New Roman"/>
                <a:sym typeface="Times New Roman"/>
              </a:rPr>
              <a:t> </a:t>
            </a:r>
            <a:endParaRPr sz="1600">
              <a:solidFill>
                <a:schemeClr val="lt1"/>
              </a:solidFill>
              <a:latin typeface="Times New Roman"/>
              <a:ea typeface="Times New Roman"/>
              <a:cs typeface="Times New Roman"/>
              <a:sym typeface="Times New Roman"/>
            </a:endParaRPr>
          </a:p>
        </p:txBody>
      </p:sp>
      <p:pic>
        <p:nvPicPr>
          <p:cNvPr id="247" name="Google Shape;247;p31"/>
          <p:cNvPicPr preferRelativeResize="0"/>
          <p:nvPr/>
        </p:nvPicPr>
        <p:blipFill>
          <a:blip r:embed="rId3">
            <a:alphaModFix/>
          </a:blip>
          <a:stretch>
            <a:fillRect/>
          </a:stretch>
        </p:blipFill>
        <p:spPr>
          <a:xfrm>
            <a:off x="895800" y="2392275"/>
            <a:ext cx="3553225" cy="2438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