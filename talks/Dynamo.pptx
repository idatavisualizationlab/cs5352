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ynamo: Amazon’s Highly Available Key-value Stor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ts val="9000"/>
              </a:lnSpc>
              <a:spcBef>
                <a:spcPts val="1200"/>
              </a:spcBef>
              <a:defRPr b="1" sz="5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Dynamo: Amazon’s Highly Available Key-value Store </a:t>
            </a:r>
            <a:endParaRPr b="0"/>
          </a:p>
        </p:txBody>
      </p:sp>
      <p:sp>
        <p:nvSpPr>
          <p:cNvPr id="120" name="Yuanxu Xu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54990">
              <a:defRPr sz="351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Yuanxu Xu</a:t>
            </a:r>
          </a:p>
          <a:p>
            <a:pPr defTabSz="554990">
              <a:defRPr sz="351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20.02.2020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23" name="Design the shopping cart butt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3370" indent="-293370" defTabSz="385572">
              <a:spcBef>
                <a:spcPts val="2700"/>
              </a:spcBef>
              <a:defRPr sz="3828"/>
            </a:pPr>
            <a:r>
              <a:t>Design the shopping cart button </a:t>
            </a:r>
          </a:p>
          <a:p>
            <a:pPr marL="293370" indent="-293370" defTabSz="385572">
              <a:spcBef>
                <a:spcPts val="2700"/>
              </a:spcBef>
              <a:defRPr sz="3828"/>
            </a:pPr>
            <a:r>
              <a:t>Cap Theorem</a:t>
            </a:r>
          </a:p>
          <a:p>
            <a:pPr marL="293370" indent="-293370" defTabSz="385572">
              <a:spcBef>
                <a:spcPts val="2700"/>
              </a:spcBef>
              <a:defRPr sz="3828"/>
            </a:pPr>
            <a:r>
              <a:t>Dynamo architecture</a:t>
            </a:r>
          </a:p>
          <a:p>
            <a:pPr lvl="1" marL="586740" indent="-293370" defTabSz="385572">
              <a:spcBef>
                <a:spcPts val="2700"/>
              </a:spcBef>
              <a:defRPr sz="3828"/>
            </a:pPr>
            <a:r>
              <a:t>Consistent hashing</a:t>
            </a:r>
          </a:p>
          <a:p>
            <a:pPr lvl="1" marL="586740" indent="-293370" defTabSz="385572">
              <a:spcBef>
                <a:spcPts val="2700"/>
              </a:spcBef>
              <a:defRPr sz="3828"/>
            </a:pPr>
            <a:r>
              <a:t>Vector clocks</a:t>
            </a:r>
          </a:p>
          <a:p>
            <a:pPr lvl="1" marL="586740" indent="-293370" defTabSz="385572">
              <a:spcBef>
                <a:spcPts val="2700"/>
              </a:spcBef>
              <a:defRPr sz="3828"/>
            </a:pPr>
            <a:r>
              <a:t>Fault-tolerant techniques</a:t>
            </a:r>
          </a:p>
          <a:p>
            <a:pPr marL="293370" indent="-293370" defTabSz="385572">
              <a:spcBef>
                <a:spcPts val="2700"/>
              </a:spcBef>
              <a:defRPr sz="3828"/>
            </a:pPr>
            <a:r>
              <a:t>Dynamo based projects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sign the shopping cart butt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Design the shopping cart button</a:t>
            </a:r>
          </a:p>
        </p:txBody>
      </p:sp>
      <p:sp>
        <p:nvSpPr>
          <p:cNvPr id="126" name="Always-on…"/>
          <p:cNvSpPr txBox="1"/>
          <p:nvPr>
            <p:ph type="body" sz="half" idx="1"/>
          </p:nvPr>
        </p:nvSpPr>
        <p:spPr>
          <a:xfrm>
            <a:off x="987046" y="2095634"/>
            <a:ext cx="5806317" cy="6309951"/>
          </a:xfrm>
          <a:prstGeom prst="rect">
            <a:avLst/>
          </a:prstGeom>
        </p:spPr>
        <p:txBody>
          <a:bodyPr/>
          <a:lstStyle/>
          <a:p>
            <a:pPr lvl="1">
              <a:defRPr sz="5600"/>
            </a:pPr>
            <a:r>
              <a:rPr b="1"/>
              <a:t>Always-on</a:t>
            </a:r>
            <a:endParaRPr b="1"/>
          </a:p>
          <a:p>
            <a:pPr lvl="1">
              <a:defRPr b="1" sz="5600"/>
            </a:pPr>
            <a:r>
              <a:rPr b="0"/>
              <a:t>Key - value</a:t>
            </a:r>
            <a:r>
              <a:t> </a:t>
            </a:r>
          </a:p>
        </p:txBody>
      </p:sp>
      <p:pic>
        <p:nvPicPr>
          <p:cNvPr id="12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5391" y="4200953"/>
            <a:ext cx="4818667" cy="192746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wo buttons that built a trillion company"/>
          <p:cNvSpPr txBox="1"/>
          <p:nvPr/>
        </p:nvSpPr>
        <p:spPr>
          <a:xfrm>
            <a:off x="7108658" y="6212957"/>
            <a:ext cx="4292134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0"/>
            </a:lvl1pPr>
          </a:lstStyle>
          <a:p>
            <a:pPr/>
            <a:r>
              <a:t>Two buttons that built a trillion company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DB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RDBMS</a:t>
            </a:r>
          </a:p>
        </p:txBody>
      </p:sp>
      <p:sp>
        <p:nvSpPr>
          <p:cNvPr id="131" name="Body"/>
          <p:cNvSpPr txBox="1"/>
          <p:nvPr>
            <p:ph type="body" sz="quarter" idx="1"/>
          </p:nvPr>
        </p:nvSpPr>
        <p:spPr>
          <a:xfrm>
            <a:off x="952500" y="5818729"/>
            <a:ext cx="7823051" cy="305857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4089" y="2597149"/>
            <a:ext cx="11172110" cy="6286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AP Theor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CAP Theorem</a:t>
            </a:r>
          </a:p>
        </p:txBody>
      </p:sp>
      <p:sp>
        <p:nvSpPr>
          <p:cNvPr id="135" name="Body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7902" y="2107078"/>
            <a:ext cx="8567955" cy="6774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Distributed Systems before Dyna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Distributed Systems before Dynamo </a:t>
            </a:r>
          </a:p>
        </p:txBody>
      </p:sp>
      <p:sp>
        <p:nvSpPr>
          <p:cNvPr id="139" name="Master-slave, write is the bottleneck"/>
          <p:cNvSpPr txBox="1"/>
          <p:nvPr>
            <p:ph type="body" sz="quarter" idx="1"/>
          </p:nvPr>
        </p:nvSpPr>
        <p:spPr>
          <a:xfrm>
            <a:off x="1643427" y="7352100"/>
            <a:ext cx="11099801" cy="1824603"/>
          </a:xfrm>
          <a:prstGeom prst="rect">
            <a:avLst/>
          </a:prstGeom>
        </p:spPr>
        <p:txBody>
          <a:bodyPr/>
          <a:lstStyle>
            <a:lvl1pPr marL="342900" indent="-342900">
              <a:defRPr sz="4700"/>
            </a:lvl1pPr>
          </a:lstStyle>
          <a:p>
            <a:pPr/>
            <a:r>
              <a:t>Master-slave, write is the bottleneck</a:t>
            </a:r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735732" y="2653608"/>
            <a:ext cx="9533426" cy="5246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Dynamo Design Consider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49833">
              <a:defRPr sz="6160"/>
            </a:lvl1pPr>
          </a:lstStyle>
          <a:p>
            <a:pPr/>
            <a:r>
              <a:t>Dynamo Design Considerations </a:t>
            </a:r>
            <a:endParaRPr sz="924"/>
          </a:p>
        </p:txBody>
      </p:sp>
      <p:sp>
        <p:nvSpPr>
          <p:cNvPr id="143" name="Incremental scalability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defRPr sz="4900"/>
            </a:pPr>
            <a:r>
              <a:t>Incremental scalability </a:t>
            </a:r>
          </a:p>
          <a:p>
            <a:pPr marL="342900" indent="-342900">
              <a:defRPr sz="4900"/>
            </a:pPr>
            <a:r>
              <a:t>Symmetry </a:t>
            </a:r>
          </a:p>
          <a:p>
            <a:pPr marL="342900" indent="-342900">
              <a:defRPr sz="4900"/>
            </a:pPr>
            <a:r>
              <a:t>Decentralization </a:t>
            </a:r>
          </a:p>
          <a:p>
            <a:pPr marL="342900" indent="-342900">
              <a:defRPr sz="4900"/>
            </a:pPr>
            <a:r>
              <a:t>Heterogeneity</a:t>
            </a:r>
          </a:p>
        </p:txBody>
      </p:sp>
      <p:pic>
        <p:nvPicPr>
          <p:cNvPr id="14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18920" y="2895262"/>
            <a:ext cx="4662996" cy="4216776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Dynamo instance"/>
          <p:cNvSpPr txBox="1"/>
          <p:nvPr/>
        </p:nvSpPr>
        <p:spPr>
          <a:xfrm>
            <a:off x="6582648" y="5657676"/>
            <a:ext cx="4335540" cy="4216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defRPr b="0" sz="4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Dynamo instance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Key Dynamo Techniq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54990">
              <a:defRPr sz="7600"/>
            </a:lvl1pPr>
          </a:lstStyle>
          <a:p>
            <a:pPr/>
            <a:r>
              <a:t>Key Dynamo Techniques</a:t>
            </a:r>
          </a:p>
        </p:txBody>
      </p:sp>
      <p:sp>
        <p:nvSpPr>
          <p:cNvPr id="148" name="Body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6687" indent="-166687" defTabSz="457200">
              <a:lnSpc>
                <a:spcPts val="4000"/>
              </a:lnSpc>
              <a:spcBef>
                <a:spcPts val="1200"/>
              </a:spcBef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49" name="Arrow"/>
          <p:cNvSpPr/>
          <p:nvPr/>
        </p:nvSpPr>
        <p:spPr>
          <a:xfrm>
            <a:off x="949351" y="4806057"/>
            <a:ext cx="1084179" cy="1014502"/>
          </a:xfrm>
          <a:prstGeom prst="rightArrow">
            <a:avLst>
              <a:gd name="adj1" fmla="val 32000"/>
              <a:gd name="adj2" fmla="val 80118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5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15769" y="4110490"/>
            <a:ext cx="10013928" cy="32471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gular Partitio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Regular Partitioning</a:t>
            </a:r>
          </a:p>
        </p:txBody>
      </p:sp>
      <p:sp>
        <p:nvSpPr>
          <p:cNvPr id="153" name="An intuitive hash function ‘key % n’…"/>
          <p:cNvSpPr txBox="1"/>
          <p:nvPr>
            <p:ph type="body" sz="quarter" idx="1"/>
          </p:nvPr>
        </p:nvSpPr>
        <p:spPr>
          <a:xfrm>
            <a:off x="1347602" y="6897734"/>
            <a:ext cx="10309596" cy="1979566"/>
          </a:xfrm>
          <a:prstGeom prst="rect">
            <a:avLst/>
          </a:prstGeom>
        </p:spPr>
        <p:txBody>
          <a:bodyPr/>
          <a:lstStyle/>
          <a:p>
            <a:pPr marL="166687" indent="-166687" defTabSz="457200">
              <a:lnSpc>
                <a:spcPts val="6700"/>
              </a:lnSpc>
              <a:spcBef>
                <a:spcPts val="1200"/>
              </a:spcBef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Times"/>
                <a:ea typeface="Times"/>
                <a:cs typeface="Times"/>
                <a:sym typeface="Times"/>
              </a:rPr>
              <a:t> An intuitive hash function ‘</a:t>
            </a:r>
            <a:r>
              <a:rPr b="1">
                <a:latin typeface="Times"/>
                <a:ea typeface="Times"/>
                <a:cs typeface="Times"/>
                <a:sym typeface="Times"/>
              </a:rPr>
              <a:t>key % n</a:t>
            </a:r>
            <a:r>
              <a:rPr>
                <a:latin typeface="Times"/>
                <a:ea typeface="Times"/>
                <a:cs typeface="Times"/>
                <a:sym typeface="Times"/>
              </a:rPr>
              <a:t>’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166687" indent="-166687" defTabSz="457200">
              <a:lnSpc>
                <a:spcPts val="6700"/>
              </a:lnSpc>
              <a:spcBef>
                <a:spcPts val="1200"/>
              </a:spcBef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Times"/>
                <a:ea typeface="Times"/>
                <a:cs typeface="Times"/>
                <a:sym typeface="Times"/>
              </a:rPr>
              <a:t> A</a:t>
            </a:r>
            <a:r>
              <a:t>dd a server: </a:t>
            </a:r>
            <a:r>
              <a:rPr b="1"/>
              <a:t>key % (n+1)</a:t>
            </a:r>
          </a:p>
        </p:txBody>
      </p:sp>
      <p:pic>
        <p:nvPicPr>
          <p:cNvPr id="15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6357" y="2160639"/>
            <a:ext cx="9472086" cy="46953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onsistent Hash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Consistent Hashing</a:t>
            </a:r>
          </a:p>
        </p:txBody>
      </p:sp>
      <p:sp>
        <p:nvSpPr>
          <p:cNvPr id="157" name="Body"/>
          <p:cNvSpPr txBox="1"/>
          <p:nvPr>
            <p:ph type="body" sz="quarter" idx="1"/>
          </p:nvPr>
        </p:nvSpPr>
        <p:spPr>
          <a:xfrm>
            <a:off x="4592768" y="1870394"/>
            <a:ext cx="3557626" cy="3572134"/>
          </a:xfrm>
          <a:prstGeom prst="rect">
            <a:avLst/>
          </a:prstGeom>
        </p:spPr>
        <p:txBody>
          <a:bodyPr/>
          <a:lstStyle/>
          <a:p>
            <a:pPr marL="137160" indent="-137160" defTabSz="233679">
              <a:spcBef>
                <a:spcPts val="1200"/>
              </a:spcBef>
              <a:defRPr sz="1120"/>
            </a:pPr>
          </a:p>
        </p:txBody>
      </p:sp>
      <p:pic>
        <p:nvPicPr>
          <p:cNvPr id="15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92768" y="1870394"/>
            <a:ext cx="3453217" cy="34669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8605" y="1923989"/>
            <a:ext cx="3328922" cy="34649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69530" y="1959501"/>
            <a:ext cx="3491485" cy="3393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66820" y="5407679"/>
            <a:ext cx="3368450" cy="32806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943263" y="5513687"/>
            <a:ext cx="3118274" cy="3068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217116" y="5621249"/>
            <a:ext cx="3951861" cy="3068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2" grpId="5"/>
      <p:bldP build="whole" bldLvl="1" animBg="1" rev="0" advAuto="0" spid="159" grpId="1"/>
      <p:bldP build="whole" bldLvl="1" animBg="1" rev="0" advAuto="0" spid="161" grpId="4"/>
      <p:bldP build="whole" bldLvl="1" animBg="1" rev="0" advAuto="0" spid="163" grpId="6"/>
      <p:bldP build="whole" bldLvl="1" animBg="1" rev="0" advAuto="0" spid="157" grpId="2"/>
      <p:bldP build="whole" bldLvl="1" animBg="1" rev="0" advAuto="0" spid="160" grpId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Key Dynamo Techniq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54990">
              <a:defRPr sz="7600"/>
            </a:lvl1pPr>
          </a:lstStyle>
          <a:p>
            <a:pPr/>
            <a:r>
              <a:t>Key Dynamo Techniques</a:t>
            </a:r>
          </a:p>
        </p:txBody>
      </p:sp>
      <p:sp>
        <p:nvSpPr>
          <p:cNvPr id="166" name="Body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6687" indent="-166687" defTabSz="457200">
              <a:lnSpc>
                <a:spcPts val="4000"/>
              </a:lnSpc>
              <a:spcBef>
                <a:spcPts val="1200"/>
              </a:spcBef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67" name="Arrow"/>
          <p:cNvSpPr/>
          <p:nvPr/>
        </p:nvSpPr>
        <p:spPr>
          <a:xfrm>
            <a:off x="937835" y="6003666"/>
            <a:ext cx="1084179" cy="1365183"/>
          </a:xfrm>
          <a:prstGeom prst="rightArrow">
            <a:avLst>
              <a:gd name="adj1" fmla="val 32000"/>
              <a:gd name="adj2" fmla="val 7496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6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15769" y="4110490"/>
            <a:ext cx="10013928" cy="32471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Vector Clock in Dyna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6674">
              <a:defRPr sz="7760"/>
            </a:lvl1pPr>
          </a:lstStyle>
          <a:p>
            <a:pPr/>
            <a:r>
              <a:t>Vector Clock in Dynamo</a:t>
            </a:r>
          </a:p>
        </p:txBody>
      </p:sp>
      <p:pic>
        <p:nvPicPr>
          <p:cNvPr id="17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2999" y="2046830"/>
            <a:ext cx="6143792" cy="6727064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[Server, Counter] Pairs…"/>
          <p:cNvSpPr txBox="1"/>
          <p:nvPr/>
        </p:nvSpPr>
        <p:spPr>
          <a:xfrm>
            <a:off x="1033677" y="3119929"/>
            <a:ext cx="4408222" cy="5433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42900" indent="-342900" algn="l">
              <a:spcBef>
                <a:spcPts val="3200"/>
              </a:spcBef>
              <a:buSzPct val="145000"/>
              <a:buChar char="•"/>
              <a:defRPr b="0" sz="4300"/>
            </a:pPr>
            <a:r>
              <a:t>[Server, Counter] Pairs</a:t>
            </a:r>
          </a:p>
          <a:p>
            <a:pPr marL="342900" indent="-342900" algn="l">
              <a:spcBef>
                <a:spcPts val="3200"/>
              </a:spcBef>
              <a:buSzPct val="145000"/>
              <a:buChar char="•"/>
              <a:defRPr b="0" sz="4300"/>
            </a:pPr>
            <a:r>
              <a:t>D1 - D5: D object, version 1 - 5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342900" indent="-342900" algn="l">
              <a:spcBef>
                <a:spcPts val="3200"/>
              </a:spcBef>
              <a:buSzPct val="145000"/>
              <a:buChar char="•"/>
              <a:defRPr b="0" sz="4300"/>
            </a:pPr>
            <a:r>
              <a:t>Sx, Sy, Sz: Servers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ault-tolerant techniq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Fault-tolerant techniques</a:t>
            </a:r>
          </a:p>
        </p:txBody>
      </p:sp>
      <p:sp>
        <p:nvSpPr>
          <p:cNvPr id="175" name="Body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6687" indent="-166687" defTabSz="457200">
              <a:lnSpc>
                <a:spcPts val="4000"/>
              </a:lnSpc>
              <a:spcBef>
                <a:spcPts val="1200"/>
              </a:spcBef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7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42741" y="3274995"/>
            <a:ext cx="7972223" cy="5665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55147" y="2709133"/>
            <a:ext cx="7947412" cy="6293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ynamo Based Projects"/>
          <p:cNvSpPr txBox="1"/>
          <p:nvPr>
            <p:ph type="title"/>
          </p:nvPr>
        </p:nvSpPr>
        <p:spPr>
          <a:xfrm>
            <a:off x="952500" y="1107583"/>
            <a:ext cx="4282225" cy="3515217"/>
          </a:xfrm>
          <a:prstGeom prst="rect">
            <a:avLst/>
          </a:prstGeom>
        </p:spPr>
        <p:txBody>
          <a:bodyPr/>
          <a:lstStyle/>
          <a:p>
            <a:pPr/>
            <a:r>
              <a:t>Dynamo Based Projects</a:t>
            </a:r>
          </a:p>
        </p:txBody>
      </p:sp>
      <p:sp>
        <p:nvSpPr>
          <p:cNvPr id="180" name="Body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0399" y="963490"/>
            <a:ext cx="6832601" cy="736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Q&amp;A"/>
          <p:cNvSpPr txBox="1"/>
          <p:nvPr/>
        </p:nvSpPr>
        <p:spPr>
          <a:xfrm>
            <a:off x="1286561" y="6352859"/>
            <a:ext cx="308260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2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