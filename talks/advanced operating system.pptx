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  <p:sldId id="28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33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D1777A-B3D4-4DFF-9C94-D9B0E13FC7C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DF0A274-A914-4BD9-A769-BDE6B980F728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A3814C5D-8D68-4BE1-A943-71B5B7699D88}" type="parTrans" cxnId="{E5D4716A-4C60-4D57-92A1-65ED9CAF1D4D}">
      <dgm:prSet/>
      <dgm:spPr/>
      <dgm:t>
        <a:bodyPr/>
        <a:lstStyle/>
        <a:p>
          <a:endParaRPr lang="en-US"/>
        </a:p>
      </dgm:t>
    </dgm:pt>
    <dgm:pt modelId="{E6D4A2E8-0664-4AFC-BECC-75229E114D76}" type="sibTrans" cxnId="{E5D4716A-4C60-4D57-92A1-65ED9CAF1D4D}">
      <dgm:prSet/>
      <dgm:spPr/>
      <dgm:t>
        <a:bodyPr/>
        <a:lstStyle/>
        <a:p>
          <a:endParaRPr lang="en-US"/>
        </a:p>
      </dgm:t>
    </dgm:pt>
    <dgm:pt modelId="{53D9A06B-3A2E-4CB2-84CA-405C715EC35F}">
      <dgm:prSet/>
      <dgm:spPr/>
      <dgm:t>
        <a:bodyPr/>
        <a:lstStyle/>
        <a:p>
          <a:r>
            <a:rPr lang="en-US"/>
            <a:t>LwC design</a:t>
          </a:r>
        </a:p>
      </dgm:t>
    </dgm:pt>
    <dgm:pt modelId="{6FC1D5A9-EEA5-47D5-B13F-5ADA32C570E5}" type="parTrans" cxnId="{64890AC3-AC15-4394-A024-792781210B58}">
      <dgm:prSet/>
      <dgm:spPr/>
      <dgm:t>
        <a:bodyPr/>
        <a:lstStyle/>
        <a:p>
          <a:endParaRPr lang="en-US"/>
        </a:p>
      </dgm:t>
    </dgm:pt>
    <dgm:pt modelId="{000E8F40-3E86-4805-9EA0-F0301423B482}" type="sibTrans" cxnId="{64890AC3-AC15-4394-A024-792781210B58}">
      <dgm:prSet/>
      <dgm:spPr/>
      <dgm:t>
        <a:bodyPr/>
        <a:lstStyle/>
        <a:p>
          <a:endParaRPr lang="en-US"/>
        </a:p>
      </dgm:t>
    </dgm:pt>
    <dgm:pt modelId="{DF3B6B21-03C0-4F9B-9ED5-876914DD47BF}">
      <dgm:prSet/>
      <dgm:spPr/>
      <dgm:t>
        <a:bodyPr/>
        <a:lstStyle/>
        <a:p>
          <a:r>
            <a:rPr lang="en-US"/>
            <a:t>Common lwC usage patterns</a:t>
          </a:r>
        </a:p>
      </dgm:t>
    </dgm:pt>
    <dgm:pt modelId="{A0E9AE99-9E59-4F6D-8968-438F0D898AD1}" type="parTrans" cxnId="{2A63FD86-BB35-4476-9B8F-E1645527228B}">
      <dgm:prSet/>
      <dgm:spPr/>
      <dgm:t>
        <a:bodyPr/>
        <a:lstStyle/>
        <a:p>
          <a:endParaRPr lang="en-US"/>
        </a:p>
      </dgm:t>
    </dgm:pt>
    <dgm:pt modelId="{7EF0E130-C43C-475F-8468-FB0F5F69BB2D}" type="sibTrans" cxnId="{2A63FD86-BB35-4476-9B8F-E1645527228B}">
      <dgm:prSet/>
      <dgm:spPr/>
      <dgm:t>
        <a:bodyPr/>
        <a:lstStyle/>
        <a:p>
          <a:endParaRPr lang="en-US"/>
        </a:p>
      </dgm:t>
    </dgm:pt>
    <dgm:pt modelId="{651903A6-B6BB-4FED-AE3D-FA9D99FCAFB2}">
      <dgm:prSet/>
      <dgm:spPr/>
      <dgm:t>
        <a:bodyPr/>
        <a:lstStyle/>
        <a:p>
          <a:r>
            <a:rPr lang="en-US"/>
            <a:t>Implementation</a:t>
          </a:r>
        </a:p>
      </dgm:t>
    </dgm:pt>
    <dgm:pt modelId="{C94B3498-D8F9-497C-AEB1-54DBD8C387E4}" type="parTrans" cxnId="{8AB2B1F2-0F56-4FAC-9000-9E8347FF3562}">
      <dgm:prSet/>
      <dgm:spPr/>
      <dgm:t>
        <a:bodyPr/>
        <a:lstStyle/>
        <a:p>
          <a:endParaRPr lang="en-US"/>
        </a:p>
      </dgm:t>
    </dgm:pt>
    <dgm:pt modelId="{951F511B-21E2-45B5-84D3-AB1D5719AD30}" type="sibTrans" cxnId="{8AB2B1F2-0F56-4FAC-9000-9E8347FF3562}">
      <dgm:prSet/>
      <dgm:spPr/>
      <dgm:t>
        <a:bodyPr/>
        <a:lstStyle/>
        <a:p>
          <a:endParaRPr lang="en-US"/>
        </a:p>
      </dgm:t>
    </dgm:pt>
    <dgm:pt modelId="{A434DC15-0C56-4EC2-9E2D-EC2A678DC818}">
      <dgm:prSet/>
      <dgm:spPr/>
      <dgm:t>
        <a:bodyPr/>
        <a:lstStyle/>
        <a:p>
          <a:r>
            <a:rPr lang="en-US"/>
            <a:t>Evaluation</a:t>
          </a:r>
        </a:p>
      </dgm:t>
    </dgm:pt>
    <dgm:pt modelId="{B3E62833-68DC-41E6-965C-22FE15F37F7F}" type="parTrans" cxnId="{FC41E9F5-1D7A-4AF3-A3C5-52610E5C694C}">
      <dgm:prSet/>
      <dgm:spPr/>
      <dgm:t>
        <a:bodyPr/>
        <a:lstStyle/>
        <a:p>
          <a:endParaRPr lang="en-US"/>
        </a:p>
      </dgm:t>
    </dgm:pt>
    <dgm:pt modelId="{1533E1A6-D2D3-4F5F-80C3-DA8473CA7DA4}" type="sibTrans" cxnId="{FC41E9F5-1D7A-4AF3-A3C5-52610E5C694C}">
      <dgm:prSet/>
      <dgm:spPr/>
      <dgm:t>
        <a:bodyPr/>
        <a:lstStyle/>
        <a:p>
          <a:endParaRPr lang="en-US"/>
        </a:p>
      </dgm:t>
    </dgm:pt>
    <dgm:pt modelId="{5C375991-BA64-4D02-A70A-A36AA9074497}">
      <dgm:prSet/>
      <dgm:spPr/>
      <dgm:t>
        <a:bodyPr/>
        <a:lstStyle/>
        <a:p>
          <a:r>
            <a:rPr lang="en-US"/>
            <a:t>Conclusion</a:t>
          </a:r>
        </a:p>
      </dgm:t>
    </dgm:pt>
    <dgm:pt modelId="{760EF43C-5926-4F4E-A3C7-E4B59F1EB92B}" type="parTrans" cxnId="{BC9716F1-640C-420B-AF5A-1AE4B4B72AF3}">
      <dgm:prSet/>
      <dgm:spPr/>
      <dgm:t>
        <a:bodyPr/>
        <a:lstStyle/>
        <a:p>
          <a:endParaRPr lang="en-US"/>
        </a:p>
      </dgm:t>
    </dgm:pt>
    <dgm:pt modelId="{C2730497-1126-4491-A1CA-E8472792E79B}" type="sibTrans" cxnId="{BC9716F1-640C-420B-AF5A-1AE4B4B72AF3}">
      <dgm:prSet/>
      <dgm:spPr/>
      <dgm:t>
        <a:bodyPr/>
        <a:lstStyle/>
        <a:p>
          <a:endParaRPr lang="en-US"/>
        </a:p>
      </dgm:t>
    </dgm:pt>
    <dgm:pt modelId="{C3A55103-DACF-40D0-A26E-ECBB57116882}" type="pres">
      <dgm:prSet presAssocID="{00D1777A-B3D4-4DFF-9C94-D9B0E13FC7C8}" presName="linear" presStyleCnt="0">
        <dgm:presLayoutVars>
          <dgm:animLvl val="lvl"/>
          <dgm:resizeHandles val="exact"/>
        </dgm:presLayoutVars>
      </dgm:prSet>
      <dgm:spPr/>
    </dgm:pt>
    <dgm:pt modelId="{92469B2E-B5C2-49A7-97D0-60F98E57D617}" type="pres">
      <dgm:prSet presAssocID="{DDF0A274-A914-4BD9-A769-BDE6B980F72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DAA7CEEE-F43D-4719-AC71-7D53EEFF15FB}" type="pres">
      <dgm:prSet presAssocID="{E6D4A2E8-0664-4AFC-BECC-75229E114D76}" presName="spacer" presStyleCnt="0"/>
      <dgm:spPr/>
    </dgm:pt>
    <dgm:pt modelId="{4EA96FA1-BC46-41A6-9BFD-9FB383A7BCA7}" type="pres">
      <dgm:prSet presAssocID="{53D9A06B-3A2E-4CB2-84CA-405C715EC35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EEB3F03-26DB-41DC-892F-C9A732D021EE}" type="pres">
      <dgm:prSet presAssocID="{000E8F40-3E86-4805-9EA0-F0301423B482}" presName="spacer" presStyleCnt="0"/>
      <dgm:spPr/>
    </dgm:pt>
    <dgm:pt modelId="{3F4AF1AE-A4E1-4EEA-A19D-C00AEEF003EB}" type="pres">
      <dgm:prSet presAssocID="{DF3B6B21-03C0-4F9B-9ED5-876914DD47B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682EFBC-A417-48B3-AE41-2998EACA6ACB}" type="pres">
      <dgm:prSet presAssocID="{7EF0E130-C43C-475F-8468-FB0F5F69BB2D}" presName="spacer" presStyleCnt="0"/>
      <dgm:spPr/>
    </dgm:pt>
    <dgm:pt modelId="{939516B5-08A1-43E1-8314-6AC11FDA32CB}" type="pres">
      <dgm:prSet presAssocID="{651903A6-B6BB-4FED-AE3D-FA9D99FCAFB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749E78E-9553-4A7B-BFBB-BE26C4633F2F}" type="pres">
      <dgm:prSet presAssocID="{951F511B-21E2-45B5-84D3-AB1D5719AD30}" presName="spacer" presStyleCnt="0"/>
      <dgm:spPr/>
    </dgm:pt>
    <dgm:pt modelId="{EA858A8C-005A-4C80-A1C1-83EE39EFB127}" type="pres">
      <dgm:prSet presAssocID="{A434DC15-0C56-4EC2-9E2D-EC2A678DC81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74AEE40-4AB9-4845-83D7-2B7AB568074E}" type="pres">
      <dgm:prSet presAssocID="{1533E1A6-D2D3-4F5F-80C3-DA8473CA7DA4}" presName="spacer" presStyleCnt="0"/>
      <dgm:spPr/>
    </dgm:pt>
    <dgm:pt modelId="{F470A5E9-692F-451C-87F4-F84C823544F6}" type="pres">
      <dgm:prSet presAssocID="{5C375991-BA64-4D02-A70A-A36AA9074497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D888C05-9283-4776-8BF8-0C03F65B2457}" type="presOf" srcId="{53D9A06B-3A2E-4CB2-84CA-405C715EC35F}" destId="{4EA96FA1-BC46-41A6-9BFD-9FB383A7BCA7}" srcOrd="0" destOrd="0" presId="urn:microsoft.com/office/officeart/2005/8/layout/vList2"/>
    <dgm:cxn modelId="{E7FB6A21-7C87-4592-B38A-D6478F8DED11}" type="presOf" srcId="{5C375991-BA64-4D02-A70A-A36AA9074497}" destId="{F470A5E9-692F-451C-87F4-F84C823544F6}" srcOrd="0" destOrd="0" presId="urn:microsoft.com/office/officeart/2005/8/layout/vList2"/>
    <dgm:cxn modelId="{2752D463-C22F-4EDE-965A-898302764BFD}" type="presOf" srcId="{DDF0A274-A914-4BD9-A769-BDE6B980F728}" destId="{92469B2E-B5C2-49A7-97D0-60F98E57D617}" srcOrd="0" destOrd="0" presId="urn:microsoft.com/office/officeart/2005/8/layout/vList2"/>
    <dgm:cxn modelId="{258E5864-518D-4666-B09F-E73B75C8FB5F}" type="presOf" srcId="{00D1777A-B3D4-4DFF-9C94-D9B0E13FC7C8}" destId="{C3A55103-DACF-40D0-A26E-ECBB57116882}" srcOrd="0" destOrd="0" presId="urn:microsoft.com/office/officeart/2005/8/layout/vList2"/>
    <dgm:cxn modelId="{2C117768-F934-4B92-A147-5CAA76B2F5A8}" type="presOf" srcId="{A434DC15-0C56-4EC2-9E2D-EC2A678DC818}" destId="{EA858A8C-005A-4C80-A1C1-83EE39EFB127}" srcOrd="0" destOrd="0" presId="urn:microsoft.com/office/officeart/2005/8/layout/vList2"/>
    <dgm:cxn modelId="{E5D4716A-4C60-4D57-92A1-65ED9CAF1D4D}" srcId="{00D1777A-B3D4-4DFF-9C94-D9B0E13FC7C8}" destId="{DDF0A274-A914-4BD9-A769-BDE6B980F728}" srcOrd="0" destOrd="0" parTransId="{A3814C5D-8D68-4BE1-A943-71B5B7699D88}" sibTransId="{E6D4A2E8-0664-4AFC-BECC-75229E114D76}"/>
    <dgm:cxn modelId="{2A63FD86-BB35-4476-9B8F-E1645527228B}" srcId="{00D1777A-B3D4-4DFF-9C94-D9B0E13FC7C8}" destId="{DF3B6B21-03C0-4F9B-9ED5-876914DD47BF}" srcOrd="2" destOrd="0" parTransId="{A0E9AE99-9E59-4F6D-8968-438F0D898AD1}" sibTransId="{7EF0E130-C43C-475F-8468-FB0F5F69BB2D}"/>
    <dgm:cxn modelId="{54A3E2AA-3C46-4EFE-A0E3-92F542FE98F4}" type="presOf" srcId="{DF3B6B21-03C0-4F9B-9ED5-876914DD47BF}" destId="{3F4AF1AE-A4E1-4EEA-A19D-C00AEEF003EB}" srcOrd="0" destOrd="0" presId="urn:microsoft.com/office/officeart/2005/8/layout/vList2"/>
    <dgm:cxn modelId="{64890AC3-AC15-4394-A024-792781210B58}" srcId="{00D1777A-B3D4-4DFF-9C94-D9B0E13FC7C8}" destId="{53D9A06B-3A2E-4CB2-84CA-405C715EC35F}" srcOrd="1" destOrd="0" parTransId="{6FC1D5A9-EEA5-47D5-B13F-5ADA32C570E5}" sibTransId="{000E8F40-3E86-4805-9EA0-F0301423B482}"/>
    <dgm:cxn modelId="{B09C5DE8-9F8B-4ABE-BEDA-2D6BFAB32636}" type="presOf" srcId="{651903A6-B6BB-4FED-AE3D-FA9D99FCAFB2}" destId="{939516B5-08A1-43E1-8314-6AC11FDA32CB}" srcOrd="0" destOrd="0" presId="urn:microsoft.com/office/officeart/2005/8/layout/vList2"/>
    <dgm:cxn modelId="{BC9716F1-640C-420B-AF5A-1AE4B4B72AF3}" srcId="{00D1777A-B3D4-4DFF-9C94-D9B0E13FC7C8}" destId="{5C375991-BA64-4D02-A70A-A36AA9074497}" srcOrd="5" destOrd="0" parTransId="{760EF43C-5926-4F4E-A3C7-E4B59F1EB92B}" sibTransId="{C2730497-1126-4491-A1CA-E8472792E79B}"/>
    <dgm:cxn modelId="{8AB2B1F2-0F56-4FAC-9000-9E8347FF3562}" srcId="{00D1777A-B3D4-4DFF-9C94-D9B0E13FC7C8}" destId="{651903A6-B6BB-4FED-AE3D-FA9D99FCAFB2}" srcOrd="3" destOrd="0" parTransId="{C94B3498-D8F9-497C-AEB1-54DBD8C387E4}" sibTransId="{951F511B-21E2-45B5-84D3-AB1D5719AD30}"/>
    <dgm:cxn modelId="{FC41E9F5-1D7A-4AF3-A3C5-52610E5C694C}" srcId="{00D1777A-B3D4-4DFF-9C94-D9B0E13FC7C8}" destId="{A434DC15-0C56-4EC2-9E2D-EC2A678DC818}" srcOrd="4" destOrd="0" parTransId="{B3E62833-68DC-41E6-965C-22FE15F37F7F}" sibTransId="{1533E1A6-D2D3-4F5F-80C3-DA8473CA7DA4}"/>
    <dgm:cxn modelId="{D43CB8FA-39EB-4AA9-A197-B63B9DD3A0D9}" type="presParOf" srcId="{C3A55103-DACF-40D0-A26E-ECBB57116882}" destId="{92469B2E-B5C2-49A7-97D0-60F98E57D617}" srcOrd="0" destOrd="0" presId="urn:microsoft.com/office/officeart/2005/8/layout/vList2"/>
    <dgm:cxn modelId="{E5C2B567-5E7C-4A5E-BE3C-2226B39306C6}" type="presParOf" srcId="{C3A55103-DACF-40D0-A26E-ECBB57116882}" destId="{DAA7CEEE-F43D-4719-AC71-7D53EEFF15FB}" srcOrd="1" destOrd="0" presId="urn:microsoft.com/office/officeart/2005/8/layout/vList2"/>
    <dgm:cxn modelId="{F5A4C019-E514-4C62-8BAB-49B47D332565}" type="presParOf" srcId="{C3A55103-DACF-40D0-A26E-ECBB57116882}" destId="{4EA96FA1-BC46-41A6-9BFD-9FB383A7BCA7}" srcOrd="2" destOrd="0" presId="urn:microsoft.com/office/officeart/2005/8/layout/vList2"/>
    <dgm:cxn modelId="{29F63AA6-A230-45CE-B3BC-CA61FB1A6914}" type="presParOf" srcId="{C3A55103-DACF-40D0-A26E-ECBB57116882}" destId="{1EEB3F03-26DB-41DC-892F-C9A732D021EE}" srcOrd="3" destOrd="0" presId="urn:microsoft.com/office/officeart/2005/8/layout/vList2"/>
    <dgm:cxn modelId="{42D3A170-9DA9-4D08-9DB4-72E6F9C573AE}" type="presParOf" srcId="{C3A55103-DACF-40D0-A26E-ECBB57116882}" destId="{3F4AF1AE-A4E1-4EEA-A19D-C00AEEF003EB}" srcOrd="4" destOrd="0" presId="urn:microsoft.com/office/officeart/2005/8/layout/vList2"/>
    <dgm:cxn modelId="{3567D67C-EB05-4AB0-9692-BB23A6460EA6}" type="presParOf" srcId="{C3A55103-DACF-40D0-A26E-ECBB57116882}" destId="{A682EFBC-A417-48B3-AE41-2998EACA6ACB}" srcOrd="5" destOrd="0" presId="urn:microsoft.com/office/officeart/2005/8/layout/vList2"/>
    <dgm:cxn modelId="{646F1088-4093-44B8-8CA3-6091B81D01A2}" type="presParOf" srcId="{C3A55103-DACF-40D0-A26E-ECBB57116882}" destId="{939516B5-08A1-43E1-8314-6AC11FDA32CB}" srcOrd="6" destOrd="0" presId="urn:microsoft.com/office/officeart/2005/8/layout/vList2"/>
    <dgm:cxn modelId="{825FC746-E661-4785-8664-A852AFFB7F9A}" type="presParOf" srcId="{C3A55103-DACF-40D0-A26E-ECBB57116882}" destId="{5749E78E-9553-4A7B-BFBB-BE26C4633F2F}" srcOrd="7" destOrd="0" presId="urn:microsoft.com/office/officeart/2005/8/layout/vList2"/>
    <dgm:cxn modelId="{EA303020-CFFE-47A4-8B81-6E87C54F2052}" type="presParOf" srcId="{C3A55103-DACF-40D0-A26E-ECBB57116882}" destId="{EA858A8C-005A-4C80-A1C1-83EE39EFB127}" srcOrd="8" destOrd="0" presId="urn:microsoft.com/office/officeart/2005/8/layout/vList2"/>
    <dgm:cxn modelId="{768733B3-870F-451F-A16B-9172C38CF237}" type="presParOf" srcId="{C3A55103-DACF-40D0-A26E-ECBB57116882}" destId="{274AEE40-4AB9-4845-83D7-2B7AB568074E}" srcOrd="9" destOrd="0" presId="urn:microsoft.com/office/officeart/2005/8/layout/vList2"/>
    <dgm:cxn modelId="{A13847ED-E797-435E-A21E-2159087B3DDC}" type="presParOf" srcId="{C3A55103-DACF-40D0-A26E-ECBB57116882}" destId="{F470A5E9-692F-451C-87F4-F84C823544F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469B2E-B5C2-49A7-97D0-60F98E57D617}">
      <dsp:nvSpPr>
        <dsp:cNvPr id="0" name=""/>
        <dsp:cNvSpPr/>
      </dsp:nvSpPr>
      <dsp:spPr>
        <a:xfrm>
          <a:off x="0" y="13977"/>
          <a:ext cx="6513603" cy="8874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Introduction</a:t>
          </a:r>
        </a:p>
      </dsp:txBody>
      <dsp:txXfrm>
        <a:off x="43321" y="57298"/>
        <a:ext cx="6426961" cy="800803"/>
      </dsp:txXfrm>
    </dsp:sp>
    <dsp:sp modelId="{4EA96FA1-BC46-41A6-9BFD-9FB383A7BCA7}">
      <dsp:nvSpPr>
        <dsp:cNvPr id="0" name=""/>
        <dsp:cNvSpPr/>
      </dsp:nvSpPr>
      <dsp:spPr>
        <a:xfrm>
          <a:off x="0" y="1007983"/>
          <a:ext cx="6513603" cy="887445"/>
        </a:xfrm>
        <a:prstGeom prst="roundRect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LwC design</a:t>
          </a:r>
        </a:p>
      </dsp:txBody>
      <dsp:txXfrm>
        <a:off x="43321" y="1051304"/>
        <a:ext cx="6426961" cy="800803"/>
      </dsp:txXfrm>
    </dsp:sp>
    <dsp:sp modelId="{3F4AF1AE-A4E1-4EEA-A19D-C00AEEF003EB}">
      <dsp:nvSpPr>
        <dsp:cNvPr id="0" name=""/>
        <dsp:cNvSpPr/>
      </dsp:nvSpPr>
      <dsp:spPr>
        <a:xfrm>
          <a:off x="0" y="2001988"/>
          <a:ext cx="6513603" cy="887445"/>
        </a:xfrm>
        <a:prstGeom prst="roundRect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Common lwC usage patterns</a:t>
          </a:r>
        </a:p>
      </dsp:txBody>
      <dsp:txXfrm>
        <a:off x="43321" y="2045309"/>
        <a:ext cx="6426961" cy="800803"/>
      </dsp:txXfrm>
    </dsp:sp>
    <dsp:sp modelId="{939516B5-08A1-43E1-8314-6AC11FDA32CB}">
      <dsp:nvSpPr>
        <dsp:cNvPr id="0" name=""/>
        <dsp:cNvSpPr/>
      </dsp:nvSpPr>
      <dsp:spPr>
        <a:xfrm>
          <a:off x="0" y="2995993"/>
          <a:ext cx="6513603" cy="887445"/>
        </a:xfrm>
        <a:prstGeom prst="roundRect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Implementation</a:t>
          </a:r>
        </a:p>
      </dsp:txBody>
      <dsp:txXfrm>
        <a:off x="43321" y="3039314"/>
        <a:ext cx="6426961" cy="800803"/>
      </dsp:txXfrm>
    </dsp:sp>
    <dsp:sp modelId="{EA858A8C-005A-4C80-A1C1-83EE39EFB127}">
      <dsp:nvSpPr>
        <dsp:cNvPr id="0" name=""/>
        <dsp:cNvSpPr/>
      </dsp:nvSpPr>
      <dsp:spPr>
        <a:xfrm>
          <a:off x="0" y="3989998"/>
          <a:ext cx="6513603" cy="887445"/>
        </a:xfrm>
        <a:prstGeom prst="roundRect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Evaluation</a:t>
          </a:r>
        </a:p>
      </dsp:txBody>
      <dsp:txXfrm>
        <a:off x="43321" y="4033319"/>
        <a:ext cx="6426961" cy="800803"/>
      </dsp:txXfrm>
    </dsp:sp>
    <dsp:sp modelId="{F470A5E9-692F-451C-87F4-F84C823544F6}">
      <dsp:nvSpPr>
        <dsp:cNvPr id="0" name=""/>
        <dsp:cNvSpPr/>
      </dsp:nvSpPr>
      <dsp:spPr>
        <a:xfrm>
          <a:off x="0" y="4984003"/>
          <a:ext cx="6513603" cy="887445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Conclusion</a:t>
          </a:r>
        </a:p>
      </dsp:txBody>
      <dsp:txXfrm>
        <a:off x="43321" y="5027324"/>
        <a:ext cx="6426961" cy="800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69EC4-5A03-4D8B-8390-6F599A3CF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78D30-D93E-4A1A-8B32-C942F9236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7468D-0E04-4B49-B21A-93A98889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BC7AE-5447-439A-99F3-2AA3E357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7F43F-F78F-4A0D-AD64-64C33CDEC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74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795F8-82AD-43F4-984E-6186205A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839-0A09-4657-856E-729D407F9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DF404-EBFE-44C9-BE09-A88378C25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F6CCF-8E1F-4FD3-8114-437BB3C39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6D1BD-4BE8-443C-91F3-1D7E9AAF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5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2526-701A-464E-950D-F6F4CAE8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CEC74-4EB5-49D8-A1CC-AA9CB4E83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B0121-BF4C-4263-95F6-EDAF8FC9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D4D5B-2B86-49A9-89DB-090B5E14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52284-31F1-461F-A209-D1F1D60FE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39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B6C74-9CDF-4C56-B54E-F4999517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0C434-952B-43B3-BA4C-E6649FA90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3934F-897B-4D7F-B02B-7A1EFFB9A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8B610-7B1B-47BF-A345-6DE1C9D2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931AD-05FC-4C12-997B-39666F4C3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19B85-FAB4-4134-AE5A-AE8E03C3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86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8B865-C0DC-4296-84B6-9E719FE55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71B0A-432D-4069-88ED-292B9FCC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C7808-A95E-4956-B1E5-3DB875152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4500D-8F78-4D26-9AA0-FC63E08C3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A1CC2-56FC-4217-814E-DB252CCE13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4C2DEE-F969-4CC7-9B70-C543F4555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2BA42-2154-4A99-A0DE-26C5D442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C353A6-CF27-469F-A2C0-DF9F9F34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81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48EA9-BA63-46F4-9556-68D3F249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24E100-824E-4280-9F73-BD4BCA7D3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D2D4-30B2-4FD7-9C40-270BB1EEA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19060-6E0B-489C-913C-7B1F8204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29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6C8862-D71A-4E55-84AB-FED4FE95E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BFF08C-00A0-4B17-A9B7-949151110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6B127-57B9-4EC4-9C66-7FE3593B9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867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40863-346A-4164-A041-325F5CC4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11355-240F-4A6E-BA7C-05555854D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F4BDA-95E7-42F2-8993-4B0E11F5D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8DD21-A9EE-4799-AC8C-FC5A3BBF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F2092-ED21-4C2F-9922-F312F733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6851E-C51D-4D9C-9047-A846C98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08822-3312-4BBA-9556-7E5D142DE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765C3-6ED5-426E-B9D3-3FE0BF0C8E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D47E9-9A20-4496-8204-AAC7F3C0B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D600E-F97E-4CEB-8E70-3A5F34EB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3AFD7-B46F-4AE2-BE32-4CA2FCB13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18E14-71B3-4EE5-889D-A00D79F1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188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448A-1404-40FA-AECE-AC76A3373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B0B1E-5AEE-4222-830E-8C48A2F7C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843C2-0774-47FE-A9A3-7AD80CBAC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9753C-8C6A-48CB-8803-53EE3EF9F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6CE1-0D40-4B86-B027-6FE1D1B73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56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BEC4B3-83EE-4252-B3BE-08AA47F2D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BDA0B-9E82-4BD8-98BB-9BC3309FD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964BE-1935-45E3-A2F2-B5CA4A831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8B22A-498C-4390-9350-C632960EE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A8BEA-22A7-4B41-BC85-848F93B6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22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1A4F35-F6A3-4768-9171-26B6EB3E4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FC133-E5BE-43AF-8C12-8D5ADBE68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B7AFA-1DC7-4B90-8EBE-8DC7A31E7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CDF24-FEF8-4277-BC26-DF09C4A09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4D78A-2B85-4B55-AF02-A48C63A90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65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7200">
                <a:ea typeface="+mj-lt"/>
                <a:cs typeface="+mj-lt"/>
              </a:rPr>
              <a:t>Light-weight Contexts: An OS Abstraction for Safety and Performance</a:t>
            </a:r>
            <a:endParaRPr lang="en-US" sz="7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>
                <a:ea typeface="+mn-lt"/>
                <a:cs typeface="+mn-lt"/>
              </a:rPr>
              <a:t>Authors: James Litton, </a:t>
            </a:r>
            <a:r>
              <a:rPr lang="en-US" sz="2000" err="1">
                <a:ea typeface="+mn-lt"/>
                <a:cs typeface="+mn-lt"/>
              </a:rPr>
              <a:t>Anjo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Vahldiek-Oberwagner</a:t>
            </a:r>
            <a:r>
              <a:rPr lang="en-US" sz="2000">
                <a:ea typeface="+mn-lt"/>
                <a:cs typeface="+mn-lt"/>
              </a:rPr>
              <a:t> , </a:t>
            </a:r>
            <a:r>
              <a:rPr lang="en-US" sz="2000" err="1">
                <a:ea typeface="+mn-lt"/>
                <a:cs typeface="+mn-lt"/>
              </a:rPr>
              <a:t>Eslam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Elnikety</a:t>
            </a:r>
            <a:r>
              <a:rPr lang="en-US" sz="2000">
                <a:ea typeface="+mn-lt"/>
                <a:cs typeface="+mn-lt"/>
              </a:rPr>
              <a:t> , Deepak Garg , Bobby Bhattacharjee , and Peter Druschel</a:t>
            </a:r>
          </a:p>
          <a:p>
            <a:pPr algn="l"/>
            <a:r>
              <a:rPr lang="en-US" sz="2000">
                <a:cs typeface="Calibri"/>
              </a:rPr>
              <a:t>Presenter: Swathi Yadav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EAD4F-94B5-4872-B25E-7C57DC35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 sz="6000" dirty="0">
                <a:cs typeface="Calibri Light"/>
              </a:rPr>
              <a:t>Contents</a:t>
            </a:r>
            <a:endParaRPr lang="en-US" sz="6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D28316-3401-4E18-99D3-FEB3F59404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8510647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8880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BCE56-892D-420D-AD04-70F73BC72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760474" cy="4461163"/>
          </a:xfrm>
        </p:spPr>
        <p:txBody>
          <a:bodyPr>
            <a:normAutofit/>
          </a:bodyPr>
          <a:lstStyle/>
          <a:p>
            <a:r>
              <a:rPr lang="en-US" sz="5400" dirty="0">
                <a:cs typeface="Calibri Light"/>
              </a:rPr>
              <a:t>Introduction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A84E1-8AC1-45FE-AF6C-CB888DE0F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cs typeface="Calibri"/>
              </a:rPr>
              <a:t>A new OS abstraction Light-weight contexts (</a:t>
            </a:r>
            <a:r>
              <a:rPr lang="en-US" dirty="0" err="1">
                <a:cs typeface="Calibri"/>
              </a:rPr>
              <a:t>lwC</a:t>
            </a:r>
            <a:r>
              <a:rPr lang="en-US" dirty="0">
                <a:cs typeface="Calibri"/>
              </a:rPr>
              <a:t>).</a:t>
            </a:r>
          </a:p>
          <a:p>
            <a:r>
              <a:rPr lang="en-US" dirty="0">
                <a:cs typeface="Calibri"/>
              </a:rPr>
              <a:t>It provides independent units of protection, privilege and execution state within a process.</a:t>
            </a:r>
          </a:p>
          <a:p>
            <a:r>
              <a:rPr lang="en-US" dirty="0">
                <a:ea typeface="+mn-lt"/>
                <a:cs typeface="+mn-lt"/>
              </a:rPr>
              <a:t>A process may include several </a:t>
            </a:r>
            <a:r>
              <a:rPr lang="en-US" dirty="0" err="1">
                <a:ea typeface="+mn-lt"/>
                <a:cs typeface="+mn-lt"/>
              </a:rPr>
              <a:t>lwCs</a:t>
            </a:r>
            <a:r>
              <a:rPr lang="en-US" dirty="0">
                <a:ea typeface="+mn-lt"/>
                <a:cs typeface="+mn-lt"/>
              </a:rPr>
              <a:t>, each with possibly different views of memory, file descriptors, and access capabilities.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3365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24C2E-F463-400B-B441-1C98345AE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760474" cy="5585619"/>
          </a:xfrm>
        </p:spPr>
        <p:txBody>
          <a:bodyPr>
            <a:normAutofit/>
          </a:bodyPr>
          <a:lstStyle/>
          <a:p>
            <a:r>
              <a:rPr lang="en-US" sz="4800" dirty="0" err="1">
                <a:ea typeface="+mj-lt"/>
                <a:cs typeface="+mj-lt"/>
              </a:rPr>
              <a:t>lwCs</a:t>
            </a:r>
            <a:r>
              <a:rPr lang="en-US" sz="4800" dirty="0">
                <a:ea typeface="+mj-lt"/>
                <a:cs typeface="+mj-lt"/>
              </a:rPr>
              <a:t> can be used to efficiently implement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10271-9336-495A-B493-4333B17D5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b="1" dirty="0">
                <a:cs typeface="Calibri"/>
              </a:rPr>
              <a:t>Rollback:</a:t>
            </a:r>
            <a:r>
              <a:rPr lang="en-US" dirty="0">
                <a:cs typeface="Calibri"/>
              </a:rPr>
              <a:t> </a:t>
            </a:r>
            <a:r>
              <a:rPr lang="en-US" dirty="0">
                <a:ea typeface="+mn-lt"/>
                <a:cs typeface="+mn-lt"/>
              </a:rPr>
              <a:t>process can return to a prior recorded state</a:t>
            </a:r>
          </a:p>
          <a:p>
            <a:pPr algn="just"/>
            <a:r>
              <a:rPr lang="en-US" b="1" dirty="0">
                <a:ea typeface="+mn-lt"/>
                <a:cs typeface="+mn-lt"/>
              </a:rPr>
              <a:t>Isolated address spaces: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lwCs</a:t>
            </a:r>
            <a:r>
              <a:rPr lang="en-US" dirty="0">
                <a:ea typeface="+mn-lt"/>
                <a:cs typeface="+mn-lt"/>
              </a:rPr>
              <a:t> within the process may have different views of memory, e.g., isolating sensitive data from network-facing components or isolating different user sessions.</a:t>
            </a:r>
          </a:p>
          <a:p>
            <a:pPr algn="just"/>
            <a:r>
              <a:rPr lang="en-US" b="1" dirty="0">
                <a:ea typeface="+mn-lt"/>
                <a:cs typeface="+mn-lt"/>
              </a:rPr>
              <a:t>Privilege separation: </a:t>
            </a:r>
            <a:r>
              <a:rPr lang="en-US" dirty="0">
                <a:ea typeface="+mn-lt"/>
                <a:cs typeface="+mn-lt"/>
              </a:rPr>
              <a:t>in-process reference monitors can arbitrate and control access</a:t>
            </a:r>
            <a:endParaRPr lang="en-US" b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193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F9067-D8AF-4810-B477-03DF6EA8C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672102" cy="5585619"/>
          </a:xfrm>
        </p:spPr>
        <p:txBody>
          <a:bodyPr>
            <a:normAutofit/>
          </a:bodyPr>
          <a:lstStyle/>
          <a:p>
            <a:r>
              <a:rPr lang="en-US" sz="5400" dirty="0">
                <a:cs typeface="Calibri Light"/>
              </a:rPr>
              <a:t>Background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12A8E-DA86-434B-B757-5EDF73BD0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sz="2600" b="1" dirty="0">
                <a:cs typeface="Calibri"/>
              </a:rPr>
              <a:t>Process</a:t>
            </a:r>
            <a:r>
              <a:rPr lang="en-US" sz="2600" dirty="0">
                <a:cs typeface="Calibri"/>
              </a:rPr>
              <a:t> have files, memory mapping, threads.</a:t>
            </a:r>
          </a:p>
          <a:p>
            <a:pPr algn="just"/>
            <a:r>
              <a:rPr lang="en-US" sz="2600" dirty="0">
                <a:cs typeface="Calibri"/>
              </a:rPr>
              <a:t>It also has system attributes like execution priorities.</a:t>
            </a:r>
          </a:p>
          <a:p>
            <a:pPr algn="just"/>
            <a:r>
              <a:rPr lang="en-US" sz="2600" dirty="0">
                <a:cs typeface="Calibri"/>
              </a:rPr>
              <a:t>If a user wants to create a new process, we use </a:t>
            </a:r>
            <a:r>
              <a:rPr lang="en-US" sz="2600" b="1" dirty="0">
                <a:cs typeface="Calibri"/>
              </a:rPr>
              <a:t>forking</a:t>
            </a:r>
            <a:r>
              <a:rPr lang="en-US" sz="2600" dirty="0">
                <a:cs typeface="Calibri"/>
              </a:rPr>
              <a:t>.</a:t>
            </a:r>
          </a:p>
          <a:p>
            <a:pPr algn="just"/>
            <a:r>
              <a:rPr lang="en-US" sz="2600" dirty="0">
                <a:cs typeface="Calibri"/>
              </a:rPr>
              <a:t>Forking is used to achieve distinct isolation, privilege separation and program state.</a:t>
            </a:r>
          </a:p>
          <a:p>
            <a:pPr algn="just"/>
            <a:r>
              <a:rPr lang="en-US" sz="2600" dirty="0">
                <a:cs typeface="Calibri"/>
              </a:rPr>
              <a:t>Forking imposes a scheduling and coordination overhead between processes.</a:t>
            </a:r>
          </a:p>
          <a:p>
            <a:pPr algn="just"/>
            <a:r>
              <a:rPr lang="en-US" sz="2600" dirty="0">
                <a:cs typeface="Calibri"/>
              </a:rPr>
              <a:t>In this paper the authors have offered an alternative approach by providing new abstraction called </a:t>
            </a:r>
            <a:r>
              <a:rPr lang="en-US" sz="2600" dirty="0">
                <a:ea typeface="+mn-lt"/>
                <a:cs typeface="+mn-lt"/>
              </a:rPr>
              <a:t>Light-weight contexts (</a:t>
            </a:r>
            <a:r>
              <a:rPr lang="en-US" sz="2600" dirty="0" err="1">
                <a:ea typeface="+mn-lt"/>
                <a:cs typeface="+mn-lt"/>
              </a:rPr>
              <a:t>lwC</a:t>
            </a:r>
            <a:r>
              <a:rPr lang="en-US" sz="2600" dirty="0">
                <a:ea typeface="+mn-lt"/>
                <a:cs typeface="+mn-lt"/>
              </a:rPr>
              <a:t>).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955383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F5CD6-DF03-40C9-995A-8172BE2C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760474" cy="5585619"/>
          </a:xfrm>
        </p:spPr>
        <p:txBody>
          <a:bodyPr>
            <a:normAutofit/>
          </a:bodyPr>
          <a:lstStyle/>
          <a:p>
            <a:r>
              <a:rPr lang="en-US" sz="5400" dirty="0">
                <a:ea typeface="+mj-lt"/>
                <a:cs typeface="+mj-lt"/>
              </a:rPr>
              <a:t>Light-weight contexts (</a:t>
            </a:r>
            <a:r>
              <a:rPr lang="en-US" sz="5400" dirty="0" err="1">
                <a:ea typeface="+mj-lt"/>
                <a:cs typeface="+mj-lt"/>
              </a:rPr>
              <a:t>lwC</a:t>
            </a:r>
            <a:r>
              <a:rPr lang="en-US" sz="5400" dirty="0">
                <a:ea typeface="+mj-lt"/>
                <a:cs typeface="+mj-lt"/>
              </a:rPr>
              <a:t>)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9D815-42B2-4009-BB9D-B2BF14130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A process may contain multiple </a:t>
            </a:r>
            <a:r>
              <a:rPr lang="en-US" dirty="0" err="1">
                <a:ea typeface="+mn-lt"/>
                <a:cs typeface="+mn-lt"/>
              </a:rPr>
              <a:t>lwCs</a:t>
            </a:r>
            <a:r>
              <a:rPr lang="en-US" dirty="0">
                <a:ea typeface="+mn-lt"/>
                <a:cs typeface="+mn-lt"/>
              </a:rPr>
              <a:t>, each with their own virtual memory mappings, file descriptor bindings, and credentials.</a:t>
            </a:r>
            <a:endParaRPr lang="en-US" dirty="0"/>
          </a:p>
          <a:p>
            <a:pPr algn="just"/>
            <a:r>
              <a:rPr lang="en-US" dirty="0" err="1">
                <a:ea typeface="+mn-lt"/>
                <a:cs typeface="+mn-lt"/>
              </a:rPr>
              <a:t>lwCs</a:t>
            </a:r>
            <a:r>
              <a:rPr lang="en-US" dirty="0">
                <a:ea typeface="+mn-lt"/>
                <a:cs typeface="+mn-lt"/>
              </a:rPr>
              <a:t> are not schedulable entities: they are completely orthogonal to threads that may execute within a process.</a:t>
            </a:r>
          </a:p>
          <a:p>
            <a:pPr algn="just"/>
            <a:r>
              <a:rPr lang="en-US" dirty="0" err="1">
                <a:ea typeface="+mn-lt"/>
                <a:cs typeface="+mn-lt"/>
              </a:rPr>
              <a:t>lwCs</a:t>
            </a:r>
            <a:r>
              <a:rPr lang="en-US" dirty="0">
                <a:ea typeface="+mn-lt"/>
                <a:cs typeface="+mn-lt"/>
              </a:rPr>
              <a:t> enable a range of new in-process capabilities, including fast roll-back, protection rings, session isolation, and protected compartments.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5520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C3924-70AA-430D-AB44-D45F7DB5F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760474" cy="5585619"/>
          </a:xfrm>
        </p:spPr>
        <p:txBody>
          <a:bodyPr>
            <a:normAutofit/>
          </a:bodyPr>
          <a:lstStyle/>
          <a:p>
            <a:r>
              <a:rPr lang="en-US" sz="5400" dirty="0">
                <a:cs typeface="Calibri Light"/>
              </a:rPr>
              <a:t>Main Contribution.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22460-5B42-4482-A930-86ADDE600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Introduced </a:t>
            </a:r>
            <a:r>
              <a:rPr lang="en-US" dirty="0" err="1">
                <a:ea typeface="+mn-lt"/>
                <a:cs typeface="+mn-lt"/>
              </a:rPr>
              <a:t>lwCs</a:t>
            </a:r>
            <a:r>
              <a:rPr lang="en-US" dirty="0">
                <a:ea typeface="+mn-lt"/>
                <a:cs typeface="+mn-lt"/>
              </a:rPr>
              <a:t>, a first-class OS abstraction that extends the POSIX API, and present common coding patterns demonstrating its different uses.</a:t>
            </a:r>
            <a:endParaRPr lang="en-US" dirty="0"/>
          </a:p>
          <a:p>
            <a:pPr algn="just"/>
            <a:r>
              <a:rPr lang="en-US" dirty="0">
                <a:ea typeface="+mn-lt"/>
                <a:cs typeface="+mn-lt"/>
              </a:rPr>
              <a:t>Described an implementation of </a:t>
            </a:r>
            <a:r>
              <a:rPr lang="en-US" dirty="0" err="1">
                <a:ea typeface="+mn-lt"/>
                <a:cs typeface="+mn-lt"/>
              </a:rPr>
              <a:t>lwCs</a:t>
            </a:r>
            <a:r>
              <a:rPr lang="en-US" dirty="0">
                <a:ea typeface="+mn-lt"/>
                <a:cs typeface="+mn-lt"/>
              </a:rPr>
              <a:t> within FreeBSD, and show how </a:t>
            </a:r>
            <a:r>
              <a:rPr lang="en-US" dirty="0" err="1">
                <a:ea typeface="+mn-lt"/>
                <a:cs typeface="+mn-lt"/>
              </a:rPr>
              <a:t>lwCs</a:t>
            </a:r>
            <a:r>
              <a:rPr lang="en-US" dirty="0">
                <a:ea typeface="+mn-lt"/>
                <a:cs typeface="+mn-lt"/>
              </a:rPr>
              <a:t> can be used to implement efficient session isolation in production web servers, both process-oriented (Apache, via roll-back) and </a:t>
            </a:r>
            <a:r>
              <a:rPr lang="en-US" dirty="0" err="1">
                <a:ea typeface="+mn-lt"/>
                <a:cs typeface="+mn-lt"/>
              </a:rPr>
              <a:t>eventdriven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nginx</a:t>
            </a:r>
            <a:r>
              <a:rPr lang="en-US" dirty="0">
                <a:ea typeface="+mn-lt"/>
                <a:cs typeface="+mn-lt"/>
              </a:rPr>
              <a:t>, via memory isolation).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Evaluated </a:t>
            </a:r>
            <a:r>
              <a:rPr lang="en-US" dirty="0" err="1">
                <a:ea typeface="+mn-lt"/>
                <a:cs typeface="+mn-lt"/>
              </a:rPr>
              <a:t>lwCs</a:t>
            </a:r>
            <a:r>
              <a:rPr lang="en-US" dirty="0">
                <a:ea typeface="+mn-lt"/>
                <a:cs typeface="+mn-lt"/>
              </a:rPr>
              <a:t> using a range of micro-benchmarks and application scenarios. 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4486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0EC1-56A6-469C-91DD-44BE7DFD7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672102" cy="5585619"/>
          </a:xfrm>
        </p:spPr>
        <p:txBody>
          <a:bodyPr>
            <a:normAutofit/>
          </a:bodyPr>
          <a:lstStyle/>
          <a:p>
            <a:r>
              <a:rPr lang="en-US" sz="6000" dirty="0" err="1">
                <a:cs typeface="Calibri Light"/>
              </a:rPr>
              <a:t>lwC</a:t>
            </a:r>
            <a:r>
              <a:rPr lang="en-US" sz="6000" dirty="0">
                <a:cs typeface="Calibri Light"/>
              </a:rPr>
              <a:t>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95AA2-0CF7-4E4A-8109-A8A4AEFAE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Each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has its own virtual address space, set of page mappings, file descriptor bindings, and credentials. 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Threads and </a:t>
            </a:r>
            <a:r>
              <a:rPr lang="en-US" dirty="0" err="1">
                <a:ea typeface="+mn-lt"/>
                <a:cs typeface="+mn-lt"/>
              </a:rPr>
              <a:t>lwCs</a:t>
            </a:r>
            <a:r>
              <a:rPr lang="en-US" dirty="0">
                <a:ea typeface="+mn-lt"/>
                <a:cs typeface="+mn-lt"/>
              </a:rPr>
              <a:t> are independent.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Within a process, a thread executes within one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at a time and can switch between </a:t>
            </a:r>
            <a:r>
              <a:rPr lang="en-US" dirty="0" err="1">
                <a:ea typeface="+mn-lt"/>
                <a:cs typeface="+mn-lt"/>
              </a:rPr>
              <a:t>lwCs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algn="just"/>
            <a:r>
              <a:rPr lang="en-US" dirty="0" err="1">
                <a:ea typeface="+mn-lt"/>
                <a:cs typeface="+mn-lt"/>
              </a:rPr>
              <a:t>lwCs</a:t>
            </a:r>
            <a:r>
              <a:rPr lang="en-US" dirty="0">
                <a:ea typeface="+mn-lt"/>
                <a:cs typeface="+mn-lt"/>
              </a:rPr>
              <a:t> are named using file descriptors. </a:t>
            </a:r>
          </a:p>
        </p:txBody>
      </p:sp>
    </p:spTree>
    <p:extLst>
      <p:ext uri="{BB962C8B-B14F-4D97-AF65-F5344CB8AC3E}">
        <p14:creationId xmlns:p14="http://schemas.microsoft.com/office/powerpoint/2010/main" val="2238802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185B1-2ADB-4C42-82E1-4030507AA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Creating </a:t>
            </a:r>
            <a:r>
              <a:rPr lang="en-US" dirty="0" err="1">
                <a:ea typeface="+mj-lt"/>
                <a:cs typeface="+mj-lt"/>
              </a:rPr>
              <a:t>lwCs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B116A-4354-49BD-A5C3-5C754A30E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</a:t>
            </a:r>
            <a:r>
              <a:rPr lang="en-US" dirty="0" err="1">
                <a:ea typeface="+mn-lt"/>
                <a:cs typeface="+mn-lt"/>
              </a:rPr>
              <a:t>lwCreate</a:t>
            </a:r>
            <a:r>
              <a:rPr lang="en-US" dirty="0">
                <a:ea typeface="+mn-lt"/>
                <a:cs typeface="+mn-lt"/>
              </a:rPr>
              <a:t> call creates a new (child)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in the current process.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046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4ED1-A1A7-4E74-BB6A-D4E0E720A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Creating </a:t>
            </a:r>
            <a:r>
              <a:rPr lang="en-US" dirty="0" err="1">
                <a:cs typeface="Calibri Light"/>
              </a:rPr>
              <a:t>lwC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EAFB3-B1EF-47CE-92BF-7AEF9DA34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Unlike with fork, however, child and parent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share the same process id, and no new thread is created. </a:t>
            </a:r>
          </a:p>
          <a:p>
            <a:pPr algn="just"/>
            <a:r>
              <a:rPr lang="en-US" dirty="0" err="1">
                <a:ea typeface="+mn-lt"/>
                <a:cs typeface="+mn-lt"/>
              </a:rPr>
              <a:t>lwCreate</a:t>
            </a:r>
            <a:r>
              <a:rPr lang="en-US" dirty="0">
                <a:ea typeface="+mn-lt"/>
                <a:cs typeface="+mn-lt"/>
              </a:rPr>
              <a:t> returns the descriptor of the new child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new to the parent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with the caller descriptor set to -1.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When a thread switches to the new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(new) for the first time, the </a:t>
            </a:r>
            <a:r>
              <a:rPr lang="en-US" dirty="0" err="1">
                <a:ea typeface="+mn-lt"/>
                <a:cs typeface="+mn-lt"/>
              </a:rPr>
              <a:t>lwCreate</a:t>
            </a:r>
            <a:r>
              <a:rPr lang="en-US" dirty="0">
                <a:ea typeface="+mn-lt"/>
                <a:cs typeface="+mn-lt"/>
              </a:rPr>
              <a:t> call returns with the caller’s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descriptor in caller and the parent’s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descriptor in new, along with any arguments from the caller in </a:t>
            </a:r>
            <a:r>
              <a:rPr lang="en-US" dirty="0" err="1">
                <a:ea typeface="+mn-lt"/>
                <a:cs typeface="+mn-lt"/>
              </a:rPr>
              <a:t>args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By default, the new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gets a private copy of the calling </a:t>
            </a:r>
            <a:r>
              <a:rPr lang="en-US" dirty="0" err="1">
                <a:ea typeface="+mn-lt"/>
                <a:cs typeface="+mn-lt"/>
              </a:rPr>
              <a:t>lwC’s</a:t>
            </a:r>
            <a:r>
              <a:rPr lang="en-US" dirty="0">
                <a:ea typeface="+mn-lt"/>
                <a:cs typeface="+mn-lt"/>
              </a:rPr>
              <a:t> state at the time of the call.</a:t>
            </a: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88615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FAE1-1940-422A-A2D0-6CF2502D4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Creating </a:t>
            </a:r>
            <a:r>
              <a:rPr lang="en-US" dirty="0" err="1">
                <a:ea typeface="+mj-lt"/>
                <a:cs typeface="+mj-lt"/>
              </a:rPr>
              <a:t>lwC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6B060-EE95-4A88-8AF8-F56D4783C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To ensure that the child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reflects a consistent snapshot of the parent’s state, all threads that are active in the parent at the time of the </a:t>
            </a:r>
            <a:r>
              <a:rPr lang="en-US" dirty="0" err="1">
                <a:ea typeface="+mn-lt"/>
                <a:cs typeface="+mn-lt"/>
              </a:rPr>
              <a:t>lwCreate</a:t>
            </a:r>
            <a:r>
              <a:rPr lang="en-US" dirty="0">
                <a:ea typeface="+mn-lt"/>
                <a:cs typeface="+mn-lt"/>
              </a:rPr>
              <a:t> therefore should be in a consistent state.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A thread that does not exist in the parent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at the time of the </a:t>
            </a:r>
            <a:r>
              <a:rPr lang="en-US" dirty="0" err="1">
                <a:ea typeface="+mn-lt"/>
                <a:cs typeface="+mn-lt"/>
              </a:rPr>
              <a:t>lwCreate</a:t>
            </a:r>
            <a:r>
              <a:rPr lang="en-US" dirty="0">
                <a:ea typeface="+mn-lt"/>
                <a:cs typeface="+mn-lt"/>
              </a:rPr>
              <a:t> may not switch to the child in the future.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0885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7FDD9-F407-4384-9A0A-AC64AFA34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The </a:t>
            </a:r>
            <a:r>
              <a:rPr lang="en-US" dirty="0" err="1">
                <a:ea typeface="+mj-lt"/>
                <a:cs typeface="+mj-lt"/>
              </a:rPr>
              <a:t>lwCreate</a:t>
            </a:r>
            <a:r>
              <a:rPr lang="en-US" dirty="0">
                <a:ea typeface="+mj-lt"/>
                <a:cs typeface="+mj-lt"/>
              </a:rPr>
              <a:t> call takes several option flags.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2053A-6ABE-44AE-B796-B0CBD2A5D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LWC_SHAREDSIGNALS controls signal handling in the child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LWC_SYSTRAP indicates that any system calls for which the child does not hold the required OS capability should be redirected to its parent.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20063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9CFD4-7760-476C-B4D8-0E2930143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Switching between </a:t>
            </a:r>
            <a:r>
              <a:rPr lang="en-US" dirty="0" err="1">
                <a:ea typeface="+mj-lt"/>
                <a:cs typeface="+mj-lt"/>
              </a:rPr>
              <a:t>lwCs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85AD-C9C0-4F36-9201-C67D2151A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 err="1">
                <a:ea typeface="+mn-lt"/>
                <a:cs typeface="+mn-lt"/>
              </a:rPr>
              <a:t>lwSwitch</a:t>
            </a:r>
            <a:r>
              <a:rPr lang="en-US" dirty="0">
                <a:ea typeface="+mn-lt"/>
                <a:cs typeface="+mn-lt"/>
              </a:rPr>
              <a:t> operation switches the calling thread to the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with descriptor target, passing </a:t>
            </a:r>
            <a:r>
              <a:rPr lang="en-US" dirty="0" err="1">
                <a:ea typeface="+mn-lt"/>
                <a:cs typeface="+mn-lt"/>
              </a:rPr>
              <a:t>args</a:t>
            </a:r>
            <a:r>
              <a:rPr lang="en-US" dirty="0">
                <a:ea typeface="+mn-lt"/>
                <a:cs typeface="+mn-lt"/>
              </a:rPr>
              <a:t> as parameters.</a:t>
            </a:r>
            <a:endParaRPr lang="en-US" dirty="0"/>
          </a:p>
          <a:p>
            <a:pPr algn="just"/>
            <a:r>
              <a:rPr lang="en-US" dirty="0">
                <a:ea typeface="+mn-lt"/>
                <a:cs typeface="+mn-lt"/>
              </a:rPr>
              <a:t>When this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is later switched back into by the same thread, the call returns with the switching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available as caller and arguments passed in </a:t>
            </a:r>
            <a:r>
              <a:rPr lang="en-US" dirty="0" err="1">
                <a:ea typeface="+mn-lt"/>
                <a:cs typeface="+mn-lt"/>
              </a:rPr>
              <a:t>args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algn="just"/>
            <a:r>
              <a:rPr lang="en-US" dirty="0" err="1">
                <a:ea typeface="+mn-lt"/>
                <a:cs typeface="+mn-lt"/>
              </a:rPr>
              <a:t>lwSwitch</a:t>
            </a:r>
            <a:r>
              <a:rPr lang="en-US" dirty="0">
                <a:ea typeface="+mn-lt"/>
                <a:cs typeface="+mn-lt"/>
              </a:rPr>
              <a:t> is semantically equivalent to a coroutine yield. 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In fact, as far as control transfer is concerned, </a:t>
            </a:r>
            <a:r>
              <a:rPr lang="en-US" dirty="0" err="1">
                <a:ea typeface="+mn-lt"/>
                <a:cs typeface="+mn-lt"/>
              </a:rPr>
              <a:t>lwCs</a:t>
            </a:r>
            <a:r>
              <a:rPr lang="en-US" dirty="0">
                <a:ea typeface="+mn-lt"/>
                <a:cs typeface="+mn-lt"/>
              </a:rPr>
              <a:t> can be viewed as isolated and privilege separated coroutines. 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26038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B8FE2-4B85-4233-A001-97DE4D310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Static resource sharing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9F53A-3398-4CA4-B325-6DBD59F78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When a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is created using </a:t>
            </a:r>
            <a:r>
              <a:rPr lang="en-US" dirty="0" err="1">
                <a:ea typeface="+mn-lt"/>
                <a:cs typeface="+mn-lt"/>
              </a:rPr>
              <a:t>lwCreate</a:t>
            </a:r>
            <a:r>
              <a:rPr lang="en-US" dirty="0">
                <a:ea typeface="+mn-lt"/>
                <a:cs typeface="+mn-lt"/>
              </a:rPr>
              <a:t>, the child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receives a copy-on-write snapshot of all its parent’s resources by default. 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The parent can modify this behavior using the resource-spec argument in the </a:t>
            </a:r>
            <a:r>
              <a:rPr lang="en-US" dirty="0" err="1">
                <a:ea typeface="+mn-lt"/>
                <a:cs typeface="+mn-lt"/>
              </a:rPr>
              <a:t>lwCreate</a:t>
            </a:r>
            <a:r>
              <a:rPr lang="en-US" dirty="0">
                <a:ea typeface="+mn-lt"/>
                <a:cs typeface="+mn-lt"/>
              </a:rPr>
              <a:t> operation.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The resource-spec is an array of C unions: each array element specifies either a range of file descriptors, virtual memory addresses, or credentials. 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3525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6671E-3943-4391-89CD-265F3620D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For each range, one of the following sharing options can be specified.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868DC-D019-4AEF-BFDB-67A4B2CCB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b="1" dirty="0">
                <a:ea typeface="+mn-lt"/>
                <a:cs typeface="+mn-lt"/>
              </a:rPr>
              <a:t>LWC_COW:</a:t>
            </a:r>
            <a:r>
              <a:rPr lang="en-US" dirty="0">
                <a:ea typeface="+mn-lt"/>
                <a:cs typeface="+mn-lt"/>
              </a:rPr>
              <a:t> the child receives a logical copy of the range of resource.</a:t>
            </a:r>
            <a:endParaRPr lang="en-US"/>
          </a:p>
          <a:p>
            <a:pPr algn="just"/>
            <a:r>
              <a:rPr lang="en-US" b="1" dirty="0">
                <a:ea typeface="+mn-lt"/>
                <a:cs typeface="+mn-lt"/>
              </a:rPr>
              <a:t>LWC_SHARED: </a:t>
            </a:r>
            <a:r>
              <a:rPr lang="en-US" dirty="0">
                <a:ea typeface="+mn-lt"/>
                <a:cs typeface="+mn-lt"/>
              </a:rPr>
              <a:t>the range of resources is shared among parent and child. </a:t>
            </a:r>
          </a:p>
          <a:p>
            <a:pPr algn="just"/>
            <a:r>
              <a:rPr lang="en-US" b="1" dirty="0">
                <a:ea typeface="+mn-lt"/>
                <a:cs typeface="+mn-lt"/>
              </a:rPr>
              <a:t>LWC_UNMAP:</a:t>
            </a:r>
            <a:r>
              <a:rPr lang="en-US" dirty="0">
                <a:ea typeface="+mn-lt"/>
                <a:cs typeface="+mn-lt"/>
              </a:rPr>
              <a:t> the range of resources is not mapped from the parent into the child.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7432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1EA1C-1F33-4CCD-BBED-0855D4AFF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Dynamic resource sharing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A2FDA-60A2-4FBF-8544-61D1EDD06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may dynamically map (overlay) resources from another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into its address space using the </a:t>
            </a:r>
            <a:r>
              <a:rPr lang="en-US" b="1" dirty="0" err="1">
                <a:ea typeface="+mn-lt"/>
                <a:cs typeface="+mn-lt"/>
              </a:rPr>
              <a:t>lwOverlay</a:t>
            </a:r>
            <a:r>
              <a:rPr lang="en-US" dirty="0">
                <a:ea typeface="+mn-lt"/>
                <a:cs typeface="+mn-lt"/>
              </a:rPr>
              <a:t> operation. </a:t>
            </a:r>
            <a:endParaRPr lang="en-US"/>
          </a:p>
          <a:p>
            <a:pPr algn="just"/>
            <a:r>
              <a:rPr lang="en-US" dirty="0">
                <a:ea typeface="+mn-lt"/>
                <a:cs typeface="+mn-lt"/>
              </a:rPr>
              <a:t>The caller specifies which regions of a given resource type are to be </a:t>
            </a:r>
            <a:r>
              <a:rPr lang="en-US" dirty="0" err="1">
                <a:ea typeface="+mn-lt"/>
                <a:cs typeface="+mn-lt"/>
              </a:rPr>
              <a:t>overlayed</a:t>
            </a:r>
            <a:r>
              <a:rPr lang="en-US" dirty="0">
                <a:ea typeface="+mn-lt"/>
                <a:cs typeface="+mn-lt"/>
              </a:rPr>
              <a:t>, and whether the specified region should be copied or shared, in the resource-spec parameter.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The </a:t>
            </a:r>
            <a:r>
              <a:rPr lang="en-US" dirty="0" err="1">
                <a:ea typeface="+mn-lt"/>
                <a:cs typeface="+mn-lt"/>
              </a:rPr>
              <a:t>lwOverlay</a:t>
            </a:r>
            <a:r>
              <a:rPr lang="en-US" dirty="0">
                <a:ea typeface="+mn-lt"/>
                <a:cs typeface="+mn-lt"/>
              </a:rPr>
              <a:t> call will only succeed if the caller </a:t>
            </a:r>
            <a:r>
              <a:rPr lang="en-US" dirty="0" err="1">
                <a:ea typeface="+mn-lt"/>
                <a:cs typeface="+mn-lt"/>
              </a:rPr>
              <a:t>lwC</a:t>
            </a:r>
            <a:r>
              <a:rPr lang="en-US" dirty="0">
                <a:ea typeface="+mn-lt"/>
                <a:cs typeface="+mn-lt"/>
              </a:rPr>
              <a:t> holds access capabilities for the requested resources. 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6389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8809-7F9A-4144-83CA-1A37F1E38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API Summary</a:t>
            </a:r>
            <a:endParaRPr lang="en-US" dirty="0"/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F212F07-2C00-4183-B0D9-CDB1DC370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2168" y="1825625"/>
            <a:ext cx="7187663" cy="4351338"/>
          </a:xfrm>
        </p:spPr>
      </p:pic>
    </p:spTree>
    <p:extLst>
      <p:ext uri="{BB962C8B-B14F-4D97-AF65-F5344CB8AC3E}">
        <p14:creationId xmlns:p14="http://schemas.microsoft.com/office/powerpoint/2010/main" val="3451022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B56F7-5EF9-4ACB-A22B-833F2DD56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Common Uses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7246A-562B-4EB9-83B7-BF7903E99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Session Isolation</a:t>
            </a:r>
          </a:p>
          <a:p>
            <a:r>
              <a:rPr lang="en-US" dirty="0">
                <a:cs typeface="Calibri"/>
              </a:rPr>
              <a:t>Sensitive data isolation</a:t>
            </a:r>
          </a:p>
          <a:p>
            <a:r>
              <a:rPr lang="en-US" dirty="0">
                <a:cs typeface="Calibri"/>
              </a:rPr>
              <a:t>Snapshot and Rollback</a:t>
            </a:r>
          </a:p>
          <a:p>
            <a:r>
              <a:rPr lang="en-US" dirty="0">
                <a:cs typeface="Calibri"/>
              </a:rPr>
              <a:t>Reference monitoring</a:t>
            </a:r>
          </a:p>
        </p:txBody>
      </p:sp>
    </p:spTree>
    <p:extLst>
      <p:ext uri="{BB962C8B-B14F-4D97-AF65-F5344CB8AC3E}">
        <p14:creationId xmlns:p14="http://schemas.microsoft.com/office/powerpoint/2010/main" val="3845726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84FCA-87EE-4126-BAD9-9F837E766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Snapshot and rollback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0088A-1C6F-43BB-98D7-4EEA07561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service process (such as a server worker process) initializes its state to the point where it is ready to serve requests (or sessions), snapshots this state, serves a request and rolls its state back to the snapshot before serving the next request.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437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CD1AED-3365-4C4A-9572-3CB0EF069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76" y="1"/>
            <a:ext cx="74217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5728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F2452-5AE2-4C26-B8CF-2D3F273C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Event-driven server with session isolation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70BB9-A3D3-415B-92C0-68FF2073C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throughput servers like </a:t>
            </a:r>
            <a:r>
              <a:rPr lang="en-US" dirty="0" err="1"/>
              <a:t>nginx</a:t>
            </a:r>
            <a:r>
              <a:rPr lang="en-US" dirty="0"/>
              <a:t> handle several sessions in single-threaded processes using event-driven multiplexing. </a:t>
            </a:r>
          </a:p>
          <a:p>
            <a:r>
              <a:rPr lang="en-US" dirty="0"/>
              <a:t>However, they provide no isolation among sessions within a process.</a:t>
            </a:r>
          </a:p>
          <a:p>
            <a:r>
              <a:rPr lang="en-US" dirty="0"/>
              <a:t>This shortcoming can be addressed using </a:t>
            </a:r>
            <a:r>
              <a:rPr lang="en-US" dirty="0" err="1"/>
              <a:t>lwCs</a:t>
            </a:r>
            <a:r>
              <a:rPr lang="en-US" dirty="0"/>
              <a:t>.</a:t>
            </a:r>
          </a:p>
          <a:p>
            <a:r>
              <a:rPr lang="en-US" dirty="0"/>
              <a:t>The program defines a set of network socket descriptors to poll, one for each client connection and sets a mapping of the listening socket descriptor to the current </a:t>
            </a:r>
            <a:r>
              <a:rPr lang="en-US" dirty="0" err="1"/>
              <a:t>lwC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E9C0F0-4C44-4F0A-B019-863DC44C0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2" y="-1"/>
            <a:ext cx="5202315" cy="698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2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DA3BB-134B-4416-B8BC-7E033DB2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Sensitive data isolation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0DF93-77D2-40B7-A7B4-79032DD40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third common use pattern isolates sensitive data within a process by limiting access to a single </a:t>
            </a:r>
            <a:r>
              <a:rPr lang="en-US" dirty="0" err="1"/>
              <a:t>lwC</a:t>
            </a:r>
            <a:r>
              <a:rPr lang="en-US" dirty="0"/>
              <a:t> that exposes only a narrow interface. </a:t>
            </a:r>
          </a:p>
          <a:p>
            <a:pPr algn="just"/>
            <a:r>
              <a:rPr lang="en-US" dirty="0"/>
              <a:t>As an illustration, Algorithm 3 shows how to isolate a private signature key that is available to a signing function, but kept hidden from the rest of the (large and </a:t>
            </a:r>
            <a:r>
              <a:rPr lang="en-US" dirty="0" err="1"/>
              <a:t>networkfacing</a:t>
            </a:r>
            <a:r>
              <a:rPr lang="en-US" dirty="0"/>
              <a:t>) program.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898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324DA3-AC6F-4141-BE46-073C09CB2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31" y="0"/>
            <a:ext cx="6230043" cy="65449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8E4802-0F82-4C6F-AA00-F36CA6446A12}"/>
              </a:ext>
            </a:extLst>
          </p:cNvPr>
          <p:cNvSpPr txBox="1"/>
          <p:nvPr/>
        </p:nvSpPr>
        <p:spPr>
          <a:xfrm flipH="1">
            <a:off x="6835805" y="470517"/>
            <a:ext cx="51697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main function initializes the program and loads the private signing key into the variable </a:t>
            </a:r>
            <a:r>
              <a:rPr lang="en-US" dirty="0" err="1"/>
              <a:t>privkey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Next, it calls </a:t>
            </a:r>
            <a:r>
              <a:rPr lang="en-US" dirty="0" err="1"/>
              <a:t>lwCreate</a:t>
            </a:r>
            <a:r>
              <a:rPr lang="en-US" dirty="0"/>
              <a:t> to create a second </a:t>
            </a:r>
            <a:r>
              <a:rPr lang="en-US" dirty="0" err="1"/>
              <a:t>lwC</a:t>
            </a:r>
            <a:r>
              <a:rPr lang="en-US" dirty="0"/>
              <a:t> with the same initial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child </a:t>
            </a:r>
            <a:r>
              <a:rPr lang="en-US" dirty="0" err="1"/>
              <a:t>lwC</a:t>
            </a:r>
            <a:r>
              <a:rPr lang="en-US" dirty="0"/>
              <a:t>, which will become the isolated compartment with access to the </a:t>
            </a:r>
            <a:r>
              <a:rPr lang="en-US" dirty="0" err="1"/>
              <a:t>privkey</a:t>
            </a:r>
            <a:r>
              <a:rPr lang="en-US" dirty="0"/>
              <a:t>, is granted the privilege to overlay any part of the parent’s virtual memory.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5411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6F361-0CAA-4989-9481-6055F1A2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Protected reference monitor.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BE7D7-7CEB-4FAD-86EC-879250D93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E509F8-D019-48F1-949C-D531CD3CD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854" y="1464631"/>
            <a:ext cx="5974671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0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B22B2-4DAB-44C9-91DD-90693C2BF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1DBF1-5CF7-444B-8403-8B834412D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Microbenchmarks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 err="1"/>
              <a:t>lwCreate</a:t>
            </a:r>
            <a:r>
              <a:rPr lang="en-IN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 err="1"/>
              <a:t>lwSwitch</a:t>
            </a:r>
            <a:r>
              <a:rPr lang="en-IN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Reference monitoring (</a:t>
            </a:r>
            <a:r>
              <a:rPr lang="en-IN" dirty="0" err="1"/>
              <a:t>systrap</a:t>
            </a:r>
            <a:r>
              <a:rPr lang="en-IN" dirty="0"/>
              <a:t>) </a:t>
            </a:r>
          </a:p>
          <a:p>
            <a:r>
              <a:rPr lang="en-IN" dirty="0"/>
              <a:t>Apache (v. 2.4.18)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Session isolation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Reference monitoring </a:t>
            </a:r>
          </a:p>
          <a:p>
            <a:r>
              <a:rPr lang="en-IN" dirty="0"/>
              <a:t>Nginx (v. 1.9.15)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Session isolation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Reference monitoring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SSL private key isolation  </a:t>
            </a:r>
          </a:p>
          <a:p>
            <a:r>
              <a:rPr lang="en-IN" dirty="0"/>
              <a:t>PHP (v. 7.0.11)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Fast </a:t>
            </a:r>
            <a:r>
              <a:rPr lang="en-IN" dirty="0" err="1"/>
              <a:t>startup</a:t>
            </a:r>
            <a:r>
              <a:rPr lang="en-IN" dirty="0"/>
              <a:t> via snapshots</a:t>
            </a:r>
          </a:p>
        </p:txBody>
      </p:sp>
    </p:spTree>
    <p:extLst>
      <p:ext uri="{BB962C8B-B14F-4D97-AF65-F5344CB8AC3E}">
        <p14:creationId xmlns:p14="http://schemas.microsoft.com/office/powerpoint/2010/main" val="3230912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A42FB8-DA83-4894-8454-C47331924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88" y="0"/>
            <a:ext cx="10296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983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338D3-AD99-41FA-91BE-1BFABA3B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– </a:t>
            </a:r>
            <a:r>
              <a:rPr lang="en-IN" dirty="0" err="1"/>
              <a:t>nginx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05E89-4DC7-49C3-8C57-51AE5AE4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High performance web server.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Asynchronous &amp; event-driven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No session isolation</a:t>
            </a:r>
          </a:p>
        </p:txBody>
      </p:sp>
    </p:spTree>
    <p:extLst>
      <p:ext uri="{BB962C8B-B14F-4D97-AF65-F5344CB8AC3E}">
        <p14:creationId xmlns:p14="http://schemas.microsoft.com/office/powerpoint/2010/main" val="1695582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0709-5371-4758-8B69-D648BB2D8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nginx</a:t>
            </a:r>
            <a:r>
              <a:rPr lang="en-IN" dirty="0"/>
              <a:t> execution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1D260B-3334-4224-A559-47024A5D1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5432"/>
            <a:ext cx="9300100" cy="424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7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1CBB-4381-4D15-8A2A-22119EDE5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nginx</a:t>
            </a:r>
            <a:r>
              <a:rPr lang="en-IN" dirty="0"/>
              <a:t> execution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37CC86-65C0-4B78-8FB1-9E8E24AE9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64520"/>
            <a:ext cx="5353050" cy="3362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72D0E2-7922-4D0E-A78B-88F56373A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504381"/>
            <a:ext cx="5267325" cy="3305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21A481-5E9C-476F-927B-49F43E3D3EC8}"/>
              </a:ext>
            </a:extLst>
          </p:cNvPr>
          <p:cNvSpPr txBox="1"/>
          <p:nvPr/>
        </p:nvSpPr>
        <p:spPr>
          <a:xfrm>
            <a:off x="745725" y="6187736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4: Nginx throughput in GETs/sec with 10 workers, 45B documents, 300 concurrent requests. </a:t>
            </a:r>
          </a:p>
          <a:p>
            <a:pPr algn="ctr"/>
            <a:r>
              <a:rPr lang="en-US" dirty="0"/>
              <a:t>Error bars show standard deviation, which was below 0.9%.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302585-EF13-48EC-A29C-AEB4FF468121}"/>
              </a:ext>
            </a:extLst>
          </p:cNvPr>
          <p:cNvSpPr txBox="1"/>
          <p:nvPr/>
        </p:nvSpPr>
        <p:spPr>
          <a:xfrm>
            <a:off x="958788" y="1553592"/>
            <a:ext cx="10395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shows the average number of queries served by each of the configurations over five runs of 60 seconds each. The standard deviation did not exceed 0.9%.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960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12DA3-C3FB-49AC-9046-E620C30E3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nginx</a:t>
            </a:r>
            <a:r>
              <a:rPr lang="en-IN" dirty="0"/>
              <a:t> execution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208CA9-C75E-429B-BADB-3B35373AF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1371" y="2006353"/>
            <a:ext cx="5327804" cy="3452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46E2E0-E099-4405-BBF7-DB66DB475BA3}"/>
              </a:ext>
            </a:extLst>
          </p:cNvPr>
          <p:cNvSpPr txBox="1"/>
          <p:nvPr/>
        </p:nvSpPr>
        <p:spPr>
          <a:xfrm>
            <a:off x="1065321" y="6123543"/>
            <a:ext cx="10377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Nginx cumulative throughput in GETs/sec with 10 workers, session length 256, 45B and 900B documents, increasing number of concurrent clients. Error bars show standard deviation.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3137B2-476B-4C27-BB5C-F9F6B9B9D110}"/>
              </a:ext>
            </a:extLst>
          </p:cNvPr>
          <p:cNvSpPr txBox="1"/>
          <p:nvPr/>
        </p:nvSpPr>
        <p:spPr>
          <a:xfrm>
            <a:off x="8815526" y="2325950"/>
            <a:ext cx="30539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Figure shows the average number of requests served, over 5 runs of the experiment, as a function of the number of client sessions for stock </a:t>
            </a:r>
            <a:r>
              <a:rPr lang="en-US" dirty="0" err="1"/>
              <a:t>nginx</a:t>
            </a:r>
            <a:r>
              <a:rPr lang="en-US" dirty="0"/>
              <a:t> and </a:t>
            </a:r>
            <a:r>
              <a:rPr lang="en-US" dirty="0" err="1"/>
              <a:t>lwc</a:t>
            </a:r>
            <a:r>
              <a:rPr lang="en-US" dirty="0"/>
              <a:t>-event for both file sizes.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02499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1899-C544-4A3A-9F09-81C1803C1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nginx</a:t>
            </a:r>
            <a:r>
              <a:rPr lang="en-IN" dirty="0"/>
              <a:t>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49799-523A-49AA-9987-3441B9613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Overall, our results show that using </a:t>
            </a:r>
            <a:r>
              <a:rPr lang="en-US" dirty="0" err="1"/>
              <a:t>lwCs</a:t>
            </a:r>
            <a:r>
              <a:rPr lang="en-US" dirty="0"/>
              <a:t>, it is possible to implement features such as session isolation and reference monitoring at low cost for both HTTPS and HTTP sessions, and even in a high-performance server under a challenging workload.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90665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DC2FF-2A9E-4216-9DA0-51585225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Isolating OpenSSL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35C38-6E9E-470F-BB5B-A07FCD07A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lwCs</a:t>
            </a:r>
            <a:r>
              <a:rPr lang="en-US" dirty="0"/>
              <a:t> provide a particularly effective way to isolate sensitive data from network-based attacks such as buffer overflows or overreads.</a:t>
            </a:r>
          </a:p>
          <a:p>
            <a:pPr algn="just"/>
            <a:r>
              <a:rPr lang="en-US" dirty="0"/>
              <a:t>The sensitive data is stored in a </a:t>
            </a:r>
            <a:r>
              <a:rPr lang="en-US" dirty="0" err="1"/>
              <a:t>lwC</a:t>
            </a:r>
            <a:r>
              <a:rPr lang="en-US" dirty="0"/>
              <a:t>, within the process, such that the network-facing code has no visibility into pages that store the sensitive data. </a:t>
            </a:r>
          </a:p>
          <a:p>
            <a:pPr algn="just"/>
            <a:r>
              <a:rPr lang="en-US" dirty="0"/>
              <a:t>In this way, unless the kernel is compromised, the data is guaranteed safe, but access to functions that require the data can be rapid, using a safe </a:t>
            </a:r>
            <a:r>
              <a:rPr lang="en-US" dirty="0" err="1"/>
              <a:t>lwC</a:t>
            </a:r>
            <a:r>
              <a:rPr lang="en-US" dirty="0"/>
              <a:t>-crossing interface.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617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C6CDE-91E2-480E-9F86-73AAF1FC8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FCGI fast launch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2BCFE-8B22-4A81-9A24-4F9C374FF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We demonstrate the utility of </a:t>
            </a:r>
            <a:r>
              <a:rPr lang="en-US" dirty="0" err="1"/>
              <a:t>lwC</a:t>
            </a:r>
            <a:r>
              <a:rPr lang="en-US" dirty="0"/>
              <a:t> snapshotting by adding a “fast launch” capability to a PHP application.</a:t>
            </a:r>
          </a:p>
          <a:p>
            <a:pPr algn="just"/>
            <a:r>
              <a:rPr lang="en-US" dirty="0"/>
              <a:t>When a PHP request is served, a PHP script is read from disk, compiled by the interpreter, and then executed. </a:t>
            </a:r>
          </a:p>
          <a:p>
            <a:pPr algn="just"/>
            <a:r>
              <a:rPr lang="en-US" dirty="0"/>
              <a:t>During execution, other PHP files may be included and executed.</a:t>
            </a:r>
          </a:p>
          <a:p>
            <a:pPr algn="just"/>
            <a:r>
              <a:rPr lang="en-US" dirty="0"/>
              <a:t>We modified the PHP 7.0.11 programming language to add a </a:t>
            </a:r>
            <a:r>
              <a:rPr lang="en-US" dirty="0" err="1"/>
              <a:t>pagecache</a:t>
            </a:r>
            <a:r>
              <a:rPr lang="en-US" dirty="0"/>
              <a:t> call that allows the script to “</a:t>
            </a:r>
            <a:r>
              <a:rPr lang="en-US" dirty="0" err="1"/>
              <a:t>fastforward</a:t>
            </a:r>
            <a:r>
              <a:rPr lang="en-US" dirty="0"/>
              <a:t>” using previous snapshots. </a:t>
            </a:r>
          </a:p>
          <a:p>
            <a:pPr algn="just"/>
            <a:r>
              <a:rPr lang="en-US" dirty="0"/>
              <a:t>Our implementation augments PHP-FPM, which functions as a FCGI server for </a:t>
            </a:r>
            <a:r>
              <a:rPr lang="en-US" dirty="0" err="1"/>
              <a:t>nginx</a:t>
            </a:r>
            <a:r>
              <a:rPr lang="en-US" dirty="0"/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7099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7B67D-015C-4DC3-91FF-2785A3CE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FCGI fast launch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64349-F9A8-4BD0-9C91-2D0CF5203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This result is remarkable in that it shows </a:t>
            </a:r>
            <a:r>
              <a:rPr lang="en-US" dirty="0" err="1"/>
              <a:t>lwCs</a:t>
            </a:r>
            <a:r>
              <a:rPr lang="en-US" dirty="0"/>
              <a:t> can provide significant performance benefit to highly optimized end-to-end applications such as web frameworks, while adding isolation between user requests.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306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DE3F-046C-4655-B30D-28F3785ED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F55E0-7AE3-4951-A953-F014EAB87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They have introduced and evaluated light-weight contexts (</a:t>
            </a:r>
            <a:r>
              <a:rPr lang="en-US" dirty="0" err="1"/>
              <a:t>lwCs</a:t>
            </a:r>
            <a:r>
              <a:rPr lang="en-US" dirty="0"/>
              <a:t>), a new first-class OS abstraction that provides units of isolation, privilege, and execution state independent of processes and threads. </a:t>
            </a:r>
          </a:p>
          <a:p>
            <a:pPr algn="just"/>
            <a:r>
              <a:rPr lang="en-US" dirty="0"/>
              <a:t>Results shows that fast roll-back of FCGI runtimes, compartmentalization of crypto secrets, isolation and monitoring of user sessions can be implemented in the production Apache and </a:t>
            </a:r>
            <a:r>
              <a:rPr lang="en-US" dirty="0" err="1"/>
              <a:t>nginx</a:t>
            </a:r>
            <a:r>
              <a:rPr lang="en-US" dirty="0"/>
              <a:t> web server platforms with performance close to or better than the original configurations in most cases.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3443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1758</Words>
  <Application>Microsoft Office PowerPoint</Application>
  <PresentationFormat>Widescreen</PresentationFormat>
  <Paragraphs>131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Wingdings</vt:lpstr>
      <vt:lpstr>Office Theme</vt:lpstr>
      <vt:lpstr>Light-weight Contexts: An OS Abstraction for Safety and Performance</vt:lpstr>
      <vt:lpstr>Contents</vt:lpstr>
      <vt:lpstr>Introduction</vt:lpstr>
      <vt:lpstr>lwCs can be used to efficiently implement</vt:lpstr>
      <vt:lpstr>Background</vt:lpstr>
      <vt:lpstr>Light-weight contexts (lwC)</vt:lpstr>
      <vt:lpstr>Main Contribution.</vt:lpstr>
      <vt:lpstr>lwC design</vt:lpstr>
      <vt:lpstr>Creating lwCs</vt:lpstr>
      <vt:lpstr>Creating lwC</vt:lpstr>
      <vt:lpstr>Creating lwC</vt:lpstr>
      <vt:lpstr>The lwCreate call takes several option flags.</vt:lpstr>
      <vt:lpstr>Switching between lwCs</vt:lpstr>
      <vt:lpstr>Static resource sharing</vt:lpstr>
      <vt:lpstr>For each range, one of the following sharing options can be specified.</vt:lpstr>
      <vt:lpstr>Dynamic resource sharing</vt:lpstr>
      <vt:lpstr>API Summary</vt:lpstr>
      <vt:lpstr>Common Uses</vt:lpstr>
      <vt:lpstr>Snapshot and rollback </vt:lpstr>
      <vt:lpstr>PowerPoint Presentation</vt:lpstr>
      <vt:lpstr>Event-driven server with session isolation</vt:lpstr>
      <vt:lpstr>Sensitive data isolation</vt:lpstr>
      <vt:lpstr>PowerPoint Presentation</vt:lpstr>
      <vt:lpstr>Protected reference monitor.</vt:lpstr>
      <vt:lpstr>Ealuation</vt:lpstr>
      <vt:lpstr>PowerPoint Presentation</vt:lpstr>
      <vt:lpstr>Evaluation – nginx</vt:lpstr>
      <vt:lpstr>nginx execution</vt:lpstr>
      <vt:lpstr>nginx execution</vt:lpstr>
      <vt:lpstr>nginx execution</vt:lpstr>
      <vt:lpstr>nginx execution</vt:lpstr>
      <vt:lpstr>Isolating OpenSSL keys</vt:lpstr>
      <vt:lpstr>FCGI fast launch</vt:lpstr>
      <vt:lpstr>FCGI fast launch</vt:lpstr>
      <vt:lpstr>Conclusion: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Swathi Yadav</dc:creator>
  <cp:lastModifiedBy>Swathi Yadav</cp:lastModifiedBy>
  <cp:revision>418</cp:revision>
  <dcterms:created xsi:type="dcterms:W3CDTF">2020-03-13T23:15:21Z</dcterms:created>
  <dcterms:modified xsi:type="dcterms:W3CDTF">2020-03-14T02:58:37Z</dcterms:modified>
</cp:coreProperties>
</file>