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7" r:id="rId2"/>
    <p:sldId id="278" r:id="rId3"/>
    <p:sldId id="260" r:id="rId4"/>
    <p:sldId id="257" r:id="rId5"/>
    <p:sldId id="261" r:id="rId6"/>
    <p:sldId id="258" r:id="rId7"/>
    <p:sldId id="262" r:id="rId8"/>
    <p:sldId id="263" r:id="rId9"/>
    <p:sldId id="280" r:id="rId10"/>
    <p:sldId id="264" r:id="rId11"/>
    <p:sldId id="265" r:id="rId12"/>
    <p:sldId id="266" r:id="rId13"/>
    <p:sldId id="267" r:id="rId14"/>
    <p:sldId id="268" r:id="rId15"/>
    <p:sldId id="269" r:id="rId16"/>
    <p:sldId id="279" r:id="rId17"/>
    <p:sldId id="271" r:id="rId18"/>
    <p:sldId id="272" r:id="rId19"/>
    <p:sldId id="273" r:id="rId20"/>
    <p:sldId id="274"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BEBB2DB-91CB-49A1-9139-DBA83AC44931}" type="datetimeFigureOut">
              <a:rPr lang="en-US" smtClean="0"/>
              <a:t>3/17/2020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35B9E56-F611-4989-BDE8-B6B784BF0DC9}"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BEBB2DB-91CB-49A1-9139-DBA83AC44931}"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B9E56-F611-4989-BDE8-B6B784BF0DC9}"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BEBB2DB-91CB-49A1-9139-DBA83AC44931}" type="datetimeFigureOut">
              <a:rPr lang="en-US" smtClean="0"/>
              <a:t>3/17/2020</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135B9E56-F611-4989-BDE8-B6B784BF0DC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BEBB2DB-91CB-49A1-9139-DBA83AC44931}"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5B9E56-F611-4989-BDE8-B6B784BF0DC9}"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BEBB2DB-91CB-49A1-9139-DBA83AC44931}" type="datetimeFigureOut">
              <a:rPr lang="en-US" smtClean="0"/>
              <a:t>3/17/2020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5B9E56-F611-4989-BDE8-B6B784BF0DC9}"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BEBB2DB-91CB-49A1-9139-DBA83AC44931}" type="datetimeFigureOut">
              <a:rPr lang="en-US" smtClean="0"/>
              <a:t>3/17/2020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5B9E56-F611-4989-BDE8-B6B784BF0DC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EBB2DB-91CB-49A1-9139-DBA83AC44931}" type="datetimeFigureOut">
              <a:rPr lang="en-US" smtClean="0"/>
              <a:t>3/17/2020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5B9E56-F611-4989-BDE8-B6B784BF0DC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BEBB2DB-91CB-49A1-9139-DBA83AC44931}"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5B9E56-F611-4989-BDE8-B6B784BF0DC9}"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BEBB2DB-91CB-49A1-9139-DBA83AC44931}" type="datetimeFigureOut">
              <a:rPr lang="en-US" smtClean="0"/>
              <a:t>3/17/2020</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135B9E56-F611-4989-BDE8-B6B784BF0DC9}"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BEBB2DB-91CB-49A1-9139-DBA83AC44931}"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B9E56-F611-4989-BDE8-B6B784BF0DC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BEBB2DB-91CB-49A1-9139-DBA83AC44931}"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B9E56-F611-4989-BDE8-B6B784BF0DC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BEBB2DB-91CB-49A1-9139-DBA83AC44931}" type="datetimeFigureOut">
              <a:rPr lang="en-US" smtClean="0"/>
              <a:t>3/17/2020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5B9E56-F611-4989-BDE8-B6B784BF0DC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Scheduling in Big Data</a:t>
            </a:r>
            <a:endParaRPr lang="en-US" dirty="0"/>
          </a:p>
        </p:txBody>
      </p:sp>
      <p:sp>
        <p:nvSpPr>
          <p:cNvPr id="3" name="Content Placeholder 2"/>
          <p:cNvSpPr>
            <a:spLocks noGrp="1"/>
          </p:cNvSpPr>
          <p:nvPr>
            <p:ph sz="quarter" idx="1"/>
          </p:nvPr>
        </p:nvSpPr>
        <p:spPr/>
        <p:txBody>
          <a:bodyPr>
            <a:normAutofit/>
          </a:bodyPr>
          <a:lstStyle/>
          <a:p>
            <a:pPr lvl="8">
              <a:buNone/>
            </a:pPr>
            <a:endParaRPr lang="en-US" sz="2600" dirty="0" smtClean="0"/>
          </a:p>
          <a:p>
            <a:pPr lvl="8">
              <a:buNone/>
            </a:pPr>
            <a:endParaRPr lang="en-US" sz="2600" dirty="0" smtClean="0"/>
          </a:p>
          <a:p>
            <a:pPr lvl="8"/>
            <a:r>
              <a:rPr lang="en-US" sz="2600" dirty="0" smtClean="0"/>
              <a:t>Presentation By Siddhartha </a:t>
            </a:r>
            <a:r>
              <a:rPr lang="en-US" sz="2600" dirty="0" err="1" smtClean="0"/>
              <a:t>Ireddy</a:t>
            </a:r>
            <a:endParaRPr lang="en-US" sz="26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Scheduling in Big Data</a:t>
            </a:r>
            <a:endParaRPr lang="en-US" dirty="0"/>
          </a:p>
        </p:txBody>
      </p:sp>
      <p:sp>
        <p:nvSpPr>
          <p:cNvPr id="3" name="Content Placeholder 2"/>
          <p:cNvSpPr>
            <a:spLocks noGrp="1"/>
          </p:cNvSpPr>
          <p:nvPr>
            <p:ph sz="quarter" idx="1"/>
          </p:nvPr>
        </p:nvSpPr>
        <p:spPr/>
        <p:txBody>
          <a:bodyPr/>
          <a:lstStyle/>
          <a:p>
            <a:r>
              <a:rPr lang="en-US" dirty="0" smtClean="0"/>
              <a:t>Presents the state-of-art of various types of task scheduling algorithms, scheduling considerations for batch and streaming processing, and task scheduling algorithms in the well known open-source big data platforms</a:t>
            </a:r>
          </a:p>
          <a:p>
            <a:r>
              <a:rPr lang="en-US" dirty="0" smtClean="0"/>
              <a:t>The process of scheduling the tasks into the cluster resources in a manner that minimizes task completion time and resource utilization is known as Task Scheduling.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Task Scheduling</a:t>
            </a:r>
            <a:endParaRPr lang="en-US" dirty="0"/>
          </a:p>
        </p:txBody>
      </p:sp>
      <p:sp>
        <p:nvSpPr>
          <p:cNvPr id="3" name="Content Placeholder 2"/>
          <p:cNvSpPr>
            <a:spLocks noGrp="1"/>
          </p:cNvSpPr>
          <p:nvPr>
            <p:ph sz="quarter" idx="1"/>
          </p:nvPr>
        </p:nvSpPr>
        <p:spPr/>
        <p:txBody>
          <a:bodyPr>
            <a:normAutofit/>
          </a:bodyPr>
          <a:lstStyle/>
          <a:p>
            <a:r>
              <a:rPr lang="en-US" dirty="0" smtClean="0"/>
              <a:t>The main objective of the static task scheduling strategy is to reduce the scheduling overhead that occurs during the runtime and minimize the number of nodes/processors. </a:t>
            </a:r>
          </a:p>
          <a:p>
            <a:r>
              <a:rPr lang="en-US" dirty="0" smtClean="0"/>
              <a:t>Disadvantages: static task scheduling algorithms are that they don’t consider the workload of the resources and resource requirements of an application that obviously leads to overutilization or underutilization of the resources which may pave the way for job execution failure.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57232"/>
            <a:ext cx="8229600" cy="5268931"/>
          </a:xfrm>
        </p:spPr>
        <p:txBody>
          <a:bodyPr>
            <a:normAutofit/>
          </a:bodyPr>
          <a:lstStyle/>
          <a:p>
            <a:pPr>
              <a:buNone/>
            </a:pPr>
            <a:r>
              <a:rPr lang="en-US" dirty="0" smtClean="0"/>
              <a:t>Examples: </a:t>
            </a:r>
          </a:p>
          <a:p>
            <a:r>
              <a:rPr lang="en-US" dirty="0"/>
              <a:t> </a:t>
            </a:r>
            <a:r>
              <a:rPr lang="en-US" dirty="0" smtClean="0"/>
              <a:t>Capacity Scheduling, Data Locality-Aware Scheduling, Round Robin Scheduling, Delay Scheduling, FIFO Scheduling</a:t>
            </a:r>
          </a:p>
          <a:p>
            <a:pPr>
              <a:buNone/>
            </a:pPr>
            <a:endParaRPr lang="en-US" dirty="0" smtClean="0"/>
          </a:p>
          <a:p>
            <a:r>
              <a:rPr lang="en-US" dirty="0" smtClean="0"/>
              <a:t>First Fit Scheduling, Fair Scheduling, Matchmaking Scheduling.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Dynamic Task Scheduling and Algorithms</a:t>
            </a:r>
            <a:endParaRPr lang="en-US" dirty="0"/>
          </a:p>
        </p:txBody>
      </p:sp>
      <p:sp>
        <p:nvSpPr>
          <p:cNvPr id="3" name="Content Placeholder 2"/>
          <p:cNvSpPr>
            <a:spLocks noGrp="1"/>
          </p:cNvSpPr>
          <p:nvPr>
            <p:ph sz="quarter" idx="1"/>
          </p:nvPr>
        </p:nvSpPr>
        <p:spPr/>
        <p:txBody>
          <a:bodyPr>
            <a:normAutofit/>
          </a:bodyPr>
          <a:lstStyle/>
          <a:p>
            <a:r>
              <a:rPr lang="en-US" dirty="0" smtClean="0"/>
              <a:t>The dynamic task scheduling takes the scheduling decisions during the runtime of task execution. It mainly considers the resource requirement, availability of resources, </a:t>
            </a:r>
            <a:r>
              <a:rPr lang="en-US" dirty="0" err="1" smtClean="0"/>
              <a:t>interprocess</a:t>
            </a:r>
            <a:r>
              <a:rPr lang="en-US" dirty="0" smtClean="0"/>
              <a:t> and inter-node traffic, energy efficiency, and more. It also supports task migration which is based on the status of the cluster resources and the workload of an application. </a:t>
            </a:r>
          </a:p>
          <a:p>
            <a:r>
              <a:rPr lang="en-US" dirty="0" smtClean="0"/>
              <a:t>Examples: resource-aware scheduling, energy-aware scheduling, and deadline-aware scheduling. The dynamic task scheduling is mainly aimed to efficiently utilize the resources, minimize the consumption of energy, and complete the jobs within their deadline respectively</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Scheduling Considerations for batch processing</a:t>
            </a:r>
            <a:endParaRPr lang="en-US" dirty="0"/>
          </a:p>
        </p:txBody>
      </p:sp>
      <p:sp>
        <p:nvSpPr>
          <p:cNvPr id="3" name="Content Placeholder 2"/>
          <p:cNvSpPr>
            <a:spLocks noGrp="1"/>
          </p:cNvSpPr>
          <p:nvPr>
            <p:ph sz="quarter" idx="1"/>
          </p:nvPr>
        </p:nvSpPr>
        <p:spPr/>
        <p:txBody>
          <a:bodyPr>
            <a:normAutofit/>
          </a:bodyPr>
          <a:lstStyle/>
          <a:p>
            <a:r>
              <a:rPr lang="en-US" dirty="0" err="1" smtClean="0"/>
              <a:t>Hadoop</a:t>
            </a:r>
            <a:r>
              <a:rPr lang="en-US" dirty="0" smtClean="0"/>
              <a:t> ecosystem describes that all data should be loaded into </a:t>
            </a:r>
            <a:r>
              <a:rPr lang="en-US" dirty="0" err="1" smtClean="0"/>
              <a:t>Hadoop</a:t>
            </a:r>
            <a:r>
              <a:rPr lang="en-US" dirty="0" smtClean="0"/>
              <a:t> Distributed File System (HDFS) for Batch </a:t>
            </a:r>
          </a:p>
          <a:p>
            <a:r>
              <a:rPr lang="en-US" dirty="0" smtClean="0"/>
              <a:t>task scheduling for batch jobs can be performed prior to processing, based on the knowledge of input data and task information for processing in a distributed environment. In addition, the resources can be statically allocated prior to the execution of a job.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643050"/>
            <a:ext cx="8229600" cy="4483113"/>
          </a:xfrm>
        </p:spPr>
        <p:txBody>
          <a:bodyPr>
            <a:normAutofit/>
          </a:bodyPr>
          <a:lstStyle/>
          <a:p>
            <a:r>
              <a:rPr lang="en-US" dirty="0" smtClean="0"/>
              <a:t>Florin Pop and </a:t>
            </a:r>
            <a:r>
              <a:rPr lang="en-US" dirty="0" err="1" smtClean="0"/>
              <a:t>Valentin</a:t>
            </a:r>
            <a:r>
              <a:rPr lang="en-US" dirty="0" smtClean="0"/>
              <a:t> </a:t>
            </a:r>
            <a:r>
              <a:rPr lang="en-US" dirty="0" err="1" smtClean="0"/>
              <a:t>Cristea</a:t>
            </a:r>
            <a:r>
              <a:rPr lang="en-US" dirty="0" smtClean="0"/>
              <a:t> explained processing of big data as a big batch process by splitting a job into multiple tasks and running on a High Performance Computing (HPC) by distributing the work to the cluster nodes. </a:t>
            </a:r>
          </a:p>
          <a:p>
            <a:r>
              <a:rPr lang="en-US" dirty="0" smtClean="0"/>
              <a:t>With batch processing, a single CPU can work on the entire dataset meaning each task will be run on each CPU one after another. Depending on the job, number of CPU’s utilized can be different at each stage of the batch job.</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Scheduling Considerations for streaming processing</a:t>
            </a:r>
            <a:endParaRPr lang="en-US" dirty="0"/>
          </a:p>
        </p:txBody>
      </p:sp>
      <p:sp>
        <p:nvSpPr>
          <p:cNvPr id="3" name="Content Placeholder 2"/>
          <p:cNvSpPr>
            <a:spLocks noGrp="1"/>
          </p:cNvSpPr>
          <p:nvPr>
            <p:ph sz="quarter" idx="1"/>
          </p:nvPr>
        </p:nvSpPr>
        <p:spPr/>
        <p:txBody>
          <a:bodyPr>
            <a:normAutofit/>
          </a:bodyPr>
          <a:lstStyle/>
          <a:p>
            <a:r>
              <a:rPr lang="en-US" dirty="0" smtClean="0"/>
              <a:t>In general, the big data platform receives a large amount of streaming data from input data streams such as data sensors, social networking, </a:t>
            </a:r>
            <a:r>
              <a:rPr lang="en-US" dirty="0" err="1" smtClean="0"/>
              <a:t>IoT</a:t>
            </a:r>
            <a:r>
              <a:rPr lang="en-US" dirty="0" smtClean="0"/>
              <a:t> devices, and others. </a:t>
            </a:r>
          </a:p>
          <a:p>
            <a:endParaRPr lang="en-US" dirty="0"/>
          </a:p>
          <a:p>
            <a:r>
              <a:rPr lang="en-US" dirty="0" smtClean="0"/>
              <a:t>It is difficult to store such large amounts of streaming data hence, it should be processed immediately which requires a lot of computation cycles and memory resources. </a:t>
            </a:r>
          </a:p>
          <a:p>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Stream Task Scheduling </a:t>
            </a:r>
            <a:endParaRPr lang="en-US" dirty="0"/>
          </a:p>
        </p:txBody>
      </p:sp>
      <p:pic>
        <p:nvPicPr>
          <p:cNvPr id="4" name="Content Placeholder 3" descr="4-Figure1-1.png"/>
          <p:cNvPicPr>
            <a:picLocks noGrp="1" noChangeAspect="1"/>
          </p:cNvPicPr>
          <p:nvPr>
            <p:ph sz="quarter" idx="1"/>
          </p:nvPr>
        </p:nvPicPr>
        <p:blipFill>
          <a:blip r:embed="rId2"/>
          <a:stretch>
            <a:fillRect/>
          </a:stretch>
        </p:blipFill>
        <p:spPr>
          <a:xfrm>
            <a:off x="2505114" y="2143116"/>
            <a:ext cx="4590971" cy="3876684"/>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071546"/>
            <a:ext cx="7772400" cy="4948254"/>
          </a:xfrm>
        </p:spPr>
        <p:txBody>
          <a:bodyPr>
            <a:normAutofit/>
          </a:bodyPr>
          <a:lstStyle/>
          <a:p>
            <a:r>
              <a:rPr lang="en-US" dirty="0" smtClean="0"/>
              <a:t>Chen Men-</a:t>
            </a:r>
            <a:r>
              <a:rPr lang="en-US" dirty="0" err="1" smtClean="0"/>
              <a:t>meng</a:t>
            </a:r>
            <a:r>
              <a:rPr lang="en-US" dirty="0" smtClean="0"/>
              <a:t> et al. states that the existing task scheduling algorithms for streaming processing fail to consider the links between the streaming tasks and the dynamicity of the streaming process and the resources.</a:t>
            </a:r>
          </a:p>
          <a:p>
            <a:r>
              <a:rPr lang="en-US" dirty="0" err="1" smtClean="0"/>
              <a:t>Boyang</a:t>
            </a:r>
            <a:r>
              <a:rPr lang="en-US" dirty="0" smtClean="0"/>
              <a:t> </a:t>
            </a:r>
            <a:r>
              <a:rPr lang="en-US" dirty="0" err="1" smtClean="0"/>
              <a:t>Peng</a:t>
            </a:r>
            <a:r>
              <a:rPr lang="en-US" dirty="0" smtClean="0"/>
              <a:t> </a:t>
            </a:r>
            <a:r>
              <a:rPr lang="en-US" dirty="0" smtClean="0"/>
              <a:t>said </a:t>
            </a:r>
            <a:r>
              <a:rPr lang="en-US" dirty="0" smtClean="0"/>
              <a:t>that streaming task components which communicate with each other should be scheduled close to the network proximity to avoid the network delay. </a:t>
            </a:r>
            <a:endParaRPr lang="en-US" dirty="0" smtClean="0"/>
          </a:p>
          <a:p>
            <a:r>
              <a:rPr lang="en-US" dirty="0" err="1" smtClean="0"/>
              <a:t>Dawei</a:t>
            </a:r>
            <a:r>
              <a:rPr lang="en-US" dirty="0" smtClean="0"/>
              <a:t> Sun et </a:t>
            </a:r>
            <a:r>
              <a:rPr lang="en-US" dirty="0" smtClean="0"/>
              <a:t>al. built </a:t>
            </a:r>
            <a:r>
              <a:rPr lang="en-US" dirty="0" smtClean="0"/>
              <a:t>a fault tolerant framework for guaranteeing the deadline in a big data streaming computing.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210" y="714356"/>
            <a:ext cx="8586790" cy="1500198"/>
          </a:xfrm>
        </p:spPr>
        <p:txBody>
          <a:bodyPr>
            <a:normAutofit fontScale="90000"/>
          </a:bodyPr>
          <a:lstStyle/>
          <a:p>
            <a:r>
              <a:rPr lang="en-US" dirty="0"/>
              <a:t/>
            </a:r>
            <a:br>
              <a:rPr lang="en-US" dirty="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TASK SCHEDULING IN BIG DATA PLATFORMS OR TOOLS </a:t>
            </a:r>
            <a:br>
              <a:rPr lang="en-US" dirty="0" smtClean="0"/>
            </a:br>
            <a:endParaRPr lang="en-US" dirty="0"/>
          </a:p>
        </p:txBody>
      </p:sp>
      <p:sp>
        <p:nvSpPr>
          <p:cNvPr id="3" name="Content Placeholder 2"/>
          <p:cNvSpPr>
            <a:spLocks noGrp="1"/>
          </p:cNvSpPr>
          <p:nvPr>
            <p:ph sz="quarter" idx="1"/>
          </p:nvPr>
        </p:nvSpPr>
        <p:spPr>
          <a:xfrm>
            <a:off x="571472" y="2000240"/>
            <a:ext cx="8229600" cy="4525963"/>
          </a:xfrm>
        </p:spPr>
        <p:txBody>
          <a:bodyPr>
            <a:normAutofit/>
          </a:bodyPr>
          <a:lstStyle/>
          <a:p>
            <a:r>
              <a:rPr lang="en-US" dirty="0" smtClean="0"/>
              <a:t>Apache </a:t>
            </a:r>
            <a:r>
              <a:rPr lang="en-US" dirty="0" err="1" smtClean="0"/>
              <a:t>Hadoop</a:t>
            </a:r>
            <a:r>
              <a:rPr lang="en-US" dirty="0" smtClean="0"/>
              <a:t>  is one of the most popular big data processing frameworks. </a:t>
            </a:r>
          </a:p>
          <a:p>
            <a:r>
              <a:rPr lang="en-US" dirty="0" smtClean="0"/>
              <a:t>It has been implemented with the default scheduling policy of FIFO </a:t>
            </a:r>
          </a:p>
          <a:p>
            <a:r>
              <a:rPr lang="en-US" dirty="0" smtClean="0"/>
              <a:t>Fair Scheduling in </a:t>
            </a:r>
            <a:r>
              <a:rPr lang="en-US" dirty="0" err="1" smtClean="0"/>
              <a:t>Hadoop</a:t>
            </a:r>
            <a:r>
              <a:rPr lang="en-US" dirty="0" smtClean="0"/>
              <a:t> makes an equal share of computing resources among the users or jobs.</a:t>
            </a:r>
          </a:p>
          <a:p>
            <a:r>
              <a:rPr lang="en-US" dirty="0" smtClean="0"/>
              <a:t>Delay Scheduling in </a:t>
            </a:r>
            <a:r>
              <a:rPr lang="en-US" dirty="0" err="1" smtClean="0"/>
              <a:t>Hadoop</a:t>
            </a:r>
            <a:r>
              <a:rPr lang="en-US" dirty="0" smtClean="0"/>
              <a:t> is designed to accommodate changes in the existing </a:t>
            </a:r>
            <a:r>
              <a:rPr lang="en-US" dirty="0" err="1" smtClean="0"/>
              <a:t>MapReduce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928670"/>
            <a:ext cx="7772400" cy="5091130"/>
          </a:xfrm>
        </p:spPr>
        <p:txBody>
          <a:bodyPr>
            <a:normAutofit/>
          </a:bodyPr>
          <a:lstStyle/>
          <a:p>
            <a:r>
              <a:rPr lang="en-US" dirty="0" smtClean="0"/>
              <a:t>Capacity Aware Scheduling was introduced by Yahoo with the objective of maximizing the utilization of resources and throughput in a cluster.</a:t>
            </a:r>
          </a:p>
          <a:p>
            <a:r>
              <a:rPr lang="en-US" dirty="0" smtClean="0"/>
              <a:t>Apache Spark is an in-memory big data computation framework. It mainly works on the principle of Resilient Distributed Datasets (RDDs) </a:t>
            </a:r>
          </a:p>
          <a:p>
            <a:r>
              <a:rPr lang="en-US" dirty="0" smtClean="0"/>
              <a:t>It has been implemented both the static and dynamic task scheduling algorithms for those RDDs.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28670"/>
            <a:ext cx="8229600" cy="5197493"/>
          </a:xfrm>
        </p:spPr>
        <p:txBody>
          <a:bodyPr>
            <a:normAutofit/>
          </a:bodyPr>
          <a:lstStyle/>
          <a:p>
            <a:r>
              <a:rPr lang="en-US" dirty="0" smtClean="0"/>
              <a:t>The fair scheduling policy in Spark group the jobs into pools and assign weights to each pool. The dynamic resource allocation policy allocates the resources to the jobs based on the workload of the cluster resources in a dynamic manner.</a:t>
            </a:r>
          </a:p>
          <a:p>
            <a:r>
              <a:rPr lang="en-US" dirty="0" smtClean="0"/>
              <a:t>Derek G. Murray et al. designed a timely dataflow system known as Naiad for executing data parallel, cyclic dataflow applications.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85794"/>
            <a:ext cx="8229600" cy="5340369"/>
          </a:xfrm>
        </p:spPr>
        <p:txBody>
          <a:bodyPr>
            <a:normAutofit/>
          </a:bodyPr>
          <a:lstStyle/>
          <a:p>
            <a:r>
              <a:rPr lang="en-US" dirty="0" smtClean="0"/>
              <a:t>Aurora is a </a:t>
            </a:r>
            <a:r>
              <a:rPr lang="en-US" dirty="0" err="1" smtClean="0"/>
              <a:t>Mesos</a:t>
            </a:r>
            <a:r>
              <a:rPr lang="en-US" dirty="0" smtClean="0"/>
              <a:t> framework or a service scheduler running on top of Apache </a:t>
            </a:r>
            <a:r>
              <a:rPr lang="en-US" dirty="0" err="1" smtClean="0"/>
              <a:t>Mesos</a:t>
            </a:r>
            <a:r>
              <a:rPr lang="en-US" dirty="0" smtClean="0"/>
              <a:t>. It facilitates to run </a:t>
            </a:r>
            <a:r>
              <a:rPr lang="en-US" dirty="0" err="1" smtClean="0"/>
              <a:t>longrun</a:t>
            </a:r>
            <a:r>
              <a:rPr lang="en-US" dirty="0" smtClean="0"/>
              <a:t> jobs, </a:t>
            </a:r>
            <a:r>
              <a:rPr lang="en-US" dirty="0" err="1" smtClean="0"/>
              <a:t>cron</a:t>
            </a:r>
            <a:r>
              <a:rPr lang="en-US" dirty="0" smtClean="0"/>
              <a:t> jobs, and </a:t>
            </a:r>
            <a:r>
              <a:rPr lang="en-US" dirty="0" err="1" smtClean="0"/>
              <a:t>adhoc</a:t>
            </a:r>
            <a:r>
              <a:rPr lang="en-US" dirty="0" smtClean="0"/>
              <a:t> jobs. In general, </a:t>
            </a:r>
            <a:r>
              <a:rPr lang="en-US" dirty="0" err="1" smtClean="0"/>
              <a:t>Mesos</a:t>
            </a:r>
            <a:r>
              <a:rPr lang="en-US" dirty="0" smtClean="0"/>
              <a:t> is concerned about individual tasks whereas a job consists of multiple task instances. </a:t>
            </a:r>
          </a:p>
          <a:p>
            <a:r>
              <a:rPr lang="en-US" dirty="0" smtClean="0"/>
              <a:t>REEF (Retainable Evaluator Execution Framework)[45] provides a control plane to schedule and coordinate data plane on cluster resources for data processing applications.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Overview of Twister2</a:t>
            </a:r>
            <a:endParaRPr lang="en-US" dirty="0"/>
          </a:p>
        </p:txBody>
      </p:sp>
      <p:sp>
        <p:nvSpPr>
          <p:cNvPr id="3" name="Content Placeholder 2"/>
          <p:cNvSpPr>
            <a:spLocks noGrp="1"/>
          </p:cNvSpPr>
          <p:nvPr>
            <p:ph sz="quarter" idx="1"/>
          </p:nvPr>
        </p:nvSpPr>
        <p:spPr/>
        <p:txBody>
          <a:bodyPr>
            <a:normAutofit/>
          </a:bodyPr>
          <a:lstStyle/>
          <a:p>
            <a:r>
              <a:rPr lang="en-US" dirty="0" err="1" smtClean="0"/>
              <a:t>Supun</a:t>
            </a:r>
            <a:r>
              <a:rPr lang="en-US" dirty="0" smtClean="0"/>
              <a:t> </a:t>
            </a:r>
            <a:r>
              <a:rPr lang="en-US" dirty="0" err="1" smtClean="0"/>
              <a:t>Kamburugamuwa</a:t>
            </a:r>
            <a:r>
              <a:rPr lang="en-US" dirty="0" smtClean="0"/>
              <a:t> Geoffrey Fox proposed a Big data programming toolkit named Twister2 empowered with the dataflow programming model. </a:t>
            </a:r>
          </a:p>
          <a:p>
            <a:r>
              <a:rPr lang="en-US" dirty="0" smtClean="0"/>
              <a:t>It has the ability to handle different kind of jobs namely batch jobs, stream processing, Message Passing Interface (MPI), and </a:t>
            </a:r>
            <a:r>
              <a:rPr lang="en-US" dirty="0" err="1" smtClean="0"/>
              <a:t>Microservices</a:t>
            </a:r>
            <a:r>
              <a:rPr lang="en-US" dirty="0" smtClean="0"/>
              <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Scheduling in Twister2</a:t>
            </a:r>
            <a:endParaRPr lang="en-US" dirty="0"/>
          </a:p>
        </p:txBody>
      </p:sp>
      <p:pic>
        <p:nvPicPr>
          <p:cNvPr id="6" name="Content Placeholder 5" descr="6-Figure2-1.png"/>
          <p:cNvPicPr>
            <a:picLocks noGrp="1" noChangeAspect="1"/>
          </p:cNvPicPr>
          <p:nvPr>
            <p:ph sz="quarter" idx="1"/>
          </p:nvPr>
        </p:nvPicPr>
        <p:blipFill>
          <a:blip r:embed="rId2"/>
          <a:stretch>
            <a:fillRect/>
          </a:stretch>
        </p:blipFill>
        <p:spPr>
          <a:xfrm>
            <a:off x="1979762" y="1447800"/>
            <a:ext cx="5641675" cy="45720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Scheduling Model</a:t>
            </a:r>
            <a:endParaRPr lang="en-US" dirty="0"/>
          </a:p>
        </p:txBody>
      </p:sp>
      <p:sp>
        <p:nvSpPr>
          <p:cNvPr id="3" name="Content Placeholder 2"/>
          <p:cNvSpPr>
            <a:spLocks noGrp="1"/>
          </p:cNvSpPr>
          <p:nvPr>
            <p:ph sz="quarter" idx="1"/>
          </p:nvPr>
        </p:nvSpPr>
        <p:spPr/>
        <p:txBody>
          <a:bodyPr>
            <a:normAutofit/>
          </a:bodyPr>
          <a:lstStyle/>
          <a:p>
            <a:r>
              <a:rPr lang="en-US" dirty="0" smtClean="0"/>
              <a:t>It comprises of Job Model, Resource Model, Performance Metrics, Scheduling Policy, and Programming Model </a:t>
            </a:r>
          </a:p>
          <a:p>
            <a:r>
              <a:rPr lang="en-US" b="1" dirty="0" smtClean="0"/>
              <a:t>Job model </a:t>
            </a:r>
            <a:r>
              <a:rPr lang="en-US" dirty="0" smtClean="0"/>
              <a:t>- It provides the abstraction of jobs (consists of multiple tasks) and its requirements. The requirements are classified into hard and soft constraints. The job model handles different type of jobs namely batch, streaming, MPI, and </a:t>
            </a:r>
            <a:r>
              <a:rPr lang="en-US" dirty="0" err="1" smtClean="0"/>
              <a:t>microservices</a:t>
            </a:r>
            <a:r>
              <a:rPr lang="en-US" dirty="0" smtClean="0"/>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28670"/>
            <a:ext cx="8229600" cy="5197493"/>
          </a:xfrm>
        </p:spPr>
        <p:txBody>
          <a:bodyPr>
            <a:normAutofit/>
          </a:bodyPr>
          <a:lstStyle/>
          <a:p>
            <a:r>
              <a:rPr lang="en-US" b="1" dirty="0" smtClean="0"/>
              <a:t>Resource model </a:t>
            </a:r>
            <a:r>
              <a:rPr lang="en-US" dirty="0" smtClean="0"/>
              <a:t>- It describes the characteristics and performances of data centers, hosts, rack, and network links. The resource model maintains the metadata that contains resource characteristics in terms of properties and value. </a:t>
            </a:r>
          </a:p>
          <a:p>
            <a:pPr>
              <a:buNone/>
            </a:pPr>
            <a:r>
              <a:rPr lang="en-US" dirty="0" smtClean="0"/>
              <a:t>• </a:t>
            </a:r>
            <a:r>
              <a:rPr lang="en-US" b="1" dirty="0" smtClean="0"/>
              <a:t>Scheduling policy/algorithm </a:t>
            </a:r>
            <a:r>
              <a:rPr lang="en-US" dirty="0" smtClean="0"/>
              <a:t>- The scheduling policy or algorithm implemented in Task Scheduler which is based on specific goals such as optimization of total computational time or utilization of cluster </a:t>
            </a:r>
            <a:r>
              <a:rPr lang="en-US" dirty="0" err="1" smtClean="0"/>
              <a:t>resourc</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57232"/>
            <a:ext cx="8229600" cy="5268931"/>
          </a:xfrm>
        </p:spPr>
        <p:txBody>
          <a:bodyPr>
            <a:normAutofit/>
          </a:bodyPr>
          <a:lstStyle/>
          <a:p>
            <a:r>
              <a:rPr lang="en-US" b="1" dirty="0" smtClean="0"/>
              <a:t>Performance metrics </a:t>
            </a:r>
            <a:r>
              <a:rPr lang="en-US" dirty="0" smtClean="0"/>
              <a:t>- It is used to evaluate the performance improvements gained by the proposed task scheduling model. In our proposed work, we have considered and evaluated the various performance metrics. </a:t>
            </a:r>
          </a:p>
          <a:p>
            <a:pPr>
              <a:buNone/>
            </a:pPr>
            <a:r>
              <a:rPr lang="en-US" dirty="0" smtClean="0"/>
              <a:t>• </a:t>
            </a:r>
            <a:r>
              <a:rPr lang="en-US" b="1" dirty="0" smtClean="0"/>
              <a:t>Programming model </a:t>
            </a:r>
            <a:r>
              <a:rPr lang="en-US" dirty="0" smtClean="0"/>
              <a:t>- The programming model is helpful for providing the interface to the scheduler. In this proposed approach, we have made use of dataflow programming model for interfacing the task scheduler with other components.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dirty="0" smtClean="0"/>
              <a:t>Task Scheduling System in Twister2 </a:t>
            </a:r>
            <a:endParaRPr lang="en-US" i="1" dirty="0"/>
          </a:p>
        </p:txBody>
      </p:sp>
      <p:sp>
        <p:nvSpPr>
          <p:cNvPr id="3" name="Content Placeholder 2"/>
          <p:cNvSpPr>
            <a:spLocks noGrp="1"/>
          </p:cNvSpPr>
          <p:nvPr>
            <p:ph sz="quarter" idx="1"/>
          </p:nvPr>
        </p:nvSpPr>
        <p:spPr/>
        <p:txBody>
          <a:bodyPr/>
          <a:lstStyle/>
          <a:p>
            <a:r>
              <a:rPr lang="en-US" dirty="0"/>
              <a:t>F</a:t>
            </a:r>
            <a:r>
              <a:rPr lang="en-US" dirty="0" smtClean="0"/>
              <a:t>acilitates to schedule both static and dynamic task graphs</a:t>
            </a:r>
          </a:p>
          <a:p>
            <a:r>
              <a:rPr lang="en-US" dirty="0" smtClean="0"/>
              <a:t>The task scheduler is integrated with static as well as dynamic task scheduling algorithms.</a:t>
            </a:r>
          </a:p>
          <a:p>
            <a:r>
              <a:rPr lang="en-US" dirty="0" smtClean="0"/>
              <a:t>The task scheduler invokes an appropriate algorithm based on the application, input data, and the source of input data.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sz="quarter" idx="1"/>
          </p:nvPr>
        </p:nvSpPr>
        <p:spPr/>
        <p:txBody>
          <a:bodyPr/>
          <a:lstStyle/>
          <a:p>
            <a:r>
              <a:rPr lang="en-US" dirty="0"/>
              <a:t>I</a:t>
            </a:r>
            <a:r>
              <a:rPr lang="en-US" dirty="0" smtClean="0"/>
              <a:t>t has been identified that there is no common task scheduling model to accommodate both the static and dynamic task graphs and handle different type of jobs as discussed above.</a:t>
            </a:r>
          </a:p>
          <a:p>
            <a:r>
              <a:rPr lang="en-US" dirty="0" smtClean="0"/>
              <a:t>Hence, the proposed task scheduling model is able to handle both static and dynamic task scheduling</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smtClean="0"/>
              <a:t>it has the ability to schedule different types of  jobs namely batch, streaming, MPI, and </a:t>
            </a:r>
            <a:r>
              <a:rPr lang="en-US" dirty="0" err="1" smtClean="0"/>
              <a:t>microservices</a:t>
            </a:r>
            <a:r>
              <a:rPr lang="en-US" dirty="0" smtClean="0"/>
              <a:t> which are missing in other existing works.</a:t>
            </a:r>
          </a:p>
          <a:p>
            <a:r>
              <a:rPr lang="en-US" dirty="0" smtClean="0"/>
              <a:t> Furthermore, the proposed task scheduling model considers both the user-centric and resource-centric performance factors</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42</TotalTime>
  <Words>1247</Words>
  <Application>Microsoft Office PowerPoint</Application>
  <PresentationFormat>On-screen Show (4:3)</PresentationFormat>
  <Paragraphs>62</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Equity</vt:lpstr>
      <vt:lpstr>Task Scheduling in Big Data</vt:lpstr>
      <vt:lpstr>Task Scheduling in Big Data</vt:lpstr>
      <vt:lpstr>Static Task Scheduling</vt:lpstr>
      <vt:lpstr>Slide 4</vt:lpstr>
      <vt:lpstr>Dynamic Task Scheduling and Algorithms</vt:lpstr>
      <vt:lpstr>Task Scheduling Considerations for batch processing</vt:lpstr>
      <vt:lpstr>Slide 7</vt:lpstr>
      <vt:lpstr>Task Scheduling Considerations for streaming processing</vt:lpstr>
      <vt:lpstr>Stream Task Scheduling </vt:lpstr>
      <vt:lpstr>Slide 10</vt:lpstr>
      <vt:lpstr>                 TASK SCHEDULING IN BIG DATA PLATFORMS OR TOOLS  </vt:lpstr>
      <vt:lpstr>Slide 12</vt:lpstr>
      <vt:lpstr>Slide 13</vt:lpstr>
      <vt:lpstr>Slide 14</vt:lpstr>
      <vt:lpstr>Overview of Twister2</vt:lpstr>
      <vt:lpstr>Task Scheduling in Twister2</vt:lpstr>
      <vt:lpstr>Task Scheduling Model</vt:lpstr>
      <vt:lpstr>Slide 18</vt:lpstr>
      <vt:lpstr>Slide 19</vt:lpstr>
      <vt:lpstr>Task Scheduling System in Twister2 </vt:lpstr>
      <vt:lpstr>Conclusion</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Scheduling in Big Data</dc:title>
  <dc:creator>Windows User</dc:creator>
  <cp:lastModifiedBy>Windows User</cp:lastModifiedBy>
  <cp:revision>5</cp:revision>
  <dcterms:created xsi:type="dcterms:W3CDTF">2020-03-16T20:27:53Z</dcterms:created>
  <dcterms:modified xsi:type="dcterms:W3CDTF">2020-03-16T21:09:54Z</dcterms:modified>
</cp:coreProperties>
</file>