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D9FDC7"/>
    <a:srgbClr val="A7FA7E"/>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p:cViewPr>
        <p:scale>
          <a:sx n="62" d="100"/>
          <a:sy n="62" d="100"/>
        </p:scale>
        <p:origin x="-1038" y="-21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tableStyles" Target="tableStyle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57" name=""/>
        <p:cNvGrpSpPr/>
        <p:nvPr/>
      </p:nvGrpSpPr>
      <p:grpSpPr>
        <a:xfrm>
          <a:off x="0" y="0"/>
          <a:ext cx="0" cy="0"/>
          <a:chOff x="0" y="0"/>
          <a:chExt cx="0" cy="0"/>
        </a:xfrm>
      </p:grpSpPr>
      <p:sp>
        <p:nvSpPr>
          <p:cNvPr id="1048674"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75"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76"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77"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78"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79"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9" name=""/>
        <p:cNvGrpSpPr/>
        <p:nvPr/>
      </p:nvGrpSpPr>
      <p:grpSpPr>
        <a:xfrm>
          <a:off x="0" y="0"/>
          <a:ext cx="0" cy="0"/>
          <a:chOff x="0" y="0"/>
          <a:chExt cx="0" cy="0"/>
        </a:xfrm>
      </p:grpSpPr>
      <p:sp>
        <p:nvSpPr>
          <p:cNvPr id="1048581"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582"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p>
            <a:fld id="{6F1C325E-9C51-46B1-BB12-70A91F0ACE1B}" type="datetimeFigureOut">
              <a:rPr lang="en-US" smtClean="0"/>
              <a:t>3/10/2020</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8" name=""/>
        <p:cNvGrpSpPr/>
        <p:nvPr/>
      </p:nvGrpSpPr>
      <p:grpSpPr>
        <a:xfrm>
          <a:off x="0" y="0"/>
          <a:ext cx="0" cy="0"/>
          <a:chOff x="0" y="0"/>
          <a:chExt cx="0" cy="0"/>
        </a:xfrm>
      </p:grpSpPr>
      <p:sp>
        <p:nvSpPr>
          <p:cNvPr id="1048606" name="Title 1"/>
          <p:cNvSpPr>
            <a:spLocks noGrp="1"/>
          </p:cNvSpPr>
          <p:nvPr>
            <p:ph type="title"/>
          </p:nvPr>
        </p:nvSpPr>
        <p:spPr/>
        <p:txBody>
          <a:bodyPr/>
          <a:p>
            <a:r>
              <a:rPr lang="en-US" smtClean="0"/>
              <a:t>Click to edit Master title style</a:t>
            </a:r>
            <a:endParaRPr lang="en-US"/>
          </a:p>
        </p:txBody>
      </p:sp>
      <p:sp>
        <p:nvSpPr>
          <p:cNvPr id="1048607"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08" name="Date Placeholder 3"/>
          <p:cNvSpPr>
            <a:spLocks noGrp="1"/>
          </p:cNvSpPr>
          <p:nvPr>
            <p:ph type="dt" sz="half" idx="10"/>
          </p:nvPr>
        </p:nvSpPr>
        <p:spPr/>
        <p:txBody>
          <a:bodyPr/>
          <a:p>
            <a:fld id="{6F1C325E-9C51-46B1-BB12-70A91F0ACE1B}" type="datetimeFigureOut">
              <a:rPr lang="en-US" smtClean="0"/>
              <a:t>3/10/2020</a:t>
            </a:fld>
            <a:endParaRPr lang="en-US"/>
          </a:p>
        </p:txBody>
      </p:sp>
      <p:sp>
        <p:nvSpPr>
          <p:cNvPr id="1048609" name="Footer Placeholder 4"/>
          <p:cNvSpPr>
            <a:spLocks noGrp="1"/>
          </p:cNvSpPr>
          <p:nvPr>
            <p:ph type="ftr" sz="quarter" idx="11"/>
          </p:nvPr>
        </p:nvSpPr>
        <p:spPr/>
        <p:txBody>
          <a:bodyPr/>
          <a:p>
            <a:endParaRPr lang="en-US"/>
          </a:p>
        </p:txBody>
      </p:sp>
      <p:sp>
        <p:nvSpPr>
          <p:cNvPr id="1048610" name="Slide Number Placeholder 5"/>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51" name=""/>
        <p:cNvGrpSpPr/>
        <p:nvPr/>
      </p:nvGrpSpPr>
      <p:grpSpPr>
        <a:xfrm>
          <a:off x="0" y="0"/>
          <a:ext cx="0" cy="0"/>
          <a:chOff x="0" y="0"/>
          <a:chExt cx="0" cy="0"/>
        </a:xfrm>
      </p:grpSpPr>
      <p:sp>
        <p:nvSpPr>
          <p:cNvPr id="1048646"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647"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648" name="Date Placeholder 3"/>
          <p:cNvSpPr>
            <a:spLocks noGrp="1"/>
          </p:cNvSpPr>
          <p:nvPr>
            <p:ph type="dt" sz="half" idx="10"/>
          </p:nvPr>
        </p:nvSpPr>
        <p:spPr/>
        <p:txBody>
          <a:bodyPr/>
          <a:p>
            <a:fld id="{6F1C325E-9C51-46B1-BB12-70A91F0ACE1B}" type="datetimeFigureOut">
              <a:rPr lang="en-US" smtClean="0"/>
              <a:t>3/10/2020</a:t>
            </a:fld>
            <a:endParaRPr lang="en-US"/>
          </a:p>
        </p:txBody>
      </p:sp>
      <p:sp>
        <p:nvSpPr>
          <p:cNvPr id="1048649" name="Footer Placeholder 4"/>
          <p:cNvSpPr>
            <a:spLocks noGrp="1"/>
          </p:cNvSpPr>
          <p:nvPr>
            <p:ph type="ftr" sz="quarter" idx="11"/>
          </p:nvPr>
        </p:nvSpPr>
        <p:spPr/>
        <p:txBody>
          <a:bodyPr/>
          <a:p>
            <a:endParaRPr lang="en-US"/>
          </a:p>
        </p:txBody>
      </p:sp>
      <p:sp>
        <p:nvSpPr>
          <p:cNvPr id="1048650" name="Slide Number Placeholder 5"/>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2" name=""/>
        <p:cNvGrpSpPr/>
        <p:nvPr/>
      </p:nvGrpSpPr>
      <p:grpSpPr>
        <a:xfrm>
          <a:off x="0" y="0"/>
          <a:ext cx="0" cy="0"/>
          <a:chOff x="0" y="0"/>
          <a:chExt cx="0" cy="0"/>
        </a:xfrm>
      </p:grpSpPr>
      <p:sp>
        <p:nvSpPr>
          <p:cNvPr id="1048651" name="Title 1"/>
          <p:cNvSpPr>
            <a:spLocks noGrp="1"/>
          </p:cNvSpPr>
          <p:nvPr>
            <p:ph type="title"/>
          </p:nvPr>
        </p:nvSpPr>
        <p:spPr/>
        <p:txBody>
          <a:bodyPr/>
          <a:p>
            <a:r>
              <a:rPr lang="en-US" smtClean="0"/>
              <a:t>Click to edit Master title style</a:t>
            </a:r>
            <a:endParaRPr lang="en-US"/>
          </a:p>
        </p:txBody>
      </p:sp>
      <p:sp>
        <p:nvSpPr>
          <p:cNvPr id="104865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5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54" name="Date Placeholder 4"/>
          <p:cNvSpPr>
            <a:spLocks noGrp="1"/>
          </p:cNvSpPr>
          <p:nvPr>
            <p:ph type="dt" sz="half" idx="10"/>
          </p:nvPr>
        </p:nvSpPr>
        <p:spPr/>
        <p:txBody>
          <a:bodyPr/>
          <a:p>
            <a:fld id="{6F1C325E-9C51-46B1-BB12-70A91F0ACE1B}" type="datetimeFigureOut">
              <a:rPr lang="en-US" smtClean="0"/>
              <a:t>3/10/2020</a:t>
            </a:fld>
            <a:endParaRPr lang="en-US"/>
          </a:p>
        </p:txBody>
      </p:sp>
      <p:sp>
        <p:nvSpPr>
          <p:cNvPr id="1048655" name="Footer Placeholder 5"/>
          <p:cNvSpPr>
            <a:spLocks noGrp="1"/>
          </p:cNvSpPr>
          <p:nvPr>
            <p:ph type="ftr" sz="quarter" idx="11"/>
          </p:nvPr>
        </p:nvSpPr>
        <p:spPr/>
        <p:txBody>
          <a:bodyPr/>
          <a:p>
            <a:endParaRPr lang="en-US"/>
          </a:p>
        </p:txBody>
      </p:sp>
      <p:sp>
        <p:nvSpPr>
          <p:cNvPr id="1048656" name="Slide Number Placeholder 6"/>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3" name=""/>
        <p:cNvGrpSpPr/>
        <p:nvPr/>
      </p:nvGrpSpPr>
      <p:grpSpPr>
        <a:xfrm>
          <a:off x="0" y="0"/>
          <a:ext cx="0" cy="0"/>
          <a:chOff x="0" y="0"/>
          <a:chExt cx="0" cy="0"/>
        </a:xfrm>
      </p:grpSpPr>
      <p:sp>
        <p:nvSpPr>
          <p:cNvPr id="1048657" name="Title 1"/>
          <p:cNvSpPr>
            <a:spLocks noGrp="1"/>
          </p:cNvSpPr>
          <p:nvPr>
            <p:ph type="title"/>
          </p:nvPr>
        </p:nvSpPr>
        <p:spPr/>
        <p:txBody>
          <a:bodyPr/>
          <a:p>
            <a:r>
              <a:rPr lang="en-US" smtClean="0"/>
              <a:t>Click to edit Master title style</a:t>
            </a:r>
            <a:endParaRPr lang="en-US"/>
          </a:p>
        </p:txBody>
      </p:sp>
      <p:sp>
        <p:nvSpPr>
          <p:cNvPr id="1048658"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59"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60"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61"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62" name="Date Placeholder 6"/>
          <p:cNvSpPr>
            <a:spLocks noGrp="1"/>
          </p:cNvSpPr>
          <p:nvPr>
            <p:ph type="dt" sz="half" idx="10"/>
          </p:nvPr>
        </p:nvSpPr>
        <p:spPr/>
        <p:txBody>
          <a:bodyPr/>
          <a:p>
            <a:fld id="{6F1C325E-9C51-46B1-BB12-70A91F0ACE1B}" type="datetimeFigureOut">
              <a:rPr lang="en-US" smtClean="0"/>
              <a:t>3/10/2020</a:t>
            </a:fld>
            <a:endParaRPr lang="en-US"/>
          </a:p>
        </p:txBody>
      </p:sp>
      <p:sp>
        <p:nvSpPr>
          <p:cNvPr id="1048663" name="Footer Placeholder 7"/>
          <p:cNvSpPr>
            <a:spLocks noGrp="1"/>
          </p:cNvSpPr>
          <p:nvPr>
            <p:ph type="ftr" sz="quarter" idx="11"/>
          </p:nvPr>
        </p:nvSpPr>
        <p:spPr/>
        <p:txBody>
          <a:bodyPr/>
          <a:p>
            <a:endParaRPr lang="en-US"/>
          </a:p>
        </p:txBody>
      </p:sp>
      <p:sp>
        <p:nvSpPr>
          <p:cNvPr id="1048664" name="Slide Number Placeholder 8"/>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7" name=""/>
        <p:cNvGrpSpPr/>
        <p:nvPr/>
      </p:nvGrpSpPr>
      <p:grpSpPr>
        <a:xfrm>
          <a:off x="0" y="0"/>
          <a:ext cx="0" cy="0"/>
          <a:chOff x="0" y="0"/>
          <a:chExt cx="0" cy="0"/>
        </a:xfrm>
      </p:grpSpPr>
      <p:sp>
        <p:nvSpPr>
          <p:cNvPr id="1048626" name="Title 1"/>
          <p:cNvSpPr>
            <a:spLocks noGrp="1"/>
          </p:cNvSpPr>
          <p:nvPr>
            <p:ph type="title"/>
          </p:nvPr>
        </p:nvSpPr>
        <p:spPr/>
        <p:txBody>
          <a:bodyPr/>
          <a:p>
            <a:r>
              <a:rPr lang="en-US" smtClean="0"/>
              <a:t>Click to edit Master title style</a:t>
            </a:r>
            <a:endParaRPr lang="en-US"/>
          </a:p>
        </p:txBody>
      </p:sp>
      <p:sp>
        <p:nvSpPr>
          <p:cNvPr id="1048627" name="Date Placeholder 2"/>
          <p:cNvSpPr>
            <a:spLocks noGrp="1"/>
          </p:cNvSpPr>
          <p:nvPr>
            <p:ph type="dt" sz="half" idx="10"/>
          </p:nvPr>
        </p:nvSpPr>
        <p:spPr/>
        <p:txBody>
          <a:bodyPr/>
          <a:p>
            <a:fld id="{6F1C325E-9C51-46B1-BB12-70A91F0ACE1B}" type="datetimeFigureOut">
              <a:rPr lang="en-US" smtClean="0"/>
              <a:t>3/10/2020</a:t>
            </a:fld>
            <a:endParaRPr lang="en-US"/>
          </a:p>
        </p:txBody>
      </p:sp>
      <p:sp>
        <p:nvSpPr>
          <p:cNvPr id="1048628" name="Footer Placeholder 3"/>
          <p:cNvSpPr>
            <a:spLocks noGrp="1"/>
          </p:cNvSpPr>
          <p:nvPr>
            <p:ph type="ftr" sz="quarter" idx="11"/>
          </p:nvPr>
        </p:nvSpPr>
        <p:spPr/>
        <p:txBody>
          <a:bodyPr/>
          <a:p>
            <a:endParaRPr lang="en-US"/>
          </a:p>
        </p:txBody>
      </p:sp>
      <p:sp>
        <p:nvSpPr>
          <p:cNvPr id="1048629" name="Slide Number Placeholder 4"/>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4" name=""/>
        <p:cNvGrpSpPr/>
        <p:nvPr/>
      </p:nvGrpSpPr>
      <p:grpSpPr>
        <a:xfrm>
          <a:off x="0" y="0"/>
          <a:ext cx="0" cy="0"/>
          <a:chOff x="0" y="0"/>
          <a:chExt cx="0" cy="0"/>
        </a:xfrm>
      </p:grpSpPr>
      <p:sp>
        <p:nvSpPr>
          <p:cNvPr id="1048665" name="Date Placeholder 1"/>
          <p:cNvSpPr>
            <a:spLocks noGrp="1"/>
          </p:cNvSpPr>
          <p:nvPr>
            <p:ph type="dt" sz="half" idx="10"/>
          </p:nvPr>
        </p:nvSpPr>
        <p:spPr/>
        <p:txBody>
          <a:bodyPr/>
          <a:p>
            <a:fld id="{6F1C325E-9C51-46B1-BB12-70A91F0ACE1B}" type="datetimeFigureOut">
              <a:rPr lang="en-US" smtClean="0"/>
              <a:t>3/10/2020</a:t>
            </a:fld>
            <a:endParaRPr lang="en-US"/>
          </a:p>
        </p:txBody>
      </p:sp>
      <p:sp>
        <p:nvSpPr>
          <p:cNvPr id="1048666" name="Footer Placeholder 2"/>
          <p:cNvSpPr>
            <a:spLocks noGrp="1"/>
          </p:cNvSpPr>
          <p:nvPr>
            <p:ph type="ftr" sz="quarter" idx="11"/>
          </p:nvPr>
        </p:nvSpPr>
        <p:spPr/>
        <p:txBody>
          <a:bodyPr/>
          <a:p>
            <a:endParaRPr lang="en-US"/>
          </a:p>
        </p:txBody>
      </p:sp>
      <p:sp>
        <p:nvSpPr>
          <p:cNvPr id="1048667" name="Slide Number Placeholder 3"/>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5" name=""/>
        <p:cNvGrpSpPr/>
        <p:nvPr/>
      </p:nvGrpSpPr>
      <p:grpSpPr>
        <a:xfrm>
          <a:off x="0" y="0"/>
          <a:ext cx="0" cy="0"/>
          <a:chOff x="0" y="0"/>
          <a:chExt cx="0" cy="0"/>
        </a:xfrm>
      </p:grpSpPr>
      <p:sp>
        <p:nvSpPr>
          <p:cNvPr id="1048668"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669"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70"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71" name="Date Placeholder 4"/>
          <p:cNvSpPr>
            <a:spLocks noGrp="1"/>
          </p:cNvSpPr>
          <p:nvPr>
            <p:ph type="dt" sz="half" idx="10"/>
          </p:nvPr>
        </p:nvSpPr>
        <p:spPr/>
        <p:txBody>
          <a:bodyPr/>
          <a:p>
            <a:fld id="{6F1C325E-9C51-46B1-BB12-70A91F0ACE1B}" type="datetimeFigureOut">
              <a:rPr lang="en-US" smtClean="0"/>
              <a:t>3/10/2020</a:t>
            </a:fld>
            <a:endParaRPr lang="en-US"/>
          </a:p>
        </p:txBody>
      </p:sp>
      <p:sp>
        <p:nvSpPr>
          <p:cNvPr id="1048672" name="Footer Placeholder 5"/>
          <p:cNvSpPr>
            <a:spLocks noGrp="1"/>
          </p:cNvSpPr>
          <p:nvPr>
            <p:ph type="ftr" sz="quarter" idx="11"/>
          </p:nvPr>
        </p:nvSpPr>
        <p:spPr/>
        <p:txBody>
          <a:bodyPr/>
          <a:p>
            <a:endParaRPr lang="en-US"/>
          </a:p>
        </p:txBody>
      </p:sp>
      <p:sp>
        <p:nvSpPr>
          <p:cNvPr id="1048673" name="Slide Number Placeholder 6"/>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49" name=""/>
        <p:cNvGrpSpPr/>
        <p:nvPr/>
      </p:nvGrpSpPr>
      <p:grpSpPr>
        <a:xfrm>
          <a:off x="0" y="0"/>
          <a:ext cx="0" cy="0"/>
          <a:chOff x="0" y="0"/>
          <a:chExt cx="0" cy="0"/>
        </a:xfrm>
      </p:grpSpPr>
      <p:sp>
        <p:nvSpPr>
          <p:cNvPr id="1048635"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636"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37"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38" name="Date Placeholder 4"/>
          <p:cNvSpPr>
            <a:spLocks noGrp="1"/>
          </p:cNvSpPr>
          <p:nvPr>
            <p:ph type="dt" sz="half" idx="10"/>
          </p:nvPr>
        </p:nvSpPr>
        <p:spPr/>
        <p:txBody>
          <a:bodyPr/>
          <a:p>
            <a:fld id="{6F1C325E-9C51-46B1-BB12-70A91F0ACE1B}" type="datetimeFigureOut">
              <a:rPr lang="en-US" smtClean="0"/>
              <a:t>3/10/2020</a:t>
            </a:fld>
            <a:endParaRPr lang="en-US"/>
          </a:p>
        </p:txBody>
      </p:sp>
      <p:sp>
        <p:nvSpPr>
          <p:cNvPr id="1048639" name="Footer Placeholder 5"/>
          <p:cNvSpPr>
            <a:spLocks noGrp="1"/>
          </p:cNvSpPr>
          <p:nvPr>
            <p:ph type="ftr" sz="quarter" idx="11"/>
          </p:nvPr>
        </p:nvSpPr>
        <p:spPr/>
        <p:txBody>
          <a:bodyPr/>
          <a:p>
            <a:endParaRPr lang="en-US"/>
          </a:p>
        </p:txBody>
      </p:sp>
      <p:sp>
        <p:nvSpPr>
          <p:cNvPr id="1048640" name="Slide Number Placeholder 6"/>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0" name=""/>
        <p:cNvGrpSpPr/>
        <p:nvPr/>
      </p:nvGrpSpPr>
      <p:grpSpPr>
        <a:xfrm>
          <a:off x="0" y="0"/>
          <a:ext cx="0" cy="0"/>
          <a:chOff x="0" y="0"/>
          <a:chExt cx="0" cy="0"/>
        </a:xfrm>
      </p:grpSpPr>
      <p:sp>
        <p:nvSpPr>
          <p:cNvPr id="1048641" name="Title 1"/>
          <p:cNvSpPr>
            <a:spLocks noGrp="1"/>
          </p:cNvSpPr>
          <p:nvPr>
            <p:ph type="title"/>
          </p:nvPr>
        </p:nvSpPr>
        <p:spPr/>
        <p:txBody>
          <a:bodyPr/>
          <a:p>
            <a:r>
              <a:rPr lang="en-US" smtClean="0"/>
              <a:t>Click to edit Master title style</a:t>
            </a:r>
            <a:endParaRPr lang="en-US"/>
          </a:p>
        </p:txBody>
      </p:sp>
      <p:sp>
        <p:nvSpPr>
          <p:cNvPr id="1048642"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3" name="Date Placeholder 3"/>
          <p:cNvSpPr>
            <a:spLocks noGrp="1"/>
          </p:cNvSpPr>
          <p:nvPr>
            <p:ph type="dt" sz="half" idx="10"/>
          </p:nvPr>
        </p:nvSpPr>
        <p:spPr/>
        <p:txBody>
          <a:bodyPr/>
          <a:p>
            <a:fld id="{6F1C325E-9C51-46B1-BB12-70A91F0ACE1B}" type="datetimeFigureOut">
              <a:rPr lang="en-US" smtClean="0"/>
              <a:t>3/10/2020</a:t>
            </a:fld>
            <a:endParaRPr lang="en-US"/>
          </a:p>
        </p:txBody>
      </p:sp>
      <p:sp>
        <p:nvSpPr>
          <p:cNvPr id="1048644" name="Footer Placeholder 4"/>
          <p:cNvSpPr>
            <a:spLocks noGrp="1"/>
          </p:cNvSpPr>
          <p:nvPr>
            <p:ph type="ftr" sz="quarter" idx="11"/>
          </p:nvPr>
        </p:nvSpPr>
        <p:spPr/>
        <p:txBody>
          <a:bodyPr/>
          <a:p>
            <a:endParaRPr lang="en-US"/>
          </a:p>
        </p:txBody>
      </p:sp>
      <p:sp>
        <p:nvSpPr>
          <p:cNvPr id="1048645" name="Slide Number Placeholder 5"/>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48" name=""/>
        <p:cNvGrpSpPr/>
        <p:nvPr/>
      </p:nvGrpSpPr>
      <p:grpSpPr>
        <a:xfrm>
          <a:off x="0" y="0"/>
          <a:ext cx="0" cy="0"/>
          <a:chOff x="0" y="0"/>
          <a:chExt cx="0" cy="0"/>
        </a:xfrm>
      </p:grpSpPr>
      <p:sp>
        <p:nvSpPr>
          <p:cNvPr id="1048630"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631"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32" name="Date Placeholder 3"/>
          <p:cNvSpPr>
            <a:spLocks noGrp="1"/>
          </p:cNvSpPr>
          <p:nvPr>
            <p:ph type="dt" sz="half" idx="10"/>
          </p:nvPr>
        </p:nvSpPr>
        <p:spPr/>
        <p:txBody>
          <a:bodyPr/>
          <a:p>
            <a:fld id="{6F1C325E-9C51-46B1-BB12-70A91F0ACE1B}" type="datetimeFigureOut">
              <a:rPr lang="en-US" smtClean="0"/>
              <a:t>3/10/2020</a:t>
            </a:fld>
            <a:endParaRPr lang="en-US"/>
          </a:p>
        </p:txBody>
      </p:sp>
      <p:sp>
        <p:nvSpPr>
          <p:cNvPr id="1048633" name="Footer Placeholder 4"/>
          <p:cNvSpPr>
            <a:spLocks noGrp="1"/>
          </p:cNvSpPr>
          <p:nvPr>
            <p:ph type="ftr" sz="quarter" idx="11"/>
          </p:nvPr>
        </p:nvSpPr>
        <p:spPr/>
        <p:txBody>
          <a:bodyPr/>
          <a:p>
            <a:endParaRPr lang="en-US"/>
          </a:p>
        </p:txBody>
      </p:sp>
      <p:sp>
        <p:nvSpPr>
          <p:cNvPr id="1048634" name="Slide Number Placeholder 5"/>
          <p:cNvSpPr>
            <a:spLocks noGrp="1"/>
          </p:cNvSpPr>
          <p:nvPr>
            <p:ph type="sldNum" sz="quarter" idx="12"/>
          </p:nvPr>
        </p:nvSpPr>
        <p:spPr/>
        <p:txBody>
          <a:bodyPr/>
          <a:p>
            <a:fld id="{E3935E50-BA65-4BAA-86CB-AC73FCCE560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7"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6F1C325E-9C51-46B1-BB12-70A91F0ACE1B}" type="datetimeFigureOut">
              <a:rPr lang="en-US" smtClean="0"/>
              <a:t>3/10/2020</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E3935E50-BA65-4BAA-86CB-AC73FCCE5601}"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hyperlink" Target="https://ieeexplore.ieee.org/document/8379722" TargetMode="External"/><Relationship Id="rId2"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pic>
        <p:nvPicPr>
          <p:cNvPr id="2097153" name="Picture 2" descr="See the source image"/>
          <p:cNvPicPr>
            <a:picLocks noChangeAspect="1" noChangeArrowheads="1"/>
          </p:cNvPicPr>
          <p:nvPr/>
        </p:nvPicPr>
        <p:blipFill>
          <a:blip xmlns:r="http://schemas.openxmlformats.org/officeDocument/2006/relationships" r:embed="rId1" cstate="print">
            <a:grayscl/>
            <a:lum bright="67000"/>
          </a:blip>
          <a:srcRect/>
          <a:stretch>
            <a:fillRect/>
          </a:stretch>
        </p:blipFill>
        <p:spPr bwMode="auto">
          <a:xfrm>
            <a:off x="0" y="0"/>
            <a:ext cx="9144000" cy="6857999"/>
          </a:xfrm>
          <a:prstGeom prst="rect"/>
          <a:noFill/>
        </p:spPr>
      </p:pic>
      <p:sp>
        <p:nvSpPr>
          <p:cNvPr id="1048602" name="Title 1"/>
          <p:cNvSpPr>
            <a:spLocks noGrp="1"/>
          </p:cNvSpPr>
          <p:nvPr>
            <p:ph type="ctrTitle"/>
          </p:nvPr>
        </p:nvSpPr>
        <p:spPr>
          <a:xfrm>
            <a:off x="-152400" y="609600"/>
            <a:ext cx="9296400" cy="2474913"/>
          </a:xfrm>
        </p:spPr>
        <p:txBody>
          <a:bodyPr>
            <a:normAutofit fontScale="90000"/>
          </a:bodyPr>
          <a:p>
            <a:pPr algn="l"/>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
            </a:r>
            <a:br>
              <a:rPr b="1" dirty="0" lang="en-US" smtClean="0">
                <a:solidFill>
                  <a:schemeClr val="tx1"/>
                </a:solidFill>
                <a:latin typeface="Algerian" pitchFamily="82" charset="0"/>
              </a:rPr>
            </a:br>
            <a:r>
              <a:rPr b="1" dirty="0" lang="en-US" smtClean="0">
                <a:solidFill>
                  <a:schemeClr val="tx1"/>
                </a:solidFill>
                <a:latin typeface="Algerian" pitchFamily="82" charset="0"/>
              </a:rPr>
              <a:t>Pulse: An Adaptive Intrusion Detection for the Internet of Things</a:t>
            </a:r>
            <a:br>
              <a:rPr b="1" dirty="0" lang="en-US" smtClean="0">
                <a:solidFill>
                  <a:schemeClr val="tx1"/>
                </a:solidFill>
                <a:latin typeface="Algerian" pitchFamily="82" charset="0"/>
              </a:rPr>
            </a:br>
            <a:endParaRPr b="1" dirty="0" lang="en-US">
              <a:solidFill>
                <a:schemeClr val="tx1"/>
              </a:solidFill>
              <a:latin typeface="Algerian" pitchFamily="82" charset="0"/>
            </a:endParaRPr>
          </a:p>
        </p:txBody>
      </p:sp>
      <p:sp>
        <p:nvSpPr>
          <p:cNvPr id="1048603" name="Subtitle 2"/>
          <p:cNvSpPr>
            <a:spLocks noGrp="1"/>
          </p:cNvSpPr>
          <p:nvPr>
            <p:ph type="subTitle" idx="1"/>
          </p:nvPr>
        </p:nvSpPr>
        <p:spPr>
          <a:xfrm>
            <a:off x="685800" y="2819400"/>
            <a:ext cx="8062912" cy="1981200"/>
          </a:xfrm>
        </p:spPr>
        <p:txBody>
          <a:bodyPr>
            <a:noAutofit/>
          </a:bodyPr>
          <a:p>
            <a:r>
              <a:rPr b="1" dirty="0" sz="3600" lang="en-US" smtClean="0">
                <a:solidFill>
                  <a:schemeClr val="tx1"/>
                </a:solidFill>
              </a:rPr>
              <a:t>Advanced operating systems and design</a:t>
            </a:r>
          </a:p>
          <a:p>
            <a:pPr algn="ctr"/>
            <a:r>
              <a:rPr b="1" dirty="0" sz="3600" lang="en-US" smtClean="0">
                <a:solidFill>
                  <a:srgbClr val="0070C0"/>
                </a:solidFill>
              </a:rPr>
              <a:t>                           -Professor Tommy Dang</a:t>
            </a:r>
          </a:p>
        </p:txBody>
      </p:sp>
      <p:sp>
        <p:nvSpPr>
          <p:cNvPr id="1048604" name="TextBox 3"/>
          <p:cNvSpPr txBox="1"/>
          <p:nvPr/>
        </p:nvSpPr>
        <p:spPr>
          <a:xfrm>
            <a:off x="4876800" y="4343400"/>
            <a:ext cx="4267200" cy="1348740"/>
          </a:xfrm>
          <a:prstGeom prst="rect"/>
          <a:noFill/>
        </p:spPr>
        <p:txBody>
          <a:bodyPr rtlCol="0" wrap="square">
            <a:spAutoFit/>
          </a:bodyPr>
          <a:p>
            <a:r>
              <a:rPr b="1" dirty="0" lang="en-US" smtClean="0"/>
              <a:t>                        </a:t>
            </a:r>
            <a:r>
              <a:rPr b="1" dirty="0" sz="2800" lang="en-US" smtClean="0">
                <a:solidFill>
                  <a:schemeClr val="accent2">
                    <a:lumMod val="75000"/>
                  </a:schemeClr>
                </a:solidFill>
                <a:latin typeface="Swis721 Blk BT" pitchFamily="34" charset="0"/>
              </a:rPr>
              <a:t>By-</a:t>
            </a:r>
          </a:p>
          <a:p>
            <a:pPr algn="ctr"/>
            <a:r>
              <a:rPr b="1" dirty="0" sz="2800" lang="en-US" err="1" smtClean="0">
                <a:solidFill>
                  <a:schemeClr val="accent2">
                    <a:lumMod val="75000"/>
                  </a:schemeClr>
                </a:solidFill>
                <a:latin typeface="Swis721 Blk BT" pitchFamily="34" charset="0"/>
              </a:rPr>
              <a:t>Aditi</a:t>
            </a:r>
            <a:r>
              <a:rPr b="1" dirty="0" sz="2800" lang="en-US" smtClean="0">
                <a:solidFill>
                  <a:schemeClr val="accent2">
                    <a:lumMod val="75000"/>
                  </a:schemeClr>
                </a:solidFill>
                <a:latin typeface="Swis721 Blk BT" pitchFamily="34" charset="0"/>
              </a:rPr>
              <a:t> </a:t>
            </a:r>
            <a:r>
              <a:rPr b="1" dirty="0" sz="2800" lang="en-US" err="1" smtClean="0">
                <a:solidFill>
                  <a:schemeClr val="accent2">
                    <a:lumMod val="75000"/>
                  </a:schemeClr>
                </a:solidFill>
                <a:latin typeface="Swis721 Blk BT" pitchFamily="34" charset="0"/>
              </a:rPr>
              <a:t>Misra</a:t>
            </a:r>
            <a:endParaRPr b="1" dirty="0" sz="2800" lang="en-US" smtClean="0">
              <a:solidFill>
                <a:schemeClr val="accent2">
                  <a:lumMod val="75000"/>
                </a:schemeClr>
              </a:solidFill>
              <a:latin typeface="Swis721 Blk BT" pitchFamily="34" charset="0"/>
            </a:endParaRPr>
          </a:p>
          <a:p>
            <a:pPr algn="ctr"/>
            <a:r>
              <a:rPr b="1" dirty="0" sz="2800" lang="en-US" smtClean="0">
                <a:solidFill>
                  <a:schemeClr val="accent2">
                    <a:lumMod val="75000"/>
                  </a:schemeClr>
                </a:solidFill>
                <a:latin typeface="Swis721 Blk BT" pitchFamily="34" charset="0"/>
              </a:rPr>
              <a:t>R11684473</a:t>
            </a:r>
            <a:endParaRPr b="1" dirty="0" sz="2800" lang="en-US">
              <a:solidFill>
                <a:schemeClr val="accent2">
                  <a:lumMod val="75000"/>
                </a:schemeClr>
              </a:solidFill>
              <a:latin typeface="Swis721 Blk BT" pitchFamily="34" charset="0"/>
            </a:endParaRPr>
          </a:p>
        </p:txBody>
      </p:sp>
      <p:sp>
        <p:nvSpPr>
          <p:cNvPr id="1048605" name="TextBox 4"/>
          <p:cNvSpPr txBox="1"/>
          <p:nvPr/>
        </p:nvSpPr>
        <p:spPr>
          <a:xfrm>
            <a:off x="228600" y="533400"/>
            <a:ext cx="8610600" cy="1285241"/>
          </a:xfrm>
          <a:prstGeom prst="rect"/>
          <a:noFill/>
        </p:spPr>
        <p:txBody>
          <a:bodyPr rtlCol="0" wrap="square">
            <a:spAutoFit/>
          </a:bodyPr>
          <a:p>
            <a:pPr algn="ctr"/>
            <a:r>
              <a:rPr b="1" dirty="0" sz="4000" lang="en-US" smtClean="0">
                <a:solidFill>
                  <a:srgbClr val="C00000"/>
                </a:solidFill>
                <a:latin typeface="Algerian" pitchFamily="82" charset="0"/>
                <a:cs typeface="Times New Roman" pitchFamily="18" charset="0"/>
              </a:rPr>
              <a:t>Pulse: An Adaptive Intrusion Detection for the Internet of Thing</a:t>
            </a:r>
            <a:r>
              <a:rPr b="1" dirty="0" sz="4000" lang="en-US" smtClean="0">
                <a:solidFill>
                  <a:srgbClr val="C00000"/>
                </a:solidFill>
                <a:latin typeface="Algerian" pitchFamily="82" charset="0"/>
                <a:cs typeface="Times New Roman" pitchFamily="18" charset="0"/>
              </a:rPr>
              <a:t>s</a:t>
            </a:r>
            <a:endParaRPr b="1" dirty="0" sz="4000" lang="en-US">
              <a:solidFill>
                <a:srgbClr val="C00000"/>
              </a:solidFill>
              <a:latin typeface="Algerian" pitchFamily="82" charset="0"/>
              <a:cs typeface="Times New Roman" pitchFamily="18" charset="0"/>
            </a:endParaRPr>
          </a:p>
        </p:txBody>
      </p:sp>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pic>
        <p:nvPicPr>
          <p:cNvPr id="2097154" name="Picture 2" descr="See the source image"/>
          <p:cNvPicPr>
            <a:picLocks noChangeAspect="1" noChangeArrowheads="1"/>
          </p:cNvPicPr>
          <p:nvPr/>
        </p:nvPicPr>
        <p:blipFill>
          <a:blip xmlns:r="http://schemas.openxmlformats.org/officeDocument/2006/relationships" r:embed="rId1" cstate="print">
            <a:grayscl/>
            <a:lum bright="67000"/>
          </a:blip>
          <a:srcRect/>
          <a:stretch>
            <a:fillRect/>
          </a:stretch>
        </p:blipFill>
        <p:spPr bwMode="auto">
          <a:xfrm>
            <a:off x="0" y="0"/>
            <a:ext cx="9144000" cy="6857999"/>
          </a:xfrm>
          <a:prstGeom prst="rect"/>
          <a:noFill/>
        </p:spPr>
      </p:pic>
      <p:sp>
        <p:nvSpPr>
          <p:cNvPr id="1048611" name="Title 1"/>
          <p:cNvSpPr>
            <a:spLocks noGrp="1"/>
          </p:cNvSpPr>
          <p:nvPr>
            <p:ph type="title"/>
          </p:nvPr>
        </p:nvSpPr>
        <p:spPr/>
        <p:txBody>
          <a:bodyPr/>
          <a:p>
            <a:pPr algn="l"/>
            <a:r>
              <a:rPr b="1" dirty="0" lang="en-US" u="sng" smtClean="0"/>
              <a:t>Introduction</a:t>
            </a:r>
            <a:endParaRPr b="1" dirty="0" lang="en-US" u="sng"/>
          </a:p>
        </p:txBody>
      </p:sp>
      <p:sp>
        <p:nvSpPr>
          <p:cNvPr id="1048612" name="Content Placeholder 2"/>
          <p:cNvSpPr>
            <a:spLocks noGrp="1"/>
          </p:cNvSpPr>
          <p:nvPr>
            <p:ph idx="1"/>
          </p:nvPr>
        </p:nvSpPr>
        <p:spPr/>
        <p:txBody>
          <a:bodyPr>
            <a:normAutofit fontScale="93750" lnSpcReduction="20000"/>
          </a:bodyPr>
          <a:p>
            <a:pPr>
              <a:buFont typeface="Wingdings" pitchFamily="2" charset="2"/>
              <a:buChar char="§"/>
            </a:pPr>
            <a:r>
              <a:rPr dirty="0" lang="en-US" smtClean="0"/>
              <a:t>IOT Devices</a:t>
            </a:r>
          </a:p>
          <a:p>
            <a:pPr>
              <a:buFont typeface="Wingdings" pitchFamily="2" charset="2"/>
              <a:buChar char="§"/>
            </a:pPr>
            <a:r>
              <a:rPr dirty="0" lang="en-US" smtClean="0"/>
              <a:t>Need for IDS</a:t>
            </a:r>
          </a:p>
          <a:p>
            <a:pPr>
              <a:buFont typeface="Wingdings" pitchFamily="2" charset="2"/>
              <a:buChar char="§"/>
            </a:pPr>
            <a:r>
              <a:rPr dirty="0" lang="en-US" smtClean="0"/>
              <a:t>Related Work in IDS</a:t>
            </a:r>
          </a:p>
          <a:p>
            <a:pPr>
              <a:buFont typeface="Wingdings" pitchFamily="2" charset="2"/>
              <a:buChar char="§"/>
            </a:pPr>
            <a:r>
              <a:rPr dirty="0" lang="en-US"/>
              <a:t>Cyber Attacks in IOT </a:t>
            </a:r>
            <a:r>
              <a:rPr dirty="0" lang="en-US" smtClean="0"/>
              <a:t>Ecosystems</a:t>
            </a:r>
          </a:p>
          <a:p>
            <a:pPr>
              <a:buFont typeface="Wingdings" pitchFamily="2" charset="2"/>
              <a:buChar char="§"/>
            </a:pPr>
            <a:r>
              <a:rPr dirty="0" lang="en-US" smtClean="0"/>
              <a:t>Types Of IDSs</a:t>
            </a:r>
          </a:p>
          <a:p>
            <a:pPr>
              <a:buFont typeface="Wingdings" pitchFamily="2" charset="2"/>
              <a:buChar char="§"/>
            </a:pPr>
            <a:r>
              <a:rPr dirty="0" lang="en-US" smtClean="0"/>
              <a:t>Pulse : IDS</a:t>
            </a:r>
          </a:p>
          <a:p>
            <a:pPr>
              <a:buFont typeface="Wingdings" pitchFamily="2" charset="2"/>
              <a:buChar char="§"/>
            </a:pPr>
            <a:r>
              <a:rPr dirty="0" lang="en-US" smtClean="0"/>
              <a:t>Methodology</a:t>
            </a:r>
          </a:p>
          <a:p>
            <a:pPr>
              <a:buFont typeface="Wingdings" pitchFamily="2" charset="2"/>
              <a:buChar char="§"/>
            </a:pPr>
            <a:r>
              <a:rPr dirty="0" lang="en-US" smtClean="0"/>
              <a:t>Results</a:t>
            </a:r>
          </a:p>
          <a:p>
            <a:pPr>
              <a:buFont typeface="Wingdings" pitchFamily="2" charset="2"/>
              <a:buChar char="§"/>
            </a:pPr>
            <a:r>
              <a:rPr dirty="0" lang="en-US" smtClean="0"/>
              <a:t>Future Work</a:t>
            </a:r>
          </a:p>
          <a:p>
            <a:pPr>
              <a:buFont typeface="Wingdings" pitchFamily="2" charset="2"/>
              <a:buChar char="§"/>
            </a:pPr>
            <a:r>
              <a:rPr dirty="0" lang="en-US" smtClean="0"/>
              <a:t>References</a:t>
            </a:r>
          </a:p>
          <a:p>
            <a:pPr>
              <a:buFont typeface="Wingdings" pitchFamily="2" charset="2"/>
              <a:buChar char="§"/>
            </a:pPr>
            <a:endParaRPr dirty="0" lang="en-US"/>
          </a:p>
          <a:p>
            <a:pPr>
              <a:buFont typeface="Wingdings" pitchFamily="2" charset="2"/>
              <a:buChar char="§"/>
            </a:pPr>
            <a:endParaRPr dirty="0" lang="en-US" smtClean="0"/>
          </a:p>
          <a:p>
            <a:pPr>
              <a:buFont typeface="Wingdings" pitchFamily="2" charset="2"/>
              <a:buChar char="§"/>
            </a:pPr>
            <a:endParaRPr dirty="0" lang="en-US" smtClean="0"/>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4" presetSubtype="16">
                                  <p:stCondLst>
                                    <p:cond delay="0"/>
                                  </p:stCondLst>
                                  <p:childTnLst>
                                    <p:set>
                                      <p:cBhvr>
                                        <p:cTn dur="1" fill="hold" id="6">
                                          <p:stCondLst>
                                            <p:cond delay="0"/>
                                          </p:stCondLst>
                                        </p:cTn>
                                        <p:tgtEl>
                                          <p:spTgt spid="1048612">
                                            <p:txEl>
                                              <p:pRg st="0" end="0"/>
                                            </p:txEl>
                                          </p:spTgt>
                                        </p:tgtEl>
                                        <p:attrNameLst>
                                          <p:attrName>style.visibility</p:attrName>
                                        </p:attrNameLst>
                                      </p:cBhvr>
                                      <p:to>
                                        <p:strVal val="visible"/>
                                      </p:to>
                                    </p:set>
                                    <p:animEffect transition="in" filter="box(in)">
                                      <p:cBhvr>
                                        <p:cTn dur="500" id="7"/>
                                        <p:tgtEl>
                                          <p:spTgt spid="1048612">
                                            <p:txEl>
                                              <p:pRg st="0" end="0"/>
                                            </p:txEl>
                                          </p:spTgt>
                                        </p:tgtEl>
                                      </p:cBhvr>
                                    </p:animEffect>
                                  </p:childTnLst>
                                </p:cTn>
                              </p:par>
                              <p:par>
                                <p:cTn fill="hold" id="8" nodeType="withEffect" presetClass="entr" presetID="4" presetSubtype="16">
                                  <p:stCondLst>
                                    <p:cond delay="0"/>
                                  </p:stCondLst>
                                  <p:childTnLst>
                                    <p:set>
                                      <p:cBhvr>
                                        <p:cTn dur="1" fill="hold" id="9">
                                          <p:stCondLst>
                                            <p:cond delay="0"/>
                                          </p:stCondLst>
                                        </p:cTn>
                                        <p:tgtEl>
                                          <p:spTgt spid="1048612">
                                            <p:txEl>
                                              <p:pRg st="1" end="1"/>
                                            </p:txEl>
                                          </p:spTgt>
                                        </p:tgtEl>
                                        <p:attrNameLst>
                                          <p:attrName>style.visibility</p:attrName>
                                        </p:attrNameLst>
                                      </p:cBhvr>
                                      <p:to>
                                        <p:strVal val="visible"/>
                                      </p:to>
                                    </p:set>
                                    <p:animEffect transition="in" filter="box(in)">
                                      <p:cBhvr>
                                        <p:cTn dur="500" id="10"/>
                                        <p:tgtEl>
                                          <p:spTgt spid="1048612">
                                            <p:txEl>
                                              <p:pRg st="1" end="1"/>
                                            </p:txEl>
                                          </p:spTgt>
                                        </p:tgtEl>
                                      </p:cBhvr>
                                    </p:animEffect>
                                  </p:childTnLst>
                                </p:cTn>
                              </p:par>
                              <p:par>
                                <p:cTn fill="hold" id="11" nodeType="withEffect" presetClass="entr" presetID="4" presetSubtype="16">
                                  <p:stCondLst>
                                    <p:cond delay="0"/>
                                  </p:stCondLst>
                                  <p:childTnLst>
                                    <p:set>
                                      <p:cBhvr>
                                        <p:cTn dur="1" fill="hold" id="12">
                                          <p:stCondLst>
                                            <p:cond delay="0"/>
                                          </p:stCondLst>
                                        </p:cTn>
                                        <p:tgtEl>
                                          <p:spTgt spid="1048612">
                                            <p:txEl>
                                              <p:pRg st="2" end="2"/>
                                            </p:txEl>
                                          </p:spTgt>
                                        </p:tgtEl>
                                        <p:attrNameLst>
                                          <p:attrName>style.visibility</p:attrName>
                                        </p:attrNameLst>
                                      </p:cBhvr>
                                      <p:to>
                                        <p:strVal val="visible"/>
                                      </p:to>
                                    </p:set>
                                    <p:animEffect transition="in" filter="box(in)">
                                      <p:cBhvr>
                                        <p:cTn dur="500" id="13"/>
                                        <p:tgtEl>
                                          <p:spTgt spid="1048612">
                                            <p:txEl>
                                              <p:pRg st="2" end="2"/>
                                            </p:txEl>
                                          </p:spTgt>
                                        </p:tgtEl>
                                      </p:cBhvr>
                                    </p:animEffect>
                                  </p:childTnLst>
                                </p:cTn>
                              </p:par>
                              <p:par>
                                <p:cTn fill="hold" id="14" nodeType="withEffect" presetClass="entr" presetID="4" presetSubtype="16">
                                  <p:stCondLst>
                                    <p:cond delay="0"/>
                                  </p:stCondLst>
                                  <p:childTnLst>
                                    <p:set>
                                      <p:cBhvr>
                                        <p:cTn dur="1" fill="hold" id="15">
                                          <p:stCondLst>
                                            <p:cond delay="0"/>
                                          </p:stCondLst>
                                        </p:cTn>
                                        <p:tgtEl>
                                          <p:spTgt spid="1048612">
                                            <p:txEl>
                                              <p:pRg st="3" end="3"/>
                                            </p:txEl>
                                          </p:spTgt>
                                        </p:tgtEl>
                                        <p:attrNameLst>
                                          <p:attrName>style.visibility</p:attrName>
                                        </p:attrNameLst>
                                      </p:cBhvr>
                                      <p:to>
                                        <p:strVal val="visible"/>
                                      </p:to>
                                    </p:set>
                                    <p:animEffect transition="in" filter="box(in)">
                                      <p:cBhvr>
                                        <p:cTn dur="500" id="16"/>
                                        <p:tgtEl>
                                          <p:spTgt spid="1048612">
                                            <p:txEl>
                                              <p:pRg st="3" end="3"/>
                                            </p:txEl>
                                          </p:spTgt>
                                        </p:tgtEl>
                                      </p:cBhvr>
                                    </p:animEffect>
                                  </p:childTnLst>
                                </p:cTn>
                              </p:par>
                              <p:par>
                                <p:cTn fill="hold" id="17" nodeType="withEffect" presetClass="entr" presetID="4" presetSubtype="16">
                                  <p:stCondLst>
                                    <p:cond delay="0"/>
                                  </p:stCondLst>
                                  <p:childTnLst>
                                    <p:set>
                                      <p:cBhvr>
                                        <p:cTn dur="1" fill="hold" id="18">
                                          <p:stCondLst>
                                            <p:cond delay="0"/>
                                          </p:stCondLst>
                                        </p:cTn>
                                        <p:tgtEl>
                                          <p:spTgt spid="1048612">
                                            <p:txEl>
                                              <p:pRg st="4" end="4"/>
                                            </p:txEl>
                                          </p:spTgt>
                                        </p:tgtEl>
                                        <p:attrNameLst>
                                          <p:attrName>style.visibility</p:attrName>
                                        </p:attrNameLst>
                                      </p:cBhvr>
                                      <p:to>
                                        <p:strVal val="visible"/>
                                      </p:to>
                                    </p:set>
                                    <p:animEffect transition="in" filter="box(in)">
                                      <p:cBhvr>
                                        <p:cTn dur="500" id="19"/>
                                        <p:tgtEl>
                                          <p:spTgt spid="1048612">
                                            <p:txEl>
                                              <p:pRg st="4" end="4"/>
                                            </p:txEl>
                                          </p:spTgt>
                                        </p:tgtEl>
                                      </p:cBhvr>
                                    </p:animEffect>
                                  </p:childTnLst>
                                </p:cTn>
                              </p:par>
                              <p:par>
                                <p:cTn fill="hold" id="20" nodeType="withEffect" presetClass="entr" presetID="4" presetSubtype="16">
                                  <p:stCondLst>
                                    <p:cond delay="0"/>
                                  </p:stCondLst>
                                  <p:childTnLst>
                                    <p:set>
                                      <p:cBhvr>
                                        <p:cTn dur="1" fill="hold" id="21">
                                          <p:stCondLst>
                                            <p:cond delay="0"/>
                                          </p:stCondLst>
                                        </p:cTn>
                                        <p:tgtEl>
                                          <p:spTgt spid="1048612">
                                            <p:txEl>
                                              <p:pRg st="5" end="5"/>
                                            </p:txEl>
                                          </p:spTgt>
                                        </p:tgtEl>
                                        <p:attrNameLst>
                                          <p:attrName>style.visibility</p:attrName>
                                        </p:attrNameLst>
                                      </p:cBhvr>
                                      <p:to>
                                        <p:strVal val="visible"/>
                                      </p:to>
                                    </p:set>
                                    <p:animEffect transition="in" filter="box(in)">
                                      <p:cBhvr>
                                        <p:cTn dur="500" id="22"/>
                                        <p:tgtEl>
                                          <p:spTgt spid="1048612">
                                            <p:txEl>
                                              <p:pRg st="5" end="5"/>
                                            </p:txEl>
                                          </p:spTgt>
                                        </p:tgtEl>
                                      </p:cBhvr>
                                    </p:animEffect>
                                  </p:childTnLst>
                                </p:cTn>
                              </p:par>
                              <p:par>
                                <p:cTn fill="hold" id="23" nodeType="withEffect" presetClass="entr" presetID="4" presetSubtype="16">
                                  <p:stCondLst>
                                    <p:cond delay="0"/>
                                  </p:stCondLst>
                                  <p:childTnLst>
                                    <p:set>
                                      <p:cBhvr>
                                        <p:cTn dur="1" fill="hold" id="24">
                                          <p:stCondLst>
                                            <p:cond delay="0"/>
                                          </p:stCondLst>
                                        </p:cTn>
                                        <p:tgtEl>
                                          <p:spTgt spid="1048612">
                                            <p:txEl>
                                              <p:pRg st="6" end="6"/>
                                            </p:txEl>
                                          </p:spTgt>
                                        </p:tgtEl>
                                        <p:attrNameLst>
                                          <p:attrName>style.visibility</p:attrName>
                                        </p:attrNameLst>
                                      </p:cBhvr>
                                      <p:to>
                                        <p:strVal val="visible"/>
                                      </p:to>
                                    </p:set>
                                    <p:animEffect transition="in" filter="box(in)">
                                      <p:cBhvr>
                                        <p:cTn dur="500" id="25"/>
                                        <p:tgtEl>
                                          <p:spTgt spid="1048612">
                                            <p:txEl>
                                              <p:pRg st="6" end="6"/>
                                            </p:txEl>
                                          </p:spTgt>
                                        </p:tgtEl>
                                      </p:cBhvr>
                                    </p:animEffect>
                                  </p:childTnLst>
                                </p:cTn>
                              </p:par>
                              <p:par>
                                <p:cTn fill="hold" id="26" nodeType="withEffect" presetClass="entr" presetID="4" presetSubtype="16">
                                  <p:stCondLst>
                                    <p:cond delay="0"/>
                                  </p:stCondLst>
                                  <p:childTnLst>
                                    <p:set>
                                      <p:cBhvr>
                                        <p:cTn dur="1" fill="hold" id="27">
                                          <p:stCondLst>
                                            <p:cond delay="0"/>
                                          </p:stCondLst>
                                        </p:cTn>
                                        <p:tgtEl>
                                          <p:spTgt spid="1048612">
                                            <p:txEl>
                                              <p:pRg st="7" end="7"/>
                                            </p:txEl>
                                          </p:spTgt>
                                        </p:tgtEl>
                                        <p:attrNameLst>
                                          <p:attrName>style.visibility</p:attrName>
                                        </p:attrNameLst>
                                      </p:cBhvr>
                                      <p:to>
                                        <p:strVal val="visible"/>
                                      </p:to>
                                    </p:set>
                                    <p:animEffect transition="in" filter="box(in)">
                                      <p:cBhvr>
                                        <p:cTn dur="500" id="28"/>
                                        <p:tgtEl>
                                          <p:spTgt spid="1048612">
                                            <p:txEl>
                                              <p:pRg st="7" end="7"/>
                                            </p:txEl>
                                          </p:spTgt>
                                        </p:tgtEl>
                                      </p:cBhvr>
                                    </p:animEffect>
                                  </p:childTnLst>
                                </p:cTn>
                              </p:par>
                              <p:par>
                                <p:cTn fill="hold" id="29" nodeType="withEffect" presetClass="entr" presetID="4" presetSubtype="16">
                                  <p:stCondLst>
                                    <p:cond delay="0"/>
                                  </p:stCondLst>
                                  <p:childTnLst>
                                    <p:set>
                                      <p:cBhvr>
                                        <p:cTn dur="1" fill="hold" id="30">
                                          <p:stCondLst>
                                            <p:cond delay="0"/>
                                          </p:stCondLst>
                                        </p:cTn>
                                        <p:tgtEl>
                                          <p:spTgt spid="1048612">
                                            <p:txEl>
                                              <p:pRg st="8" end="8"/>
                                            </p:txEl>
                                          </p:spTgt>
                                        </p:tgtEl>
                                        <p:attrNameLst>
                                          <p:attrName>style.visibility</p:attrName>
                                        </p:attrNameLst>
                                      </p:cBhvr>
                                      <p:to>
                                        <p:strVal val="visible"/>
                                      </p:to>
                                    </p:set>
                                    <p:animEffect transition="in" filter="box(in)">
                                      <p:cBhvr>
                                        <p:cTn dur="500" id="31"/>
                                        <p:tgtEl>
                                          <p:spTgt spid="1048612">
                                            <p:txEl>
                                              <p:pRg st="8" end="8"/>
                                            </p:txEl>
                                          </p:spTgt>
                                        </p:tgtEl>
                                      </p:cBhvr>
                                    </p:animEffect>
                                  </p:childTnLst>
                                </p:cTn>
                              </p:par>
                              <p:par>
                                <p:cTn fill="hold" id="32" nodeType="withEffect" presetClass="entr" presetID="4" presetSubtype="16">
                                  <p:stCondLst>
                                    <p:cond delay="0"/>
                                  </p:stCondLst>
                                  <p:childTnLst>
                                    <p:set>
                                      <p:cBhvr>
                                        <p:cTn dur="1" fill="hold" id="33">
                                          <p:stCondLst>
                                            <p:cond delay="0"/>
                                          </p:stCondLst>
                                        </p:cTn>
                                        <p:tgtEl>
                                          <p:spTgt spid="1048612">
                                            <p:txEl>
                                              <p:pRg st="9" end="9"/>
                                            </p:txEl>
                                          </p:spTgt>
                                        </p:tgtEl>
                                        <p:attrNameLst>
                                          <p:attrName>style.visibility</p:attrName>
                                        </p:attrNameLst>
                                      </p:cBhvr>
                                      <p:to>
                                        <p:strVal val="visible"/>
                                      </p:to>
                                    </p:set>
                                    <p:animEffect transition="in" filter="box(in)">
                                      <p:cBhvr>
                                        <p:cTn dur="500" id="34"/>
                                        <p:tgtEl>
                                          <p:spTgt spid="104861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13" name="Title 1"/>
          <p:cNvSpPr>
            <a:spLocks noGrp="1"/>
          </p:cNvSpPr>
          <p:nvPr>
            <p:ph type="title"/>
          </p:nvPr>
        </p:nvSpPr>
        <p:spPr>
          <a:xfrm>
            <a:off x="457200" y="274638"/>
            <a:ext cx="8229600" cy="944562"/>
          </a:xfrm>
        </p:spPr>
        <p:txBody>
          <a:bodyPr>
            <a:normAutofit/>
          </a:bodyPr>
          <a:p>
            <a:pPr algn="l"/>
            <a:r>
              <a:rPr b="1" dirty="0" sz="3600" lang="en-US" u="sng" smtClean="0"/>
              <a:t>IOT devices </a:t>
            </a:r>
            <a:endParaRPr b="1" dirty="0" sz="3600" lang="en-US" u="sng"/>
          </a:p>
        </p:txBody>
      </p:sp>
      <p:pic>
        <p:nvPicPr>
          <p:cNvPr id="2097155" name="Content Placeholder 3"/>
          <p:cNvPicPr>
            <a:picLocks noChangeAspect="1" noGrp="1"/>
          </p:cNvPicPr>
          <p:nvPr>
            <p:ph idx="1"/>
          </p:nvPr>
        </p:nvPicPr>
        <p:blipFill>
          <a:blip xmlns:r="http://schemas.openxmlformats.org/officeDocument/2006/relationships" r:embed="rId1" cstate="print"/>
          <a:stretch>
            <a:fillRect/>
          </a:stretch>
        </p:blipFill>
        <p:spPr>
          <a:xfrm>
            <a:off x="228600" y="1676400"/>
            <a:ext cx="4396376" cy="3429000"/>
          </a:xfrm>
          <a:prstGeom prst="rect"/>
        </p:spPr>
      </p:pic>
      <p:sp>
        <p:nvSpPr>
          <p:cNvPr id="1048614" name="Rectangle 4"/>
          <p:cNvSpPr/>
          <p:nvPr/>
        </p:nvSpPr>
        <p:spPr>
          <a:xfrm>
            <a:off x="5029200" y="1600200"/>
            <a:ext cx="3810000" cy="3558540"/>
          </a:xfrm>
          <a:prstGeom prst="rect"/>
        </p:spPr>
        <p:txBody>
          <a:bodyPr wrap="square">
            <a:spAutoFit/>
          </a:bodyPr>
          <a:p>
            <a:pPr algn="just" indent="-285750" marL="285750">
              <a:buFont typeface="Wingdings" charset="2"/>
              <a:buChar char="Ø"/>
            </a:pPr>
            <a:r>
              <a:rPr dirty="0" lang="en-US" smtClean="0">
                <a:latin typeface="Times New Roman" pitchFamily="18" charset="0"/>
                <a:cs typeface="Times New Roman" pitchFamily="18" charset="0"/>
              </a:rPr>
              <a:t>Interconnected every day objects with network connectivity, allowing them to </a:t>
            </a:r>
            <a:r>
              <a:rPr b="1" dirty="0" lang="en-US" smtClean="0">
                <a:solidFill>
                  <a:schemeClr val="accent1"/>
                </a:solidFill>
                <a:latin typeface="Times New Roman" pitchFamily="18" charset="0"/>
                <a:cs typeface="Times New Roman" pitchFamily="18" charset="0"/>
              </a:rPr>
              <a:t>send</a:t>
            </a:r>
            <a:r>
              <a:rPr dirty="0" lang="en-US" smtClean="0">
                <a:solidFill>
                  <a:schemeClr val="accent1"/>
                </a:solidFill>
                <a:latin typeface="Times New Roman" pitchFamily="18" charset="0"/>
                <a:cs typeface="Times New Roman" pitchFamily="18" charset="0"/>
              </a:rPr>
              <a:t> </a:t>
            </a:r>
            <a:r>
              <a:rPr dirty="0" lang="en-US" smtClean="0">
                <a:latin typeface="Times New Roman" pitchFamily="18" charset="0"/>
                <a:cs typeface="Times New Roman" pitchFamily="18" charset="0"/>
              </a:rPr>
              <a:t>and </a:t>
            </a:r>
            <a:r>
              <a:rPr b="1" dirty="0" lang="en-US" smtClean="0">
                <a:solidFill>
                  <a:schemeClr val="accent1"/>
                </a:solidFill>
                <a:latin typeface="Times New Roman" pitchFamily="18" charset="0"/>
                <a:cs typeface="Times New Roman" pitchFamily="18" charset="0"/>
              </a:rPr>
              <a:t>receive data.</a:t>
            </a:r>
          </a:p>
          <a:p>
            <a:pPr algn="just" indent="-285750" marL="285750">
              <a:buFont typeface="Wingdings" charset="2"/>
              <a:buChar char="Ø"/>
            </a:pPr>
            <a:endParaRPr b="1" dirty="0" lang="en-US" smtClean="0">
              <a:latin typeface="Times New Roman" pitchFamily="18" charset="0"/>
              <a:cs typeface="Times New Roman" pitchFamily="18" charset="0"/>
            </a:endParaRPr>
          </a:p>
          <a:p>
            <a:pPr algn="just" indent="-285750" marL="285750">
              <a:buFont typeface="Wingdings" charset="2"/>
              <a:buChar char="Ø"/>
            </a:pPr>
            <a:r>
              <a:rPr dirty="0" lang="en-US" err="1" smtClean="0">
                <a:latin typeface="Times New Roman" pitchFamily="18" charset="0"/>
                <a:cs typeface="Times New Roman" pitchFamily="18" charset="0"/>
              </a:rPr>
              <a:t>IoT</a:t>
            </a:r>
            <a:r>
              <a:rPr dirty="0" lang="en-US" smtClean="0">
                <a:latin typeface="Times New Roman" pitchFamily="18" charset="0"/>
                <a:cs typeface="Times New Roman" pitchFamily="18" charset="0"/>
              </a:rPr>
              <a:t> have access to</a:t>
            </a:r>
            <a:r>
              <a:rPr dirty="0" lang="en-US" smtClean="0">
                <a:solidFill>
                  <a:schemeClr val="accent1"/>
                </a:solidFill>
                <a:latin typeface="Times New Roman" pitchFamily="18" charset="0"/>
                <a:cs typeface="Times New Roman" pitchFamily="18" charset="0"/>
              </a:rPr>
              <a:t> </a:t>
            </a:r>
            <a:r>
              <a:rPr b="1" dirty="0" lang="en-US" smtClean="0">
                <a:solidFill>
                  <a:schemeClr val="accent1"/>
                </a:solidFill>
                <a:latin typeface="Times New Roman" pitchFamily="18" charset="0"/>
                <a:cs typeface="Times New Roman" pitchFamily="18" charset="0"/>
              </a:rPr>
              <a:t>sensitive personal </a:t>
            </a:r>
            <a:r>
              <a:rPr dirty="0" lang="en-US" smtClean="0">
                <a:latin typeface="Times New Roman" pitchFamily="18" charset="0"/>
                <a:cs typeface="Times New Roman" pitchFamily="18" charset="0"/>
              </a:rPr>
              <a:t>information such as banking information, usernames, passwords, etc.</a:t>
            </a:r>
          </a:p>
          <a:p>
            <a:pPr algn="just" indent="-285750" marL="285750">
              <a:buFont typeface="Wingdings" charset="2"/>
              <a:buChar char="Ø"/>
            </a:pPr>
            <a:endParaRPr dirty="0" lang="en-US" smtClean="0">
              <a:latin typeface="Times New Roman" pitchFamily="18" charset="0"/>
              <a:cs typeface="Times New Roman" pitchFamily="18" charset="0"/>
            </a:endParaRPr>
          </a:p>
          <a:p>
            <a:pPr algn="just" indent="-285750" marL="285750">
              <a:buFont typeface="Wingdings" charset="2"/>
              <a:buChar char="Ø"/>
            </a:pPr>
            <a:r>
              <a:rPr dirty="0" lang="en-US" smtClean="0">
                <a:latin typeface="Times New Roman" pitchFamily="18" charset="0"/>
                <a:cs typeface="Times New Roman" pitchFamily="18" charset="0"/>
              </a:rPr>
              <a:t>Variety of </a:t>
            </a:r>
            <a:r>
              <a:rPr dirty="0" lang="en-US" err="1" smtClean="0">
                <a:latin typeface="Times New Roman" pitchFamily="18" charset="0"/>
                <a:cs typeface="Times New Roman" pitchFamily="18" charset="0"/>
              </a:rPr>
              <a:t>IoT</a:t>
            </a:r>
            <a:r>
              <a:rPr dirty="0" lang="en-US" smtClean="0">
                <a:latin typeface="Times New Roman" pitchFamily="18" charset="0"/>
                <a:cs typeface="Times New Roman" pitchFamily="18" charset="0"/>
              </a:rPr>
              <a:t> designed for different applications (fitness, smart home, etc.)</a:t>
            </a:r>
            <a:endParaRPr dirty="0" lang="en-US">
              <a:latin typeface="Times New Roman" pitchFamily="18" charset="0"/>
              <a:cs typeface="Times New Roman" pitchFamily="18" charset="0"/>
            </a:endParaRPr>
          </a:p>
        </p:txBody>
      </p:sp>
    </p:spTree>
  </p:cSld>
  <p:clrMapOvr>
    <a:masterClrMapping/>
  </p:clrMapOvr>
  <p:transition>
    <p:wipe/>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2" presetSubtype="4">
                                  <p:stCondLst>
                                    <p:cond delay="0"/>
                                  </p:stCondLst>
                                  <p:childTnLst>
                                    <p:set>
                                      <p:cBhvr>
                                        <p:cTn dur="1" fill="hold" id="6">
                                          <p:stCondLst>
                                            <p:cond delay="0"/>
                                          </p:stCondLst>
                                        </p:cTn>
                                        <p:tgtEl>
                                          <p:spTgt spid="2097155"/>
                                        </p:tgtEl>
                                        <p:attrNameLst>
                                          <p:attrName>style.visibility</p:attrName>
                                        </p:attrNameLst>
                                      </p:cBhvr>
                                      <p:to>
                                        <p:strVal val="visible"/>
                                      </p:to>
                                    </p:set>
                                    <p:anim calcmode="lin" valueType="num">
                                      <p:cBhvr additive="base">
                                        <p:cTn dur="500" fill="hold" id="7"/>
                                        <p:tgtEl>
                                          <p:spTgt spid="2097155"/>
                                        </p:tgtEl>
                                        <p:attrNameLst>
                                          <p:attrName>ppt_x</p:attrName>
                                        </p:attrNameLst>
                                      </p:cBhvr>
                                      <p:tavLst>
                                        <p:tav tm="0">
                                          <p:val>
                                            <p:strVal val="#ppt_x"/>
                                          </p:val>
                                        </p:tav>
                                        <p:tav tm="100000">
                                          <p:val>
                                            <p:strVal val="#ppt_x"/>
                                          </p:val>
                                        </p:tav>
                                      </p:tavLst>
                                    </p:anim>
                                    <p:anim calcmode="lin" valueType="num">
                                      <p:cBhvr additive="base">
                                        <p:cTn dur="500" fill="hold" id="8"/>
                                        <p:tgtEl>
                                          <p:spTgt spid="2097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pic>
        <p:nvPicPr>
          <p:cNvPr id="2097156" name="Picture 2" descr="See the source image"/>
          <p:cNvPicPr>
            <a:picLocks noChangeAspect="1" noChangeArrowheads="1"/>
          </p:cNvPicPr>
          <p:nvPr/>
        </p:nvPicPr>
        <p:blipFill>
          <a:blip xmlns:r="http://schemas.openxmlformats.org/officeDocument/2006/relationships" r:embed="rId1" cstate="print"/>
          <a:srcRect/>
          <a:stretch>
            <a:fillRect/>
          </a:stretch>
        </p:blipFill>
        <p:spPr bwMode="auto">
          <a:xfrm>
            <a:off x="228599" y="1143000"/>
            <a:ext cx="5618959" cy="4724400"/>
          </a:xfrm>
          <a:prstGeom prst="rect"/>
          <a:noFill/>
        </p:spPr>
      </p:pic>
      <p:sp>
        <p:nvSpPr>
          <p:cNvPr id="1048615" name="Title 1"/>
          <p:cNvSpPr>
            <a:spLocks noGrp="1"/>
          </p:cNvSpPr>
          <p:nvPr>
            <p:ph type="ctrTitle"/>
          </p:nvPr>
        </p:nvSpPr>
        <p:spPr>
          <a:xfrm>
            <a:off x="152400" y="381000"/>
            <a:ext cx="8229600" cy="457199"/>
          </a:xfrm>
        </p:spPr>
        <p:txBody>
          <a:bodyPr>
            <a:noAutofit/>
          </a:bodyPr>
          <a:p>
            <a:pPr algn="l"/>
            <a:r>
              <a:rPr b="1" dirty="0" sz="3600" lang="en-US" smtClean="0">
                <a:solidFill>
                  <a:schemeClr val="tx1"/>
                </a:solidFill>
              </a:rPr>
              <a:t>   </a:t>
            </a:r>
            <a:r>
              <a:rPr b="1" dirty="0" sz="3600" lang="en-US" u="sng" smtClean="0">
                <a:solidFill>
                  <a:schemeClr val="tx1"/>
                </a:solidFill>
              </a:rPr>
              <a:t>Need for IDSs</a:t>
            </a:r>
            <a:endParaRPr b="1" dirty="0" sz="3600" lang="en-US" u="sng">
              <a:solidFill>
                <a:schemeClr val="tx1"/>
              </a:solidFill>
            </a:endParaRPr>
          </a:p>
        </p:txBody>
      </p:sp>
      <p:sp>
        <p:nvSpPr>
          <p:cNvPr id="1048616" name="Subtitle 2"/>
          <p:cNvSpPr>
            <a:spLocks noGrp="1"/>
          </p:cNvSpPr>
          <p:nvPr>
            <p:ph type="subTitle" idx="1"/>
          </p:nvPr>
        </p:nvSpPr>
        <p:spPr>
          <a:xfrm>
            <a:off x="5562600" y="1143000"/>
            <a:ext cx="3352800" cy="3962400"/>
          </a:xfrm>
        </p:spPr>
        <p:txBody>
          <a:bodyPr>
            <a:noAutofit/>
          </a:bodyPr>
          <a:p>
            <a:pPr algn="just">
              <a:buFont typeface="Wingdings" pitchFamily="2" charset="2"/>
              <a:buChar char="Ø"/>
            </a:pPr>
            <a:r>
              <a:rPr dirty="0" sz="1600" lang="en-US" smtClean="0">
                <a:solidFill>
                  <a:schemeClr val="tx1"/>
                </a:solidFill>
                <a:latin typeface="Times New Roman" pitchFamily="18" charset="0"/>
                <a:cs typeface="Times New Roman" pitchFamily="18" charset="0"/>
              </a:rPr>
              <a:t>The number of diverse inter connected Internet of Things (</a:t>
            </a:r>
            <a:r>
              <a:rPr dirty="0" sz="1600" lang="en-US" err="1" smtClean="0">
                <a:solidFill>
                  <a:schemeClr val="tx1"/>
                </a:solidFill>
                <a:latin typeface="Times New Roman" pitchFamily="18" charset="0"/>
                <a:cs typeface="Times New Roman" pitchFamily="18" charset="0"/>
              </a:rPr>
              <a:t>IoT</a:t>
            </a:r>
            <a:r>
              <a:rPr dirty="0" sz="1600" lang="en-US" smtClean="0">
                <a:solidFill>
                  <a:schemeClr val="tx1"/>
                </a:solidFill>
                <a:latin typeface="Times New Roman" pitchFamily="18" charset="0"/>
                <a:cs typeface="Times New Roman" pitchFamily="18" charset="0"/>
              </a:rPr>
              <a:t>) devices keeps increasing exponentially, introducing new security and privacy challenges. </a:t>
            </a:r>
          </a:p>
          <a:p>
            <a:pPr algn="just"/>
            <a:endParaRPr dirty="0" sz="1600" lang="en-US" smtClean="0">
              <a:solidFill>
                <a:schemeClr val="tx1"/>
              </a:solidFill>
              <a:latin typeface="Times New Roman" pitchFamily="18" charset="0"/>
              <a:cs typeface="Times New Roman" pitchFamily="18" charset="0"/>
            </a:endParaRPr>
          </a:p>
          <a:p>
            <a:pPr algn="just">
              <a:buFont typeface="Wingdings" pitchFamily="2" charset="2"/>
              <a:buChar char="Ø"/>
            </a:pPr>
            <a:r>
              <a:rPr dirty="0" sz="1600" lang="en-US" smtClean="0">
                <a:solidFill>
                  <a:schemeClr val="tx1"/>
                </a:solidFill>
                <a:latin typeface="Times New Roman" pitchFamily="18" charset="0"/>
                <a:cs typeface="Times New Roman" pitchFamily="18" charset="0"/>
              </a:rPr>
              <a:t>Given that smart devices are vulnerable to a variety of attacks, they can be considered to be the weakest link for breaking into a secure infrastructure. </a:t>
            </a:r>
          </a:p>
          <a:p>
            <a:pPr algn="just"/>
            <a:endParaRPr dirty="0" sz="1600" lang="en-US" smtClean="0">
              <a:solidFill>
                <a:schemeClr val="tx1"/>
              </a:solidFill>
              <a:latin typeface="Times New Roman" pitchFamily="18" charset="0"/>
              <a:cs typeface="Times New Roman" pitchFamily="18" charset="0"/>
            </a:endParaRPr>
          </a:p>
          <a:p>
            <a:pPr algn="just">
              <a:buFont typeface="Wingdings" pitchFamily="2" charset="2"/>
              <a:buChar char="Ø"/>
            </a:pPr>
            <a:r>
              <a:rPr dirty="0" sz="1600" lang="en-US" smtClean="0">
                <a:solidFill>
                  <a:schemeClr val="tx1"/>
                </a:solidFill>
                <a:latin typeface="Times New Roman" pitchFamily="18" charset="0"/>
                <a:cs typeface="Times New Roman" pitchFamily="18" charset="0"/>
              </a:rPr>
              <a:t>For instance, </a:t>
            </a:r>
            <a:r>
              <a:rPr dirty="0" sz="1600" lang="en-US" err="1" smtClean="0">
                <a:solidFill>
                  <a:schemeClr val="tx1"/>
                </a:solidFill>
                <a:latin typeface="Times New Roman" pitchFamily="18" charset="0"/>
                <a:cs typeface="Times New Roman" pitchFamily="18" charset="0"/>
              </a:rPr>
              <a:t>IoT</a:t>
            </a:r>
            <a:r>
              <a:rPr dirty="0" sz="1600" lang="en-US" smtClean="0">
                <a:solidFill>
                  <a:schemeClr val="tx1"/>
                </a:solidFill>
                <a:latin typeface="Times New Roman" pitchFamily="18" charset="0"/>
                <a:cs typeface="Times New Roman" pitchFamily="18" charset="0"/>
              </a:rPr>
              <a:t> devices have recently been employed as part of </a:t>
            </a:r>
            <a:r>
              <a:rPr dirty="0" sz="1600" lang="en-US" err="1" smtClean="0">
                <a:solidFill>
                  <a:schemeClr val="tx1"/>
                </a:solidFill>
                <a:latin typeface="Times New Roman" pitchFamily="18" charset="0"/>
                <a:cs typeface="Times New Roman" pitchFamily="18" charset="0"/>
              </a:rPr>
              <a:t>botnets</a:t>
            </a:r>
            <a:r>
              <a:rPr dirty="0" sz="1600" lang="en-US" smtClean="0">
                <a:solidFill>
                  <a:schemeClr val="tx1"/>
                </a:solidFill>
                <a:latin typeface="Times New Roman" pitchFamily="18" charset="0"/>
                <a:cs typeface="Times New Roman" pitchFamily="18" charset="0"/>
              </a:rPr>
              <a:t>, such as </a:t>
            </a:r>
            <a:r>
              <a:rPr dirty="0" sz="1600" lang="en-US" err="1" smtClean="0">
                <a:solidFill>
                  <a:schemeClr val="tx1"/>
                </a:solidFill>
                <a:latin typeface="Times New Roman" pitchFamily="18" charset="0"/>
                <a:cs typeface="Times New Roman" pitchFamily="18" charset="0"/>
              </a:rPr>
              <a:t>Mirai</a:t>
            </a:r>
            <a:r>
              <a:rPr dirty="0" sz="1600" lang="en-US" smtClean="0">
                <a:solidFill>
                  <a:schemeClr val="tx1"/>
                </a:solidFill>
                <a:latin typeface="Times New Roman" pitchFamily="18" charset="0"/>
                <a:cs typeface="Times New Roman" pitchFamily="18" charset="0"/>
              </a:rPr>
              <a:t>, and have launched several of the largest Distributed Denial of Service (</a:t>
            </a:r>
            <a:r>
              <a:rPr dirty="0" sz="1600" lang="en-US" err="1" smtClean="0">
                <a:solidFill>
                  <a:schemeClr val="tx1"/>
                </a:solidFill>
                <a:latin typeface="Times New Roman" pitchFamily="18" charset="0"/>
                <a:cs typeface="Times New Roman" pitchFamily="18" charset="0"/>
              </a:rPr>
              <a:t>DDoS</a:t>
            </a:r>
            <a:r>
              <a:rPr dirty="0" sz="1600" lang="en-US" smtClean="0">
                <a:solidFill>
                  <a:schemeClr val="tx1"/>
                </a:solidFill>
                <a:latin typeface="Times New Roman" pitchFamily="18" charset="0"/>
                <a:cs typeface="Times New Roman" pitchFamily="18" charset="0"/>
              </a:rPr>
              <a:t>) and spam attacks in history. </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2" presetSubtype="4">
                                  <p:stCondLst>
                                    <p:cond delay="0"/>
                                  </p:stCondLst>
                                  <p:childTnLst>
                                    <p:set>
                                      <p:cBhvr>
                                        <p:cTn dur="1" fill="hold" id="6">
                                          <p:stCondLst>
                                            <p:cond delay="0"/>
                                          </p:stCondLst>
                                        </p:cTn>
                                        <p:tgtEl>
                                          <p:spTgt spid="2097156"/>
                                        </p:tgtEl>
                                        <p:attrNameLst>
                                          <p:attrName>style.visibility</p:attrName>
                                        </p:attrNameLst>
                                      </p:cBhvr>
                                      <p:to>
                                        <p:strVal val="visible"/>
                                      </p:to>
                                    </p:set>
                                    <p:anim calcmode="lin" valueType="num">
                                      <p:cBhvr additive="base">
                                        <p:cTn dur="500" fill="hold" id="7"/>
                                        <p:tgtEl>
                                          <p:spTgt spid="2097156"/>
                                        </p:tgtEl>
                                        <p:attrNameLst>
                                          <p:attrName>ppt_x</p:attrName>
                                        </p:attrNameLst>
                                      </p:cBhvr>
                                      <p:tavLst>
                                        <p:tav tm="0">
                                          <p:val>
                                            <p:strVal val="#ppt_x"/>
                                          </p:val>
                                        </p:tav>
                                        <p:tav tm="100000">
                                          <p:val>
                                            <p:strVal val="#ppt_x"/>
                                          </p:val>
                                        </p:tav>
                                      </p:tavLst>
                                    </p:anim>
                                    <p:anim calcmode="lin" valueType="num">
                                      <p:cBhvr additive="base">
                                        <p:cTn dur="500" fill="hold" id="8"/>
                                        <p:tgtEl>
                                          <p:spTgt spid="20971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17" name="Title 1"/>
          <p:cNvSpPr>
            <a:spLocks noGrp="1"/>
          </p:cNvSpPr>
          <p:nvPr>
            <p:ph type="ctrTitle"/>
          </p:nvPr>
        </p:nvSpPr>
        <p:spPr>
          <a:xfrm>
            <a:off x="381000" y="457200"/>
            <a:ext cx="7620000" cy="761999"/>
          </a:xfrm>
        </p:spPr>
        <p:txBody>
          <a:bodyPr>
            <a:normAutofit/>
          </a:bodyPr>
          <a:p>
            <a:pPr algn="l"/>
            <a:r>
              <a:rPr b="1" dirty="0" sz="3600" lang="en-US" u="sng" smtClean="0">
                <a:solidFill>
                  <a:schemeClr val="tx1"/>
                </a:solidFill>
              </a:rPr>
              <a:t>Related Work in IDSs</a:t>
            </a:r>
            <a:endParaRPr b="1" dirty="0" sz="3600" lang="en-US" u="sng">
              <a:solidFill>
                <a:schemeClr val="tx1"/>
              </a:solidFill>
            </a:endParaRPr>
          </a:p>
        </p:txBody>
      </p:sp>
      <p:sp>
        <p:nvSpPr>
          <p:cNvPr id="1048618" name="Subtitle 2"/>
          <p:cNvSpPr>
            <a:spLocks noGrp="1"/>
          </p:cNvSpPr>
          <p:nvPr>
            <p:ph type="subTitle" idx="1"/>
          </p:nvPr>
        </p:nvSpPr>
        <p:spPr>
          <a:xfrm>
            <a:off x="457200" y="1447800"/>
            <a:ext cx="7834312" cy="4876800"/>
          </a:xfrm>
        </p:spPr>
        <p:txBody>
          <a:bodyPr>
            <a:normAutofit/>
          </a:bodyPr>
          <a:p>
            <a:pPr algn="just"/>
            <a:r>
              <a:rPr b="1" dirty="0" sz="2000" i="1" lang="en-US" smtClean="0">
                <a:solidFill>
                  <a:schemeClr val="tx1"/>
                </a:solidFill>
                <a:latin typeface="Times New Roman" pitchFamily="18" charset="0"/>
                <a:cs typeface="Times New Roman" pitchFamily="18" charset="0"/>
              </a:rPr>
              <a:t>IDSs for Wireless Sensor Networks and Traditional</a:t>
            </a:r>
            <a:r>
              <a:rPr b="1" dirty="0" sz="2000" i="1" lang="en-US" smtClean="0">
                <a:solidFill>
                  <a:schemeClr val="bg1"/>
                </a:solidFill>
                <a:latin typeface="Times New Roman" pitchFamily="18" charset="0"/>
                <a:cs typeface="Times New Roman" pitchFamily="18" charset="0"/>
              </a:rPr>
              <a:t> </a:t>
            </a:r>
            <a:r>
              <a:rPr b="1" dirty="0" sz="2000" i="1" lang="en-US" smtClean="0">
                <a:solidFill>
                  <a:schemeClr val="tx1"/>
                </a:solidFill>
                <a:latin typeface="Times New Roman" pitchFamily="18" charset="0"/>
                <a:cs typeface="Times New Roman" pitchFamily="18" charset="0"/>
              </a:rPr>
              <a:t>IT</a:t>
            </a:r>
            <a:endParaRPr b="1" dirty="0" sz="2000" i="1" lang="en-US" smtClean="0">
              <a:solidFill>
                <a:schemeClr val="tx1"/>
              </a:solidFill>
              <a:latin typeface="Times New Roman" pitchFamily="18" charset="0"/>
              <a:cs typeface="Times New Roman" pitchFamily="18" charset="0"/>
            </a:endParaRPr>
          </a:p>
          <a:p>
            <a:pPr algn="just"/>
            <a:r>
              <a:rPr dirty="0" sz="1600" lang="en-US" smtClean="0">
                <a:solidFill>
                  <a:schemeClr val="bg1"/>
                </a:solidFill>
                <a:latin typeface="Times New Roman" pitchFamily="18" charset="0"/>
                <a:cs typeface="Times New Roman" pitchFamily="18" charset="0"/>
              </a:rPr>
              <a:t>T</a:t>
            </a:r>
          </a:p>
          <a:p>
            <a:pPr algn="just">
              <a:buFont typeface="Wingdings" pitchFamily="2" charset="2"/>
              <a:buChar char="Ø"/>
            </a:pPr>
            <a:r>
              <a:rPr dirty="0" sz="1600" lang="en-US" smtClean="0">
                <a:solidFill>
                  <a:schemeClr val="tx1"/>
                </a:solidFill>
                <a:latin typeface="Times New Roman" pitchFamily="18" charset="0"/>
                <a:cs typeface="Times New Roman" pitchFamily="18" charset="0"/>
              </a:rPr>
              <a:t> The IDSs , initially, were designed for Wireless sensor networks or conventional IT Infrastructure but  none of these systems </a:t>
            </a:r>
            <a:r>
              <a:rPr dirty="0" sz="1600" lang="en-US" err="1" smtClean="0">
                <a:solidFill>
                  <a:schemeClr val="tx1"/>
                </a:solidFill>
                <a:latin typeface="Times New Roman" pitchFamily="18" charset="0"/>
                <a:cs typeface="Times New Roman" pitchFamily="18" charset="0"/>
              </a:rPr>
              <a:t>ﬁt</a:t>
            </a:r>
            <a:r>
              <a:rPr dirty="0" sz="1600" lang="en-US" smtClean="0">
                <a:solidFill>
                  <a:schemeClr val="tx1"/>
                </a:solidFill>
                <a:latin typeface="Times New Roman" pitchFamily="18" charset="0"/>
                <a:cs typeface="Times New Roman" pitchFamily="18" charset="0"/>
              </a:rPr>
              <a:t> the </a:t>
            </a:r>
            <a:r>
              <a:rPr dirty="0" sz="1600" lang="en-US" err="1" smtClean="0">
                <a:solidFill>
                  <a:schemeClr val="tx1"/>
                </a:solidFill>
                <a:latin typeface="Times New Roman" pitchFamily="18" charset="0"/>
                <a:cs typeface="Times New Roman" pitchFamily="18" charset="0"/>
              </a:rPr>
              <a:t>speciﬁcations</a:t>
            </a:r>
            <a:r>
              <a:rPr dirty="0" sz="1600" lang="en-US" smtClean="0">
                <a:solidFill>
                  <a:schemeClr val="tx1"/>
                </a:solidFill>
                <a:latin typeface="Times New Roman" pitchFamily="18" charset="0"/>
                <a:cs typeface="Times New Roman" pitchFamily="18" charset="0"/>
              </a:rPr>
              <a:t> of the IPv6 connected </a:t>
            </a:r>
            <a:r>
              <a:rPr dirty="0" sz="1600" lang="en-US" err="1" smtClean="0">
                <a:solidFill>
                  <a:schemeClr val="tx1"/>
                </a:solidFill>
                <a:latin typeface="Times New Roman" pitchFamily="18" charset="0"/>
                <a:cs typeface="Times New Roman" pitchFamily="18" charset="0"/>
              </a:rPr>
              <a:t>IoT</a:t>
            </a:r>
            <a:r>
              <a:rPr dirty="0" sz="1600" lang="en-US" smtClean="0">
                <a:solidFill>
                  <a:schemeClr val="tx1"/>
                </a:solidFill>
                <a:latin typeface="Times New Roman" pitchFamily="18" charset="0"/>
                <a:cs typeface="Times New Roman" pitchFamily="18" charset="0"/>
              </a:rPr>
              <a:t> devices</a:t>
            </a:r>
            <a:r>
              <a:rPr dirty="0" sz="1600" lang="en-US" smtClean="0">
                <a:solidFill>
                  <a:schemeClr val="tx1"/>
                </a:solidFill>
                <a:latin typeface="Times New Roman" pitchFamily="18" charset="0"/>
                <a:cs typeface="Times New Roman" pitchFamily="18" charset="0"/>
              </a:rPr>
              <a:t> </a:t>
            </a:r>
            <a:r>
              <a:rPr dirty="0" sz="1600" lang="en-US" smtClean="0">
                <a:solidFill>
                  <a:schemeClr val="tx1"/>
                </a:solidFill>
                <a:latin typeface="Times New Roman" pitchFamily="18" charset="0"/>
                <a:cs typeface="Times New Roman" pitchFamily="18" charset="0"/>
              </a:rPr>
              <a:t>b</a:t>
            </a:r>
            <a:r>
              <a:rPr dirty="0" sz="1600" lang="en-US" smtClean="0">
                <a:solidFill>
                  <a:schemeClr val="tx1"/>
                </a:solidFill>
                <a:latin typeface="Times New Roman" pitchFamily="18" charset="0"/>
                <a:cs typeface="Times New Roman" pitchFamily="18" charset="0"/>
              </a:rPr>
              <a:t>e</a:t>
            </a:r>
            <a:r>
              <a:rPr dirty="0" sz="1600" lang="en-US" smtClean="0">
                <a:solidFill>
                  <a:schemeClr val="tx1"/>
                </a:solidFill>
                <a:latin typeface="Times New Roman" pitchFamily="18" charset="0"/>
                <a:cs typeface="Times New Roman" pitchFamily="18" charset="0"/>
              </a:rPr>
              <a:t>c</a:t>
            </a:r>
            <a:r>
              <a:rPr dirty="0" sz="1600" lang="en-US" smtClean="0">
                <a:solidFill>
                  <a:schemeClr val="tx1"/>
                </a:solidFill>
                <a:latin typeface="Times New Roman" pitchFamily="18" charset="0"/>
                <a:cs typeface="Times New Roman" pitchFamily="18" charset="0"/>
              </a:rPr>
              <a:t>a</a:t>
            </a:r>
            <a:r>
              <a:rPr dirty="0" sz="1600" lang="en-US" smtClean="0">
                <a:solidFill>
                  <a:schemeClr val="tx1"/>
                </a:solidFill>
                <a:latin typeface="Times New Roman" pitchFamily="18" charset="0"/>
                <a:cs typeface="Times New Roman" pitchFamily="18" charset="0"/>
              </a:rPr>
              <a:t>u</a:t>
            </a:r>
            <a:r>
              <a:rPr dirty="0" sz="1600" lang="en-US" smtClean="0">
                <a:solidFill>
                  <a:schemeClr val="tx1"/>
                </a:solidFill>
                <a:latin typeface="Times New Roman" pitchFamily="18" charset="0"/>
                <a:cs typeface="Times New Roman" pitchFamily="18" charset="0"/>
              </a:rPr>
              <a:t>s</a:t>
            </a:r>
            <a:r>
              <a:rPr dirty="0" sz="1600" lang="en-US" smtClean="0">
                <a:solidFill>
                  <a:schemeClr val="tx1"/>
                </a:solidFill>
                <a:latin typeface="Times New Roman" pitchFamily="18" charset="0"/>
                <a:cs typeface="Times New Roman" pitchFamily="18" charset="0"/>
              </a:rPr>
              <a:t>e</a:t>
            </a:r>
            <a:r>
              <a:rPr dirty="0" sz="1600" lang="en-US" smtClean="0">
                <a:solidFill>
                  <a:schemeClr val="tx1"/>
                </a:solidFill>
                <a:latin typeface="Times New Roman" pitchFamily="18" charset="0"/>
                <a:cs typeface="Times New Roman" pitchFamily="18" charset="0"/>
              </a:rPr>
              <a:t> </a:t>
            </a:r>
            <a:r>
              <a:rPr dirty="0" sz="1600" lang="en-US" smtClean="0">
                <a:solidFill>
                  <a:schemeClr val="tx1"/>
                </a:solidFill>
                <a:latin typeface="Times New Roman" pitchFamily="18" charset="0"/>
                <a:cs typeface="Times New Roman" pitchFamily="18" charset="0"/>
              </a:rPr>
              <a:t>o</a:t>
            </a:r>
            <a:r>
              <a:rPr dirty="0" sz="1600" lang="en-US" smtClean="0">
                <a:solidFill>
                  <a:schemeClr val="tx1"/>
                </a:solidFill>
                <a:latin typeface="Times New Roman" pitchFamily="18" charset="0"/>
                <a:cs typeface="Times New Roman" pitchFamily="18" charset="0"/>
              </a:rPr>
              <a:t>f</a:t>
            </a:r>
            <a:r>
              <a:rPr dirty="0" sz="1600" lang="en-US" smtClean="0">
                <a:solidFill>
                  <a:schemeClr val="tx1"/>
                </a:solidFill>
                <a:latin typeface="Times New Roman" pitchFamily="18" charset="0"/>
                <a:cs typeface="Times New Roman" pitchFamily="18" charset="0"/>
              </a:rPr>
              <a:t> </a:t>
            </a:r>
            <a:r>
              <a:rPr dirty="0" sz="1600" lang="en-US" smtClean="0">
                <a:solidFill>
                  <a:schemeClr val="tx1"/>
                </a:solidFill>
                <a:latin typeface="Times New Roman" pitchFamily="18" charset="0"/>
                <a:cs typeface="Times New Roman" pitchFamily="18" charset="0"/>
              </a:rPr>
              <a:t>significant</a:t>
            </a:r>
            <a:r>
              <a:rPr dirty="0" sz="1600" lang="en-US" smtClean="0">
                <a:solidFill>
                  <a:schemeClr val="tx1"/>
                </a:solidFill>
                <a:latin typeface="Times New Roman" pitchFamily="18" charset="0"/>
                <a:cs typeface="Times New Roman" pitchFamily="18" charset="0"/>
              </a:rPr>
              <a:t> </a:t>
            </a:r>
            <a:r>
              <a:rPr dirty="0" sz="1600" lang="en-US" smtClean="0">
                <a:solidFill>
                  <a:schemeClr val="tx1"/>
                </a:solidFill>
                <a:latin typeface="Times New Roman" pitchFamily="18" charset="0"/>
                <a:cs typeface="Times New Roman" pitchFamily="18" charset="0"/>
              </a:rPr>
              <a:t>a</a:t>
            </a:r>
            <a:r>
              <a:rPr dirty="0" sz="1600" lang="en-US" smtClean="0">
                <a:solidFill>
                  <a:schemeClr val="tx1"/>
                </a:solidFill>
                <a:latin typeface="Times New Roman" pitchFamily="18" charset="0"/>
                <a:cs typeface="Times New Roman" pitchFamily="18" charset="0"/>
              </a:rPr>
              <a:t>r</a:t>
            </a:r>
            <a:r>
              <a:rPr dirty="0" sz="1600" lang="en-US" smtClean="0">
                <a:solidFill>
                  <a:schemeClr val="tx1"/>
                </a:solidFill>
                <a:latin typeface="Times New Roman" pitchFamily="18" charset="0"/>
                <a:cs typeface="Times New Roman" pitchFamily="18" charset="0"/>
              </a:rPr>
              <a:t>c</a:t>
            </a:r>
            <a:r>
              <a:rPr dirty="0" sz="1600" lang="en-US" smtClean="0">
                <a:solidFill>
                  <a:schemeClr val="tx1"/>
                </a:solidFill>
                <a:latin typeface="Times New Roman" pitchFamily="18" charset="0"/>
                <a:cs typeface="Times New Roman" pitchFamily="18" charset="0"/>
              </a:rPr>
              <a:t>h</a:t>
            </a:r>
            <a:r>
              <a:rPr dirty="0" sz="1600" lang="en-US" smtClean="0">
                <a:solidFill>
                  <a:schemeClr val="tx1"/>
                </a:solidFill>
                <a:latin typeface="Times New Roman" pitchFamily="18" charset="0"/>
                <a:cs typeface="Times New Roman" pitchFamily="18" charset="0"/>
              </a:rPr>
              <a:t>i</a:t>
            </a:r>
            <a:r>
              <a:rPr dirty="0" sz="1600" lang="en-US" smtClean="0">
                <a:solidFill>
                  <a:schemeClr val="tx1"/>
                </a:solidFill>
                <a:latin typeface="Times New Roman" pitchFamily="18" charset="0"/>
                <a:cs typeface="Times New Roman" pitchFamily="18" charset="0"/>
              </a:rPr>
              <a:t>tecture</a:t>
            </a:r>
            <a:r>
              <a:rPr dirty="0" sz="1600" lang="en-US" smtClean="0">
                <a:solidFill>
                  <a:schemeClr val="tx1"/>
                </a:solidFill>
                <a:latin typeface="Times New Roman" pitchFamily="18" charset="0"/>
                <a:cs typeface="Times New Roman" pitchFamily="18" charset="0"/>
              </a:rPr>
              <a:t> </a:t>
            </a:r>
            <a:r>
              <a:rPr dirty="0" sz="1600" lang="en-US" smtClean="0">
                <a:solidFill>
                  <a:schemeClr val="tx1"/>
                </a:solidFill>
                <a:latin typeface="Times New Roman" pitchFamily="18" charset="0"/>
                <a:cs typeface="Times New Roman" pitchFamily="18" charset="0"/>
              </a:rPr>
              <a:t>d</a:t>
            </a:r>
            <a:r>
              <a:rPr dirty="0" sz="1600" lang="en-US" smtClean="0">
                <a:solidFill>
                  <a:schemeClr val="tx1"/>
                </a:solidFill>
                <a:latin typeface="Times New Roman" pitchFamily="18" charset="0"/>
                <a:cs typeface="Times New Roman" pitchFamily="18" charset="0"/>
              </a:rPr>
              <a:t>i</a:t>
            </a:r>
            <a:r>
              <a:rPr dirty="0" sz="1600" lang="en-US" smtClean="0">
                <a:solidFill>
                  <a:schemeClr val="tx1"/>
                </a:solidFill>
                <a:latin typeface="Times New Roman" pitchFamily="18" charset="0"/>
                <a:cs typeface="Times New Roman" pitchFamily="18" charset="0"/>
              </a:rPr>
              <a:t>f</a:t>
            </a:r>
            <a:r>
              <a:rPr dirty="0" sz="1600" lang="en-US" smtClean="0">
                <a:solidFill>
                  <a:schemeClr val="tx1"/>
                </a:solidFill>
                <a:latin typeface="Times New Roman" pitchFamily="18" charset="0"/>
                <a:cs typeface="Times New Roman" pitchFamily="18" charset="0"/>
              </a:rPr>
              <a:t>f</a:t>
            </a:r>
            <a:r>
              <a:rPr dirty="0" sz="1600" lang="en-US" smtClean="0">
                <a:solidFill>
                  <a:schemeClr val="tx1"/>
                </a:solidFill>
                <a:latin typeface="Times New Roman" pitchFamily="18" charset="0"/>
                <a:cs typeface="Times New Roman" pitchFamily="18" charset="0"/>
              </a:rPr>
              <a:t>e</a:t>
            </a:r>
            <a:r>
              <a:rPr dirty="0" sz="1600" lang="en-US" smtClean="0">
                <a:solidFill>
                  <a:schemeClr val="tx1"/>
                </a:solidFill>
                <a:latin typeface="Times New Roman" pitchFamily="18" charset="0"/>
                <a:cs typeface="Times New Roman" pitchFamily="18" charset="0"/>
              </a:rPr>
              <a:t>rences</a:t>
            </a:r>
            <a:r>
              <a:rPr dirty="0" sz="1600" lang="en-US" smtClean="0">
                <a:solidFill>
                  <a:schemeClr val="tx1"/>
                </a:solidFill>
                <a:latin typeface="Times New Roman" pitchFamily="18" charset="0"/>
                <a:cs typeface="Times New Roman" pitchFamily="18" charset="0"/>
              </a:rPr>
              <a:t>. </a:t>
            </a:r>
            <a:endParaRPr altLang="en-US" lang="zh-CN"/>
          </a:p>
          <a:p>
            <a:pPr algn="just"/>
            <a:endParaRPr dirty="0" sz="1600" lang="en-US" smtClean="0">
              <a:solidFill>
                <a:schemeClr val="tx1"/>
              </a:solidFill>
              <a:latin typeface="Times New Roman" pitchFamily="18" charset="0"/>
              <a:cs typeface="Times New Roman" pitchFamily="18" charset="0"/>
            </a:endParaRPr>
          </a:p>
          <a:p>
            <a:pPr algn="just">
              <a:buFont typeface="Wingdings" pitchFamily="2" charset="2"/>
              <a:buChar char="Ø"/>
            </a:pPr>
            <a:r>
              <a:rPr dirty="0" sz="1600" lang="en-US" smtClean="0">
                <a:solidFill>
                  <a:schemeClr val="tx1"/>
                </a:solidFill>
                <a:latin typeface="Times New Roman" pitchFamily="18" charset="0"/>
                <a:cs typeface="Times New Roman" pitchFamily="18" charset="0"/>
              </a:rPr>
              <a:t>IDSs designed for traditional IT systems have not considered the scale, heterogeneity, use cases, or device/vendor constraints that come in an </a:t>
            </a:r>
            <a:r>
              <a:rPr dirty="0" sz="1600" lang="en-US" err="1" smtClean="0">
                <a:solidFill>
                  <a:schemeClr val="tx1"/>
                </a:solidFill>
                <a:latin typeface="Times New Roman" pitchFamily="18" charset="0"/>
                <a:cs typeface="Times New Roman" pitchFamily="18" charset="0"/>
              </a:rPr>
              <a:t>IoT</a:t>
            </a:r>
            <a:r>
              <a:rPr dirty="0" sz="1600" lang="en-US" smtClean="0">
                <a:solidFill>
                  <a:schemeClr val="tx1"/>
                </a:solidFill>
                <a:latin typeface="Times New Roman" pitchFamily="18" charset="0"/>
                <a:cs typeface="Times New Roman" pitchFamily="18" charset="0"/>
              </a:rPr>
              <a:t> ecosystem</a:t>
            </a:r>
            <a:r>
              <a:rPr dirty="0" sz="1600" lang="en-US" smtClean="0">
                <a:solidFill>
                  <a:schemeClr val="tx1"/>
                </a:solidFill>
                <a:latin typeface="Times New Roman" pitchFamily="18" charset="0"/>
                <a:cs typeface="Times New Roman" pitchFamily="18" charset="0"/>
              </a:rPr>
              <a:t>.</a:t>
            </a:r>
            <a:endParaRPr altLang="en-US" lang="zh-CN"/>
          </a:p>
          <a:p>
            <a:pPr algn="just"/>
            <a:endParaRPr dirty="0" sz="1600" lang="en-US" smtClean="0">
              <a:solidFill>
                <a:schemeClr val="tx1"/>
              </a:solidFill>
              <a:latin typeface="Times New Roman" pitchFamily="18" charset="0"/>
              <a:cs typeface="Times New Roman" pitchFamily="18" charset="0"/>
            </a:endParaRPr>
          </a:p>
          <a:p>
            <a:pPr algn="just"/>
            <a:r>
              <a:rPr b="1" dirty="0" sz="2000" i="1" lang="en-US" smtClean="0">
                <a:solidFill>
                  <a:schemeClr val="tx1"/>
                </a:solidFill>
                <a:latin typeface="Times New Roman" pitchFamily="18" charset="0"/>
                <a:cs typeface="Times New Roman" pitchFamily="18" charset="0"/>
              </a:rPr>
              <a:t>IDSs for </a:t>
            </a:r>
            <a:r>
              <a:rPr b="1" dirty="0" sz="2000" i="1" lang="en-US" err="1" smtClean="0">
                <a:solidFill>
                  <a:schemeClr val="tx1"/>
                </a:solidFill>
                <a:latin typeface="Times New Roman" pitchFamily="18" charset="0"/>
                <a:cs typeface="Times New Roman" pitchFamily="18" charset="0"/>
              </a:rPr>
              <a:t>IoT</a:t>
            </a:r>
            <a:endParaRPr b="1" dirty="0" sz="2000" i="1" lang="en-US" smtClean="0">
              <a:solidFill>
                <a:schemeClr val="tx1"/>
              </a:solidFill>
              <a:latin typeface="Times New Roman" pitchFamily="18" charset="0"/>
              <a:cs typeface="Times New Roman" pitchFamily="18" charset="0"/>
            </a:endParaRPr>
          </a:p>
          <a:p>
            <a:pPr algn="just"/>
            <a:endParaRPr dirty="0" sz="1600" lang="en-US" smtClean="0">
              <a:solidFill>
                <a:schemeClr val="tx1"/>
              </a:solidFill>
              <a:latin typeface="Times New Roman" pitchFamily="18" charset="0"/>
              <a:cs typeface="Times New Roman" pitchFamily="18" charset="0"/>
            </a:endParaRPr>
          </a:p>
          <a:p>
            <a:pPr algn="just">
              <a:buFont typeface="Wingdings" pitchFamily="2" charset="2"/>
              <a:buChar char="Ø"/>
            </a:pPr>
            <a:r>
              <a:rPr dirty="0" sz="1600" lang="en-US" smtClean="0">
                <a:solidFill>
                  <a:schemeClr val="tx1"/>
                </a:solidFill>
                <a:latin typeface="Times New Roman" pitchFamily="18" charset="0"/>
                <a:cs typeface="Times New Roman" pitchFamily="18" charset="0"/>
              </a:rPr>
              <a:t> All the existing IDSs come with limitations such as they only address </a:t>
            </a:r>
            <a:r>
              <a:rPr dirty="0" sz="1600" lang="en-US" err="1" smtClean="0">
                <a:solidFill>
                  <a:schemeClr val="tx1"/>
                </a:solidFill>
                <a:latin typeface="Times New Roman" pitchFamily="18" charset="0"/>
                <a:cs typeface="Times New Roman" pitchFamily="18" charset="0"/>
              </a:rPr>
              <a:t>speciﬁc</a:t>
            </a:r>
            <a:r>
              <a:rPr dirty="0" sz="1600" lang="en-US" smtClean="0">
                <a:solidFill>
                  <a:schemeClr val="tx1"/>
                </a:solidFill>
                <a:latin typeface="Times New Roman" pitchFamily="18" charset="0"/>
                <a:cs typeface="Times New Roman" pitchFamily="18" charset="0"/>
              </a:rPr>
              <a:t> attacks, they are rule-based and as a result they are not adaptable, or they are based on simulations and have not been validated against a real </a:t>
            </a:r>
            <a:r>
              <a:rPr dirty="0" sz="1600" lang="en-US" err="1" smtClean="0">
                <a:solidFill>
                  <a:schemeClr val="tx1"/>
                </a:solidFill>
                <a:latin typeface="Times New Roman" pitchFamily="18" charset="0"/>
                <a:cs typeface="Times New Roman" pitchFamily="18" charset="0"/>
              </a:rPr>
              <a:t>IoT</a:t>
            </a:r>
            <a:r>
              <a:rPr dirty="0" sz="1600" lang="en-US" smtClean="0">
                <a:solidFill>
                  <a:schemeClr val="tx1"/>
                </a:solidFill>
                <a:latin typeface="Times New Roman" pitchFamily="18" charset="0"/>
                <a:cs typeface="Times New Roman" pitchFamily="18" charset="0"/>
              </a:rPr>
              <a:t> environment.</a:t>
            </a:r>
          </a:p>
          <a:p>
            <a:pPr algn="just">
              <a:buFont typeface="Wingdings" pitchFamily="2" charset="2"/>
              <a:buChar char="Ø"/>
            </a:pPr>
            <a:endParaRPr dirty="0" sz="1600" lang="en-US" smtClean="0">
              <a:solidFill>
                <a:schemeClr val="tx1"/>
              </a:solidFill>
              <a:latin typeface="Times New Roman" pitchFamily="18" charset="0"/>
              <a:cs typeface="Times New Roman" pitchFamily="18" charset="0"/>
            </a:endParaRPr>
          </a:p>
          <a:p>
            <a:pPr algn="just">
              <a:buFont typeface="Wingdings" pitchFamily="2" charset="2"/>
              <a:buChar char="Ø"/>
            </a:pPr>
            <a:endParaRPr dirty="0" sz="1600" lang="en-US" smtClean="0">
              <a:solidFill>
                <a:schemeClr val="tx1"/>
              </a:solidFill>
              <a:latin typeface="Times New Roman" pitchFamily="18" charset="0"/>
              <a:cs typeface="Times New Roman" pitchFamily="18" charset="0"/>
            </a:endParaRPr>
          </a:p>
          <a:p>
            <a:pPr algn="just"/>
            <a:endParaRPr dirty="0" sz="1600" lang="en-US" smtClean="0">
              <a:solidFill>
                <a:schemeClr val="tx1"/>
              </a:solidFill>
              <a:latin typeface="Times New Roman" pitchFamily="18" charset="0"/>
              <a:cs typeface="Times New Roman" pitchFamily="18" charset="0"/>
            </a:endParaRPr>
          </a:p>
          <a:p>
            <a:pPr algn="just">
              <a:buFont typeface="Wingdings" pitchFamily="2" charset="2"/>
              <a:buChar char="Ø"/>
            </a:pPr>
            <a:endParaRPr dirty="0" sz="1600" lang="en-US" smtClean="0">
              <a:solidFill>
                <a:schemeClr val="tx1"/>
              </a:solidFill>
              <a:latin typeface="Times New Roman" pitchFamily="18" charset="0"/>
              <a:cs typeface="Times New Roman" pitchFamily="18" charset="0"/>
            </a:endParaRPr>
          </a:p>
          <a:p>
            <a:pPr algn="just">
              <a:buFont typeface="Wingdings" pitchFamily="2" charset="2"/>
              <a:buChar char="Ø"/>
            </a:pPr>
            <a:endParaRPr dirty="0" sz="1600" lang="en-US" smtClean="0">
              <a:solidFill>
                <a:schemeClr val="tx1"/>
              </a:solidFill>
              <a:latin typeface="Times New Roman" pitchFamily="18" charset="0"/>
              <a:cs typeface="Times New Roman" pitchFamily="18" charset="0"/>
            </a:endParaRPr>
          </a:p>
          <a:p>
            <a:pPr algn="just"/>
            <a:endParaRPr dirty="0" sz="1600" lang="en-US" smtClean="0">
              <a:solidFill>
                <a:schemeClr val="tx1"/>
              </a:solidFill>
              <a:latin typeface="Times New Roman" pitchFamily="18" charset="0"/>
              <a:cs typeface="Times New Roman" pitchFamily="18" charset="0"/>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4" presetSubtype="16">
                                  <p:stCondLst>
                                    <p:cond delay="0"/>
                                  </p:stCondLst>
                                  <p:childTnLst>
                                    <p:set>
                                      <p:cBhvr>
                                        <p:cTn dur="1" fill="hold" id="6">
                                          <p:stCondLst>
                                            <p:cond delay="0"/>
                                          </p:stCondLst>
                                        </p:cTn>
                                        <p:tgtEl>
                                          <p:spTgt spid="1048618">
                                            <p:txEl>
                                              <p:pRg st="2" end="2"/>
                                            </p:txEl>
                                          </p:spTgt>
                                        </p:tgtEl>
                                        <p:attrNameLst>
                                          <p:attrName>style.visibility</p:attrName>
                                        </p:attrNameLst>
                                      </p:cBhvr>
                                      <p:to>
                                        <p:strVal val="visible"/>
                                      </p:to>
                                    </p:set>
                                    <p:animEffect transition="in" filter="box(in)">
                                      <p:cBhvr>
                                        <p:cTn dur="500" id="7"/>
                                        <p:tgtEl>
                                          <p:spTgt spid="1048618">
                                            <p:txEl>
                                              <p:pRg st="2" end="2"/>
                                            </p:txEl>
                                          </p:spTgt>
                                        </p:tgtEl>
                                      </p:cBhvr>
                                    </p:animEffect>
                                  </p:childTnLst>
                                </p:cTn>
                              </p:par>
                              <p:par>
                                <p:cTn fill="hold" id="8" nodeType="withEffect" presetClass="entr" presetID="4" presetSubtype="16">
                                  <p:stCondLst>
                                    <p:cond delay="0"/>
                                  </p:stCondLst>
                                  <p:childTnLst>
                                    <p:set>
                                      <p:cBhvr>
                                        <p:cTn dur="1" fill="hold" id="9">
                                          <p:stCondLst>
                                            <p:cond delay="0"/>
                                          </p:stCondLst>
                                        </p:cTn>
                                        <p:tgtEl>
                                          <p:spTgt spid="1048618">
                                            <p:txEl>
                                              <p:pRg st="4" end="4"/>
                                            </p:txEl>
                                          </p:spTgt>
                                        </p:tgtEl>
                                        <p:attrNameLst>
                                          <p:attrName>style.visibility</p:attrName>
                                        </p:attrNameLst>
                                      </p:cBhvr>
                                      <p:to>
                                        <p:strVal val="visible"/>
                                      </p:to>
                                    </p:set>
                                    <p:animEffect transition="in" filter="box(in)">
                                      <p:cBhvr>
                                        <p:cTn dur="500" id="10"/>
                                        <p:tgtEl>
                                          <p:spTgt spid="1048618">
                                            <p:txEl>
                                              <p:pRg st="4" end="4"/>
                                            </p:txEl>
                                          </p:spTgt>
                                        </p:tgtEl>
                                      </p:cBhvr>
                                    </p:animEffec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4" presetSubtype="16">
                                  <p:stCondLst>
                                    <p:cond delay="0"/>
                                  </p:stCondLst>
                                  <p:childTnLst>
                                    <p:set>
                                      <p:cBhvr>
                                        <p:cTn dur="1" fill="hold" id="14">
                                          <p:stCondLst>
                                            <p:cond delay="0"/>
                                          </p:stCondLst>
                                        </p:cTn>
                                        <p:tgtEl>
                                          <p:spTgt spid="1048618">
                                            <p:txEl>
                                              <p:pRg st="6" end="6"/>
                                            </p:txEl>
                                          </p:spTgt>
                                        </p:tgtEl>
                                        <p:attrNameLst>
                                          <p:attrName>style.visibility</p:attrName>
                                        </p:attrNameLst>
                                      </p:cBhvr>
                                      <p:to>
                                        <p:strVal val="visible"/>
                                      </p:to>
                                    </p:set>
                                    <p:animEffect transition="in" filter="box(in)">
                                      <p:cBhvr>
                                        <p:cTn dur="500" id="15"/>
                                        <p:tgtEl>
                                          <p:spTgt spid="1048618">
                                            <p:txEl>
                                              <p:pRg st="6" end="6"/>
                                            </p:txEl>
                                          </p:spTgt>
                                        </p:tgtEl>
                                      </p:cBhvr>
                                    </p:animEffect>
                                  </p:childTnLst>
                                </p:cTn>
                              </p:par>
                              <p:par>
                                <p:cTn fill="hold" id="16" nodeType="withEffect" presetClass="entr" presetID="4" presetSubtype="16">
                                  <p:stCondLst>
                                    <p:cond delay="0"/>
                                  </p:stCondLst>
                                  <p:childTnLst>
                                    <p:set>
                                      <p:cBhvr>
                                        <p:cTn dur="1" fill="hold" id="17">
                                          <p:stCondLst>
                                            <p:cond delay="0"/>
                                          </p:stCondLst>
                                        </p:cTn>
                                        <p:tgtEl>
                                          <p:spTgt spid="1048618">
                                            <p:txEl>
                                              <p:pRg st="8" end="8"/>
                                            </p:txEl>
                                          </p:spTgt>
                                        </p:tgtEl>
                                        <p:attrNameLst>
                                          <p:attrName>style.visibility</p:attrName>
                                        </p:attrNameLst>
                                      </p:cBhvr>
                                      <p:to>
                                        <p:strVal val="visible"/>
                                      </p:to>
                                    </p:set>
                                    <p:animEffect transition="in" filter="box(in)">
                                      <p:cBhvr>
                                        <p:cTn dur="500" id="18"/>
                                        <p:tgtEl>
                                          <p:spTgt spid="104861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9" name="Title 1"/>
          <p:cNvSpPr>
            <a:spLocks noGrp="1"/>
          </p:cNvSpPr>
          <p:nvPr>
            <p:ph type="ctrTitle"/>
          </p:nvPr>
        </p:nvSpPr>
        <p:spPr>
          <a:xfrm>
            <a:off x="228600" y="381000"/>
            <a:ext cx="8229600" cy="609600"/>
          </a:xfrm>
        </p:spPr>
        <p:txBody>
          <a:bodyPr>
            <a:normAutofit fontScale="90000"/>
          </a:bodyPr>
          <a:p>
            <a:pPr algn="l"/>
            <a:r>
              <a:rPr b="1" dirty="0" lang="en-US" u="sng" smtClean="0">
                <a:solidFill>
                  <a:schemeClr val="tx1"/>
                </a:solidFill>
              </a:rPr>
              <a:t>Cyber </a:t>
            </a:r>
            <a:r>
              <a:rPr b="1" dirty="0" sz="4000" lang="en-US" u="sng" smtClean="0">
                <a:solidFill>
                  <a:schemeClr val="tx1"/>
                </a:solidFill>
              </a:rPr>
              <a:t>Attacks</a:t>
            </a:r>
            <a:r>
              <a:rPr b="1" dirty="0" lang="en-US" u="sng" smtClean="0">
                <a:solidFill>
                  <a:schemeClr val="tx1"/>
                </a:solidFill>
              </a:rPr>
              <a:t> in IOT Ecosystems</a:t>
            </a:r>
            <a:endParaRPr b="1" dirty="0" lang="en-US" u="sng">
              <a:solidFill>
                <a:schemeClr val="tx1"/>
              </a:solidFill>
            </a:endParaRPr>
          </a:p>
        </p:txBody>
      </p:sp>
      <p:pic>
        <p:nvPicPr>
          <p:cNvPr id="2097157" name="Picture 5" descr="See the source image"/>
          <p:cNvPicPr>
            <a:picLocks noChangeAspect="1" noChangeArrowheads="1"/>
          </p:cNvPicPr>
          <p:nvPr/>
        </p:nvPicPr>
        <p:blipFill>
          <a:blip xmlns:r="http://schemas.openxmlformats.org/officeDocument/2006/relationships" r:embed="rId1" cstate="print"/>
          <a:srcRect/>
          <a:stretch>
            <a:fillRect/>
          </a:stretch>
        </p:blipFill>
        <p:spPr bwMode="auto">
          <a:xfrm>
            <a:off x="4572000" y="4114800"/>
            <a:ext cx="4419600" cy="2209800"/>
          </a:xfrm>
          <a:prstGeom prst="rect"/>
          <a:noFill/>
        </p:spPr>
      </p:pic>
      <p:sp>
        <p:nvSpPr>
          <p:cNvPr id="1048620" name="Rectangle 11"/>
          <p:cNvSpPr/>
          <p:nvPr/>
        </p:nvSpPr>
        <p:spPr>
          <a:xfrm>
            <a:off x="228600" y="1295400"/>
            <a:ext cx="4191000" cy="914400"/>
          </a:xfrm>
          <a:prstGeom prst="rect"/>
        </p:spPr>
        <p:style>
          <a:lnRef idx="2">
            <a:schemeClr val="accent1"/>
          </a:lnRef>
          <a:fillRef idx="1">
            <a:schemeClr val="lt1"/>
          </a:fillRef>
          <a:effectRef idx="0">
            <a:schemeClr val="accent1"/>
          </a:effectRef>
          <a:fontRef idx="minor">
            <a:schemeClr val="dk1"/>
          </a:fontRef>
        </p:style>
        <p:txBody>
          <a:bodyPr anchor="ctr" rtlCol="0"/>
          <a:p>
            <a:r>
              <a:rPr dirty="0" lang="en-US" smtClean="0">
                <a:solidFill>
                  <a:schemeClr val="tx1"/>
                </a:solidFill>
                <a:latin typeface="Times New Roman" pitchFamily="18" charset="0"/>
                <a:cs typeface="Times New Roman" pitchFamily="18" charset="0"/>
              </a:rPr>
              <a:t>During Denial of Service attack, the devices/resources are no longer available to legitimate users.</a:t>
            </a:r>
            <a:endParaRPr dirty="0" lang="en-US">
              <a:latin typeface="Times New Roman" pitchFamily="18" charset="0"/>
              <a:cs typeface="Times New Roman" pitchFamily="18" charset="0"/>
            </a:endParaRPr>
          </a:p>
        </p:txBody>
      </p:sp>
      <p:sp>
        <p:nvSpPr>
          <p:cNvPr id="1048621" name="Rectangle 13"/>
          <p:cNvSpPr/>
          <p:nvPr/>
        </p:nvSpPr>
        <p:spPr>
          <a:xfrm>
            <a:off x="228600" y="3657600"/>
            <a:ext cx="4267200" cy="1066800"/>
          </a:xfrm>
          <a:prstGeom prst="rect"/>
        </p:spPr>
        <p:style>
          <a:lnRef idx="2">
            <a:schemeClr val="accent1"/>
          </a:lnRef>
          <a:fillRef idx="1">
            <a:schemeClr val="lt1"/>
          </a:fillRef>
          <a:effectRef idx="0">
            <a:schemeClr val="accent1"/>
          </a:effectRef>
          <a:fontRef idx="minor">
            <a:schemeClr val="dk1"/>
          </a:fontRef>
        </p:style>
        <p:txBody>
          <a:bodyPr anchor="ctr" rtlCol="0"/>
          <a:p>
            <a:r>
              <a:rPr dirty="0" lang="en-US" smtClean="0">
                <a:solidFill>
                  <a:schemeClr val="tx1"/>
                </a:solidFill>
                <a:latin typeface="Times New Roman" pitchFamily="18" charset="0"/>
                <a:cs typeface="Times New Roman" pitchFamily="18" charset="0"/>
              </a:rPr>
              <a:t>In Hello Flood Attack an </a:t>
            </a:r>
            <a:r>
              <a:rPr dirty="0" lang="en-US" err="1" smtClean="0">
                <a:solidFill>
                  <a:schemeClr val="tx1"/>
                </a:solidFill>
                <a:latin typeface="Times New Roman" pitchFamily="18" charset="0"/>
                <a:cs typeface="Times New Roman" pitchFamily="18" charset="0"/>
              </a:rPr>
              <a:t>IoT</a:t>
            </a:r>
            <a:r>
              <a:rPr dirty="0" lang="en-US" smtClean="0">
                <a:solidFill>
                  <a:schemeClr val="tx1"/>
                </a:solidFill>
                <a:latin typeface="Times New Roman" pitchFamily="18" charset="0"/>
                <a:cs typeface="Times New Roman" pitchFamily="18" charset="0"/>
              </a:rPr>
              <a:t> network, a routing protocol broadcasts a hello message in order to declare its presence to its </a:t>
            </a:r>
            <a:r>
              <a:rPr dirty="0" lang="en-US" err="1" smtClean="0">
                <a:solidFill>
                  <a:schemeClr val="tx1"/>
                </a:solidFill>
                <a:latin typeface="Times New Roman" pitchFamily="18" charset="0"/>
                <a:cs typeface="Times New Roman" pitchFamily="18" charset="0"/>
              </a:rPr>
              <a:t>neighbour</a:t>
            </a:r>
            <a:r>
              <a:rPr dirty="0" lang="en-US" smtClean="0">
                <a:solidFill>
                  <a:schemeClr val="tx1"/>
                </a:solidFill>
                <a:latin typeface="Times New Roman" pitchFamily="18" charset="0"/>
                <a:cs typeface="Times New Roman" pitchFamily="18" charset="0"/>
              </a:rPr>
              <a:t> nodes.</a:t>
            </a:r>
            <a:endParaRPr dirty="0" lang="en-US">
              <a:latin typeface="Times New Roman" pitchFamily="18" charset="0"/>
              <a:cs typeface="Times New Roman" pitchFamily="18" charset="0"/>
            </a:endParaRPr>
          </a:p>
        </p:txBody>
      </p:sp>
      <p:pic>
        <p:nvPicPr>
          <p:cNvPr id="2097158" name="Picture 7" descr="See the source image"/>
          <p:cNvPicPr>
            <a:picLocks noChangeAspect="1" noChangeArrowheads="1"/>
          </p:cNvPicPr>
          <p:nvPr/>
        </p:nvPicPr>
        <p:blipFill>
          <a:blip xmlns:r="http://schemas.openxmlformats.org/officeDocument/2006/relationships" r:embed="rId2" cstate="print"/>
          <a:srcRect/>
          <a:stretch>
            <a:fillRect/>
          </a:stretch>
        </p:blipFill>
        <p:spPr bwMode="auto">
          <a:xfrm>
            <a:off x="4648200" y="1447800"/>
            <a:ext cx="4305012" cy="2029408"/>
          </a:xfrm>
          <a:prstGeom prst="rect"/>
          <a:noFill/>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grpId="0" id="5" nodeType="withEffect" presetClass="entr" presetID="4" presetSubtype="16">
                                  <p:stCondLst>
                                    <p:cond delay="0"/>
                                  </p:stCondLst>
                                  <p:childTnLst>
                                    <p:set>
                                      <p:cBhvr>
                                        <p:cTn dur="1" fill="hold" id="6">
                                          <p:stCondLst>
                                            <p:cond delay="0"/>
                                          </p:stCondLst>
                                        </p:cTn>
                                        <p:tgtEl>
                                          <p:spTgt spid="1048620"/>
                                        </p:tgtEl>
                                        <p:attrNameLst>
                                          <p:attrName>style.visibility</p:attrName>
                                        </p:attrNameLst>
                                      </p:cBhvr>
                                      <p:to>
                                        <p:strVal val="visible"/>
                                      </p:to>
                                    </p:set>
                                    <p:animEffect transition="in" filter="box(in)">
                                      <p:cBhvr>
                                        <p:cTn dur="500" id="7"/>
                                        <p:tgtEl>
                                          <p:spTgt spid="1048620"/>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2" presetSubtype="2">
                                  <p:stCondLst>
                                    <p:cond delay="0"/>
                                  </p:stCondLst>
                                  <p:childTnLst>
                                    <p:set>
                                      <p:cBhvr>
                                        <p:cTn dur="1" fill="hold" id="11">
                                          <p:stCondLst>
                                            <p:cond delay="0"/>
                                          </p:stCondLst>
                                        </p:cTn>
                                        <p:tgtEl>
                                          <p:spTgt spid="2097158"/>
                                        </p:tgtEl>
                                        <p:attrNameLst>
                                          <p:attrName>style.visibility</p:attrName>
                                        </p:attrNameLst>
                                      </p:cBhvr>
                                      <p:to>
                                        <p:strVal val="visible"/>
                                      </p:to>
                                    </p:set>
                                    <p:anim calcmode="lin" valueType="num">
                                      <p:cBhvr additive="base">
                                        <p:cTn dur="500" fill="hold" id="12"/>
                                        <p:tgtEl>
                                          <p:spTgt spid="2097158"/>
                                        </p:tgtEl>
                                        <p:attrNameLst>
                                          <p:attrName>ppt_x</p:attrName>
                                        </p:attrNameLst>
                                      </p:cBhvr>
                                      <p:tavLst>
                                        <p:tav tm="0">
                                          <p:val>
                                            <p:strVal val="1+#ppt_w/2"/>
                                          </p:val>
                                        </p:tav>
                                        <p:tav tm="100000">
                                          <p:val>
                                            <p:strVal val="#ppt_x"/>
                                          </p:val>
                                        </p:tav>
                                      </p:tavLst>
                                    </p:anim>
                                    <p:anim calcmode="lin" valueType="num">
                                      <p:cBhvr additive="base">
                                        <p:cTn dur="500" fill="hold" id="13"/>
                                        <p:tgtEl>
                                          <p:spTgt spid="2097158"/>
                                        </p:tgtEl>
                                        <p:attrNameLst>
                                          <p:attrName>ppt_y</p:attrName>
                                        </p:attrNameLst>
                                      </p:cBhvr>
                                      <p:tavLst>
                                        <p:tav tm="0">
                                          <p:val>
                                            <p:strVal val="#ppt_y"/>
                                          </p:val>
                                        </p:tav>
                                        <p:tav tm="100000">
                                          <p:val>
                                            <p:strVal val="#ppt_y"/>
                                          </p:val>
                                        </p:tav>
                                      </p:tavLst>
                                    </p:anim>
                                  </p:childTnLst>
                                </p:cTn>
                              </p:par>
                            </p:childTnLst>
                          </p:cTn>
                        </p:par>
                      </p:childTnLst>
                    </p:cTn>
                  </p:par>
                  <p:par>
                    <p:cTn fill="hold" id="14">
                      <p:stCondLst>
                        <p:cond delay="indefinite"/>
                      </p:stCondLst>
                      <p:childTnLst>
                        <p:par>
                          <p:cTn fill="hold" id="15">
                            <p:stCondLst>
                              <p:cond delay="0"/>
                            </p:stCondLst>
                            <p:childTnLst>
                              <p:par>
                                <p:cTn fill="hold" grpId="0" id="16" nodeType="clickEffect" presetClass="entr" presetID="4" presetSubtype="16">
                                  <p:stCondLst>
                                    <p:cond delay="0"/>
                                  </p:stCondLst>
                                  <p:childTnLst>
                                    <p:set>
                                      <p:cBhvr>
                                        <p:cTn dur="1" fill="hold" id="17">
                                          <p:stCondLst>
                                            <p:cond delay="0"/>
                                          </p:stCondLst>
                                        </p:cTn>
                                        <p:tgtEl>
                                          <p:spTgt spid="1048621"/>
                                        </p:tgtEl>
                                        <p:attrNameLst>
                                          <p:attrName>style.visibility</p:attrName>
                                        </p:attrNameLst>
                                      </p:cBhvr>
                                      <p:to>
                                        <p:strVal val="visible"/>
                                      </p:to>
                                    </p:set>
                                    <p:animEffect transition="in" filter="box(in)">
                                      <p:cBhvr>
                                        <p:cTn dur="500" id="18"/>
                                        <p:tgtEl>
                                          <p:spTgt spid="1048621"/>
                                        </p:tgtEl>
                                      </p:cBhvr>
                                    </p:animEffec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2" presetSubtype="2">
                                  <p:stCondLst>
                                    <p:cond delay="0"/>
                                  </p:stCondLst>
                                  <p:childTnLst>
                                    <p:set>
                                      <p:cBhvr>
                                        <p:cTn dur="1" fill="hold" id="22">
                                          <p:stCondLst>
                                            <p:cond delay="0"/>
                                          </p:stCondLst>
                                        </p:cTn>
                                        <p:tgtEl>
                                          <p:spTgt spid="2097157"/>
                                        </p:tgtEl>
                                        <p:attrNameLst>
                                          <p:attrName>style.visibility</p:attrName>
                                        </p:attrNameLst>
                                      </p:cBhvr>
                                      <p:to>
                                        <p:strVal val="visible"/>
                                      </p:to>
                                    </p:set>
                                    <p:anim calcmode="lin" valueType="num">
                                      <p:cBhvr additive="base">
                                        <p:cTn dur="500" fill="hold" id="23"/>
                                        <p:tgtEl>
                                          <p:spTgt spid="2097157"/>
                                        </p:tgtEl>
                                        <p:attrNameLst>
                                          <p:attrName>ppt_x</p:attrName>
                                        </p:attrNameLst>
                                      </p:cBhvr>
                                      <p:tavLst>
                                        <p:tav tm="0">
                                          <p:val>
                                            <p:strVal val="1+#ppt_w/2"/>
                                          </p:val>
                                        </p:tav>
                                        <p:tav tm="100000">
                                          <p:val>
                                            <p:strVal val="#ppt_x"/>
                                          </p:val>
                                        </p:tav>
                                      </p:tavLst>
                                    </p:anim>
                                    <p:anim calcmode="lin" valueType="num">
                                      <p:cBhvr additive="base">
                                        <p:cTn dur="500" fill="hold" id="24"/>
                                        <p:tgtEl>
                                          <p:spTgt spid="20971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0" grpId="0" animBg="1"/>
      <p:bldP spid="10486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pic>
        <p:nvPicPr>
          <p:cNvPr id="2097159" name="Picture 15" descr="See the source image"/>
          <p:cNvPicPr>
            <a:picLocks noChangeAspect="1" noChangeArrowheads="1"/>
          </p:cNvPicPr>
          <p:nvPr/>
        </p:nvPicPr>
        <p:blipFill>
          <a:blip xmlns:r="http://schemas.openxmlformats.org/officeDocument/2006/relationships" r:embed="rId1" cstate="print"/>
          <a:srcRect/>
          <a:stretch>
            <a:fillRect/>
          </a:stretch>
        </p:blipFill>
        <p:spPr bwMode="auto">
          <a:xfrm>
            <a:off x="4495800" y="1371600"/>
            <a:ext cx="4191000" cy="2505076"/>
          </a:xfrm>
          <a:prstGeom prst="rect"/>
          <a:noFill/>
        </p:spPr>
      </p:pic>
      <p:pic>
        <p:nvPicPr>
          <p:cNvPr id="2097160" name="Picture 11" descr="See the source image"/>
          <p:cNvPicPr>
            <a:picLocks noChangeAspect="1" noChangeArrowheads="1"/>
          </p:cNvPicPr>
          <p:nvPr/>
        </p:nvPicPr>
        <p:blipFill>
          <a:blip xmlns:r="http://schemas.openxmlformats.org/officeDocument/2006/relationships" r:embed="rId2" cstate="print"/>
          <a:srcRect/>
          <a:stretch>
            <a:fillRect/>
          </a:stretch>
        </p:blipFill>
        <p:spPr bwMode="auto">
          <a:xfrm>
            <a:off x="4572000" y="4343400"/>
            <a:ext cx="4343400" cy="1981200"/>
          </a:xfrm>
          <a:prstGeom prst="rect"/>
          <a:noFill/>
        </p:spPr>
      </p:pic>
      <p:sp>
        <p:nvSpPr>
          <p:cNvPr id="1048622" name="Rectangle 4"/>
          <p:cNvSpPr/>
          <p:nvPr/>
        </p:nvSpPr>
        <p:spPr>
          <a:xfrm>
            <a:off x="228600" y="1600200"/>
            <a:ext cx="4419600" cy="914400"/>
          </a:xfrm>
          <a:prstGeom prst="rect"/>
        </p:spPr>
        <p:style>
          <a:lnRef idx="2">
            <a:schemeClr val="accent1"/>
          </a:lnRef>
          <a:fillRef idx="1">
            <a:schemeClr val="lt1"/>
          </a:fillRef>
          <a:effectRef idx="0">
            <a:schemeClr val="accent1"/>
          </a:effectRef>
          <a:fontRef idx="minor">
            <a:schemeClr val="dk1"/>
          </a:fontRef>
        </p:style>
        <p:txBody>
          <a:bodyPr anchor="ctr" rtlCol="0"/>
          <a:p>
            <a:r>
              <a:rPr dirty="0" lang="en-US" smtClean="0">
                <a:solidFill>
                  <a:schemeClr val="tx1"/>
                </a:solidFill>
              </a:rPr>
              <a:t>During Sinkhole Attack </a:t>
            </a:r>
            <a:r>
              <a:rPr dirty="0" lang="en-US" err="1" smtClean="0">
                <a:solidFill>
                  <a:schemeClr val="tx1"/>
                </a:solidFill>
              </a:rPr>
              <a:t>attack</a:t>
            </a:r>
            <a:r>
              <a:rPr dirty="0" lang="en-US" smtClean="0">
                <a:solidFill>
                  <a:schemeClr val="tx1"/>
                </a:solidFill>
              </a:rPr>
              <a:t>, a malicious </a:t>
            </a:r>
            <a:r>
              <a:rPr dirty="0" lang="en-US" err="1" smtClean="0">
                <a:solidFill>
                  <a:schemeClr val="tx1"/>
                </a:solidFill>
              </a:rPr>
              <a:t>IoT</a:t>
            </a:r>
            <a:r>
              <a:rPr dirty="0" lang="en-US" smtClean="0">
                <a:solidFill>
                  <a:schemeClr val="tx1"/>
                </a:solidFill>
              </a:rPr>
              <a:t> node will </a:t>
            </a:r>
            <a:r>
              <a:rPr dirty="0" lang="en-US" smtClean="0">
                <a:solidFill>
                  <a:schemeClr val="tx1"/>
                </a:solidFill>
                <a:latin typeface="Times New Roman" pitchFamily="18" charset="0"/>
                <a:cs typeface="Times New Roman" pitchFamily="18" charset="0"/>
              </a:rPr>
              <a:t>attempt</a:t>
            </a:r>
            <a:r>
              <a:rPr dirty="0" lang="en-US" smtClean="0">
                <a:solidFill>
                  <a:schemeClr val="tx1"/>
                </a:solidFill>
              </a:rPr>
              <a:t> to attract all the network </a:t>
            </a:r>
            <a:r>
              <a:rPr dirty="0" lang="en-US" err="1" smtClean="0">
                <a:solidFill>
                  <a:schemeClr val="tx1"/>
                </a:solidFill>
              </a:rPr>
              <a:t>trafﬁc</a:t>
            </a:r>
            <a:r>
              <a:rPr dirty="0" lang="en-US" smtClean="0">
                <a:solidFill>
                  <a:schemeClr val="tx1"/>
                </a:solidFill>
              </a:rPr>
              <a:t> from its </a:t>
            </a:r>
            <a:r>
              <a:rPr dirty="0" lang="en-US" err="1" smtClean="0">
                <a:solidFill>
                  <a:schemeClr val="tx1"/>
                </a:solidFill>
              </a:rPr>
              <a:t>neighbour</a:t>
            </a:r>
            <a:r>
              <a:rPr dirty="0" lang="en-US" smtClean="0">
                <a:solidFill>
                  <a:schemeClr val="tx1"/>
                </a:solidFill>
              </a:rPr>
              <a:t> nodes towards it.</a:t>
            </a:r>
            <a:endParaRPr dirty="0" lang="en-US"/>
          </a:p>
        </p:txBody>
      </p:sp>
      <p:sp>
        <p:nvSpPr>
          <p:cNvPr id="1048623" name="Rectangle 6"/>
          <p:cNvSpPr/>
          <p:nvPr/>
        </p:nvSpPr>
        <p:spPr>
          <a:xfrm>
            <a:off x="228600" y="3810000"/>
            <a:ext cx="4419600" cy="1066800"/>
          </a:xfrm>
          <a:prstGeom prst="rect"/>
        </p:spPr>
        <p:style>
          <a:lnRef idx="2">
            <a:schemeClr val="accent1"/>
          </a:lnRef>
          <a:fillRef idx="1">
            <a:schemeClr val="lt1"/>
          </a:fillRef>
          <a:effectRef idx="0">
            <a:schemeClr val="accent1"/>
          </a:effectRef>
          <a:fontRef idx="minor">
            <a:schemeClr val="dk1"/>
          </a:fontRef>
        </p:style>
        <p:txBody>
          <a:bodyPr anchor="ctr" rtlCol="0"/>
          <a:p>
            <a:r>
              <a:rPr dirty="0" lang="en-US" smtClean="0">
                <a:solidFill>
                  <a:schemeClr val="tx1"/>
                </a:solidFill>
                <a:latin typeface="Times New Roman" pitchFamily="18" charset="0"/>
                <a:cs typeface="Times New Roman" pitchFamily="18" charset="0"/>
              </a:rPr>
              <a:t>During Sybil attack, a node appears to have multiple identities. The routing protocol, the detection algorithm, and co-operation process can be attacked by this malicious node.</a:t>
            </a:r>
            <a:endParaRPr dirty="0" lang="en-US">
              <a:latin typeface="Times New Roman" pitchFamily="18" charset="0"/>
              <a:cs typeface="Times New Roman" pitchFamily="18" charset="0"/>
            </a:endParaRPr>
          </a:p>
        </p:txBody>
      </p:sp>
      <p:sp>
        <p:nvSpPr>
          <p:cNvPr id="1048624" name="Title 1"/>
          <p:cNvSpPr txBox="1"/>
          <p:nvPr/>
        </p:nvSpPr>
        <p:spPr>
          <a:xfrm>
            <a:off x="304800" y="381000"/>
            <a:ext cx="8229600" cy="609600"/>
          </a:xfrm>
          <a:prstGeom prst="rect"/>
        </p:spPr>
        <p:txBody>
          <a:bodyPr anchor="ctr" bIns="45720" lIns="91440" rIns="91440" rtlCol="0" tIns="45720" vert="horz">
            <a:normAutofit fontScale="79545" lnSpcReduction="10000"/>
          </a:bodyPr>
          <a:p>
            <a:pPr algn="l" defTabSz="914400" eaLnBrk="1" fontAlgn="auto" hangingPunct="1" indent="0" latinLnBrk="0" lvl="0" marL="0" marR="0" rtl="0">
              <a:lnSpc>
                <a:spcPct val="100000"/>
              </a:lnSpc>
              <a:spcBef>
                <a:spcPct val="0"/>
              </a:spcBef>
              <a:spcAft>
                <a:spcPts val="0"/>
              </a:spcAft>
              <a:buClrTx/>
              <a:buSzTx/>
              <a:buFontTx/>
              <a:buNone/>
            </a:pPr>
            <a:r>
              <a:rPr baseline="0" b="1" cap="none" dirty="0" sz="4400" i="0" kern="1200" kumimoji="0" lang="en-US" noProof="0" normalizeH="0" spc="0" strike="noStrike" u="sng" smtClean="0">
                <a:ln>
                  <a:noFill/>
                </a:ln>
                <a:solidFill>
                  <a:schemeClr val="tx1"/>
                </a:solidFill>
                <a:effectLst/>
                <a:uLnTx/>
                <a:uFillTx/>
                <a:latin typeface="+mj-lt"/>
                <a:ea typeface="+mj-ea"/>
                <a:cs typeface="+mj-cs"/>
              </a:rPr>
              <a:t>Cyber Attacks in IOT Ecosystems </a:t>
            </a:r>
            <a:r>
              <a:rPr baseline="0" b="1" cap="none" dirty="0" sz="4400" i="0" kern="1200" kumimoji="0" lang="en-US" noProof="0" normalizeH="0" spc="0" err="1" strike="noStrike" u="sng" smtClean="0">
                <a:ln>
                  <a:noFill/>
                </a:ln>
                <a:solidFill>
                  <a:schemeClr val="tx1"/>
                </a:solidFill>
                <a:effectLst/>
                <a:uLnTx/>
                <a:uFillTx/>
                <a:latin typeface="+mj-lt"/>
                <a:ea typeface="+mj-ea"/>
                <a:cs typeface="+mj-cs"/>
              </a:rPr>
              <a:t>cntd</a:t>
            </a:r>
            <a:r>
              <a:rPr baseline="0" b="1" cap="none" dirty="0" sz="4400" i="0" kern="1200" kumimoji="0" lang="en-US" noProof="0" normalizeH="0" spc="0" strike="noStrike" u="sng" smtClean="0">
                <a:ln>
                  <a:noFill/>
                </a:ln>
                <a:solidFill>
                  <a:schemeClr val="tx1"/>
                </a:solidFill>
                <a:effectLst/>
                <a:uLnTx/>
                <a:uFillTx/>
                <a:latin typeface="+mj-lt"/>
                <a:ea typeface="+mj-ea"/>
                <a:cs typeface="+mj-cs"/>
              </a:rPr>
              <a:t>…</a:t>
            </a:r>
            <a:endParaRPr baseline="0" b="1" cap="none" dirty="0" sz="4400" i="0" kern="1200" kumimoji="0" lang="en-US" noProof="0" normalizeH="0" spc="0" strike="noStrike" u="sng">
              <a:ln>
                <a:noFill/>
              </a:ln>
              <a:solidFill>
                <a:schemeClr val="tx1"/>
              </a:solidFill>
              <a:effectLst/>
              <a:uLnTx/>
              <a:uFillTx/>
              <a:latin typeface="+mj-lt"/>
              <a:ea typeface="+mj-ea"/>
              <a:cs typeface="+mj-cs"/>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grpId="0" id="5" nodeType="withEffect" presetClass="entr" presetID="4" presetSubtype="16">
                                  <p:stCondLst>
                                    <p:cond delay="0"/>
                                  </p:stCondLst>
                                  <p:childTnLst>
                                    <p:set>
                                      <p:cBhvr>
                                        <p:cTn dur="1" fill="hold" id="6">
                                          <p:stCondLst>
                                            <p:cond delay="0"/>
                                          </p:stCondLst>
                                        </p:cTn>
                                        <p:tgtEl>
                                          <p:spTgt spid="1048622"/>
                                        </p:tgtEl>
                                        <p:attrNameLst>
                                          <p:attrName>style.visibility</p:attrName>
                                        </p:attrNameLst>
                                      </p:cBhvr>
                                      <p:to>
                                        <p:strVal val="visible"/>
                                      </p:to>
                                    </p:set>
                                    <p:animEffect transition="in" filter="box(in)">
                                      <p:cBhvr>
                                        <p:cTn dur="500" id="7"/>
                                        <p:tgtEl>
                                          <p:spTgt spid="1048622"/>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2" presetSubtype="4">
                                  <p:stCondLst>
                                    <p:cond delay="0"/>
                                  </p:stCondLst>
                                  <p:childTnLst>
                                    <p:set>
                                      <p:cBhvr>
                                        <p:cTn dur="1" fill="hold" id="11">
                                          <p:stCondLst>
                                            <p:cond delay="0"/>
                                          </p:stCondLst>
                                        </p:cTn>
                                        <p:tgtEl>
                                          <p:spTgt spid="2097159"/>
                                        </p:tgtEl>
                                        <p:attrNameLst>
                                          <p:attrName>style.visibility</p:attrName>
                                        </p:attrNameLst>
                                      </p:cBhvr>
                                      <p:to>
                                        <p:strVal val="visible"/>
                                      </p:to>
                                    </p:set>
                                    <p:anim calcmode="lin" valueType="num">
                                      <p:cBhvr additive="base">
                                        <p:cTn dur="500" fill="hold" id="12"/>
                                        <p:tgtEl>
                                          <p:spTgt spid="2097159"/>
                                        </p:tgtEl>
                                        <p:attrNameLst>
                                          <p:attrName>ppt_x</p:attrName>
                                        </p:attrNameLst>
                                      </p:cBhvr>
                                      <p:tavLst>
                                        <p:tav tm="0">
                                          <p:val>
                                            <p:strVal val="#ppt_x"/>
                                          </p:val>
                                        </p:tav>
                                        <p:tav tm="100000">
                                          <p:val>
                                            <p:strVal val="#ppt_x"/>
                                          </p:val>
                                        </p:tav>
                                      </p:tavLst>
                                    </p:anim>
                                    <p:anim calcmode="lin" valueType="num">
                                      <p:cBhvr additive="base">
                                        <p:cTn dur="500" fill="hold" id="13"/>
                                        <p:tgtEl>
                                          <p:spTgt spid="2097159"/>
                                        </p:tgtEl>
                                        <p:attrNameLst>
                                          <p:attrName>ppt_y</p:attrName>
                                        </p:attrNameLst>
                                      </p:cBhvr>
                                      <p:tavLst>
                                        <p:tav tm="0">
                                          <p:val>
                                            <p:strVal val="1+#ppt_h/2"/>
                                          </p:val>
                                        </p:tav>
                                        <p:tav tm="100000">
                                          <p:val>
                                            <p:strVal val="#ppt_y"/>
                                          </p:val>
                                        </p:tav>
                                      </p:tavLst>
                                    </p:anim>
                                  </p:childTnLst>
                                </p:cTn>
                              </p:par>
                            </p:childTnLst>
                          </p:cTn>
                        </p:par>
                      </p:childTnLst>
                    </p:cTn>
                  </p:par>
                  <p:par>
                    <p:cTn fill="hold" id="14">
                      <p:stCondLst>
                        <p:cond delay="indefinite"/>
                      </p:stCondLst>
                      <p:childTnLst>
                        <p:par>
                          <p:cTn fill="hold" id="15">
                            <p:stCondLst>
                              <p:cond delay="0"/>
                            </p:stCondLst>
                            <p:childTnLst>
                              <p:par>
                                <p:cTn fill="hold" grpId="0" id="16" nodeType="clickEffect" presetClass="entr" presetID="4" presetSubtype="16">
                                  <p:stCondLst>
                                    <p:cond delay="0"/>
                                  </p:stCondLst>
                                  <p:childTnLst>
                                    <p:set>
                                      <p:cBhvr>
                                        <p:cTn dur="1" fill="hold" id="17">
                                          <p:stCondLst>
                                            <p:cond delay="0"/>
                                          </p:stCondLst>
                                        </p:cTn>
                                        <p:tgtEl>
                                          <p:spTgt spid="1048623"/>
                                        </p:tgtEl>
                                        <p:attrNameLst>
                                          <p:attrName>style.visibility</p:attrName>
                                        </p:attrNameLst>
                                      </p:cBhvr>
                                      <p:to>
                                        <p:strVal val="visible"/>
                                      </p:to>
                                    </p:set>
                                    <p:animEffect transition="in" filter="box(in)">
                                      <p:cBhvr>
                                        <p:cTn dur="500" id="18"/>
                                        <p:tgtEl>
                                          <p:spTgt spid="1048623"/>
                                        </p:tgtEl>
                                      </p:cBhvr>
                                    </p:animEffect>
                                  </p:childTnLst>
                                </p:cTn>
                              </p:par>
                            </p:childTnLst>
                          </p:cTn>
                        </p:par>
                      </p:childTnLst>
                    </p:cTn>
                  </p:par>
                  <p:par>
                    <p:cTn fill="hold" id="19">
                      <p:stCondLst>
                        <p:cond delay="indefinite"/>
                      </p:stCondLst>
                      <p:childTnLst>
                        <p:par>
                          <p:cTn fill="hold" id="20">
                            <p:stCondLst>
                              <p:cond delay="0"/>
                            </p:stCondLst>
                            <p:childTnLst>
                              <p:par>
                                <p:cTn fill="hold" id="21" nodeType="clickEffect" presetClass="entr" presetID="2" presetSubtype="4">
                                  <p:stCondLst>
                                    <p:cond delay="0"/>
                                  </p:stCondLst>
                                  <p:childTnLst>
                                    <p:set>
                                      <p:cBhvr>
                                        <p:cTn dur="1" fill="hold" id="22">
                                          <p:stCondLst>
                                            <p:cond delay="0"/>
                                          </p:stCondLst>
                                        </p:cTn>
                                        <p:tgtEl>
                                          <p:spTgt spid="2097160"/>
                                        </p:tgtEl>
                                        <p:attrNameLst>
                                          <p:attrName>style.visibility</p:attrName>
                                        </p:attrNameLst>
                                      </p:cBhvr>
                                      <p:to>
                                        <p:strVal val="visible"/>
                                      </p:to>
                                    </p:set>
                                    <p:anim calcmode="lin" valueType="num">
                                      <p:cBhvr additive="base">
                                        <p:cTn dur="500" fill="hold" id="23"/>
                                        <p:tgtEl>
                                          <p:spTgt spid="2097160"/>
                                        </p:tgtEl>
                                        <p:attrNameLst>
                                          <p:attrName>ppt_x</p:attrName>
                                        </p:attrNameLst>
                                      </p:cBhvr>
                                      <p:tavLst>
                                        <p:tav tm="0">
                                          <p:val>
                                            <p:strVal val="#ppt_x"/>
                                          </p:val>
                                        </p:tav>
                                        <p:tav tm="100000">
                                          <p:val>
                                            <p:strVal val="#ppt_x"/>
                                          </p:val>
                                        </p:tav>
                                      </p:tavLst>
                                    </p:anim>
                                    <p:anim calcmode="lin" valueType="num">
                                      <p:cBhvr additive="base">
                                        <p:cTn dur="500" fill="hold" id="24"/>
                                        <p:tgtEl>
                                          <p:spTgt spid="20971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2" grpId="0" animBg="1"/>
      <p:bldP spid="10486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00" name="Title 1"/>
          <p:cNvSpPr>
            <a:spLocks noGrp="1"/>
          </p:cNvSpPr>
          <p:nvPr>
            <p:ph type="ctrTitle"/>
          </p:nvPr>
        </p:nvSpPr>
        <p:spPr>
          <a:xfrm>
            <a:off x="381000" y="304801"/>
            <a:ext cx="8229600" cy="838200"/>
          </a:xfrm>
        </p:spPr>
        <p:txBody>
          <a:bodyPr>
            <a:normAutofit/>
          </a:bodyPr>
          <a:p>
            <a:pPr algn="l"/>
            <a:r>
              <a:rPr b="1" dirty="0" sz="3600" lang="en-US" u="sng" smtClean="0">
                <a:solidFill>
                  <a:schemeClr val="tx1"/>
                </a:solidFill>
              </a:rPr>
              <a:t>Types of IDSs</a:t>
            </a:r>
            <a:endParaRPr b="1" dirty="0" sz="3600" lang="en-US" u="sng">
              <a:solidFill>
                <a:schemeClr val="tx1"/>
              </a:solidFill>
            </a:endParaRPr>
          </a:p>
        </p:txBody>
      </p:sp>
      <p:sp>
        <p:nvSpPr>
          <p:cNvPr id="1048601" name="Rectangle 3"/>
          <p:cNvSpPr/>
          <p:nvPr/>
        </p:nvSpPr>
        <p:spPr>
          <a:xfrm>
            <a:off x="381000" y="1447800"/>
            <a:ext cx="8458200" cy="3825240"/>
          </a:xfrm>
          <a:prstGeom prst="rect"/>
        </p:spPr>
        <p:txBody>
          <a:bodyPr wrap="square">
            <a:spAutoFit/>
          </a:bodyPr>
          <a:p>
            <a:r>
              <a:rPr dirty="0" lang="en-US" smtClean="0">
                <a:latin typeface="Times New Roman" pitchFamily="18" charset="0"/>
                <a:cs typeface="Times New Roman" pitchFamily="18" charset="0"/>
              </a:rPr>
              <a:t>IDSs</a:t>
            </a:r>
            <a:r>
              <a:rPr dirty="0" lang="en-US" smtClean="0">
                <a:latin typeface="Times New Roman" pitchFamily="18" charset="0"/>
                <a:cs typeface="Times New Roman" pitchFamily="18" charset="0"/>
              </a:rPr>
              <a:t> </a:t>
            </a:r>
            <a:r>
              <a:rPr dirty="0" lang="en-US" smtClean="0">
                <a:latin typeface="Times New Roman" pitchFamily="18" charset="0"/>
                <a:cs typeface="Times New Roman" pitchFamily="18" charset="0"/>
              </a:rPr>
              <a:t>are built based on the same concept of collecting data from the network , analyzing data to identify attacks and reporting the attacks to the network administrator. The difference among IDSs lie in their implementation approach such as :</a:t>
            </a:r>
            <a:endParaRPr altLang="en-US" lang="zh-CN"/>
          </a:p>
          <a:p>
            <a:endParaRPr dirty="0" lang="en-US" smtClean="0">
              <a:latin typeface="Times New Roman" pitchFamily="18" charset="0"/>
              <a:cs typeface="Times New Roman" pitchFamily="18" charset="0"/>
            </a:endParaRPr>
          </a:p>
          <a:p>
            <a:pPr>
              <a:buFont typeface="Wingdings" pitchFamily="2" charset="2"/>
              <a:buChar char="Ø"/>
            </a:pPr>
            <a:r>
              <a:rPr b="1" dirty="0" i="1" lang="en-US" smtClean="0">
                <a:latin typeface="Times New Roman" pitchFamily="18" charset="0"/>
                <a:cs typeface="Times New Roman" pitchFamily="18" charset="0"/>
              </a:rPr>
              <a:t>Data source</a:t>
            </a:r>
            <a:r>
              <a:rPr dirty="0" lang="en-US" smtClean="0">
                <a:latin typeface="Times New Roman" pitchFamily="18" charset="0"/>
                <a:cs typeface="Times New Roman" pitchFamily="18" charset="0"/>
              </a:rPr>
              <a:t>: host-based, network-based, hybrid</a:t>
            </a:r>
          </a:p>
          <a:p>
            <a:endParaRPr dirty="0" lang="en-US" smtClean="0">
              <a:latin typeface="Times New Roman" pitchFamily="18" charset="0"/>
              <a:cs typeface="Times New Roman" pitchFamily="18" charset="0"/>
            </a:endParaRPr>
          </a:p>
          <a:p>
            <a:pPr>
              <a:buFont typeface="Wingdings" pitchFamily="2" charset="2"/>
              <a:buChar char="Ø"/>
            </a:pPr>
            <a:r>
              <a:rPr dirty="0" lang="en-US" smtClean="0">
                <a:latin typeface="Times New Roman" pitchFamily="18" charset="0"/>
                <a:cs typeface="Times New Roman" pitchFamily="18" charset="0"/>
              </a:rPr>
              <a:t> </a:t>
            </a:r>
            <a:r>
              <a:rPr b="1" dirty="0" i="1" lang="en-US" smtClean="0">
                <a:latin typeface="Times New Roman" pitchFamily="18" charset="0"/>
                <a:cs typeface="Times New Roman" pitchFamily="18" charset="0"/>
              </a:rPr>
              <a:t>Detection Method</a:t>
            </a:r>
            <a:r>
              <a:rPr dirty="0" lang="en-US" smtClean="0">
                <a:latin typeface="Times New Roman" pitchFamily="18" charset="0"/>
                <a:cs typeface="Times New Roman" pitchFamily="18" charset="0"/>
              </a:rPr>
              <a:t>: signature-based, anomaly-based</a:t>
            </a:r>
          </a:p>
          <a:p>
            <a:endParaRPr dirty="0" lang="en-US" smtClean="0">
              <a:latin typeface="Times New Roman" pitchFamily="18" charset="0"/>
              <a:cs typeface="Times New Roman" pitchFamily="18" charset="0"/>
            </a:endParaRPr>
          </a:p>
          <a:p>
            <a:pPr>
              <a:buFont typeface="Wingdings" pitchFamily="2" charset="2"/>
              <a:buChar char="Ø"/>
            </a:pPr>
            <a:r>
              <a:rPr dirty="0" lang="en-US" smtClean="0">
                <a:latin typeface="Times New Roman" pitchFamily="18" charset="0"/>
                <a:cs typeface="Times New Roman" pitchFamily="18" charset="0"/>
              </a:rPr>
              <a:t> </a:t>
            </a:r>
            <a:r>
              <a:rPr b="1" dirty="0" i="1" lang="en-US" smtClean="0">
                <a:latin typeface="Times New Roman" pitchFamily="18" charset="0"/>
                <a:cs typeface="Times New Roman" pitchFamily="18" charset="0"/>
              </a:rPr>
              <a:t>Time of Detection</a:t>
            </a:r>
            <a:r>
              <a:rPr dirty="0" lang="en-US" smtClean="0">
                <a:latin typeface="Times New Roman" pitchFamily="18" charset="0"/>
                <a:cs typeface="Times New Roman" pitchFamily="18" charset="0"/>
              </a:rPr>
              <a:t>: offline, online</a:t>
            </a:r>
          </a:p>
          <a:p>
            <a:endParaRPr dirty="0" lang="en-US" smtClean="0">
              <a:latin typeface="Times New Roman" pitchFamily="18" charset="0"/>
              <a:cs typeface="Times New Roman" pitchFamily="18" charset="0"/>
            </a:endParaRPr>
          </a:p>
          <a:p>
            <a:pPr>
              <a:buFont typeface="Wingdings" pitchFamily="2" charset="2"/>
              <a:buChar char="Ø"/>
            </a:pPr>
            <a:r>
              <a:rPr dirty="0" lang="en-US" smtClean="0">
                <a:latin typeface="Times New Roman" pitchFamily="18" charset="0"/>
                <a:cs typeface="Times New Roman" pitchFamily="18" charset="0"/>
              </a:rPr>
              <a:t> </a:t>
            </a:r>
            <a:r>
              <a:rPr b="1" dirty="0" i="1" lang="en-US" smtClean="0">
                <a:latin typeface="Times New Roman" pitchFamily="18" charset="0"/>
                <a:cs typeface="Times New Roman" pitchFamily="18" charset="0"/>
              </a:rPr>
              <a:t>Architecture</a:t>
            </a:r>
            <a:r>
              <a:rPr dirty="0" lang="en-US" smtClean="0">
                <a:latin typeface="Times New Roman" pitchFamily="18" charset="0"/>
                <a:cs typeface="Times New Roman" pitchFamily="18" charset="0"/>
              </a:rPr>
              <a:t>: centralised, distributed</a:t>
            </a:r>
          </a:p>
          <a:p>
            <a:endParaRPr dirty="0" lang="en-US" smtClean="0">
              <a:latin typeface="Times New Roman" pitchFamily="18" charset="0"/>
              <a:cs typeface="Times New Roman" pitchFamily="18" charset="0"/>
            </a:endParaRPr>
          </a:p>
          <a:p>
            <a:pPr>
              <a:buFont typeface="Wingdings" pitchFamily="2" charset="2"/>
              <a:buChar char="Ø"/>
            </a:pPr>
            <a:r>
              <a:rPr b="1" dirty="0" i="1" lang="en-US" smtClean="0">
                <a:latin typeface="Times New Roman" pitchFamily="18" charset="0"/>
                <a:cs typeface="Times New Roman" pitchFamily="18" charset="0"/>
              </a:rPr>
              <a:t>Networking Type</a:t>
            </a:r>
            <a:r>
              <a:rPr dirty="0" lang="en-US" smtClean="0">
                <a:latin typeface="Times New Roman" pitchFamily="18" charset="0"/>
                <a:cs typeface="Times New Roman" pitchFamily="18" charset="0"/>
              </a:rPr>
              <a:t>: wired/wireless, ad-hoc, etc</a:t>
            </a:r>
            <a:endParaRPr dirty="0" lang="en-US">
              <a:latin typeface="Times New Roman" pitchFamily="18" charset="0"/>
              <a:cs typeface="Times New Roman" pitchFamily="18" charset="0"/>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4" presetSubtype="16">
                                  <p:stCondLst>
                                    <p:cond delay="0"/>
                                  </p:stCondLst>
                                  <p:childTnLst>
                                    <p:set>
                                      <p:cBhvr>
                                        <p:cTn dur="1" fill="hold" id="6">
                                          <p:stCondLst>
                                            <p:cond delay="0"/>
                                          </p:stCondLst>
                                        </p:cTn>
                                        <p:tgtEl>
                                          <p:spTgt spid="1048601">
                                            <p:txEl>
                                              <p:pRg st="0" end="0"/>
                                            </p:txEl>
                                          </p:spTgt>
                                        </p:tgtEl>
                                        <p:attrNameLst>
                                          <p:attrName>style.visibility</p:attrName>
                                        </p:attrNameLst>
                                      </p:cBhvr>
                                      <p:to>
                                        <p:strVal val="visible"/>
                                      </p:to>
                                    </p:set>
                                    <p:animEffect transition="in" filter="box(in)">
                                      <p:cBhvr>
                                        <p:cTn dur="500" id="7"/>
                                        <p:tgtEl>
                                          <p:spTgt spid="1048601">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2" presetSubtype="4">
                                  <p:stCondLst>
                                    <p:cond delay="0"/>
                                  </p:stCondLst>
                                  <p:childTnLst>
                                    <p:set>
                                      <p:cBhvr>
                                        <p:cTn dur="1" fill="hold" id="11">
                                          <p:stCondLst>
                                            <p:cond delay="0"/>
                                          </p:stCondLst>
                                        </p:cTn>
                                        <p:tgtEl>
                                          <p:spTgt spid="1048601">
                                            <p:txEl>
                                              <p:pRg st="2" end="2"/>
                                            </p:txEl>
                                          </p:spTgt>
                                        </p:tgtEl>
                                        <p:attrNameLst>
                                          <p:attrName>style.visibility</p:attrName>
                                        </p:attrNameLst>
                                      </p:cBhvr>
                                      <p:to>
                                        <p:strVal val="visible"/>
                                      </p:to>
                                    </p:set>
                                    <p:anim calcmode="lin" valueType="num">
                                      <p:cBhvr additive="base">
                                        <p:cTn dur="500" fill="hold" id="12"/>
                                        <p:tgtEl>
                                          <p:spTgt spid="1048601">
                                            <p:txEl>
                                              <p:pRg st="2" end="2"/>
                                            </p:txEl>
                                          </p:spTgt>
                                        </p:tgtEl>
                                        <p:attrNameLst>
                                          <p:attrName>ppt_x</p:attrName>
                                        </p:attrNameLst>
                                      </p:cBhvr>
                                      <p:tavLst>
                                        <p:tav tm="0">
                                          <p:val>
                                            <p:strVal val="#ppt_x"/>
                                          </p:val>
                                        </p:tav>
                                        <p:tav tm="100000">
                                          <p:val>
                                            <p:strVal val="#ppt_x"/>
                                          </p:val>
                                        </p:tav>
                                      </p:tavLst>
                                    </p:anim>
                                    <p:anim calcmode="lin" valueType="num">
                                      <p:cBhvr additive="base">
                                        <p:cTn dur="500" fill="hold" id="13"/>
                                        <p:tgtEl>
                                          <p:spTgt spid="1048601">
                                            <p:txEl>
                                              <p:pRg st="2" end="2"/>
                                            </p:txEl>
                                          </p:spTgt>
                                        </p:tgtEl>
                                        <p:attrNameLst>
                                          <p:attrName>ppt_y</p:attrName>
                                        </p:attrNameLst>
                                      </p:cBhvr>
                                      <p:tavLst>
                                        <p:tav tm="0">
                                          <p:val>
                                            <p:strVal val="1+#ppt_h/2"/>
                                          </p:val>
                                        </p:tav>
                                        <p:tav tm="100000">
                                          <p:val>
                                            <p:strVal val="#ppt_y"/>
                                          </p:val>
                                        </p:tav>
                                      </p:tavLst>
                                    </p:anim>
                                  </p:childTnLst>
                                </p:cTn>
                              </p:par>
                              <p:par>
                                <p:cTn fill="hold" id="14" nodeType="withEffect" presetClass="entr" presetID="2" presetSubtype="4">
                                  <p:stCondLst>
                                    <p:cond delay="0"/>
                                  </p:stCondLst>
                                  <p:childTnLst>
                                    <p:set>
                                      <p:cBhvr>
                                        <p:cTn dur="1" fill="hold" id="15">
                                          <p:stCondLst>
                                            <p:cond delay="0"/>
                                          </p:stCondLst>
                                        </p:cTn>
                                        <p:tgtEl>
                                          <p:spTgt spid="1048601">
                                            <p:txEl>
                                              <p:pRg st="4" end="4"/>
                                            </p:txEl>
                                          </p:spTgt>
                                        </p:tgtEl>
                                        <p:attrNameLst>
                                          <p:attrName>style.visibility</p:attrName>
                                        </p:attrNameLst>
                                      </p:cBhvr>
                                      <p:to>
                                        <p:strVal val="visible"/>
                                      </p:to>
                                    </p:set>
                                    <p:anim calcmode="lin" valueType="num">
                                      <p:cBhvr additive="base">
                                        <p:cTn dur="500" fill="hold" id="16"/>
                                        <p:tgtEl>
                                          <p:spTgt spid="1048601">
                                            <p:txEl>
                                              <p:pRg st="4" end="4"/>
                                            </p:txEl>
                                          </p:spTgt>
                                        </p:tgtEl>
                                        <p:attrNameLst>
                                          <p:attrName>ppt_x</p:attrName>
                                        </p:attrNameLst>
                                      </p:cBhvr>
                                      <p:tavLst>
                                        <p:tav tm="0">
                                          <p:val>
                                            <p:strVal val="#ppt_x"/>
                                          </p:val>
                                        </p:tav>
                                        <p:tav tm="100000">
                                          <p:val>
                                            <p:strVal val="#ppt_x"/>
                                          </p:val>
                                        </p:tav>
                                      </p:tavLst>
                                    </p:anim>
                                    <p:anim calcmode="lin" valueType="num">
                                      <p:cBhvr additive="base">
                                        <p:cTn dur="500" fill="hold" id="17"/>
                                        <p:tgtEl>
                                          <p:spTgt spid="1048601">
                                            <p:txEl>
                                              <p:pRg st="4" end="4"/>
                                            </p:txEl>
                                          </p:spTgt>
                                        </p:tgtEl>
                                        <p:attrNameLst>
                                          <p:attrName>ppt_y</p:attrName>
                                        </p:attrNameLst>
                                      </p:cBhvr>
                                      <p:tavLst>
                                        <p:tav tm="0">
                                          <p:val>
                                            <p:strVal val="1+#ppt_h/2"/>
                                          </p:val>
                                        </p:tav>
                                        <p:tav tm="100000">
                                          <p:val>
                                            <p:strVal val="#ppt_y"/>
                                          </p:val>
                                        </p:tav>
                                      </p:tavLst>
                                    </p:anim>
                                  </p:childTnLst>
                                </p:cTn>
                              </p:par>
                              <p:par>
                                <p:cTn fill="hold" id="18" nodeType="withEffect" presetClass="entr" presetID="2" presetSubtype="4">
                                  <p:stCondLst>
                                    <p:cond delay="0"/>
                                  </p:stCondLst>
                                  <p:childTnLst>
                                    <p:set>
                                      <p:cBhvr>
                                        <p:cTn dur="1" fill="hold" id="19">
                                          <p:stCondLst>
                                            <p:cond delay="0"/>
                                          </p:stCondLst>
                                        </p:cTn>
                                        <p:tgtEl>
                                          <p:spTgt spid="1048601">
                                            <p:txEl>
                                              <p:pRg st="6" end="6"/>
                                            </p:txEl>
                                          </p:spTgt>
                                        </p:tgtEl>
                                        <p:attrNameLst>
                                          <p:attrName>style.visibility</p:attrName>
                                        </p:attrNameLst>
                                      </p:cBhvr>
                                      <p:to>
                                        <p:strVal val="visible"/>
                                      </p:to>
                                    </p:set>
                                    <p:anim calcmode="lin" valueType="num">
                                      <p:cBhvr additive="base">
                                        <p:cTn dur="500" fill="hold" id="20"/>
                                        <p:tgtEl>
                                          <p:spTgt spid="1048601">
                                            <p:txEl>
                                              <p:pRg st="6" end="6"/>
                                            </p:txEl>
                                          </p:spTgt>
                                        </p:tgtEl>
                                        <p:attrNameLst>
                                          <p:attrName>ppt_x</p:attrName>
                                        </p:attrNameLst>
                                      </p:cBhvr>
                                      <p:tavLst>
                                        <p:tav tm="0">
                                          <p:val>
                                            <p:strVal val="#ppt_x"/>
                                          </p:val>
                                        </p:tav>
                                        <p:tav tm="100000">
                                          <p:val>
                                            <p:strVal val="#ppt_x"/>
                                          </p:val>
                                        </p:tav>
                                      </p:tavLst>
                                    </p:anim>
                                    <p:anim calcmode="lin" valueType="num">
                                      <p:cBhvr additive="base">
                                        <p:cTn dur="500" fill="hold" id="21"/>
                                        <p:tgtEl>
                                          <p:spTgt spid="1048601">
                                            <p:txEl>
                                              <p:pRg st="6" end="6"/>
                                            </p:txEl>
                                          </p:spTgt>
                                        </p:tgtEl>
                                        <p:attrNameLst>
                                          <p:attrName>ppt_y</p:attrName>
                                        </p:attrNameLst>
                                      </p:cBhvr>
                                      <p:tavLst>
                                        <p:tav tm="0">
                                          <p:val>
                                            <p:strVal val="1+#ppt_h/2"/>
                                          </p:val>
                                        </p:tav>
                                        <p:tav tm="100000">
                                          <p:val>
                                            <p:strVal val="#ppt_y"/>
                                          </p:val>
                                        </p:tav>
                                      </p:tavLst>
                                    </p:anim>
                                  </p:childTnLst>
                                </p:cTn>
                              </p:par>
                              <p:par>
                                <p:cTn fill="hold" id="22" nodeType="withEffect" presetClass="entr" presetID="2" presetSubtype="4">
                                  <p:stCondLst>
                                    <p:cond delay="0"/>
                                  </p:stCondLst>
                                  <p:childTnLst>
                                    <p:set>
                                      <p:cBhvr>
                                        <p:cTn dur="1" fill="hold" id="23">
                                          <p:stCondLst>
                                            <p:cond delay="0"/>
                                          </p:stCondLst>
                                        </p:cTn>
                                        <p:tgtEl>
                                          <p:spTgt spid="1048601">
                                            <p:txEl>
                                              <p:pRg st="8" end="8"/>
                                            </p:txEl>
                                          </p:spTgt>
                                        </p:tgtEl>
                                        <p:attrNameLst>
                                          <p:attrName>style.visibility</p:attrName>
                                        </p:attrNameLst>
                                      </p:cBhvr>
                                      <p:to>
                                        <p:strVal val="visible"/>
                                      </p:to>
                                    </p:set>
                                    <p:anim calcmode="lin" valueType="num">
                                      <p:cBhvr additive="base">
                                        <p:cTn dur="500" fill="hold" id="24"/>
                                        <p:tgtEl>
                                          <p:spTgt spid="1048601">
                                            <p:txEl>
                                              <p:pRg st="8" end="8"/>
                                            </p:txEl>
                                          </p:spTgt>
                                        </p:tgtEl>
                                        <p:attrNameLst>
                                          <p:attrName>ppt_x</p:attrName>
                                        </p:attrNameLst>
                                      </p:cBhvr>
                                      <p:tavLst>
                                        <p:tav tm="0">
                                          <p:val>
                                            <p:strVal val="#ppt_x"/>
                                          </p:val>
                                        </p:tav>
                                        <p:tav tm="100000">
                                          <p:val>
                                            <p:strVal val="#ppt_x"/>
                                          </p:val>
                                        </p:tav>
                                      </p:tavLst>
                                    </p:anim>
                                    <p:anim calcmode="lin" valueType="num">
                                      <p:cBhvr additive="base">
                                        <p:cTn dur="500" fill="hold" id="25"/>
                                        <p:tgtEl>
                                          <p:spTgt spid="1048601">
                                            <p:txEl>
                                              <p:pRg st="8" end="8"/>
                                            </p:txEl>
                                          </p:spTgt>
                                        </p:tgtEl>
                                        <p:attrNameLst>
                                          <p:attrName>ppt_y</p:attrName>
                                        </p:attrNameLst>
                                      </p:cBhvr>
                                      <p:tavLst>
                                        <p:tav tm="0">
                                          <p:val>
                                            <p:strVal val="1+#ppt_h/2"/>
                                          </p:val>
                                        </p:tav>
                                        <p:tav tm="100000">
                                          <p:val>
                                            <p:strVal val="#ppt_y"/>
                                          </p:val>
                                        </p:tav>
                                      </p:tavLst>
                                    </p:anim>
                                  </p:childTnLst>
                                </p:cTn>
                              </p:par>
                              <p:par>
                                <p:cTn fill="hold" id="26" nodeType="withEffect" presetClass="entr" presetID="2" presetSubtype="4">
                                  <p:stCondLst>
                                    <p:cond delay="0"/>
                                  </p:stCondLst>
                                  <p:childTnLst>
                                    <p:set>
                                      <p:cBhvr>
                                        <p:cTn dur="1" fill="hold" id="27">
                                          <p:stCondLst>
                                            <p:cond delay="0"/>
                                          </p:stCondLst>
                                        </p:cTn>
                                        <p:tgtEl>
                                          <p:spTgt spid="1048601">
                                            <p:txEl>
                                              <p:pRg st="10" end="10"/>
                                            </p:txEl>
                                          </p:spTgt>
                                        </p:tgtEl>
                                        <p:attrNameLst>
                                          <p:attrName>style.visibility</p:attrName>
                                        </p:attrNameLst>
                                      </p:cBhvr>
                                      <p:to>
                                        <p:strVal val="visible"/>
                                      </p:to>
                                    </p:set>
                                    <p:anim calcmode="lin" valueType="num">
                                      <p:cBhvr additive="base">
                                        <p:cTn dur="500" fill="hold" id="28"/>
                                        <p:tgtEl>
                                          <p:spTgt spid="1048601">
                                            <p:txEl>
                                              <p:pRg st="10" end="10"/>
                                            </p:txEl>
                                          </p:spTgt>
                                        </p:tgtEl>
                                        <p:attrNameLst>
                                          <p:attrName>ppt_x</p:attrName>
                                        </p:attrNameLst>
                                      </p:cBhvr>
                                      <p:tavLst>
                                        <p:tav tm="0">
                                          <p:val>
                                            <p:strVal val="#ppt_x"/>
                                          </p:val>
                                        </p:tav>
                                        <p:tav tm="100000">
                                          <p:val>
                                            <p:strVal val="#ppt_x"/>
                                          </p:val>
                                        </p:tav>
                                      </p:tavLst>
                                    </p:anim>
                                    <p:anim calcmode="lin" valueType="num">
                                      <p:cBhvr additive="base">
                                        <p:cTn dur="500" fill="hold" id="29"/>
                                        <p:tgtEl>
                                          <p:spTgt spid="1048601">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pic>
        <p:nvPicPr>
          <p:cNvPr id="2097152" name="Picture 2"/>
          <p:cNvPicPr>
            <a:picLocks noChangeAspect="1" noChangeArrowheads="1"/>
          </p:cNvPicPr>
          <p:nvPr/>
        </p:nvPicPr>
        <p:blipFill>
          <a:blip xmlns:r="http://schemas.openxmlformats.org/officeDocument/2006/relationships" r:embed="rId1" cstate="print"/>
          <a:srcRect/>
          <a:stretch>
            <a:fillRect/>
          </a:stretch>
        </p:blipFill>
        <p:spPr bwMode="auto">
          <a:xfrm>
            <a:off x="152400" y="2438400"/>
            <a:ext cx="4342108" cy="3352800"/>
          </a:xfrm>
          <a:prstGeom prst="rect"/>
          <a:noFill/>
          <a:ln w="9525">
            <a:noFill/>
            <a:miter lim="800000"/>
            <a:headEnd/>
            <a:tailEnd/>
          </a:ln>
          <a:effectLst/>
        </p:spPr>
      </p:pic>
      <p:sp>
        <p:nvSpPr>
          <p:cNvPr id="1048595" name="Title 1"/>
          <p:cNvSpPr>
            <a:spLocks noGrp="1"/>
          </p:cNvSpPr>
          <p:nvPr>
            <p:ph type="ctrTitle"/>
          </p:nvPr>
        </p:nvSpPr>
        <p:spPr>
          <a:xfrm>
            <a:off x="381000" y="457200"/>
            <a:ext cx="8229600" cy="685799"/>
          </a:xfrm>
        </p:spPr>
        <p:txBody>
          <a:bodyPr>
            <a:normAutofit/>
          </a:bodyPr>
          <a:p>
            <a:pPr algn="l"/>
            <a:r>
              <a:rPr b="1" dirty="0" sz="3600" lang="en-US" u="sng" smtClean="0">
                <a:solidFill>
                  <a:schemeClr val="tx1"/>
                </a:solidFill>
              </a:rPr>
              <a:t>Pulse : IDS</a:t>
            </a:r>
            <a:endParaRPr b="1" dirty="0" sz="3600" lang="en-US" u="sng">
              <a:solidFill>
                <a:schemeClr val="tx1"/>
              </a:solidFill>
            </a:endParaRPr>
          </a:p>
        </p:txBody>
      </p:sp>
      <p:sp>
        <p:nvSpPr>
          <p:cNvPr id="1048596" name="Subtitle 2"/>
          <p:cNvSpPr>
            <a:spLocks noGrp="1"/>
          </p:cNvSpPr>
          <p:nvPr>
            <p:ph type="subTitle" idx="1"/>
          </p:nvPr>
        </p:nvSpPr>
        <p:spPr>
          <a:xfrm>
            <a:off x="381000" y="1600200"/>
            <a:ext cx="8382000" cy="990600"/>
          </a:xfrm>
        </p:spPr>
        <p:txBody>
          <a:bodyPr>
            <a:noAutofit/>
          </a:bodyPr>
          <a:p>
            <a:pPr algn="just"/>
            <a:r>
              <a:rPr dirty="0" sz="1800" lang="en-US" smtClean="0">
                <a:solidFill>
                  <a:schemeClr val="tx1"/>
                </a:solidFill>
                <a:latin typeface="Times New Roman" pitchFamily="18" charset="0"/>
                <a:cs typeface="Times New Roman" pitchFamily="18" charset="0"/>
              </a:rPr>
              <a:t>A novel predictive model that can identify malicious </a:t>
            </a:r>
            <a:r>
              <a:rPr dirty="0" sz="1800" lang="en-US" err="1" smtClean="0">
                <a:solidFill>
                  <a:schemeClr val="tx1"/>
                </a:solidFill>
                <a:latin typeface="Times New Roman" pitchFamily="18" charset="0"/>
                <a:cs typeface="Times New Roman" pitchFamily="18" charset="0"/>
              </a:rPr>
              <a:t>IoT</a:t>
            </a:r>
            <a:r>
              <a:rPr dirty="0" sz="1800" lang="en-US" smtClean="0">
                <a:solidFill>
                  <a:schemeClr val="tx1"/>
                </a:solidFill>
                <a:latin typeface="Times New Roman" pitchFamily="18" charset="0"/>
                <a:cs typeface="Times New Roman" pitchFamily="18" charset="0"/>
              </a:rPr>
              <a:t> nodes in a network based on their network activity.  </a:t>
            </a:r>
          </a:p>
          <a:p>
            <a:pPr algn="just"/>
            <a:endParaRPr dirty="0" sz="1800" lang="en-US" smtClean="0">
              <a:solidFill>
                <a:schemeClr val="tx1"/>
              </a:solidFill>
              <a:latin typeface="Times New Roman" pitchFamily="18" charset="0"/>
              <a:cs typeface="Times New Roman" pitchFamily="18" charset="0"/>
            </a:endParaRPr>
          </a:p>
          <a:p>
            <a:pPr algn="just"/>
            <a:endParaRPr dirty="0" sz="1800" lang="en-US" smtClean="0">
              <a:solidFill>
                <a:schemeClr val="tx1"/>
              </a:solidFill>
              <a:latin typeface="Times New Roman" pitchFamily="18" charset="0"/>
              <a:cs typeface="Times New Roman" pitchFamily="18" charset="0"/>
            </a:endParaRPr>
          </a:p>
        </p:txBody>
      </p:sp>
      <p:sp>
        <p:nvSpPr>
          <p:cNvPr id="1048597" name="TextBox 4"/>
          <p:cNvSpPr txBox="1"/>
          <p:nvPr/>
        </p:nvSpPr>
        <p:spPr>
          <a:xfrm>
            <a:off x="4343400" y="2286000"/>
            <a:ext cx="4495800" cy="3710940"/>
          </a:xfrm>
          <a:prstGeom prst="rect"/>
          <a:noFill/>
        </p:spPr>
        <p:txBody>
          <a:bodyPr rtlCol="0" wrap="square">
            <a:spAutoFit/>
          </a:bodyPr>
          <a:p>
            <a:pPr algn="just"/>
            <a:r>
              <a:rPr dirty="0" sz="1600" lang="en-US" smtClean="0">
                <a:latin typeface="Times New Roman" pitchFamily="18" charset="0"/>
                <a:cs typeface="Times New Roman" pitchFamily="18" charset="0"/>
              </a:rPr>
              <a:t>The model consists of two components: </a:t>
            </a:r>
          </a:p>
          <a:p>
            <a:pPr algn="just" lvl="1"/>
            <a:r>
              <a:rPr dirty="0" sz="1600" lang="en-US" smtClean="0">
                <a:latin typeface="Times New Roman" pitchFamily="18" charset="0"/>
                <a:cs typeface="Times New Roman" pitchFamily="18" charset="0"/>
              </a:rPr>
              <a:t>a) The first component is based on a Machine Learning (ML) approach (learns the networking behavior of the </a:t>
            </a:r>
            <a:r>
              <a:rPr dirty="0" sz="1600" lang="en-US" err="1" smtClean="0">
                <a:latin typeface="Times New Roman" pitchFamily="18" charset="0"/>
                <a:cs typeface="Times New Roman" pitchFamily="18" charset="0"/>
              </a:rPr>
              <a:t>IoT</a:t>
            </a:r>
            <a:r>
              <a:rPr dirty="0" sz="1600" lang="en-US" smtClean="0">
                <a:latin typeface="Times New Roman" pitchFamily="18" charset="0"/>
                <a:cs typeface="Times New Roman" pitchFamily="18" charset="0"/>
              </a:rPr>
              <a:t>-based network).</a:t>
            </a:r>
          </a:p>
          <a:p>
            <a:pPr algn="just" lvl="1"/>
            <a:r>
              <a:rPr dirty="0" sz="1600" lang="en-US" smtClean="0">
                <a:latin typeface="Times New Roman" pitchFamily="18" charset="0"/>
                <a:cs typeface="Times New Roman" pitchFamily="18" charset="0"/>
              </a:rPr>
              <a:t> b) The second component is a rule based approach, which is established from a security policy configured by the network administrator. </a:t>
            </a:r>
          </a:p>
          <a:p>
            <a:pPr algn="just" lvl="1"/>
            <a:endParaRPr dirty="0" sz="1600" lang="en-US" smtClean="0">
              <a:latin typeface="Times New Roman" pitchFamily="18" charset="0"/>
              <a:cs typeface="Times New Roman" pitchFamily="18" charset="0"/>
            </a:endParaRPr>
          </a:p>
          <a:p>
            <a:pPr algn="just"/>
            <a:r>
              <a:rPr dirty="0" sz="1600" lang="en-US" smtClean="0">
                <a:latin typeface="Times New Roman" pitchFamily="18" charset="0"/>
                <a:cs typeface="Times New Roman" pitchFamily="18" charset="0"/>
              </a:rPr>
              <a:t>The combination of these components creates an adaptive and flexible model, which accurately detects malicious </a:t>
            </a:r>
            <a:r>
              <a:rPr dirty="0" sz="1600" lang="en-US" err="1" smtClean="0">
                <a:latin typeface="Times New Roman" pitchFamily="18" charset="0"/>
                <a:cs typeface="Times New Roman" pitchFamily="18" charset="0"/>
              </a:rPr>
              <a:t>IoT</a:t>
            </a:r>
            <a:r>
              <a:rPr dirty="0" sz="1600" lang="en-US" smtClean="0">
                <a:latin typeface="Times New Roman" pitchFamily="18" charset="0"/>
                <a:cs typeface="Times New Roman" pitchFamily="18" charset="0"/>
              </a:rPr>
              <a:t> devices in the network</a:t>
            </a:r>
          </a:p>
          <a:p>
            <a:endParaRPr dirty="0" sz="1600" lang="en-US"/>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4" presetSubtype="16">
                                  <p:stCondLst>
                                    <p:cond delay="0"/>
                                  </p:stCondLst>
                                  <p:childTnLst>
                                    <p:set>
                                      <p:cBhvr>
                                        <p:cTn dur="1" fill="hold" id="6">
                                          <p:stCondLst>
                                            <p:cond delay="0"/>
                                          </p:stCondLst>
                                        </p:cTn>
                                        <p:tgtEl>
                                          <p:spTgt spid="1048596">
                                            <p:txEl>
                                              <p:pRg st="0" end="0"/>
                                            </p:txEl>
                                          </p:spTgt>
                                        </p:tgtEl>
                                        <p:attrNameLst>
                                          <p:attrName>style.visibility</p:attrName>
                                        </p:attrNameLst>
                                      </p:cBhvr>
                                      <p:to>
                                        <p:strVal val="visible"/>
                                      </p:to>
                                    </p:set>
                                    <p:animEffect transition="in" filter="box(in)">
                                      <p:cBhvr>
                                        <p:cTn dur="500" id="7"/>
                                        <p:tgtEl>
                                          <p:spTgt spid="1048596">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2" presetSubtype="4">
                                  <p:stCondLst>
                                    <p:cond delay="0"/>
                                  </p:stCondLst>
                                  <p:childTnLst>
                                    <p:set>
                                      <p:cBhvr>
                                        <p:cTn dur="1" fill="hold" id="11">
                                          <p:stCondLst>
                                            <p:cond delay="0"/>
                                          </p:stCondLst>
                                        </p:cTn>
                                        <p:tgtEl>
                                          <p:spTgt spid="2097152"/>
                                        </p:tgtEl>
                                        <p:attrNameLst>
                                          <p:attrName>style.visibility</p:attrName>
                                        </p:attrNameLst>
                                      </p:cBhvr>
                                      <p:to>
                                        <p:strVal val="visible"/>
                                      </p:to>
                                    </p:set>
                                    <p:anim calcmode="lin" valueType="num">
                                      <p:cBhvr additive="base">
                                        <p:cTn dur="500" fill="hold" id="12"/>
                                        <p:tgtEl>
                                          <p:spTgt spid="2097152"/>
                                        </p:tgtEl>
                                        <p:attrNameLst>
                                          <p:attrName>ppt_x</p:attrName>
                                        </p:attrNameLst>
                                      </p:cBhvr>
                                      <p:tavLst>
                                        <p:tav tm="0">
                                          <p:val>
                                            <p:strVal val="#ppt_x"/>
                                          </p:val>
                                        </p:tav>
                                        <p:tav tm="100000">
                                          <p:val>
                                            <p:strVal val="#ppt_x"/>
                                          </p:val>
                                        </p:tav>
                                      </p:tavLst>
                                    </p:anim>
                                    <p:anim calcmode="lin" valueType="num">
                                      <p:cBhvr additive="base">
                                        <p:cTn dur="500" fill="hold" id="13"/>
                                        <p:tgtEl>
                                          <p:spTgt spid="2097152"/>
                                        </p:tgtEl>
                                        <p:attrNameLst>
                                          <p:attrName>ppt_y</p:attrName>
                                        </p:attrNameLst>
                                      </p:cBhvr>
                                      <p:tavLst>
                                        <p:tav tm="0">
                                          <p:val>
                                            <p:strVal val="1+#ppt_h/2"/>
                                          </p:val>
                                        </p:tav>
                                        <p:tav tm="100000">
                                          <p:val>
                                            <p:strVal val="#ppt_y"/>
                                          </p:val>
                                        </p:tav>
                                      </p:tavLst>
                                    </p:anim>
                                  </p:childTnLst>
                                </p:cTn>
                              </p:par>
                            </p:childTnLst>
                          </p:cTn>
                        </p:par>
                      </p:childTnLst>
                    </p:cTn>
                  </p:par>
                  <p:par>
                    <p:cTn fill="hold" id="14">
                      <p:stCondLst>
                        <p:cond delay="indefinite"/>
                      </p:stCondLst>
                      <p:childTnLst>
                        <p:par>
                          <p:cTn fill="hold" id="15">
                            <p:stCondLst>
                              <p:cond delay="0"/>
                            </p:stCondLst>
                            <p:childTnLst>
                              <p:par>
                                <p:cTn fill="hold" id="16" nodeType="clickEffect" presetClass="entr" presetID="4" presetSubtype="16">
                                  <p:stCondLst>
                                    <p:cond delay="0"/>
                                  </p:stCondLst>
                                  <p:childTnLst>
                                    <p:set>
                                      <p:cBhvr>
                                        <p:cTn dur="1" fill="hold" id="17">
                                          <p:stCondLst>
                                            <p:cond delay="0"/>
                                          </p:stCondLst>
                                        </p:cTn>
                                        <p:tgtEl>
                                          <p:spTgt spid="1048597">
                                            <p:txEl>
                                              <p:pRg st="0" end="0"/>
                                            </p:txEl>
                                          </p:spTgt>
                                        </p:tgtEl>
                                        <p:attrNameLst>
                                          <p:attrName>style.visibility</p:attrName>
                                        </p:attrNameLst>
                                      </p:cBhvr>
                                      <p:to>
                                        <p:strVal val="visible"/>
                                      </p:to>
                                    </p:set>
                                    <p:animEffect transition="in" filter="box(in)">
                                      <p:cBhvr>
                                        <p:cTn dur="500" id="18"/>
                                        <p:tgtEl>
                                          <p:spTgt spid="1048597">
                                            <p:txEl>
                                              <p:pRg st="0" end="0"/>
                                            </p:txEl>
                                          </p:spTgt>
                                        </p:tgtEl>
                                      </p:cBhvr>
                                    </p:animEffect>
                                  </p:childTnLst>
                                </p:cTn>
                              </p:par>
                              <p:par>
                                <p:cTn fill="hold" id="19" nodeType="withEffect" presetClass="entr" presetID="4" presetSubtype="16">
                                  <p:stCondLst>
                                    <p:cond delay="0"/>
                                  </p:stCondLst>
                                  <p:childTnLst>
                                    <p:set>
                                      <p:cBhvr>
                                        <p:cTn dur="1" fill="hold" id="20">
                                          <p:stCondLst>
                                            <p:cond delay="0"/>
                                          </p:stCondLst>
                                        </p:cTn>
                                        <p:tgtEl>
                                          <p:spTgt spid="1048597">
                                            <p:txEl>
                                              <p:pRg st="1" end="1"/>
                                            </p:txEl>
                                          </p:spTgt>
                                        </p:tgtEl>
                                        <p:attrNameLst>
                                          <p:attrName>style.visibility</p:attrName>
                                        </p:attrNameLst>
                                      </p:cBhvr>
                                      <p:to>
                                        <p:strVal val="visible"/>
                                      </p:to>
                                    </p:set>
                                    <p:animEffect transition="in" filter="box(in)">
                                      <p:cBhvr>
                                        <p:cTn dur="500" id="21"/>
                                        <p:tgtEl>
                                          <p:spTgt spid="1048597">
                                            <p:txEl>
                                              <p:pRg st="1" end="1"/>
                                            </p:txEl>
                                          </p:spTgt>
                                        </p:tgtEl>
                                      </p:cBhvr>
                                    </p:animEffect>
                                  </p:childTnLst>
                                </p:cTn>
                              </p:par>
                              <p:par>
                                <p:cTn fill="hold" id="22" nodeType="withEffect" presetClass="entr" presetID="4" presetSubtype="16">
                                  <p:stCondLst>
                                    <p:cond delay="0"/>
                                  </p:stCondLst>
                                  <p:childTnLst>
                                    <p:set>
                                      <p:cBhvr>
                                        <p:cTn dur="1" fill="hold" id="23">
                                          <p:stCondLst>
                                            <p:cond delay="0"/>
                                          </p:stCondLst>
                                        </p:cTn>
                                        <p:tgtEl>
                                          <p:spTgt spid="1048597">
                                            <p:txEl>
                                              <p:pRg st="2" end="2"/>
                                            </p:txEl>
                                          </p:spTgt>
                                        </p:tgtEl>
                                        <p:attrNameLst>
                                          <p:attrName>style.visibility</p:attrName>
                                        </p:attrNameLst>
                                      </p:cBhvr>
                                      <p:to>
                                        <p:strVal val="visible"/>
                                      </p:to>
                                    </p:set>
                                    <p:animEffect transition="in" filter="box(in)">
                                      <p:cBhvr>
                                        <p:cTn dur="500" id="24"/>
                                        <p:tgtEl>
                                          <p:spTgt spid="1048597">
                                            <p:txEl>
                                              <p:pRg st="2" end="2"/>
                                            </p:txEl>
                                          </p:spTgt>
                                        </p:tgtEl>
                                      </p:cBhvr>
                                    </p:animEffect>
                                  </p:childTnLst>
                                </p:cTn>
                              </p:par>
                              <p:par>
                                <p:cTn fill="hold" id="25" nodeType="withEffect" presetClass="entr" presetID="4" presetSubtype="16">
                                  <p:stCondLst>
                                    <p:cond delay="0"/>
                                  </p:stCondLst>
                                  <p:childTnLst>
                                    <p:set>
                                      <p:cBhvr>
                                        <p:cTn dur="1" fill="hold" id="26">
                                          <p:stCondLst>
                                            <p:cond delay="0"/>
                                          </p:stCondLst>
                                        </p:cTn>
                                        <p:tgtEl>
                                          <p:spTgt spid="1048597">
                                            <p:txEl>
                                              <p:pRg st="4" end="4"/>
                                            </p:txEl>
                                          </p:spTgt>
                                        </p:tgtEl>
                                        <p:attrNameLst>
                                          <p:attrName>style.visibility</p:attrName>
                                        </p:attrNameLst>
                                      </p:cBhvr>
                                      <p:to>
                                        <p:strVal val="visible"/>
                                      </p:to>
                                    </p:set>
                                    <p:animEffect transition="in" filter="box(in)">
                                      <p:cBhvr>
                                        <p:cTn dur="500" id="27"/>
                                        <p:tgtEl>
                                          <p:spTgt spid="104859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591" name="Title 1"/>
          <p:cNvSpPr>
            <a:spLocks noGrp="1"/>
          </p:cNvSpPr>
          <p:nvPr>
            <p:ph type="ctrTitle"/>
          </p:nvPr>
        </p:nvSpPr>
        <p:spPr>
          <a:xfrm>
            <a:off x="381000" y="381000"/>
            <a:ext cx="8229600" cy="685800"/>
          </a:xfrm>
        </p:spPr>
        <p:txBody>
          <a:bodyPr>
            <a:normAutofit fontScale="90000"/>
          </a:bodyPr>
          <a:p>
            <a:pPr algn="l"/>
            <a:r>
              <a:rPr b="1" dirty="0" lang="en-US" u="sng" smtClean="0">
                <a:solidFill>
                  <a:schemeClr val="tx1"/>
                </a:solidFill>
              </a:rPr>
              <a:t>Methodology</a:t>
            </a:r>
            <a:endParaRPr b="1" dirty="0" lang="en-US" u="sng">
              <a:solidFill>
                <a:schemeClr val="tx1"/>
              </a:solidFill>
            </a:endParaRPr>
          </a:p>
        </p:txBody>
      </p:sp>
      <p:sp>
        <p:nvSpPr>
          <p:cNvPr id="1048592" name="Subtitle 2"/>
          <p:cNvSpPr>
            <a:spLocks noGrp="1"/>
          </p:cNvSpPr>
          <p:nvPr>
            <p:ph type="subTitle" idx="1"/>
          </p:nvPr>
        </p:nvSpPr>
        <p:spPr>
          <a:xfrm>
            <a:off x="457200" y="1371600"/>
            <a:ext cx="8062912" cy="4800600"/>
          </a:xfrm>
        </p:spPr>
        <p:txBody>
          <a:bodyPr>
            <a:normAutofit fontScale="94444" lnSpcReduction="10000"/>
          </a:bodyPr>
          <a:p>
            <a:pPr algn="just">
              <a:buFont typeface="Wingdings" pitchFamily="2" charset="2"/>
              <a:buChar char="Ø"/>
            </a:pPr>
            <a:r>
              <a:rPr b="1" dirty="0" sz="1800" i="1" lang="en-US" err="1" u="sng" smtClean="0">
                <a:solidFill>
                  <a:schemeClr val="tx1"/>
                </a:solidFill>
              </a:rPr>
              <a:t>IoT</a:t>
            </a:r>
            <a:r>
              <a:rPr b="1" dirty="0" sz="1800" i="1" lang="en-US" u="sng" smtClean="0">
                <a:solidFill>
                  <a:schemeClr val="tx1"/>
                </a:solidFill>
              </a:rPr>
              <a:t> Smart Home </a:t>
            </a:r>
            <a:r>
              <a:rPr b="1" dirty="0" sz="1800" i="1" lang="en-US" err="1" u="sng" smtClean="0">
                <a:solidFill>
                  <a:schemeClr val="tx1"/>
                </a:solidFill>
              </a:rPr>
              <a:t>Testbed</a:t>
            </a:r>
            <a:endParaRPr b="1" dirty="0" sz="1800" i="1" lang="en-US" u="sng" smtClean="0">
              <a:solidFill>
                <a:schemeClr val="tx1"/>
              </a:solidFill>
            </a:endParaRPr>
          </a:p>
          <a:p>
            <a:pPr algn="just"/>
            <a:endParaRPr b="1" dirty="0" sz="1800" i="1" lang="en-US" u="sng" smtClean="0">
              <a:solidFill>
                <a:schemeClr val="tx1"/>
              </a:solidFill>
            </a:endParaRPr>
          </a:p>
          <a:p>
            <a:pPr algn="l"/>
            <a:r>
              <a:rPr dirty="0" sz="1800" lang="en-US" smtClean="0">
                <a:solidFill>
                  <a:schemeClr val="tx1"/>
                </a:solidFill>
                <a:latin typeface="Times New Roman" pitchFamily="18" charset="0"/>
                <a:cs typeface="Times New Roman" pitchFamily="18" charset="0"/>
              </a:rPr>
              <a:t>To initiate the development of Pulse, a smart home based </a:t>
            </a:r>
            <a:r>
              <a:rPr dirty="0" sz="1800" lang="en-US" err="1" smtClean="0">
                <a:solidFill>
                  <a:schemeClr val="tx1"/>
                </a:solidFill>
                <a:latin typeface="Times New Roman" pitchFamily="18" charset="0"/>
                <a:cs typeface="Times New Roman" pitchFamily="18" charset="0"/>
              </a:rPr>
              <a:t>IoT</a:t>
            </a:r>
            <a:r>
              <a:rPr dirty="0" sz="1800" lang="en-US" smtClean="0">
                <a:solidFill>
                  <a:schemeClr val="tx1"/>
                </a:solidFill>
                <a:latin typeface="Times New Roman" pitchFamily="18" charset="0"/>
                <a:cs typeface="Times New Roman" pitchFamily="18" charset="0"/>
              </a:rPr>
              <a:t> </a:t>
            </a:r>
            <a:r>
              <a:rPr dirty="0" sz="1800" lang="en-US" err="1" smtClean="0">
                <a:solidFill>
                  <a:schemeClr val="tx1"/>
                </a:solidFill>
                <a:latin typeface="Times New Roman" pitchFamily="18" charset="0"/>
                <a:cs typeface="Times New Roman" pitchFamily="18" charset="0"/>
              </a:rPr>
              <a:t>testbed</a:t>
            </a:r>
            <a:r>
              <a:rPr dirty="0" sz="1800" lang="en-US" smtClean="0">
                <a:solidFill>
                  <a:schemeClr val="tx1"/>
                </a:solidFill>
                <a:latin typeface="Times New Roman" pitchFamily="18" charset="0"/>
                <a:cs typeface="Times New Roman" pitchFamily="18" charset="0"/>
              </a:rPr>
              <a:t> was built           </a:t>
            </a:r>
            <a:r>
              <a:rPr dirty="0" sz="1800" lang="en-US" smtClean="0">
                <a:solidFill>
                  <a:schemeClr val="tx1"/>
                </a:solidFill>
                <a:latin typeface="Times New Roman" pitchFamily="18" charset="0"/>
                <a:cs typeface="Times New Roman" pitchFamily="18" charset="0"/>
              </a:rPr>
              <a:t>because of two reasons; (a) in order to collect data from real </a:t>
            </a:r>
            <a:r>
              <a:rPr dirty="0" sz="1800" lang="en-US" err="1" smtClean="0">
                <a:solidFill>
                  <a:schemeClr val="tx1"/>
                </a:solidFill>
                <a:latin typeface="Times New Roman" pitchFamily="18" charset="0"/>
                <a:cs typeface="Times New Roman" pitchFamily="18" charset="0"/>
              </a:rPr>
              <a:t>IoT</a:t>
            </a:r>
            <a:r>
              <a:rPr dirty="0" sz="1800" lang="en-US" smtClean="0">
                <a:solidFill>
                  <a:schemeClr val="tx1"/>
                </a:solidFill>
                <a:latin typeface="Times New Roman" pitchFamily="18" charset="0"/>
                <a:cs typeface="Times New Roman" pitchFamily="18" charset="0"/>
              </a:rPr>
              <a:t> devices and (b) to create a realistic environment which will allow to evaluate the feasibility of our system. It also consisted of two traditional IT devices. One of them constantly recorded the network </a:t>
            </a:r>
            <a:r>
              <a:rPr dirty="0" sz="1800" lang="en-US" err="1" smtClean="0">
                <a:solidFill>
                  <a:schemeClr val="tx1"/>
                </a:solidFill>
                <a:latin typeface="Times New Roman" pitchFamily="18" charset="0"/>
                <a:cs typeface="Times New Roman" pitchFamily="18" charset="0"/>
              </a:rPr>
              <a:t>trafﬁc</a:t>
            </a:r>
            <a:r>
              <a:rPr dirty="0" sz="1800" lang="en-US" smtClean="0">
                <a:solidFill>
                  <a:schemeClr val="tx1"/>
                </a:solidFill>
                <a:latin typeface="Times New Roman" pitchFamily="18" charset="0"/>
                <a:cs typeface="Times New Roman" pitchFamily="18" charset="0"/>
              </a:rPr>
              <a:t> and automatically generated and saved the log </a:t>
            </a:r>
            <a:r>
              <a:rPr dirty="0" sz="1800" lang="en-US" err="1" smtClean="0">
                <a:solidFill>
                  <a:schemeClr val="tx1"/>
                </a:solidFill>
                <a:latin typeface="Times New Roman" pitchFamily="18" charset="0"/>
                <a:cs typeface="Times New Roman" pitchFamily="18" charset="0"/>
              </a:rPr>
              <a:t>ﬁles</a:t>
            </a:r>
            <a:r>
              <a:rPr dirty="0" sz="1800" lang="en-US" smtClean="0">
                <a:solidFill>
                  <a:schemeClr val="tx1"/>
                </a:solidFill>
                <a:latin typeface="Times New Roman" pitchFamily="18" charset="0"/>
                <a:cs typeface="Times New Roman" pitchFamily="18" charset="0"/>
              </a:rPr>
              <a:t>. The other was used to deploy various attacks. </a:t>
            </a:r>
          </a:p>
          <a:p>
            <a:pPr algn="l"/>
            <a:endParaRPr dirty="0" sz="1800" lang="en-US" smtClean="0">
              <a:solidFill>
                <a:schemeClr val="tx1"/>
              </a:solidFill>
              <a:latin typeface="Times New Roman" pitchFamily="18" charset="0"/>
              <a:cs typeface="Times New Roman" pitchFamily="18" charset="0"/>
            </a:endParaRPr>
          </a:p>
          <a:p>
            <a:pPr algn="just">
              <a:buFont typeface="Wingdings" pitchFamily="2" charset="2"/>
              <a:buChar char="Ø"/>
            </a:pPr>
            <a:r>
              <a:rPr b="1" dirty="0" sz="1800" i="1" lang="en-US" u="sng" smtClean="0">
                <a:solidFill>
                  <a:schemeClr val="tx1"/>
                </a:solidFill>
              </a:rPr>
              <a:t>Generating Data</a:t>
            </a:r>
          </a:p>
          <a:p>
            <a:pPr algn="just">
              <a:buFont typeface="Wingdings" pitchFamily="2" charset="2"/>
              <a:buChar char="Ø"/>
            </a:pPr>
            <a:endParaRPr b="1" dirty="0" sz="1800" i="1" lang="en-US" u="sng" smtClean="0">
              <a:solidFill>
                <a:schemeClr val="tx1"/>
              </a:solidFill>
            </a:endParaRPr>
          </a:p>
          <a:p>
            <a:pPr algn="l"/>
            <a:r>
              <a:rPr dirty="0" sz="1800" lang="en-US" smtClean="0">
                <a:solidFill>
                  <a:schemeClr val="tx1"/>
                </a:solidFill>
                <a:latin typeface="Times New Roman" pitchFamily="18" charset="0"/>
                <a:cs typeface="Times New Roman" pitchFamily="18" charset="0"/>
              </a:rPr>
              <a:t>Two data-sets were generated , one with benign network </a:t>
            </a:r>
            <a:r>
              <a:rPr dirty="0" sz="1800" lang="en-US" err="1" smtClean="0">
                <a:solidFill>
                  <a:schemeClr val="tx1"/>
                </a:solidFill>
                <a:latin typeface="Times New Roman" pitchFamily="18" charset="0"/>
                <a:cs typeface="Times New Roman" pitchFamily="18" charset="0"/>
              </a:rPr>
              <a:t>trafﬁc</a:t>
            </a:r>
            <a:r>
              <a:rPr dirty="0" sz="1800" lang="en-US" smtClean="0">
                <a:solidFill>
                  <a:schemeClr val="tx1"/>
                </a:solidFill>
                <a:latin typeface="Times New Roman" pitchFamily="18" charset="0"/>
                <a:cs typeface="Times New Roman" pitchFamily="18" charset="0"/>
              </a:rPr>
              <a:t> and one with malicious, to train the ML model of our system we monitored the network </a:t>
            </a:r>
            <a:r>
              <a:rPr dirty="0" sz="1800" lang="en-US" err="1" smtClean="0">
                <a:solidFill>
                  <a:schemeClr val="tx1"/>
                </a:solidFill>
                <a:latin typeface="Times New Roman" pitchFamily="18" charset="0"/>
                <a:cs typeface="Times New Roman" pitchFamily="18" charset="0"/>
              </a:rPr>
              <a:t>trafﬁc</a:t>
            </a:r>
            <a:r>
              <a:rPr dirty="0" sz="1800" lang="en-US" smtClean="0">
                <a:solidFill>
                  <a:schemeClr val="tx1"/>
                </a:solidFill>
                <a:latin typeface="Times New Roman" pitchFamily="18" charset="0"/>
                <a:cs typeface="Times New Roman" pitchFamily="18" charset="0"/>
              </a:rPr>
              <a:t> on the </a:t>
            </a:r>
            <a:r>
              <a:rPr dirty="0" sz="1800" lang="en-US" err="1" smtClean="0">
                <a:solidFill>
                  <a:schemeClr val="tx1"/>
                </a:solidFill>
                <a:latin typeface="Times New Roman" pitchFamily="18" charset="0"/>
                <a:cs typeface="Times New Roman" pitchFamily="18" charset="0"/>
              </a:rPr>
              <a:t>IoT</a:t>
            </a:r>
            <a:r>
              <a:rPr dirty="0" sz="1800" lang="en-US" smtClean="0">
                <a:solidFill>
                  <a:schemeClr val="tx1"/>
                </a:solidFill>
                <a:latin typeface="Times New Roman" pitchFamily="18" charset="0"/>
                <a:cs typeface="Times New Roman" pitchFamily="18" charset="0"/>
              </a:rPr>
              <a:t> </a:t>
            </a:r>
            <a:r>
              <a:rPr dirty="0" sz="1800" lang="en-US" err="1" smtClean="0">
                <a:solidFill>
                  <a:schemeClr val="tx1"/>
                </a:solidFill>
                <a:latin typeface="Times New Roman" pitchFamily="18" charset="0"/>
                <a:cs typeface="Times New Roman" pitchFamily="18" charset="0"/>
              </a:rPr>
              <a:t>testbed</a:t>
            </a:r>
            <a:r>
              <a:rPr dirty="0" sz="1800" lang="en-US" smtClean="0">
                <a:solidFill>
                  <a:schemeClr val="tx1"/>
                </a:solidFill>
                <a:latin typeface="Times New Roman" pitchFamily="18" charset="0"/>
                <a:cs typeface="Times New Roman" pitchFamily="18" charset="0"/>
              </a:rPr>
              <a:t> for four consecutive days using the software </a:t>
            </a:r>
            <a:r>
              <a:rPr dirty="0" sz="1800" lang="en-US" err="1" smtClean="0">
                <a:solidFill>
                  <a:schemeClr val="tx1"/>
                </a:solidFill>
                <a:latin typeface="Times New Roman" pitchFamily="18" charset="0"/>
                <a:cs typeface="Times New Roman" pitchFamily="18" charset="0"/>
              </a:rPr>
              <a:t>Wireshark</a:t>
            </a:r>
            <a:r>
              <a:rPr dirty="0" sz="1800" lang="en-US" smtClean="0">
                <a:solidFill>
                  <a:schemeClr val="tx1"/>
                </a:solidFill>
                <a:latin typeface="Times New Roman" pitchFamily="18" charset="0"/>
                <a:cs typeface="Times New Roman" pitchFamily="18" charset="0"/>
              </a:rPr>
              <a:t>. For the </a:t>
            </a:r>
            <a:r>
              <a:rPr dirty="0" sz="1800" lang="en-US" err="1" smtClean="0">
                <a:solidFill>
                  <a:schemeClr val="tx1"/>
                </a:solidFill>
                <a:latin typeface="Times New Roman" pitchFamily="18" charset="0"/>
                <a:cs typeface="Times New Roman" pitchFamily="18" charset="0"/>
              </a:rPr>
              <a:t>ﬁrst</a:t>
            </a:r>
            <a:r>
              <a:rPr dirty="0" sz="1800" lang="en-US" smtClean="0">
                <a:solidFill>
                  <a:schemeClr val="tx1"/>
                </a:solidFill>
                <a:latin typeface="Times New Roman" pitchFamily="18" charset="0"/>
                <a:cs typeface="Times New Roman" pitchFamily="18" charset="0"/>
              </a:rPr>
              <a:t> two days, we recorded and observed how the network operated under normal conditions. For the next two days, we randomly deployed attacks while the </a:t>
            </a:r>
            <a:r>
              <a:rPr dirty="0" sz="1800" lang="en-US" err="1" smtClean="0">
                <a:solidFill>
                  <a:schemeClr val="tx1"/>
                </a:solidFill>
                <a:latin typeface="Times New Roman" pitchFamily="18" charset="0"/>
                <a:cs typeface="Times New Roman" pitchFamily="18" charset="0"/>
              </a:rPr>
              <a:t>trafﬁc</a:t>
            </a:r>
            <a:r>
              <a:rPr dirty="0" sz="1800" lang="en-US" smtClean="0">
                <a:solidFill>
                  <a:schemeClr val="tx1"/>
                </a:solidFill>
                <a:latin typeface="Times New Roman" pitchFamily="18" charset="0"/>
                <a:cs typeface="Times New Roman" pitchFamily="18" charset="0"/>
              </a:rPr>
              <a:t> was still being recorded.</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5" presetSubtype="10">
                                  <p:stCondLst>
                                    <p:cond delay="0"/>
                                  </p:stCondLst>
                                  <p:childTnLst>
                                    <p:set>
                                      <p:cBhvr>
                                        <p:cTn dur="1" fill="hold" id="6">
                                          <p:stCondLst>
                                            <p:cond delay="0"/>
                                          </p:stCondLst>
                                        </p:cTn>
                                        <p:tgtEl>
                                          <p:spTgt spid="1048592">
                                            <p:txEl>
                                              <p:pRg st="2" end="2"/>
                                            </p:txEl>
                                          </p:spTgt>
                                        </p:tgtEl>
                                        <p:attrNameLst>
                                          <p:attrName>style.visibility</p:attrName>
                                        </p:attrNameLst>
                                      </p:cBhvr>
                                      <p:to>
                                        <p:strVal val="visible"/>
                                      </p:to>
                                    </p:set>
                                    <p:animEffect transition="in" filter="checkerboard(across)">
                                      <p:cBhvr>
                                        <p:cTn dur="500" id="7"/>
                                        <p:tgtEl>
                                          <p:spTgt spid="1048592">
                                            <p:txEl>
                                              <p:pRg st="2" end="2"/>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5" presetSubtype="10">
                                  <p:stCondLst>
                                    <p:cond delay="0"/>
                                  </p:stCondLst>
                                  <p:childTnLst>
                                    <p:set>
                                      <p:cBhvr>
                                        <p:cTn dur="1" fill="hold" id="11">
                                          <p:stCondLst>
                                            <p:cond delay="0"/>
                                          </p:stCondLst>
                                        </p:cTn>
                                        <p:tgtEl>
                                          <p:spTgt spid="1048592">
                                            <p:txEl>
                                              <p:pRg st="6" end="6"/>
                                            </p:txEl>
                                          </p:spTgt>
                                        </p:tgtEl>
                                        <p:attrNameLst>
                                          <p:attrName>style.visibility</p:attrName>
                                        </p:attrNameLst>
                                      </p:cBhvr>
                                      <p:to>
                                        <p:strVal val="visible"/>
                                      </p:to>
                                    </p:set>
                                    <p:animEffect transition="in" filter="checkerboard(across)">
                                      <p:cBhvr>
                                        <p:cTn dur="500" id="12"/>
                                        <p:tgtEl>
                                          <p:spTgt spid="104859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586" name="Title 1"/>
          <p:cNvSpPr>
            <a:spLocks noGrp="1"/>
          </p:cNvSpPr>
          <p:nvPr>
            <p:ph type="ctrTitle"/>
          </p:nvPr>
        </p:nvSpPr>
        <p:spPr>
          <a:xfrm>
            <a:off x="381000" y="304800"/>
            <a:ext cx="8229600" cy="685800"/>
          </a:xfrm>
        </p:spPr>
        <p:txBody>
          <a:bodyPr>
            <a:normAutofit fontScale="90000"/>
          </a:bodyPr>
          <a:p>
            <a:pPr algn="l"/>
            <a:r>
              <a:rPr b="1" dirty="0" lang="en-US" u="sng" smtClean="0">
                <a:solidFill>
                  <a:schemeClr val="tx1"/>
                </a:solidFill>
              </a:rPr>
              <a:t>Methodology</a:t>
            </a:r>
            <a:endParaRPr b="1" dirty="0" lang="en-US" u="sng">
              <a:solidFill>
                <a:schemeClr val="tx1"/>
              </a:solidFill>
            </a:endParaRPr>
          </a:p>
        </p:txBody>
      </p:sp>
      <p:sp>
        <p:nvSpPr>
          <p:cNvPr id="1048587" name="Subtitle 2"/>
          <p:cNvSpPr>
            <a:spLocks noGrp="1"/>
          </p:cNvSpPr>
          <p:nvPr>
            <p:ph type="subTitle" idx="1"/>
          </p:nvPr>
        </p:nvSpPr>
        <p:spPr>
          <a:xfrm>
            <a:off x="457200" y="1219200"/>
            <a:ext cx="8062912" cy="4953000"/>
          </a:xfrm>
        </p:spPr>
        <p:txBody>
          <a:bodyPr>
            <a:normAutofit/>
          </a:bodyPr>
          <a:p>
            <a:pPr algn="just">
              <a:buFont typeface="Wingdings" pitchFamily="2" charset="2"/>
              <a:buChar char="Ø"/>
            </a:pPr>
            <a:r>
              <a:rPr b="1" dirty="0" sz="1800" i="1" lang="en-US" u="sng" smtClean="0">
                <a:solidFill>
                  <a:schemeClr val="tx1"/>
                </a:solidFill>
              </a:rPr>
              <a:t>Machine Learning Model</a:t>
            </a:r>
          </a:p>
          <a:p>
            <a:pPr algn="just"/>
            <a:endParaRPr b="1" dirty="0" sz="1800" i="1" lang="en-US" u="sng" smtClean="0">
              <a:solidFill>
                <a:schemeClr val="tx1"/>
              </a:solidFill>
            </a:endParaRPr>
          </a:p>
          <a:p>
            <a:pPr algn="just">
              <a:buFont typeface="Wingdings" pitchFamily="2" charset="2"/>
              <a:buChar char="Ø"/>
            </a:pPr>
            <a:r>
              <a:rPr dirty="0" sz="1800" lang="en-US" smtClean="0">
                <a:solidFill>
                  <a:schemeClr val="tx1"/>
                </a:solidFill>
                <a:latin typeface="Times New Roman" pitchFamily="18" charset="0"/>
                <a:cs typeface="Times New Roman" pitchFamily="18" charset="0"/>
              </a:rPr>
              <a:t>This paper aimed at creating an IDS that will automatically learn its ecosystem machine learning.</a:t>
            </a:r>
          </a:p>
          <a:p>
            <a:pPr algn="just">
              <a:buFont typeface="Wingdings" pitchFamily="2" charset="2"/>
              <a:buChar char="Ø"/>
            </a:pPr>
            <a:r>
              <a:rPr dirty="0" sz="1800" lang="en-US" smtClean="0">
                <a:solidFill>
                  <a:schemeClr val="tx1"/>
                </a:solidFill>
                <a:latin typeface="Times New Roman" pitchFamily="18" charset="0"/>
                <a:cs typeface="Times New Roman" pitchFamily="18" charset="0"/>
              </a:rPr>
              <a:t>T</a:t>
            </a:r>
            <a:r>
              <a:rPr dirty="0" sz="1800" lang="en-US" smtClean="0">
                <a:solidFill>
                  <a:schemeClr val="tx1"/>
                </a:solidFill>
                <a:latin typeface="Times New Roman" pitchFamily="18" charset="0"/>
                <a:cs typeface="Times New Roman" pitchFamily="18" charset="0"/>
              </a:rPr>
              <a:t>he data log generated earlier formed the basis for the feature ve</a:t>
            </a:r>
            <a:r>
              <a:rPr dirty="0" sz="1800" lang="en-US" smtClean="0">
                <a:solidFill>
                  <a:schemeClr val="tx1"/>
                </a:solidFill>
                <a:latin typeface="Times New Roman" pitchFamily="18" charset="0"/>
                <a:cs typeface="Times New Roman" pitchFamily="18" charset="0"/>
              </a:rPr>
              <a:t>c</a:t>
            </a:r>
            <a:r>
              <a:rPr dirty="0" sz="1800" lang="en-US" smtClean="0">
                <a:solidFill>
                  <a:schemeClr val="tx1"/>
                </a:solidFill>
                <a:latin typeface="Times New Roman" pitchFamily="18" charset="0"/>
                <a:cs typeface="Times New Roman" pitchFamily="18" charset="0"/>
              </a:rPr>
              <a:t>t</a:t>
            </a:r>
            <a:r>
              <a:rPr dirty="0" sz="1800" lang="en-US" smtClean="0">
                <a:solidFill>
                  <a:schemeClr val="tx1"/>
                </a:solidFill>
                <a:latin typeface="Times New Roman" pitchFamily="18" charset="0"/>
                <a:cs typeface="Times New Roman" pitchFamily="18" charset="0"/>
              </a:rPr>
              <a:t>o</a:t>
            </a:r>
            <a:r>
              <a:rPr dirty="0" sz="1800" lang="en-US" smtClean="0">
                <a:solidFill>
                  <a:schemeClr val="tx1"/>
                </a:solidFill>
                <a:latin typeface="Times New Roman" pitchFamily="18" charset="0"/>
                <a:cs typeface="Times New Roman" pitchFamily="18" charset="0"/>
              </a:rPr>
              <a:t>r</a:t>
            </a:r>
            <a:r>
              <a:rPr dirty="0" sz="1800" lang="en-US" smtClean="0">
                <a:solidFill>
                  <a:schemeClr val="tx1"/>
                </a:solidFill>
                <a:latin typeface="Times New Roman" pitchFamily="18" charset="0"/>
                <a:cs typeface="Times New Roman" pitchFamily="18" charset="0"/>
              </a:rPr>
              <a:t>s</a:t>
            </a:r>
            <a:r>
              <a:rPr dirty="0" sz="1800" lang="en-US" smtClean="0">
                <a:solidFill>
                  <a:schemeClr val="tx1"/>
                </a:solidFill>
                <a:latin typeface="Times New Roman" pitchFamily="18" charset="0"/>
                <a:cs typeface="Times New Roman" pitchFamily="18" charset="0"/>
              </a:rPr>
              <a:t>. These feature vectors consisted of: the time of the attack, the destination IP address of the devices, </a:t>
            </a:r>
            <a:r>
              <a:rPr dirty="0" sz="1800" lang="en-US" smtClean="0">
                <a:solidFill>
                  <a:schemeClr val="tx1"/>
                </a:solidFill>
                <a:latin typeface="Times New Roman" pitchFamily="18" charset="0"/>
                <a:cs typeface="Times New Roman" pitchFamily="18" charset="0"/>
              </a:rPr>
              <a:t>e</a:t>
            </a:r>
            <a:r>
              <a:rPr dirty="0" sz="1800" lang="en-US" smtClean="0">
                <a:solidFill>
                  <a:schemeClr val="tx1"/>
                </a:solidFill>
                <a:latin typeface="Times New Roman" pitchFamily="18" charset="0"/>
                <a:cs typeface="Times New Roman" pitchFamily="18" charset="0"/>
              </a:rPr>
              <a:t>t</a:t>
            </a:r>
            <a:r>
              <a:rPr dirty="0" sz="1800" lang="en-US" smtClean="0">
                <a:solidFill>
                  <a:schemeClr val="tx1"/>
                </a:solidFill>
                <a:latin typeface="Times New Roman" pitchFamily="18" charset="0"/>
                <a:cs typeface="Times New Roman" pitchFamily="18" charset="0"/>
              </a:rPr>
              <a:t>c</a:t>
            </a:r>
            <a:r>
              <a:rPr dirty="0" sz="1800" lang="en-US" smtClean="0">
                <a:solidFill>
                  <a:schemeClr val="tx1"/>
                </a:solidFill>
                <a:latin typeface="Times New Roman" pitchFamily="18" charset="0"/>
                <a:cs typeface="Times New Roman" pitchFamily="18" charset="0"/>
              </a:rPr>
              <a:t> </a:t>
            </a:r>
            <a:r>
              <a:rPr dirty="0" sz="1800" lang="en-US" smtClean="0">
                <a:solidFill>
                  <a:schemeClr val="tx1"/>
                </a:solidFill>
                <a:latin typeface="Times New Roman" pitchFamily="18" charset="0"/>
                <a:cs typeface="Times New Roman" pitchFamily="18" charset="0"/>
              </a:rPr>
              <a:t>a</a:t>
            </a:r>
            <a:r>
              <a:rPr dirty="0" sz="1800" lang="en-US" smtClean="0">
                <a:solidFill>
                  <a:schemeClr val="tx1"/>
                </a:solidFill>
                <a:latin typeface="Times New Roman" pitchFamily="18" charset="0"/>
                <a:cs typeface="Times New Roman" pitchFamily="18" charset="0"/>
              </a:rPr>
              <a:t>n</a:t>
            </a:r>
            <a:r>
              <a:rPr dirty="0" sz="1800" lang="en-US" smtClean="0">
                <a:solidFill>
                  <a:schemeClr val="tx1"/>
                </a:solidFill>
                <a:latin typeface="Times New Roman" pitchFamily="18" charset="0"/>
                <a:cs typeface="Times New Roman" pitchFamily="18" charset="0"/>
              </a:rPr>
              <a:t>d</a:t>
            </a:r>
            <a:r>
              <a:rPr dirty="0" sz="1800" lang="en-US" smtClean="0">
                <a:solidFill>
                  <a:schemeClr val="tx1"/>
                </a:solidFill>
                <a:latin typeface="Times New Roman" pitchFamily="18" charset="0"/>
                <a:cs typeface="Times New Roman" pitchFamily="18" charset="0"/>
              </a:rPr>
              <a:t> were subsequently amended with their class label, i.e. benign or malicious.</a:t>
            </a:r>
            <a:endParaRPr altLang="en-US" lang="zh-CN"/>
          </a:p>
          <a:p>
            <a:pPr algn="just">
              <a:buFont typeface="Wingdings" pitchFamily="2" charset="2"/>
              <a:buChar char="Ø"/>
            </a:pPr>
            <a:r>
              <a:rPr dirty="0" sz="1800" lang="en-US" smtClean="0">
                <a:solidFill>
                  <a:schemeClr val="tx1"/>
                </a:solidFill>
                <a:latin typeface="Times New Roman" pitchFamily="18" charset="0"/>
                <a:cs typeface="Times New Roman" pitchFamily="18" charset="0"/>
              </a:rPr>
              <a:t>W</a:t>
            </a:r>
            <a:r>
              <a:rPr dirty="0" sz="1800" lang="en-US" smtClean="0">
                <a:solidFill>
                  <a:schemeClr val="tx1"/>
                </a:solidFill>
                <a:latin typeface="Times New Roman" pitchFamily="18" charset="0"/>
                <a:cs typeface="Times New Roman" pitchFamily="18" charset="0"/>
              </a:rPr>
              <a:t>e used Wekas inbuilt function, a popular suite of ML tools, to sub-sample an even number of both classes. </a:t>
            </a:r>
            <a:endParaRPr altLang="en-US" lang="zh-CN"/>
          </a:p>
          <a:p>
            <a:pPr algn="just">
              <a:buFont typeface="Wingdings" pitchFamily="2" charset="2"/>
              <a:buChar char="Ø"/>
            </a:pPr>
            <a:r>
              <a:rPr dirty="0" sz="1800" lang="en-US" smtClean="0">
                <a:solidFill>
                  <a:schemeClr val="tx1"/>
                </a:solidFill>
                <a:latin typeface="Times New Roman" pitchFamily="18" charset="0"/>
                <a:cs typeface="Times New Roman" pitchFamily="18" charset="0"/>
              </a:rPr>
              <a:t>T</a:t>
            </a:r>
            <a:r>
              <a:rPr dirty="0" sz="1800" lang="en-US" smtClean="0">
                <a:solidFill>
                  <a:schemeClr val="tx1"/>
                </a:solidFill>
                <a:latin typeface="Times New Roman" pitchFamily="18" charset="0"/>
                <a:cs typeface="Times New Roman" pitchFamily="18" charset="0"/>
              </a:rPr>
              <a:t>o determine the best classiﬁcation model for this case, we performed 10-fold cross validation experiments by applying a variety of classiﬁers distributed as part of Weka. A Naive Bayes classiﬁer outperformed other methods.</a:t>
            </a:r>
            <a:endParaRPr altLang="en-US" lang="zh-CN"/>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4" presetSubtype="16">
                                  <p:stCondLst>
                                    <p:cond delay="0"/>
                                  </p:stCondLst>
                                  <p:childTnLst>
                                    <p:set>
                                      <p:cBhvr>
                                        <p:cTn dur="1" fill="hold" id="6">
                                          <p:stCondLst>
                                            <p:cond delay="0"/>
                                          </p:stCondLst>
                                        </p:cTn>
                                        <p:tgtEl>
                                          <p:spTgt spid="1048587">
                                            <p:txEl>
                                              <p:pRg st="2" end="2"/>
                                            </p:txEl>
                                          </p:spTgt>
                                        </p:tgtEl>
                                        <p:attrNameLst>
                                          <p:attrName>style.visibility</p:attrName>
                                        </p:attrNameLst>
                                      </p:cBhvr>
                                      <p:to>
                                        <p:strVal val="visible"/>
                                      </p:to>
                                    </p:set>
                                    <p:animEffect transition="in" filter="box(in)">
                                      <p:cBhvr>
                                        <p:cTn dur="500" id="7"/>
                                        <p:tgtEl>
                                          <p:spTgt spid="1048587">
                                            <p:txEl>
                                              <p:pRg st="2" end="2"/>
                                            </p:txEl>
                                          </p:spTgt>
                                        </p:tgtEl>
                                      </p:cBhvr>
                                    </p:animEffect>
                                  </p:childTnLst>
                                </p:cTn>
                              </p:par>
                              <p:par>
                                <p:cTn fill="hold" id="8" nodeType="withEffect" presetClass="entr" presetID="4" presetSubtype="16">
                                  <p:stCondLst>
                                    <p:cond delay="0"/>
                                  </p:stCondLst>
                                  <p:childTnLst>
                                    <p:set>
                                      <p:cBhvr>
                                        <p:cTn dur="1" fill="hold" id="9">
                                          <p:stCondLst>
                                            <p:cond delay="0"/>
                                          </p:stCondLst>
                                        </p:cTn>
                                        <p:tgtEl>
                                          <p:spTgt spid="1048587">
                                            <p:txEl>
                                              <p:pRg st="3" end="3"/>
                                            </p:txEl>
                                          </p:spTgt>
                                        </p:tgtEl>
                                        <p:attrNameLst>
                                          <p:attrName>style.visibility</p:attrName>
                                        </p:attrNameLst>
                                      </p:cBhvr>
                                      <p:to>
                                        <p:strVal val="visible"/>
                                      </p:to>
                                    </p:set>
                                    <p:animEffect transition="in" filter="box(in)">
                                      <p:cBhvr>
                                        <p:cTn dur="500" id="10"/>
                                        <p:tgtEl>
                                          <p:spTgt spid="1048587">
                                            <p:txEl>
                                              <p:pRg st="3" end="3"/>
                                            </p:txEl>
                                          </p:spTgt>
                                        </p:tgtEl>
                                      </p:cBhvr>
                                    </p:animEffect>
                                  </p:childTnLst>
                                </p:cTn>
                              </p:par>
                              <p:par>
                                <p:cTn fill="hold" id="11" nodeType="withEffect" presetClass="entr" presetID="4" presetSubtype="16">
                                  <p:stCondLst>
                                    <p:cond delay="0"/>
                                  </p:stCondLst>
                                  <p:childTnLst>
                                    <p:set>
                                      <p:cBhvr>
                                        <p:cTn dur="1" fill="hold" id="12">
                                          <p:stCondLst>
                                            <p:cond delay="0"/>
                                          </p:stCondLst>
                                        </p:cTn>
                                        <p:tgtEl>
                                          <p:spTgt spid="1048587">
                                            <p:txEl>
                                              <p:pRg st="4" end="4"/>
                                            </p:txEl>
                                          </p:spTgt>
                                        </p:tgtEl>
                                        <p:attrNameLst>
                                          <p:attrName>style.visibility</p:attrName>
                                        </p:attrNameLst>
                                      </p:cBhvr>
                                      <p:to>
                                        <p:strVal val="visible"/>
                                      </p:to>
                                    </p:set>
                                    <p:animEffect transition="in" filter="box(in)">
                                      <p:cBhvr>
                                        <p:cTn dur="500" id="13"/>
                                        <p:tgtEl>
                                          <p:spTgt spid="1048587">
                                            <p:txEl>
                                              <p:pRg st="4" end="4"/>
                                            </p:txEl>
                                          </p:spTgt>
                                        </p:tgtEl>
                                      </p:cBhvr>
                                    </p:animEffect>
                                  </p:childTnLst>
                                </p:cTn>
                              </p:par>
                              <p:par>
                                <p:cTn fill="hold" id="14" nodeType="withEffect" presetClass="entr" presetID="4" presetSubtype="16">
                                  <p:stCondLst>
                                    <p:cond delay="0"/>
                                  </p:stCondLst>
                                  <p:childTnLst>
                                    <p:set>
                                      <p:cBhvr>
                                        <p:cTn dur="1" fill="hold" id="15">
                                          <p:stCondLst>
                                            <p:cond delay="0"/>
                                          </p:stCondLst>
                                        </p:cTn>
                                        <p:tgtEl>
                                          <p:spTgt spid="1048587">
                                            <p:txEl>
                                              <p:pRg st="5" end="5"/>
                                            </p:txEl>
                                          </p:spTgt>
                                        </p:tgtEl>
                                        <p:attrNameLst>
                                          <p:attrName>style.visibility</p:attrName>
                                        </p:attrNameLst>
                                      </p:cBhvr>
                                      <p:to>
                                        <p:strVal val="visible"/>
                                      </p:to>
                                    </p:set>
                                    <p:animEffect transition="in" filter="box(in)">
                                      <p:cBhvr>
                                        <p:cTn dur="500" id="16"/>
                                        <p:tgtEl>
                                          <p:spTgt spid="10485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588" name="Title 1"/>
          <p:cNvSpPr>
            <a:spLocks noGrp="1"/>
          </p:cNvSpPr>
          <p:nvPr>
            <p:ph type="ctrTitle"/>
          </p:nvPr>
        </p:nvSpPr>
        <p:spPr>
          <a:xfrm>
            <a:off x="381000" y="457200"/>
            <a:ext cx="8229600" cy="533399"/>
          </a:xfrm>
        </p:spPr>
        <p:txBody>
          <a:bodyPr>
            <a:normAutofit fontScale="90000"/>
          </a:bodyPr>
          <a:p>
            <a:pPr algn="l"/>
            <a:r>
              <a:rPr b="1" dirty="0" lang="en-US" u="sng" smtClean="0">
                <a:solidFill>
                  <a:schemeClr val="tx1"/>
                </a:solidFill>
              </a:rPr>
              <a:t>Results</a:t>
            </a:r>
            <a:endParaRPr b="1" dirty="0" lang="en-US" u="sng">
              <a:solidFill>
                <a:schemeClr val="tx1"/>
              </a:solidFill>
            </a:endParaRPr>
          </a:p>
        </p:txBody>
      </p:sp>
      <p:sp>
        <p:nvSpPr>
          <p:cNvPr id="1048589" name="Subtitle 2"/>
          <p:cNvSpPr>
            <a:spLocks noGrp="1"/>
          </p:cNvSpPr>
          <p:nvPr>
            <p:ph type="subTitle" idx="1"/>
          </p:nvPr>
        </p:nvSpPr>
        <p:spPr>
          <a:xfrm>
            <a:off x="457200" y="1295400"/>
            <a:ext cx="7605712" cy="4800600"/>
          </a:xfrm>
        </p:spPr>
        <p:txBody>
          <a:bodyPr>
            <a:normAutofit fontScale="59375" lnSpcReduction="20000"/>
          </a:bodyPr>
          <a:p>
            <a:pPr algn="just"/>
            <a:r>
              <a:rPr dirty="0" lang="en-US" smtClean="0">
                <a:solidFill>
                  <a:schemeClr val="tx1"/>
                </a:solidFill>
              </a:rPr>
              <a:t>The results from our initial experiments demonstrated that our model was effective at identifying network probing and SYN/UDP </a:t>
            </a:r>
            <a:r>
              <a:rPr dirty="0" lang="en-US" err="1" smtClean="0">
                <a:solidFill>
                  <a:schemeClr val="tx1"/>
                </a:solidFill>
              </a:rPr>
              <a:t>ﬂood</a:t>
            </a:r>
            <a:r>
              <a:rPr dirty="0" lang="en-US" smtClean="0">
                <a:solidFill>
                  <a:schemeClr val="tx1"/>
                </a:solidFill>
              </a:rPr>
              <a:t> attacks. </a:t>
            </a:r>
          </a:p>
          <a:p>
            <a:pPr algn="just"/>
            <a:endParaRPr dirty="0" lang="en-US" smtClean="0">
              <a:solidFill>
                <a:schemeClr val="tx1"/>
              </a:solidFill>
            </a:endParaRPr>
          </a:p>
          <a:p>
            <a:pPr algn="just"/>
            <a:endParaRPr dirty="0" lang="en-US" smtClean="0">
              <a:solidFill>
                <a:schemeClr val="tx1"/>
              </a:solidFill>
            </a:endParaRPr>
          </a:p>
          <a:p>
            <a:pPr algn="just"/>
            <a:endParaRPr dirty="0" lang="en-US" smtClean="0">
              <a:solidFill>
                <a:schemeClr val="tx1"/>
              </a:solidFill>
            </a:endParaRPr>
          </a:p>
          <a:p>
            <a:pPr algn="just"/>
            <a:endParaRPr dirty="0" lang="en-US" smtClean="0">
              <a:solidFill>
                <a:schemeClr val="tx1"/>
              </a:solidFill>
            </a:endParaRPr>
          </a:p>
          <a:p>
            <a:pPr algn="just"/>
            <a:endParaRPr dirty="0" lang="en-US" smtClean="0">
              <a:solidFill>
                <a:schemeClr val="tx1"/>
              </a:solidFill>
            </a:endParaRPr>
          </a:p>
          <a:p>
            <a:pPr algn="just"/>
            <a:endParaRPr dirty="0" lang="en-US" smtClean="0">
              <a:solidFill>
                <a:schemeClr val="tx1"/>
              </a:solidFill>
            </a:endParaRPr>
          </a:p>
          <a:p>
            <a:pPr algn="just"/>
            <a:endParaRPr dirty="0" lang="en-US" smtClean="0">
              <a:solidFill>
                <a:schemeClr val="tx1"/>
              </a:solidFill>
            </a:endParaRPr>
          </a:p>
          <a:p>
            <a:pPr algn="just"/>
            <a:endParaRPr dirty="0" lang="en-US" smtClean="0">
              <a:solidFill>
                <a:schemeClr val="tx1"/>
              </a:solidFill>
            </a:endParaRPr>
          </a:p>
          <a:p>
            <a:pPr algn="just"/>
            <a:endParaRPr dirty="0" lang="en-US" smtClean="0">
              <a:solidFill>
                <a:schemeClr val="tx1"/>
              </a:solidFill>
            </a:endParaRPr>
          </a:p>
          <a:p>
            <a:pPr algn="just"/>
            <a:endParaRPr dirty="0" lang="en-US" smtClean="0">
              <a:solidFill>
                <a:schemeClr val="tx1"/>
              </a:solidFill>
            </a:endParaRPr>
          </a:p>
          <a:p>
            <a:pPr algn="just"/>
            <a:r>
              <a:rPr dirty="0" lang="en-US" smtClean="0">
                <a:solidFill>
                  <a:schemeClr val="tx1"/>
                </a:solidFill>
              </a:rPr>
              <a:t>In future we will use more theoretical reasoning to devise new features that represent network behaviours and enable to reason around the effective behaviours to monitor for attack detection in diverse IOT environments.</a:t>
            </a:r>
          </a:p>
          <a:p>
            <a:pPr algn="just"/>
            <a:endParaRPr dirty="0" lang="en-US" smtClean="0">
              <a:solidFill>
                <a:schemeClr val="tx1"/>
              </a:solidFill>
            </a:endParaRPr>
          </a:p>
          <a:p>
            <a:pPr algn="just"/>
            <a:endParaRPr dirty="0" lang="en-US" smtClean="0">
              <a:solidFill>
                <a:schemeClr val="tx1"/>
              </a:solidFill>
            </a:endParaRPr>
          </a:p>
        </p:txBody>
      </p:sp>
      <p:graphicFrame>
        <p:nvGraphicFramePr>
          <p:cNvPr id="4194304" name="Table 4"/>
          <p:cNvGraphicFramePr>
            <a:graphicFrameLocks noGrp="1"/>
          </p:cNvGraphicFramePr>
          <p:nvPr/>
        </p:nvGraphicFramePr>
        <p:xfrm>
          <a:off x="602455" y="2247900"/>
          <a:ext cx="7315201" cy="2103120"/>
        </p:xfrm>
        <a:graphic>
          <a:graphicData uri="http://schemas.openxmlformats.org/drawingml/2006/table">
            <a:tbl>
              <a:tblPr>
                <a:tableStyleId>{616DA210-FB5B-4158-B5E0-FEB733F419BA}</a:tableStyleId>
              </a:tblPr>
              <a:tblGrid>
                <a:gridCol w="3260035"/>
                <a:gridCol w="1431235"/>
                <a:gridCol w="1113183"/>
                <a:gridCol w="1510748"/>
              </a:tblGrid>
              <a:tr h="331304">
                <a:tc>
                  <a:txBody>
                    <a:bodyPr/>
                    <a:p>
                      <a:r>
                        <a:rPr b="1" dirty="0" lang="en-US" smtClean="0">
                          <a:ln>
                            <a:solidFill>
                              <a:schemeClr val="bg1"/>
                            </a:solidFill>
                          </a:ln>
                          <a:solidFill>
                            <a:schemeClr val="tx1"/>
                          </a:solidFill>
                          <a:latin typeface="Arial Black" pitchFamily="34" charset="0"/>
                        </a:rPr>
                        <a:t>Attack</a:t>
                      </a:r>
                      <a:endParaRPr b="1" dirty="0" lang="en-US">
                        <a:ln>
                          <a:solidFill>
                            <a:schemeClr val="bg1"/>
                          </a:solidFill>
                        </a:ln>
                        <a:solidFill>
                          <a:schemeClr val="tx1"/>
                        </a:solidFill>
                        <a:latin typeface="Arial Black" pitchFamily="34" charset="0"/>
                      </a:endParaRPr>
                    </a:p>
                  </a:txBody>
                </a:tc>
                <a:tc>
                  <a:txBody>
                    <a:bodyPr/>
                    <a:p>
                      <a:r>
                        <a:rPr b="1" dirty="0" lang="en-US" smtClean="0">
                          <a:ln>
                            <a:solidFill>
                              <a:schemeClr val="bg1"/>
                            </a:solidFill>
                          </a:ln>
                          <a:solidFill>
                            <a:schemeClr val="tx1"/>
                          </a:solidFill>
                          <a:latin typeface="Arial Black" pitchFamily="34" charset="0"/>
                        </a:rPr>
                        <a:t>Precision</a:t>
                      </a:r>
                      <a:endParaRPr b="1" dirty="0" lang="en-US">
                        <a:ln>
                          <a:solidFill>
                            <a:schemeClr val="bg1"/>
                          </a:solidFill>
                        </a:ln>
                        <a:solidFill>
                          <a:schemeClr val="tx1"/>
                        </a:solidFill>
                        <a:latin typeface="Arial Black" pitchFamily="34" charset="0"/>
                      </a:endParaRPr>
                    </a:p>
                  </a:txBody>
                </a:tc>
                <a:tc>
                  <a:txBody>
                    <a:bodyPr/>
                    <a:p>
                      <a:r>
                        <a:rPr b="1" dirty="0" lang="en-US" smtClean="0">
                          <a:ln>
                            <a:solidFill>
                              <a:schemeClr val="bg1"/>
                            </a:solidFill>
                          </a:ln>
                          <a:solidFill>
                            <a:schemeClr val="tx1"/>
                          </a:solidFill>
                          <a:latin typeface="Arial Black" pitchFamily="34" charset="0"/>
                        </a:rPr>
                        <a:t>Recall</a:t>
                      </a:r>
                      <a:endParaRPr b="1" dirty="0" lang="en-US">
                        <a:ln>
                          <a:solidFill>
                            <a:schemeClr val="bg1"/>
                          </a:solidFill>
                        </a:ln>
                        <a:solidFill>
                          <a:schemeClr val="tx1"/>
                        </a:solidFill>
                        <a:latin typeface="Arial Black" pitchFamily="34" charset="0"/>
                      </a:endParaRPr>
                    </a:p>
                  </a:txBody>
                </a:tc>
                <a:tc>
                  <a:txBody>
                    <a:bodyPr/>
                    <a:p>
                      <a:r>
                        <a:rPr b="1" dirty="0" lang="en-US" smtClean="0">
                          <a:ln>
                            <a:solidFill>
                              <a:schemeClr val="bg1"/>
                            </a:solidFill>
                          </a:ln>
                          <a:solidFill>
                            <a:schemeClr val="tx1"/>
                          </a:solidFill>
                          <a:latin typeface="Arial Black" pitchFamily="34" charset="0"/>
                        </a:rPr>
                        <a:t>F-measure</a:t>
                      </a:r>
                      <a:endParaRPr b="1" dirty="0" lang="en-US">
                        <a:ln>
                          <a:solidFill>
                            <a:schemeClr val="bg1"/>
                          </a:solidFill>
                        </a:ln>
                        <a:solidFill>
                          <a:schemeClr val="tx1"/>
                        </a:solidFill>
                        <a:latin typeface="Arial Black" pitchFamily="34" charset="0"/>
                      </a:endParaRPr>
                    </a:p>
                  </a:txBody>
                </a:tc>
              </a:tr>
              <a:tr h="331304">
                <a:tc>
                  <a:txBody>
                    <a:bodyPr/>
                    <a:p>
                      <a:r>
                        <a:rPr b="1" dirty="0" lang="en-US" smtClean="0">
                          <a:ln>
                            <a:solidFill>
                              <a:schemeClr val="bg1"/>
                            </a:solidFill>
                          </a:ln>
                          <a:solidFill>
                            <a:srgbClr val="C00000"/>
                          </a:solidFill>
                          <a:latin typeface="Arial Black" pitchFamily="34" charset="0"/>
                        </a:rPr>
                        <a:t>Quick/</a:t>
                      </a:r>
                      <a:r>
                        <a:rPr baseline="0" b="1" dirty="0" lang="en-US" smtClean="0">
                          <a:ln>
                            <a:solidFill>
                              <a:schemeClr val="bg1"/>
                            </a:solidFill>
                          </a:ln>
                          <a:solidFill>
                            <a:srgbClr val="C00000"/>
                          </a:solidFill>
                          <a:latin typeface="Arial Black" pitchFamily="34" charset="0"/>
                        </a:rPr>
                        <a:t> Quick Plus scan</a:t>
                      </a:r>
                      <a:endParaRPr b="1" dirty="0" lang="en-US">
                        <a:ln>
                          <a:solidFill>
                            <a:schemeClr val="bg1"/>
                          </a:solidFill>
                        </a:ln>
                        <a:solidFill>
                          <a:srgbClr val="C00000"/>
                        </a:solidFill>
                        <a:latin typeface="Arial Black" pitchFamily="34" charset="0"/>
                      </a:endParaRPr>
                    </a:p>
                  </a:txBody>
                </a:tc>
                <a:tc>
                  <a:txBody>
                    <a:bodyPr/>
                    <a:p>
                      <a:r>
                        <a:rPr b="1" dirty="0" lang="en-US" smtClean="0">
                          <a:ln>
                            <a:solidFill>
                              <a:schemeClr val="bg1"/>
                            </a:solidFill>
                          </a:ln>
                          <a:solidFill>
                            <a:schemeClr val="tx1"/>
                          </a:solidFill>
                        </a:rPr>
                        <a:t>97.7</a:t>
                      </a:r>
                      <a:endParaRPr b="1" dirty="0" lang="en-US">
                        <a:ln>
                          <a:solidFill>
                            <a:schemeClr val="bg1"/>
                          </a:solidFill>
                        </a:ln>
                        <a:solidFill>
                          <a:schemeClr val="tx1"/>
                        </a:solidFill>
                      </a:endParaRPr>
                    </a:p>
                  </a:txBody>
                </a:tc>
                <a:tc>
                  <a:txBody>
                    <a:bodyPr/>
                    <a:p>
                      <a:r>
                        <a:rPr b="1" dirty="0" lang="en-US" smtClean="0">
                          <a:ln>
                            <a:solidFill>
                              <a:schemeClr val="bg1"/>
                            </a:solidFill>
                          </a:ln>
                          <a:solidFill>
                            <a:schemeClr val="tx1"/>
                          </a:solidFill>
                        </a:rPr>
                        <a:t>97.7</a:t>
                      </a:r>
                      <a:endParaRPr b="1" dirty="0" lang="en-US">
                        <a:ln>
                          <a:solidFill>
                            <a:schemeClr val="bg1"/>
                          </a:solidFill>
                        </a:ln>
                        <a:solidFill>
                          <a:schemeClr val="tx1"/>
                        </a:solidFill>
                      </a:endParaRPr>
                    </a:p>
                  </a:txBody>
                </a:tc>
                <a:tc>
                  <a:txBody>
                    <a:bodyPr/>
                    <a:p>
                      <a:r>
                        <a:rPr b="1" dirty="0" lang="en-US" smtClean="0">
                          <a:ln>
                            <a:solidFill>
                              <a:schemeClr val="bg1"/>
                            </a:solidFill>
                          </a:ln>
                          <a:solidFill>
                            <a:schemeClr val="tx1"/>
                          </a:solidFill>
                        </a:rPr>
                        <a:t>97.7</a:t>
                      </a:r>
                      <a:endParaRPr b="1" dirty="0" lang="en-US">
                        <a:ln>
                          <a:solidFill>
                            <a:schemeClr val="bg1"/>
                          </a:solidFill>
                        </a:ln>
                        <a:solidFill>
                          <a:schemeClr val="tx1"/>
                        </a:solidFill>
                      </a:endParaRPr>
                    </a:p>
                  </a:txBody>
                </a:tc>
              </a:tr>
              <a:tr h="331304">
                <a:tc>
                  <a:txBody>
                    <a:bodyPr/>
                    <a:p>
                      <a:r>
                        <a:rPr b="1" dirty="0" lang="en-US" smtClean="0">
                          <a:ln>
                            <a:solidFill>
                              <a:schemeClr val="bg1"/>
                            </a:solidFill>
                          </a:ln>
                          <a:solidFill>
                            <a:srgbClr val="C00000"/>
                          </a:solidFill>
                          <a:latin typeface="Arial Black" pitchFamily="34" charset="0"/>
                        </a:rPr>
                        <a:t>Regular/Intense Scan</a:t>
                      </a:r>
                      <a:endParaRPr b="1" dirty="0" lang="en-US">
                        <a:ln>
                          <a:solidFill>
                            <a:schemeClr val="bg1"/>
                          </a:solidFill>
                        </a:ln>
                        <a:solidFill>
                          <a:srgbClr val="C00000"/>
                        </a:solidFill>
                        <a:latin typeface="Arial Black" pitchFamily="34" charset="0"/>
                      </a:endParaRPr>
                    </a:p>
                  </a:txBody>
                </a:tc>
                <a:tc>
                  <a:txBody>
                    <a:bodyPr/>
                    <a:p>
                      <a:r>
                        <a:rPr b="1" dirty="0" lang="en-US" smtClean="0">
                          <a:ln>
                            <a:solidFill>
                              <a:schemeClr val="bg1"/>
                            </a:solidFill>
                          </a:ln>
                          <a:solidFill>
                            <a:schemeClr val="tx1"/>
                          </a:solidFill>
                        </a:rPr>
                        <a:t>95.5</a:t>
                      </a:r>
                      <a:endParaRPr b="1" dirty="0" lang="en-US">
                        <a:ln>
                          <a:solidFill>
                            <a:schemeClr val="bg1"/>
                          </a:solidFill>
                        </a:ln>
                        <a:solidFill>
                          <a:schemeClr val="tx1"/>
                        </a:solidFill>
                      </a:endParaRPr>
                    </a:p>
                  </a:txBody>
                </a:tc>
                <a:tc>
                  <a:txBody>
                    <a:bodyPr/>
                    <a:p>
                      <a:r>
                        <a:rPr b="1" dirty="0" lang="en-US" smtClean="0">
                          <a:ln>
                            <a:solidFill>
                              <a:schemeClr val="bg1"/>
                            </a:solidFill>
                          </a:ln>
                          <a:solidFill>
                            <a:schemeClr val="tx1"/>
                          </a:solidFill>
                        </a:rPr>
                        <a:t>95.5</a:t>
                      </a:r>
                      <a:endParaRPr b="1" dirty="0" lang="en-US">
                        <a:ln>
                          <a:solidFill>
                            <a:schemeClr val="bg1"/>
                          </a:solidFill>
                        </a:ln>
                        <a:solidFill>
                          <a:schemeClr val="tx1"/>
                        </a:solidFill>
                      </a:endParaRPr>
                    </a:p>
                  </a:txBody>
                </a:tc>
                <a:tc>
                  <a:txBody>
                    <a:bodyPr/>
                    <a:p>
                      <a:r>
                        <a:rPr b="1" dirty="0" lang="en-US" smtClean="0">
                          <a:ln>
                            <a:solidFill>
                              <a:schemeClr val="bg1"/>
                            </a:solidFill>
                          </a:ln>
                          <a:solidFill>
                            <a:schemeClr val="tx1"/>
                          </a:solidFill>
                        </a:rPr>
                        <a:t>95.5</a:t>
                      </a:r>
                      <a:endParaRPr b="1" dirty="0" lang="en-US">
                        <a:ln>
                          <a:solidFill>
                            <a:schemeClr val="bg1"/>
                          </a:solidFill>
                        </a:ln>
                        <a:solidFill>
                          <a:schemeClr val="tx1"/>
                        </a:solidFill>
                      </a:endParaRPr>
                    </a:p>
                  </a:txBody>
                </a:tc>
              </a:tr>
              <a:tr h="579783">
                <a:tc>
                  <a:txBody>
                    <a:bodyPr/>
                    <a:p>
                      <a:pPr algn="l" defTabSz="914400" eaLnBrk="1" fontAlgn="auto" hangingPunct="1" indent="0" latinLnBrk="0" marL="0" marR="0" rtl="0">
                        <a:lnSpc>
                          <a:spcPct val="100000"/>
                        </a:lnSpc>
                        <a:spcBef>
                          <a:spcPts val="0"/>
                        </a:spcBef>
                        <a:spcAft>
                          <a:spcPts val="0"/>
                        </a:spcAft>
                        <a:buClrTx/>
                        <a:buSzTx/>
                        <a:buFontTx/>
                        <a:buNone/>
                      </a:pPr>
                      <a:r>
                        <a:rPr b="1" dirty="0" lang="en-US" smtClean="0">
                          <a:ln>
                            <a:solidFill>
                              <a:schemeClr val="bg1"/>
                            </a:solidFill>
                          </a:ln>
                          <a:solidFill>
                            <a:srgbClr val="C00000"/>
                          </a:solidFill>
                          <a:latin typeface="Arial Black" pitchFamily="34" charset="0"/>
                        </a:rPr>
                        <a:t>SYN Flood</a:t>
                      </a:r>
                    </a:p>
                    <a:p>
                      <a:endParaRPr b="1" dirty="0" lang="en-US">
                        <a:ln>
                          <a:solidFill>
                            <a:schemeClr val="bg1"/>
                          </a:solidFill>
                        </a:ln>
                        <a:solidFill>
                          <a:srgbClr val="C00000"/>
                        </a:solidFill>
                        <a:latin typeface="Arial Black" pitchFamily="34" charset="0"/>
                      </a:endParaRPr>
                    </a:p>
                  </a:txBody>
                </a:tc>
                <a:tc>
                  <a:txBody>
                    <a:bodyPr/>
                    <a:p>
                      <a:r>
                        <a:rPr b="1" dirty="0" lang="en-US" smtClean="0">
                          <a:ln>
                            <a:solidFill>
                              <a:schemeClr val="bg1"/>
                            </a:solidFill>
                          </a:ln>
                          <a:solidFill>
                            <a:schemeClr val="tx1"/>
                          </a:solidFill>
                        </a:rPr>
                        <a:t>80.8</a:t>
                      </a:r>
                      <a:endParaRPr b="1" dirty="0" lang="en-US">
                        <a:ln>
                          <a:solidFill>
                            <a:schemeClr val="bg1"/>
                          </a:solidFill>
                        </a:ln>
                        <a:solidFill>
                          <a:schemeClr val="tx1"/>
                        </a:solidFill>
                      </a:endParaRPr>
                    </a:p>
                  </a:txBody>
                </a:tc>
                <a:tc>
                  <a:txBody>
                    <a:bodyPr/>
                    <a:p>
                      <a:r>
                        <a:rPr b="1" dirty="0" lang="en-US" smtClean="0">
                          <a:ln>
                            <a:solidFill>
                              <a:schemeClr val="bg1"/>
                            </a:solidFill>
                          </a:ln>
                          <a:solidFill>
                            <a:schemeClr val="tx1"/>
                          </a:solidFill>
                        </a:rPr>
                        <a:t>68.8</a:t>
                      </a:r>
                      <a:endParaRPr b="1" dirty="0" lang="en-US">
                        <a:ln>
                          <a:solidFill>
                            <a:schemeClr val="bg1"/>
                          </a:solidFill>
                        </a:ln>
                        <a:solidFill>
                          <a:schemeClr val="tx1"/>
                        </a:solidFill>
                      </a:endParaRPr>
                    </a:p>
                  </a:txBody>
                </a:tc>
                <a:tc>
                  <a:txBody>
                    <a:bodyPr/>
                    <a:p>
                      <a:r>
                        <a:rPr b="1" dirty="0" lang="en-US" smtClean="0">
                          <a:ln>
                            <a:solidFill>
                              <a:schemeClr val="bg1"/>
                            </a:solidFill>
                          </a:ln>
                          <a:solidFill>
                            <a:schemeClr val="tx1"/>
                          </a:solidFill>
                        </a:rPr>
                        <a:t>65.8</a:t>
                      </a:r>
                      <a:endParaRPr b="1" dirty="0" lang="en-US">
                        <a:ln>
                          <a:solidFill>
                            <a:schemeClr val="bg1"/>
                          </a:solidFill>
                        </a:ln>
                        <a:solidFill>
                          <a:schemeClr val="tx1"/>
                        </a:solidFill>
                      </a:endParaRPr>
                    </a:p>
                  </a:txBody>
                </a:tc>
              </a:tr>
              <a:tr h="331304">
                <a:tc>
                  <a:txBody>
                    <a:bodyPr/>
                    <a:p>
                      <a:r>
                        <a:rPr b="1" dirty="0" lang="en-US" smtClean="0">
                          <a:ln>
                            <a:solidFill>
                              <a:schemeClr val="bg1"/>
                            </a:solidFill>
                          </a:ln>
                          <a:solidFill>
                            <a:srgbClr val="C00000"/>
                          </a:solidFill>
                          <a:latin typeface="Arial Black" pitchFamily="34" charset="0"/>
                        </a:rPr>
                        <a:t>UDP Flood</a:t>
                      </a:r>
                      <a:endParaRPr b="1" dirty="0" lang="en-US">
                        <a:ln>
                          <a:solidFill>
                            <a:schemeClr val="bg1"/>
                          </a:solidFill>
                        </a:ln>
                        <a:solidFill>
                          <a:srgbClr val="C00000"/>
                        </a:solidFill>
                        <a:latin typeface="Arial Black" pitchFamily="34" charset="0"/>
                      </a:endParaRPr>
                    </a:p>
                  </a:txBody>
                </a:tc>
                <a:tc>
                  <a:txBody>
                    <a:bodyPr/>
                    <a:p>
                      <a:r>
                        <a:rPr b="1" dirty="0" lang="en-US" smtClean="0">
                          <a:ln>
                            <a:solidFill>
                              <a:schemeClr val="bg1"/>
                            </a:solidFill>
                          </a:ln>
                          <a:solidFill>
                            <a:schemeClr val="tx1"/>
                          </a:solidFill>
                        </a:rPr>
                        <a:t>81</a:t>
                      </a:r>
                      <a:endParaRPr b="1" dirty="0" lang="en-US">
                        <a:ln>
                          <a:solidFill>
                            <a:schemeClr val="bg1"/>
                          </a:solidFill>
                        </a:ln>
                        <a:solidFill>
                          <a:schemeClr val="tx1"/>
                        </a:solidFill>
                      </a:endParaRPr>
                    </a:p>
                  </a:txBody>
                </a:tc>
                <a:tc>
                  <a:txBody>
                    <a:bodyPr/>
                    <a:p>
                      <a:r>
                        <a:rPr b="1" dirty="0" lang="en-US" smtClean="0">
                          <a:ln>
                            <a:solidFill>
                              <a:schemeClr val="bg1"/>
                            </a:solidFill>
                          </a:ln>
                          <a:solidFill>
                            <a:schemeClr val="tx1"/>
                          </a:solidFill>
                        </a:rPr>
                        <a:t>68.8</a:t>
                      </a:r>
                      <a:endParaRPr b="1" dirty="0" lang="en-US">
                        <a:ln>
                          <a:solidFill>
                            <a:schemeClr val="bg1"/>
                          </a:solidFill>
                        </a:ln>
                        <a:solidFill>
                          <a:schemeClr val="tx1"/>
                        </a:solidFill>
                      </a:endParaRPr>
                    </a:p>
                  </a:txBody>
                </a:tc>
                <a:tc>
                  <a:txBody>
                    <a:bodyPr/>
                    <a:p>
                      <a:r>
                        <a:rPr b="1" dirty="0" lang="en-US" smtClean="0">
                          <a:ln>
                            <a:solidFill>
                              <a:schemeClr val="bg1"/>
                            </a:solidFill>
                          </a:ln>
                          <a:solidFill>
                            <a:schemeClr val="tx1"/>
                          </a:solidFill>
                        </a:rPr>
                        <a:t>65.8</a:t>
                      </a:r>
                      <a:endParaRPr b="1" dirty="0" lang="en-US">
                        <a:ln>
                          <a:solidFill>
                            <a:schemeClr val="bg1"/>
                          </a:solidFill>
                        </a:ln>
                        <a:solidFill>
                          <a:schemeClr val="tx1"/>
                        </a:solidFill>
                      </a:endParaRPr>
                    </a:p>
                  </a:txBody>
                </a:tc>
              </a:tr>
            </a:tbl>
          </a:graphicData>
        </a:graphic>
      </p:graphicFrame>
      <p:sp>
        <p:nvSpPr>
          <p:cNvPr id="1048590" name="TextBox 5"/>
          <p:cNvSpPr txBox="1"/>
          <p:nvPr/>
        </p:nvSpPr>
        <p:spPr>
          <a:xfrm>
            <a:off x="2209800" y="1371600"/>
            <a:ext cx="233680" cy="358141"/>
          </a:xfrm>
          <a:prstGeom prst="rect"/>
          <a:noFill/>
        </p:spPr>
        <p:txBody>
          <a:bodyPr rtlCol="0" wrap="none">
            <a:spAutoFit/>
          </a:bodyPr>
          <a:p>
            <a:endParaRPr dirty="0" lang="en-US"/>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4" presetSubtype="16">
                                  <p:stCondLst>
                                    <p:cond delay="0"/>
                                  </p:stCondLst>
                                  <p:childTnLst>
                                    <p:set>
                                      <p:cBhvr>
                                        <p:cTn dur="1" fill="hold" id="6">
                                          <p:stCondLst>
                                            <p:cond delay="0"/>
                                          </p:stCondLst>
                                        </p:cTn>
                                        <p:tgtEl>
                                          <p:spTgt spid="1048589">
                                            <p:txEl>
                                              <p:pRg st="0" end="0"/>
                                            </p:txEl>
                                          </p:spTgt>
                                        </p:tgtEl>
                                        <p:attrNameLst>
                                          <p:attrName>style.visibility</p:attrName>
                                        </p:attrNameLst>
                                      </p:cBhvr>
                                      <p:to>
                                        <p:strVal val="visible"/>
                                      </p:to>
                                    </p:set>
                                    <p:animEffect transition="in" filter="box(in)">
                                      <p:cBhvr>
                                        <p:cTn dur="500" id="7"/>
                                        <p:tgtEl>
                                          <p:spTgt spid="1048589">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2" presetSubtype="2">
                                  <p:stCondLst>
                                    <p:cond delay="0"/>
                                  </p:stCondLst>
                                  <p:childTnLst>
                                    <p:set>
                                      <p:cBhvr>
                                        <p:cTn dur="1" fill="hold" id="11">
                                          <p:stCondLst>
                                            <p:cond delay="0"/>
                                          </p:stCondLst>
                                        </p:cTn>
                                        <p:tgtEl>
                                          <p:spTgt spid="4194304"/>
                                        </p:tgtEl>
                                        <p:attrNameLst>
                                          <p:attrName>style.visibility</p:attrName>
                                        </p:attrNameLst>
                                      </p:cBhvr>
                                      <p:to>
                                        <p:strVal val="visible"/>
                                      </p:to>
                                    </p:set>
                                    <p:anim calcmode="lin" valueType="num">
                                      <p:cBhvr additive="base">
                                        <p:cTn dur="500" fill="hold" id="12"/>
                                        <p:tgtEl>
                                          <p:spTgt spid="4194304"/>
                                        </p:tgtEl>
                                        <p:attrNameLst>
                                          <p:attrName>ppt_x</p:attrName>
                                        </p:attrNameLst>
                                      </p:cBhvr>
                                      <p:tavLst>
                                        <p:tav tm="0">
                                          <p:val>
                                            <p:strVal val="1+#ppt_w/2"/>
                                          </p:val>
                                        </p:tav>
                                        <p:tav tm="100000">
                                          <p:val>
                                            <p:strVal val="#ppt_x"/>
                                          </p:val>
                                        </p:tav>
                                      </p:tavLst>
                                    </p:anim>
                                    <p:anim calcmode="lin" valueType="num">
                                      <p:cBhvr additive="base">
                                        <p:cTn dur="500" fill="hold" id="13"/>
                                        <p:tgtEl>
                                          <p:spTgt spid="4194304"/>
                                        </p:tgtEl>
                                        <p:attrNameLst>
                                          <p:attrName>ppt_y</p:attrName>
                                        </p:attrNameLst>
                                      </p:cBhvr>
                                      <p:tavLst>
                                        <p:tav tm="0">
                                          <p:val>
                                            <p:strVal val="#ppt_y"/>
                                          </p:val>
                                        </p:tav>
                                        <p:tav tm="100000">
                                          <p:val>
                                            <p:strVal val="#ppt_y"/>
                                          </p:val>
                                        </p:tav>
                                      </p:tavLst>
                                    </p:anim>
                                  </p:childTnLst>
                                </p:cTn>
                              </p:par>
                            </p:childTnLst>
                          </p:cTn>
                        </p:par>
                      </p:childTnLst>
                    </p:cTn>
                  </p:par>
                  <p:par>
                    <p:cTn fill="hold" id="14">
                      <p:stCondLst>
                        <p:cond delay="indefinite"/>
                      </p:stCondLst>
                      <p:childTnLst>
                        <p:par>
                          <p:cTn fill="hold" id="15">
                            <p:stCondLst>
                              <p:cond delay="0"/>
                            </p:stCondLst>
                            <p:childTnLst>
                              <p:par>
                                <p:cTn fill="hold" id="16" nodeType="clickEffect" presetClass="entr" presetID="4" presetSubtype="16">
                                  <p:stCondLst>
                                    <p:cond delay="0"/>
                                  </p:stCondLst>
                                  <p:childTnLst>
                                    <p:set>
                                      <p:cBhvr>
                                        <p:cTn dur="1" fill="hold" id="17">
                                          <p:stCondLst>
                                            <p:cond delay="0"/>
                                          </p:stCondLst>
                                        </p:cTn>
                                        <p:tgtEl>
                                          <p:spTgt spid="1048589">
                                            <p:txEl>
                                              <p:pRg st="11" end="11"/>
                                            </p:txEl>
                                          </p:spTgt>
                                        </p:tgtEl>
                                        <p:attrNameLst>
                                          <p:attrName>style.visibility</p:attrName>
                                        </p:attrNameLst>
                                      </p:cBhvr>
                                      <p:to>
                                        <p:strVal val="visible"/>
                                      </p:to>
                                    </p:set>
                                    <p:animEffect transition="in" filter="box(in)">
                                      <p:cBhvr>
                                        <p:cTn dur="500" id="18"/>
                                        <p:tgtEl>
                                          <p:spTgt spid="104858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93" name="Title 1"/>
          <p:cNvSpPr>
            <a:spLocks noGrp="1"/>
          </p:cNvSpPr>
          <p:nvPr>
            <p:ph type="ctrTitle"/>
          </p:nvPr>
        </p:nvSpPr>
        <p:spPr>
          <a:xfrm>
            <a:off x="533400" y="304800"/>
            <a:ext cx="7315200" cy="685800"/>
          </a:xfrm>
        </p:spPr>
        <p:txBody>
          <a:bodyPr>
            <a:normAutofit fontScale="90000"/>
          </a:bodyPr>
          <a:p>
            <a:pPr algn="l"/>
            <a:r>
              <a:rPr b="1" dirty="0" lang="en-US" u="sng" smtClean="0">
                <a:solidFill>
                  <a:schemeClr val="tx1"/>
                </a:solidFill>
              </a:rPr>
              <a:t>Future Work</a:t>
            </a:r>
            <a:endParaRPr b="1" dirty="0" lang="en-US" u="sng">
              <a:solidFill>
                <a:schemeClr val="tx1"/>
              </a:solidFill>
            </a:endParaRPr>
          </a:p>
        </p:txBody>
      </p:sp>
      <p:sp>
        <p:nvSpPr>
          <p:cNvPr id="1048594" name="Subtitle 2"/>
          <p:cNvSpPr>
            <a:spLocks noGrp="1"/>
          </p:cNvSpPr>
          <p:nvPr>
            <p:ph type="subTitle" idx="1"/>
          </p:nvPr>
        </p:nvSpPr>
        <p:spPr>
          <a:xfrm>
            <a:off x="609600" y="1295400"/>
            <a:ext cx="7696200" cy="4953000"/>
          </a:xfrm>
        </p:spPr>
        <p:txBody>
          <a:bodyPr>
            <a:noAutofit/>
          </a:bodyPr>
          <a:p>
            <a:pPr algn="just"/>
            <a:r>
              <a:rPr dirty="0" sz="1800" i="1" lang="en-US" smtClean="0">
                <a:solidFill>
                  <a:schemeClr val="tx1"/>
                </a:solidFill>
                <a:latin typeface="Times New Roman" pitchFamily="18" charset="0"/>
                <a:cs typeface="Times New Roman" pitchFamily="18" charset="0"/>
              </a:rPr>
              <a:t>Although our results are very promising there are still a lot of elements and parameters that we need to consider to fully develop Pulse. </a:t>
            </a:r>
          </a:p>
          <a:p>
            <a:pPr algn="just">
              <a:buFont typeface="Wingdings" pitchFamily="2" charset="2"/>
              <a:buChar char="Ø"/>
            </a:pPr>
            <a:endParaRPr dirty="0" sz="1800" lang="en-US">
              <a:solidFill>
                <a:schemeClr val="tx1"/>
              </a:solidFill>
              <a:latin typeface="Times New Roman" pitchFamily="18" charset="0"/>
              <a:cs typeface="Times New Roman" pitchFamily="18" charset="0"/>
            </a:endParaRPr>
          </a:p>
          <a:p>
            <a:pPr algn="just">
              <a:buFont typeface="Wingdings" pitchFamily="2" charset="2"/>
              <a:buChar char="Ø"/>
            </a:pPr>
            <a:r>
              <a:rPr dirty="0" sz="1800" lang="en-US" smtClean="0">
                <a:solidFill>
                  <a:schemeClr val="tx1"/>
                </a:solidFill>
                <a:latin typeface="Times New Roman" pitchFamily="18" charset="0"/>
                <a:cs typeface="Times New Roman" pitchFamily="18" charset="0"/>
              </a:rPr>
              <a:t>W</a:t>
            </a:r>
            <a:r>
              <a:rPr dirty="0" sz="1800" lang="en-US" smtClean="0">
                <a:solidFill>
                  <a:schemeClr val="tx1"/>
                </a:solidFill>
                <a:latin typeface="Times New Roman" pitchFamily="18" charset="0"/>
                <a:cs typeface="Times New Roman" pitchFamily="18" charset="0"/>
              </a:rPr>
              <a:t>e need to consider clustering homogeneous devices together and deriving a normal </a:t>
            </a:r>
            <a:r>
              <a:rPr dirty="0" sz="1800" lang="en-US" err="1" smtClean="0">
                <a:solidFill>
                  <a:schemeClr val="tx1"/>
                </a:solidFill>
                <a:latin typeface="Times New Roman" pitchFamily="18" charset="0"/>
                <a:cs typeface="Times New Roman" pitchFamily="18" charset="0"/>
              </a:rPr>
              <a:t>trafﬁc</a:t>
            </a:r>
            <a:r>
              <a:rPr dirty="0" sz="1800" lang="en-US" smtClean="0">
                <a:solidFill>
                  <a:schemeClr val="tx1"/>
                </a:solidFill>
                <a:latin typeface="Times New Roman" pitchFamily="18" charset="0"/>
                <a:cs typeface="Times New Roman" pitchFamily="18" charset="0"/>
              </a:rPr>
              <a:t> behaviour for every cluster</a:t>
            </a:r>
            <a:r>
              <a:rPr dirty="0" sz="1800" lang="en-US" smtClean="0">
                <a:solidFill>
                  <a:schemeClr val="tx1"/>
                </a:solidFill>
                <a:latin typeface="Times New Roman" pitchFamily="18" charset="0"/>
                <a:cs typeface="Times New Roman" pitchFamily="18" charset="0"/>
              </a:rPr>
              <a:t> </a:t>
            </a:r>
            <a:r>
              <a:rPr dirty="0" sz="1800" lang="en-US" smtClean="0">
                <a:solidFill>
                  <a:schemeClr val="tx1"/>
                </a:solidFill>
                <a:latin typeface="Times New Roman" pitchFamily="18" charset="0"/>
                <a:cs typeface="Times New Roman" pitchFamily="18" charset="0"/>
              </a:rPr>
              <a:t>t</a:t>
            </a:r>
            <a:r>
              <a:rPr dirty="0" sz="1800" lang="en-US" smtClean="0">
                <a:solidFill>
                  <a:schemeClr val="tx1"/>
                </a:solidFill>
                <a:latin typeface="Times New Roman" pitchFamily="18" charset="0"/>
                <a:cs typeface="Times New Roman" pitchFamily="18" charset="0"/>
              </a:rPr>
              <a:t>o</a:t>
            </a:r>
            <a:r>
              <a:rPr dirty="0" sz="1800" lang="en-US" smtClean="0">
                <a:solidFill>
                  <a:schemeClr val="tx1"/>
                </a:solidFill>
                <a:latin typeface="Times New Roman" pitchFamily="18" charset="0"/>
                <a:cs typeface="Times New Roman" pitchFamily="18" charset="0"/>
              </a:rPr>
              <a:t> </a:t>
            </a:r>
            <a:r>
              <a:rPr dirty="0" sz="1800" lang="en-US" smtClean="0">
                <a:solidFill>
                  <a:schemeClr val="tx1"/>
                </a:solidFill>
                <a:latin typeface="Times New Roman" pitchFamily="18" charset="0"/>
                <a:cs typeface="Times New Roman" pitchFamily="18" charset="0"/>
              </a:rPr>
              <a:t>a</a:t>
            </a:r>
            <a:r>
              <a:rPr dirty="0" sz="1800" lang="en-US" smtClean="0">
                <a:solidFill>
                  <a:schemeClr val="tx1"/>
                </a:solidFill>
                <a:latin typeface="Times New Roman" pitchFamily="18" charset="0"/>
                <a:cs typeface="Times New Roman" pitchFamily="18" charset="0"/>
              </a:rPr>
              <a:t>id</a:t>
            </a:r>
            <a:r>
              <a:rPr dirty="0" sz="1800" lang="en-US" smtClean="0">
                <a:solidFill>
                  <a:schemeClr val="tx1"/>
                </a:solidFill>
                <a:latin typeface="Times New Roman" pitchFamily="18" charset="0"/>
                <a:cs typeface="Times New Roman" pitchFamily="18" charset="0"/>
              </a:rPr>
              <a:t> </a:t>
            </a:r>
            <a:r>
              <a:rPr dirty="0" sz="1800" lang="en-US" smtClean="0">
                <a:solidFill>
                  <a:schemeClr val="tx1"/>
                </a:solidFill>
                <a:latin typeface="Times New Roman" pitchFamily="18" charset="0"/>
                <a:cs typeface="Times New Roman" pitchFamily="18" charset="0"/>
              </a:rPr>
              <a:t>i</a:t>
            </a:r>
            <a:r>
              <a:rPr dirty="0" sz="1800" lang="en-US" smtClean="0">
                <a:solidFill>
                  <a:schemeClr val="tx1"/>
                </a:solidFill>
                <a:latin typeface="Times New Roman" pitchFamily="18" charset="0"/>
                <a:cs typeface="Times New Roman" pitchFamily="18" charset="0"/>
              </a:rPr>
              <a:t>n</a:t>
            </a:r>
            <a:r>
              <a:rPr dirty="0" sz="1800" lang="en-US" smtClean="0">
                <a:solidFill>
                  <a:schemeClr val="tx1"/>
                </a:solidFill>
                <a:latin typeface="Times New Roman" pitchFamily="18" charset="0"/>
                <a:cs typeface="Times New Roman" pitchFamily="18" charset="0"/>
              </a:rPr>
              <a:t> detecting abnormalities on network and als</a:t>
            </a:r>
            <a:r>
              <a:rPr dirty="0" sz="1800" lang="en-US" smtClean="0">
                <a:solidFill>
                  <a:schemeClr val="tx1"/>
                </a:solidFill>
                <a:latin typeface="Times New Roman" pitchFamily="18" charset="0"/>
                <a:cs typeface="Times New Roman" pitchFamily="18" charset="0"/>
              </a:rPr>
              <a:t>o</a:t>
            </a:r>
            <a:r>
              <a:rPr dirty="0" sz="1800" lang="en-US" smtClean="0">
                <a:solidFill>
                  <a:schemeClr val="tx1"/>
                </a:solidFill>
                <a:latin typeface="Times New Roman" pitchFamily="18" charset="0"/>
                <a:cs typeface="Times New Roman" pitchFamily="18" charset="0"/>
              </a:rPr>
              <a:t> malicious nodes.</a:t>
            </a:r>
            <a:endParaRPr altLang="en-US" lang="zh-CN"/>
          </a:p>
          <a:p>
            <a:pPr algn="just"/>
            <a:endParaRPr dirty="0" sz="1800" lang="en-US" smtClean="0">
              <a:solidFill>
                <a:schemeClr val="tx1"/>
              </a:solidFill>
              <a:latin typeface="Times New Roman" pitchFamily="18" charset="0"/>
              <a:cs typeface="Times New Roman" pitchFamily="18" charset="0"/>
            </a:endParaRPr>
          </a:p>
          <a:p>
            <a:pPr algn="just">
              <a:buFont typeface="Wingdings" pitchFamily="2" charset="2"/>
              <a:buChar char="Ø"/>
            </a:pPr>
            <a:r>
              <a:rPr dirty="0" sz="1800" lang="en-US" smtClean="0">
                <a:solidFill>
                  <a:schemeClr val="tx1"/>
                </a:solidFill>
                <a:latin typeface="Times New Roman" pitchFamily="18" charset="0"/>
                <a:cs typeface="Times New Roman" pitchFamily="18" charset="0"/>
              </a:rPr>
              <a:t> Furthermore, we need to perform </a:t>
            </a:r>
            <a:r>
              <a:rPr dirty="0" sz="1800" lang="en-US" err="1" smtClean="0">
                <a:solidFill>
                  <a:schemeClr val="tx1"/>
                </a:solidFill>
                <a:latin typeface="Times New Roman" pitchFamily="18" charset="0"/>
                <a:cs typeface="Times New Roman" pitchFamily="18" charset="0"/>
              </a:rPr>
              <a:t>signiﬁcantly</a:t>
            </a:r>
            <a:r>
              <a:rPr dirty="0" sz="1800" lang="en-US" smtClean="0">
                <a:solidFill>
                  <a:schemeClr val="tx1"/>
                </a:solidFill>
                <a:latin typeface="Times New Roman" pitchFamily="18" charset="0"/>
                <a:cs typeface="Times New Roman" pitchFamily="18" charset="0"/>
              </a:rPr>
              <a:t> more attacks, and speciﬁcally focus on the ones mentioned earlier on in the paper.</a:t>
            </a:r>
          </a:p>
          <a:p>
            <a:pPr algn="just">
              <a:buFont typeface="Wingdings" pitchFamily="2" charset="2"/>
              <a:buChar char="Ø"/>
            </a:pPr>
            <a:endParaRPr dirty="0" sz="1800" lang="en-US" smtClean="0">
              <a:solidFill>
                <a:schemeClr val="tx1"/>
              </a:solidFill>
              <a:latin typeface="Times New Roman" pitchFamily="18" charset="0"/>
              <a:cs typeface="Times New Roman" pitchFamily="18" charset="0"/>
            </a:endParaRPr>
          </a:p>
          <a:p>
            <a:pPr algn="just">
              <a:buFont typeface="Wingdings" pitchFamily="2" charset="2"/>
              <a:buChar char="Ø"/>
            </a:pPr>
            <a:r>
              <a:rPr dirty="0" sz="1800" lang="en-US" smtClean="0">
                <a:solidFill>
                  <a:schemeClr val="tx1"/>
                </a:solidFill>
                <a:latin typeface="Times New Roman" pitchFamily="18" charset="0"/>
                <a:cs typeface="Times New Roman" pitchFamily="18" charset="0"/>
              </a:rPr>
              <a:t> Additionally, we would like to also consider other features for the ML training such as Payload, Ingoing/Outgoing ratio, etc. </a:t>
            </a:r>
          </a:p>
          <a:p>
            <a:pPr algn="just">
              <a:buFont typeface="Wingdings" pitchFamily="2" charset="2"/>
              <a:buChar char="Ø"/>
            </a:pPr>
            <a:endParaRPr dirty="0" sz="1800" lang="en-US" smtClean="0">
              <a:solidFill>
                <a:schemeClr val="tx1"/>
              </a:solidFill>
              <a:latin typeface="Times New Roman" pitchFamily="18" charset="0"/>
              <a:cs typeface="Times New Roman" pitchFamily="18" charset="0"/>
            </a:endParaRPr>
          </a:p>
          <a:p>
            <a:pPr algn="just">
              <a:buFont typeface="Wingdings" pitchFamily="2" charset="2"/>
              <a:buChar char="Ø"/>
            </a:pPr>
            <a:r>
              <a:rPr dirty="0" sz="1800" lang="en-US" smtClean="0">
                <a:solidFill>
                  <a:schemeClr val="tx1"/>
                </a:solidFill>
                <a:latin typeface="Times New Roman" pitchFamily="18" charset="0"/>
                <a:cs typeface="Times New Roman" pitchFamily="18" charset="0"/>
              </a:rPr>
              <a:t>Finally, we need to develop the rule-based algorithm</a:t>
            </a:r>
            <a:r>
              <a:rPr dirty="0" sz="1800" lang="en-US" smtClean="0">
                <a:solidFill>
                  <a:schemeClr val="tx1"/>
                </a:solidFill>
                <a:latin typeface="Times New Roman" pitchFamily="18" charset="0"/>
                <a:cs typeface="Times New Roman" pitchFamily="18" charset="0"/>
              </a:rPr>
              <a:t>.</a:t>
            </a:r>
            <a:endParaRPr altLang="en-US" lang="zh-CN"/>
          </a:p>
          <a:p>
            <a:pPr algn="just"/>
            <a:r>
              <a:rPr dirty="0" sz="1800" lang="en-US" smtClean="0">
                <a:solidFill>
                  <a:schemeClr val="bg1"/>
                </a:solidFill>
                <a:latin typeface="Times New Roman" pitchFamily="18" charset="0"/>
                <a:cs typeface="Times New Roman" pitchFamily="18" charset="0"/>
              </a:rPr>
              <a:t> </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4" presetSubtype="16">
                                  <p:stCondLst>
                                    <p:cond delay="0"/>
                                  </p:stCondLst>
                                  <p:childTnLst>
                                    <p:set>
                                      <p:cBhvr>
                                        <p:cTn dur="1" fill="hold" id="6">
                                          <p:stCondLst>
                                            <p:cond delay="0"/>
                                          </p:stCondLst>
                                        </p:cTn>
                                        <p:tgtEl>
                                          <p:spTgt spid="1048594">
                                            <p:txEl>
                                              <p:pRg st="0" end="0"/>
                                            </p:txEl>
                                          </p:spTgt>
                                        </p:tgtEl>
                                        <p:attrNameLst>
                                          <p:attrName>style.visibility</p:attrName>
                                        </p:attrNameLst>
                                      </p:cBhvr>
                                      <p:to>
                                        <p:strVal val="visible"/>
                                      </p:to>
                                    </p:set>
                                    <p:animEffect transition="in" filter="box(in)">
                                      <p:cBhvr>
                                        <p:cTn dur="500" id="7"/>
                                        <p:tgtEl>
                                          <p:spTgt spid="1048594">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4" presetSubtype="16">
                                  <p:stCondLst>
                                    <p:cond delay="0"/>
                                  </p:stCondLst>
                                  <p:childTnLst>
                                    <p:set>
                                      <p:cBhvr>
                                        <p:cTn dur="1" fill="hold" id="11">
                                          <p:stCondLst>
                                            <p:cond delay="0"/>
                                          </p:stCondLst>
                                        </p:cTn>
                                        <p:tgtEl>
                                          <p:spTgt spid="1048594">
                                            <p:txEl>
                                              <p:pRg st="2" end="2"/>
                                            </p:txEl>
                                          </p:spTgt>
                                        </p:tgtEl>
                                        <p:attrNameLst>
                                          <p:attrName>style.visibility</p:attrName>
                                        </p:attrNameLst>
                                      </p:cBhvr>
                                      <p:to>
                                        <p:strVal val="visible"/>
                                      </p:to>
                                    </p:set>
                                    <p:animEffect transition="in" filter="box(in)">
                                      <p:cBhvr>
                                        <p:cTn dur="500" id="12"/>
                                        <p:tgtEl>
                                          <p:spTgt spid="1048594">
                                            <p:txEl>
                                              <p:pRg st="2" end="2"/>
                                            </p:txEl>
                                          </p:spTgt>
                                        </p:tgtEl>
                                      </p:cBhvr>
                                    </p:animEffect>
                                  </p:childTnLst>
                                </p:cTn>
                              </p:par>
                              <p:par>
                                <p:cTn fill="hold" id="13" nodeType="withEffect" presetClass="entr" presetID="4" presetSubtype="16">
                                  <p:stCondLst>
                                    <p:cond delay="0"/>
                                  </p:stCondLst>
                                  <p:childTnLst>
                                    <p:set>
                                      <p:cBhvr>
                                        <p:cTn dur="1" fill="hold" id="14">
                                          <p:stCondLst>
                                            <p:cond delay="0"/>
                                          </p:stCondLst>
                                        </p:cTn>
                                        <p:tgtEl>
                                          <p:spTgt spid="1048594">
                                            <p:txEl>
                                              <p:pRg st="4" end="4"/>
                                            </p:txEl>
                                          </p:spTgt>
                                        </p:tgtEl>
                                        <p:attrNameLst>
                                          <p:attrName>style.visibility</p:attrName>
                                        </p:attrNameLst>
                                      </p:cBhvr>
                                      <p:to>
                                        <p:strVal val="visible"/>
                                      </p:to>
                                    </p:set>
                                    <p:animEffect transition="in" filter="box(in)">
                                      <p:cBhvr>
                                        <p:cTn dur="500" id="15"/>
                                        <p:tgtEl>
                                          <p:spTgt spid="1048594">
                                            <p:txEl>
                                              <p:pRg st="4" end="4"/>
                                            </p:txEl>
                                          </p:spTgt>
                                        </p:tgtEl>
                                      </p:cBhvr>
                                    </p:animEffect>
                                  </p:childTnLst>
                                </p:cTn>
                              </p:par>
                              <p:par>
                                <p:cTn fill="hold" id="16" nodeType="withEffect" presetClass="entr" presetID="4" presetSubtype="16">
                                  <p:stCondLst>
                                    <p:cond delay="0"/>
                                  </p:stCondLst>
                                  <p:childTnLst>
                                    <p:set>
                                      <p:cBhvr>
                                        <p:cTn dur="1" fill="hold" id="17">
                                          <p:stCondLst>
                                            <p:cond delay="0"/>
                                          </p:stCondLst>
                                        </p:cTn>
                                        <p:tgtEl>
                                          <p:spTgt spid="1048594">
                                            <p:txEl>
                                              <p:pRg st="6" end="6"/>
                                            </p:txEl>
                                          </p:spTgt>
                                        </p:tgtEl>
                                        <p:attrNameLst>
                                          <p:attrName>style.visibility</p:attrName>
                                        </p:attrNameLst>
                                      </p:cBhvr>
                                      <p:to>
                                        <p:strVal val="visible"/>
                                      </p:to>
                                    </p:set>
                                    <p:animEffect transition="in" filter="box(in)">
                                      <p:cBhvr>
                                        <p:cTn dur="500" id="18"/>
                                        <p:tgtEl>
                                          <p:spTgt spid="1048594">
                                            <p:txEl>
                                              <p:pRg st="6" end="6"/>
                                            </p:txEl>
                                          </p:spTgt>
                                        </p:tgtEl>
                                      </p:cBhvr>
                                    </p:animEffect>
                                  </p:childTnLst>
                                </p:cTn>
                              </p:par>
                              <p:par>
                                <p:cTn fill="hold" id="19" nodeType="withEffect" presetClass="entr" presetID="4" presetSubtype="16">
                                  <p:stCondLst>
                                    <p:cond delay="0"/>
                                  </p:stCondLst>
                                  <p:childTnLst>
                                    <p:set>
                                      <p:cBhvr>
                                        <p:cTn dur="1" fill="hold" id="20">
                                          <p:stCondLst>
                                            <p:cond delay="0"/>
                                          </p:stCondLst>
                                        </p:cTn>
                                        <p:tgtEl>
                                          <p:spTgt spid="1048594">
                                            <p:txEl>
                                              <p:pRg st="8" end="8"/>
                                            </p:txEl>
                                          </p:spTgt>
                                        </p:tgtEl>
                                        <p:attrNameLst>
                                          <p:attrName>style.visibility</p:attrName>
                                        </p:attrNameLst>
                                      </p:cBhvr>
                                      <p:to>
                                        <p:strVal val="visible"/>
                                      </p:to>
                                    </p:set>
                                    <p:animEffect transition="in" filter="box(in)">
                                      <p:cBhvr>
                                        <p:cTn dur="500" id="21"/>
                                        <p:tgtEl>
                                          <p:spTgt spid="104859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598" name="Title 1"/>
          <p:cNvSpPr>
            <a:spLocks noGrp="1"/>
          </p:cNvSpPr>
          <p:nvPr>
            <p:ph type="ctrTitle"/>
          </p:nvPr>
        </p:nvSpPr>
        <p:spPr>
          <a:xfrm>
            <a:off x="457200" y="304800"/>
            <a:ext cx="7315200" cy="838200"/>
          </a:xfrm>
        </p:spPr>
        <p:txBody>
          <a:bodyPr>
            <a:normAutofit/>
          </a:bodyPr>
          <a:p>
            <a:pPr algn="l"/>
            <a:r>
              <a:rPr b="1" dirty="0" sz="4000" lang="en-US" u="sng" smtClean="0">
                <a:solidFill>
                  <a:schemeClr val="tx1"/>
                </a:solidFill>
              </a:rPr>
              <a:t>References</a:t>
            </a:r>
            <a:endParaRPr b="1" dirty="0" sz="4000" lang="en-US" u="sng">
              <a:solidFill>
                <a:schemeClr val="tx1"/>
              </a:solidFill>
            </a:endParaRPr>
          </a:p>
        </p:txBody>
      </p:sp>
      <p:sp>
        <p:nvSpPr>
          <p:cNvPr id="1048599" name="Subtitle 2"/>
          <p:cNvSpPr>
            <a:spLocks noGrp="1"/>
          </p:cNvSpPr>
          <p:nvPr>
            <p:ph type="subTitle" idx="1"/>
          </p:nvPr>
        </p:nvSpPr>
        <p:spPr>
          <a:xfrm>
            <a:off x="457200" y="1295400"/>
            <a:ext cx="8077200" cy="4876800"/>
          </a:xfrm>
        </p:spPr>
        <p:txBody>
          <a:bodyPr>
            <a:noAutofit/>
          </a:bodyPr>
          <a:p>
            <a:pPr algn="just">
              <a:buFont typeface="Wingdings" pitchFamily="2" charset="2"/>
              <a:buChar char="§"/>
            </a:pPr>
            <a:r>
              <a:rPr dirty="0" sz="1800" lang="en-US" smtClean="0">
                <a:latin typeface="Times New Roman" pitchFamily="18" charset="0"/>
                <a:cs typeface="Times New Roman" pitchFamily="18" charset="0"/>
                <a:hlinkClick r:id="rId1"/>
              </a:rPr>
              <a:t>https://ieeexplore.ieee.org/document/8379722</a:t>
            </a:r>
            <a:endParaRPr dirty="0" sz="1800" lang="en-US" smtClean="0">
              <a:latin typeface="Times New Roman" pitchFamily="18" charset="0"/>
              <a:cs typeface="Times New Roman" pitchFamily="18" charset="0"/>
            </a:endParaRPr>
          </a:p>
          <a:p>
            <a:pPr algn="just">
              <a:buFont typeface="Wingdings" pitchFamily="2" charset="2"/>
              <a:buChar char="§"/>
            </a:pPr>
            <a:r>
              <a:rPr dirty="0" sz="1800" lang="en-US" smtClean="0">
                <a:solidFill>
                  <a:schemeClr val="tx1"/>
                </a:solidFill>
                <a:latin typeface="Times New Roman" pitchFamily="18" charset="0"/>
                <a:cs typeface="Times New Roman" pitchFamily="18" charset="0"/>
              </a:rPr>
              <a:t> </a:t>
            </a:r>
            <a:r>
              <a:rPr dirty="0" sz="1800" lang="en-US" err="1" smtClean="0">
                <a:solidFill>
                  <a:schemeClr val="tx1"/>
                </a:solidFill>
                <a:latin typeface="Times New Roman" pitchFamily="18" charset="0"/>
                <a:cs typeface="Times New Roman" pitchFamily="18" charset="0"/>
              </a:rPr>
              <a:t>Eirini</a:t>
            </a:r>
            <a:r>
              <a:rPr dirty="0" sz="1800" lang="en-US" smtClean="0">
                <a:solidFill>
                  <a:schemeClr val="tx1"/>
                </a:solidFill>
                <a:latin typeface="Times New Roman" pitchFamily="18" charset="0"/>
                <a:cs typeface="Times New Roman" pitchFamily="18" charset="0"/>
              </a:rPr>
              <a:t> </a:t>
            </a:r>
            <a:r>
              <a:rPr dirty="0" sz="1800" lang="en-US" err="1" smtClean="0">
                <a:solidFill>
                  <a:schemeClr val="tx1"/>
                </a:solidFill>
                <a:latin typeface="Times New Roman" pitchFamily="18" charset="0"/>
                <a:cs typeface="Times New Roman" pitchFamily="18" charset="0"/>
              </a:rPr>
              <a:t>Anthi</a:t>
            </a:r>
            <a:r>
              <a:rPr dirty="0" sz="1800" lang="en-US" smtClean="0">
                <a:solidFill>
                  <a:schemeClr val="tx1"/>
                </a:solidFill>
                <a:latin typeface="Times New Roman" pitchFamily="18" charset="0"/>
                <a:cs typeface="Times New Roman" pitchFamily="18" charset="0"/>
              </a:rPr>
              <a:t>, Amir </a:t>
            </a:r>
            <a:r>
              <a:rPr dirty="0" sz="1800" lang="en-US" err="1" smtClean="0">
                <a:solidFill>
                  <a:schemeClr val="tx1"/>
                </a:solidFill>
                <a:latin typeface="Times New Roman" pitchFamily="18" charset="0"/>
                <a:cs typeface="Times New Roman" pitchFamily="18" charset="0"/>
              </a:rPr>
              <a:t>Javed</a:t>
            </a:r>
            <a:r>
              <a:rPr dirty="0" sz="1800" lang="en-US" smtClean="0">
                <a:solidFill>
                  <a:schemeClr val="tx1"/>
                </a:solidFill>
                <a:latin typeface="Times New Roman" pitchFamily="18" charset="0"/>
                <a:cs typeface="Times New Roman" pitchFamily="18" charset="0"/>
              </a:rPr>
              <a:t>, Omer </a:t>
            </a:r>
            <a:r>
              <a:rPr dirty="0" sz="1800" lang="en-US" err="1" smtClean="0">
                <a:solidFill>
                  <a:schemeClr val="tx1"/>
                </a:solidFill>
                <a:latin typeface="Times New Roman" pitchFamily="18" charset="0"/>
                <a:cs typeface="Times New Roman" pitchFamily="18" charset="0"/>
              </a:rPr>
              <a:t>Rana</a:t>
            </a:r>
            <a:r>
              <a:rPr dirty="0" sz="1800" lang="en-US" smtClean="0">
                <a:solidFill>
                  <a:schemeClr val="tx1"/>
                </a:solidFill>
                <a:latin typeface="Times New Roman" pitchFamily="18" charset="0"/>
                <a:cs typeface="Times New Roman" pitchFamily="18" charset="0"/>
              </a:rPr>
              <a:t>, and George </a:t>
            </a:r>
            <a:r>
              <a:rPr sz="1800" lang="en-US" smtClean="0">
                <a:solidFill>
                  <a:schemeClr val="tx1"/>
                </a:solidFill>
                <a:latin typeface="Times New Roman" pitchFamily="18" charset="0"/>
                <a:cs typeface="Times New Roman" pitchFamily="18" charset="0"/>
              </a:rPr>
              <a:t>Theodorakopoulos</a:t>
            </a:r>
            <a:r>
              <a:rPr dirty="0" sz="1800" lang="en-US" smtClean="0">
                <a:solidFill>
                  <a:schemeClr val="tx1"/>
                </a:solidFill>
                <a:latin typeface="Times New Roman" pitchFamily="18" charset="0"/>
                <a:cs typeface="Times New Roman" pitchFamily="18" charset="0"/>
              </a:rPr>
              <a:t>. Secure data sharing and analysis in cloud-based energy management systems. In Cloud Infrastructures, Services, and </a:t>
            </a:r>
            <a:r>
              <a:rPr dirty="0" sz="1800" lang="en-US" err="1" smtClean="0">
                <a:solidFill>
                  <a:schemeClr val="tx1"/>
                </a:solidFill>
                <a:latin typeface="Times New Roman" pitchFamily="18" charset="0"/>
                <a:cs typeface="Times New Roman" pitchFamily="18" charset="0"/>
              </a:rPr>
              <a:t>IoT</a:t>
            </a:r>
            <a:r>
              <a:rPr dirty="0" sz="1800" lang="en-US" smtClean="0">
                <a:solidFill>
                  <a:schemeClr val="tx1"/>
                </a:solidFill>
                <a:latin typeface="Times New Roman" pitchFamily="18" charset="0"/>
                <a:cs typeface="Times New Roman" pitchFamily="18" charset="0"/>
              </a:rPr>
              <a:t> Systems for Smart Cities, pages 228–242. Springer, 2017.</a:t>
            </a:r>
          </a:p>
          <a:p>
            <a:pPr algn="just">
              <a:buFont typeface="Wingdings" pitchFamily="2" charset="2"/>
              <a:buChar char="§"/>
            </a:pPr>
            <a:r>
              <a:rPr dirty="0" sz="1800" lang="en-US" smtClean="0">
                <a:solidFill>
                  <a:schemeClr val="tx1"/>
                </a:solidFill>
                <a:latin typeface="Times New Roman" pitchFamily="18" charset="0"/>
                <a:cs typeface="Times New Roman" pitchFamily="18" charset="0"/>
              </a:rPr>
              <a:t> Daniele Midi, </a:t>
            </a:r>
            <a:r>
              <a:rPr dirty="0" sz="1800" lang="en-US" err="1" smtClean="0">
                <a:solidFill>
                  <a:schemeClr val="tx1"/>
                </a:solidFill>
                <a:latin typeface="Times New Roman" pitchFamily="18" charset="0"/>
                <a:cs typeface="Times New Roman" pitchFamily="18" charset="0"/>
              </a:rPr>
              <a:t>Antonino</a:t>
            </a:r>
            <a:r>
              <a:rPr dirty="0" sz="1800" lang="en-US" smtClean="0">
                <a:solidFill>
                  <a:schemeClr val="tx1"/>
                </a:solidFill>
                <a:latin typeface="Times New Roman" pitchFamily="18" charset="0"/>
                <a:cs typeface="Times New Roman" pitchFamily="18" charset="0"/>
              </a:rPr>
              <a:t> </a:t>
            </a:r>
            <a:r>
              <a:rPr dirty="0" sz="1800" lang="en-US" err="1" smtClean="0">
                <a:solidFill>
                  <a:schemeClr val="tx1"/>
                </a:solidFill>
                <a:latin typeface="Times New Roman" pitchFamily="18" charset="0"/>
                <a:cs typeface="Times New Roman" pitchFamily="18" charset="0"/>
              </a:rPr>
              <a:t>Rullo</a:t>
            </a:r>
            <a:r>
              <a:rPr dirty="0" sz="1800" lang="en-US" smtClean="0">
                <a:solidFill>
                  <a:schemeClr val="tx1"/>
                </a:solidFill>
                <a:latin typeface="Times New Roman" pitchFamily="18" charset="0"/>
                <a:cs typeface="Times New Roman" pitchFamily="18" charset="0"/>
              </a:rPr>
              <a:t>, </a:t>
            </a:r>
            <a:r>
              <a:rPr dirty="0" sz="1800" lang="en-US" err="1" smtClean="0">
                <a:solidFill>
                  <a:schemeClr val="tx1"/>
                </a:solidFill>
                <a:latin typeface="Times New Roman" pitchFamily="18" charset="0"/>
                <a:cs typeface="Times New Roman" pitchFamily="18" charset="0"/>
              </a:rPr>
              <a:t>Anand</a:t>
            </a:r>
            <a:r>
              <a:rPr dirty="0" sz="1800" lang="en-US" smtClean="0">
                <a:solidFill>
                  <a:schemeClr val="tx1"/>
                </a:solidFill>
                <a:latin typeface="Times New Roman" pitchFamily="18" charset="0"/>
                <a:cs typeface="Times New Roman" pitchFamily="18" charset="0"/>
              </a:rPr>
              <a:t> </a:t>
            </a:r>
            <a:r>
              <a:rPr dirty="0" sz="1800" lang="en-US" err="1" smtClean="0">
                <a:solidFill>
                  <a:schemeClr val="tx1"/>
                </a:solidFill>
                <a:latin typeface="Times New Roman" pitchFamily="18" charset="0"/>
                <a:cs typeface="Times New Roman" pitchFamily="18" charset="0"/>
              </a:rPr>
              <a:t>Mudgerikar</a:t>
            </a:r>
            <a:r>
              <a:rPr dirty="0" sz="1800" lang="en-US" smtClean="0">
                <a:solidFill>
                  <a:schemeClr val="tx1"/>
                </a:solidFill>
                <a:latin typeface="Times New Roman" pitchFamily="18" charset="0"/>
                <a:cs typeface="Times New Roman" pitchFamily="18" charset="0"/>
              </a:rPr>
              <a:t>, and Elisa </a:t>
            </a:r>
            <a:r>
              <a:rPr dirty="0" sz="1800" lang="en-US" err="1" smtClean="0">
                <a:solidFill>
                  <a:schemeClr val="tx1"/>
                </a:solidFill>
                <a:latin typeface="Times New Roman" pitchFamily="18" charset="0"/>
                <a:cs typeface="Times New Roman" pitchFamily="18" charset="0"/>
              </a:rPr>
              <a:t>Bertino</a:t>
            </a:r>
            <a:r>
              <a:rPr dirty="0" sz="1800" lang="en-US" smtClean="0">
                <a:solidFill>
                  <a:schemeClr val="tx1"/>
                </a:solidFill>
                <a:latin typeface="Times New Roman" pitchFamily="18" charset="0"/>
                <a:cs typeface="Times New Roman" pitchFamily="18" charset="0"/>
              </a:rPr>
              <a:t>. </a:t>
            </a:r>
            <a:r>
              <a:rPr dirty="0" sz="1800" lang="en-US" err="1" smtClean="0">
                <a:solidFill>
                  <a:schemeClr val="tx1"/>
                </a:solidFill>
                <a:latin typeface="Times New Roman" pitchFamily="18" charset="0"/>
                <a:cs typeface="Times New Roman" pitchFamily="18" charset="0"/>
              </a:rPr>
              <a:t>Kalisa</a:t>
            </a:r>
            <a:r>
              <a:rPr dirty="0" sz="1800" lang="en-US" smtClean="0">
                <a:solidFill>
                  <a:schemeClr val="tx1"/>
                </a:solidFill>
                <a:latin typeface="Times New Roman" pitchFamily="18" charset="0"/>
                <a:cs typeface="Times New Roman" pitchFamily="18" charset="0"/>
              </a:rPr>
              <a:t> system for knowledge driven adaptable intrusion detection for the internet of things. In Distributed Computing Systems (ICDCS), 2017 IEEE 37th International Conference on, pages 656–666. IEEE, 2017. </a:t>
            </a:r>
          </a:p>
          <a:p>
            <a:pPr algn="just">
              <a:buFont typeface="Wingdings" pitchFamily="2" charset="2"/>
              <a:buChar char="§"/>
            </a:pPr>
            <a:r>
              <a:rPr dirty="0" sz="1800" lang="en-US" smtClean="0">
                <a:solidFill>
                  <a:schemeClr val="tx1"/>
                </a:solidFill>
                <a:latin typeface="Times New Roman" pitchFamily="18" charset="0"/>
                <a:cs typeface="Times New Roman" pitchFamily="18" charset="0"/>
              </a:rPr>
              <a:t>Daniel </a:t>
            </a:r>
            <a:r>
              <a:rPr dirty="0" sz="1800" lang="en-US" err="1" smtClean="0">
                <a:solidFill>
                  <a:schemeClr val="tx1"/>
                </a:solidFill>
                <a:latin typeface="Times New Roman" pitchFamily="18" charset="0"/>
                <a:cs typeface="Times New Roman" pitchFamily="18" charset="0"/>
              </a:rPr>
              <a:t>Miessler</a:t>
            </a:r>
            <a:r>
              <a:rPr dirty="0" sz="1800" lang="en-US" smtClean="0">
                <a:solidFill>
                  <a:schemeClr val="tx1"/>
                </a:solidFill>
                <a:latin typeface="Times New Roman" pitchFamily="18" charset="0"/>
                <a:cs typeface="Times New Roman" pitchFamily="18" charset="0"/>
              </a:rPr>
              <a:t>. Hp study reveals 70 percent of internet of things devices vulnerable to attack. Retrieved June, 30:2015, 2014.</a:t>
            </a:r>
          </a:p>
          <a:p>
            <a:pPr algn="just">
              <a:buFont typeface="Wingdings" pitchFamily="2" charset="2"/>
              <a:buChar char="§"/>
            </a:pPr>
            <a:r>
              <a:rPr dirty="0" sz="1800" lang="en-US" err="1" smtClean="0">
                <a:solidFill>
                  <a:schemeClr val="tx1"/>
                </a:solidFill>
                <a:latin typeface="Times New Roman" pitchFamily="18" charset="0"/>
                <a:cs typeface="Times New Roman" pitchFamily="18" charset="0"/>
              </a:rPr>
              <a:t>Pavan</a:t>
            </a:r>
            <a:r>
              <a:rPr dirty="0" sz="1800" lang="en-US" smtClean="0">
                <a:solidFill>
                  <a:schemeClr val="tx1"/>
                </a:solidFill>
                <a:latin typeface="Times New Roman" pitchFamily="18" charset="0"/>
                <a:cs typeface="Times New Roman" pitchFamily="18" charset="0"/>
              </a:rPr>
              <a:t> </a:t>
            </a:r>
            <a:r>
              <a:rPr dirty="0" sz="1800" lang="en-US" err="1" smtClean="0">
                <a:solidFill>
                  <a:schemeClr val="tx1"/>
                </a:solidFill>
                <a:latin typeface="Times New Roman" pitchFamily="18" charset="0"/>
                <a:cs typeface="Times New Roman" pitchFamily="18" charset="0"/>
              </a:rPr>
              <a:t>Pongle</a:t>
            </a:r>
            <a:r>
              <a:rPr dirty="0" sz="1800" lang="en-US" smtClean="0">
                <a:solidFill>
                  <a:schemeClr val="tx1"/>
                </a:solidFill>
                <a:latin typeface="Times New Roman" pitchFamily="18" charset="0"/>
                <a:cs typeface="Times New Roman" pitchFamily="18" charset="0"/>
              </a:rPr>
              <a:t> and </a:t>
            </a:r>
            <a:r>
              <a:rPr dirty="0" sz="1800" lang="en-US" err="1" smtClean="0">
                <a:solidFill>
                  <a:schemeClr val="tx1"/>
                </a:solidFill>
                <a:latin typeface="Times New Roman" pitchFamily="18" charset="0"/>
                <a:cs typeface="Times New Roman" pitchFamily="18" charset="0"/>
              </a:rPr>
              <a:t>Gurunath</a:t>
            </a:r>
            <a:r>
              <a:rPr dirty="0" sz="1800" lang="en-US" smtClean="0">
                <a:solidFill>
                  <a:schemeClr val="tx1"/>
                </a:solidFill>
                <a:latin typeface="Times New Roman" pitchFamily="18" charset="0"/>
                <a:cs typeface="Times New Roman" pitchFamily="18" charset="0"/>
              </a:rPr>
              <a:t> </a:t>
            </a:r>
            <a:r>
              <a:rPr dirty="0" sz="1800" lang="en-US" err="1" smtClean="0">
                <a:solidFill>
                  <a:schemeClr val="tx1"/>
                </a:solidFill>
                <a:latin typeface="Times New Roman" pitchFamily="18" charset="0"/>
                <a:cs typeface="Times New Roman" pitchFamily="18" charset="0"/>
              </a:rPr>
              <a:t>Chavan</a:t>
            </a:r>
            <a:r>
              <a:rPr dirty="0" sz="1800" lang="en-US" smtClean="0">
                <a:solidFill>
                  <a:schemeClr val="tx1"/>
                </a:solidFill>
                <a:latin typeface="Times New Roman" pitchFamily="18" charset="0"/>
                <a:cs typeface="Times New Roman" pitchFamily="18" charset="0"/>
              </a:rPr>
              <a:t>. Real time intrusion and wormhole attack detection in internet of things. International Journal of Computer Applications, 121(9), 2015.</a:t>
            </a:r>
          </a:p>
          <a:p>
            <a:pPr algn="just">
              <a:buFont typeface="Wingdings" pitchFamily="2" charset="2"/>
              <a:buChar char="§"/>
            </a:pPr>
            <a:r>
              <a:rPr dirty="0" sz="1800" lang="en-US" smtClean="0">
                <a:solidFill>
                  <a:schemeClr val="tx1"/>
                </a:solidFill>
                <a:latin typeface="Times New Roman" pitchFamily="18" charset="0"/>
                <a:cs typeface="Times New Roman" pitchFamily="18" charset="0"/>
              </a:rPr>
              <a:t>Kathy </a:t>
            </a:r>
            <a:r>
              <a:rPr dirty="0" sz="1800" lang="en-US" err="1" smtClean="0">
                <a:solidFill>
                  <a:schemeClr val="tx1"/>
                </a:solidFill>
                <a:latin typeface="Times New Roman" pitchFamily="18" charset="0"/>
                <a:cs typeface="Times New Roman" pitchFamily="18" charset="0"/>
              </a:rPr>
              <a:t>Pretz</a:t>
            </a:r>
            <a:r>
              <a:rPr dirty="0" sz="1800" lang="en-US" smtClean="0">
                <a:solidFill>
                  <a:schemeClr val="tx1"/>
                </a:solidFill>
                <a:latin typeface="Times New Roman" pitchFamily="18" charset="0"/>
                <a:cs typeface="Times New Roman" pitchFamily="18" charset="0"/>
              </a:rPr>
              <a:t>. Exploring the impact of the internet of things: A new </a:t>
            </a:r>
            <a:r>
              <a:rPr dirty="0" sz="1800" lang="en-US" err="1" smtClean="0">
                <a:solidFill>
                  <a:schemeClr val="tx1"/>
                </a:solidFill>
                <a:latin typeface="Times New Roman" pitchFamily="18" charset="0"/>
                <a:cs typeface="Times New Roman" pitchFamily="18" charset="0"/>
              </a:rPr>
              <a:t>ieee</a:t>
            </a:r>
            <a:r>
              <a:rPr dirty="0" sz="1800" lang="en-US" smtClean="0">
                <a:solidFill>
                  <a:schemeClr val="tx1"/>
                </a:solidFill>
                <a:latin typeface="Times New Roman" pitchFamily="18" charset="0"/>
                <a:cs typeface="Times New Roman" pitchFamily="18" charset="0"/>
              </a:rPr>
              <a:t> group is taking on the quest to connect everything. The Institute, 2013. </a:t>
            </a:r>
          </a:p>
        </p:txBody>
      </p:sp>
    </p:spTree>
  </p:cSld>
  <p:clrMapOvr>
    <a:masterClrMapping/>
  </p:clrMapOvr>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pic>
        <p:nvPicPr>
          <p:cNvPr id="2097161" name="Picture 2" descr="See the source image"/>
          <p:cNvPicPr>
            <a:picLocks noChangeAspect="1" noChangeArrowheads="1"/>
          </p:cNvPicPr>
          <p:nvPr/>
        </p:nvPicPr>
        <p:blipFill>
          <a:blip xmlns:r="http://schemas.openxmlformats.org/officeDocument/2006/relationships" r:embed="rId1" cstate="print"/>
          <a:srcRect/>
          <a:stretch>
            <a:fillRect/>
          </a:stretch>
        </p:blipFill>
        <p:spPr bwMode="auto">
          <a:xfrm>
            <a:off x="381000" y="1295400"/>
            <a:ext cx="6934200" cy="3219645"/>
          </a:xfrm>
          <a:prstGeom prst="rect"/>
          <a:noFill/>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accel="50000" decel="50000" fill="hold" id="5" nodeType="withEffect" presetClass="path" presetID="46" presetSubtype="0" repeatCount="2000">
                                  <p:stCondLst>
                                    <p:cond delay="0"/>
                                  </p:stCondLst>
                                  <p:childTnLst>
                                    <p:animMotion origin="layout" path="M 0 0  C -0.004 -0.08933  0.046 -0.16667  0.113 -0.172  C 0.177 -0.17867  0.237 -0.11867  0.241 -0.032  C 0.246 0.048  0.204 0.12267  0.144 0.128  C 0.089 0.132  0.037 0.08267  0.033 0.008  C 0.029 -0.06  0.064 -0.124  0.115 -0.12933  C 0.162 -0.13333  0.206 -0.092  0.209 -0.02933  C 0.212 0.02667  0.184 0.08133  0.142 0.084  C 0.104 0.088  0.068 0.056  0.065 0.00533  C 0.063 -0.04  0.084 -0.084  0.117 -0.08667  C 0.146 -0.08933  0.175 -0.06533  0.177 -0.02667  C 0.179 0.00667  0.164 0.03867  0.14 0.04133  C 0.12 0.044  0.099 0.02933  0.098 0.00267  C 0.096 -0.01867  0.104 -0.04133  0.119 -0.044  C 0.131 -0.044  0.143 -0.03867  0.145 -0.024  C 0.146 -0.01467  0.144 -0.00533  0.138 -0.00133  C 0.135 0  0.133 0  0.13 -0.00133  E" pathEditMode="relative" ptsTypes="">
                                      <p:cBhvr>
                                        <p:cTn dur="5000" fill="hold" id="6"/>
                                        <p:tgtEl>
                                          <p:spTgt spid="209716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5" name="Subtitle 2"/>
          <p:cNvSpPr>
            <a:spLocks noGrp="1"/>
          </p:cNvSpPr>
          <p:nvPr>
            <p:ph type="subTitle" idx="1"/>
          </p:nvPr>
        </p:nvSpPr>
        <p:spPr>
          <a:xfrm>
            <a:off x="609600" y="1752600"/>
            <a:ext cx="7910512" cy="2438400"/>
          </a:xfrm>
          <a:effectLst>
            <a:reflection algn="bl" blurRad="6350" dir="5400000" dist="50800" endA="300" endPos="55500" rotWithShape="0" stA="50000" sy="-100000"/>
          </a:effectLst>
        </p:spPr>
        <p:txBody>
          <a:bodyPr>
            <a:normAutofit/>
          </a:bodyPr>
          <a:p>
            <a:pPr algn="l"/>
            <a:r>
              <a:rPr b="1" dirty="0" sz="8800" lang="en-US" err="1" smtClean="0">
                <a:solidFill>
                  <a:srgbClr val="C00000"/>
                </a:solidFill>
              </a:rPr>
              <a:t>Thankyou</a:t>
            </a:r>
            <a:r>
              <a:rPr b="1" dirty="0" sz="8800" lang="en-US" smtClean="0">
                <a:solidFill>
                  <a:srgbClr val="C00000"/>
                </a:solidFill>
              </a:rPr>
              <a:t> !!</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grpId="0" id="5" nodeType="withEffect" presetClass="entr" presetID="2" presetSubtype="4">
                                  <p:stCondLst>
                                    <p:cond delay="0"/>
                                  </p:stCondLst>
                                  <p:childTnLst>
                                    <p:set>
                                      <p:cBhvr>
                                        <p:cTn dur="1" fill="hold" id="6">
                                          <p:stCondLst>
                                            <p:cond delay="0"/>
                                          </p:stCondLst>
                                        </p:cTn>
                                        <p:tgtEl>
                                          <p:spTgt spid="1048625">
                                            <p:txEl>
                                              <p:pRg st="0" end="0"/>
                                            </p:txEl>
                                          </p:spTgt>
                                        </p:tgtEl>
                                        <p:attrNameLst>
                                          <p:attrName>style.visibility</p:attrName>
                                        </p:attrNameLst>
                                      </p:cBhvr>
                                      <p:to>
                                        <p:strVal val="visible"/>
                                      </p:to>
                                    </p:set>
                                    <p:anim calcmode="lin" valueType="num">
                                      <p:cBhvr additive="base">
                                        <p:cTn dur="500" fill="hold" id="7"/>
                                        <p:tgtEl>
                                          <p:spTgt spid="104862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2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5" grpId="0" build="p"/>
    </p:bldLst>
  </p:timing>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Pulse: AnAdaptiveIntrusionDetectionfortheInternetofThings</dc:title>
  <dc:creator>User</dc:creator>
  <cp:lastModifiedBy>User</cp:lastModifiedBy>
  <dcterms:created xsi:type="dcterms:W3CDTF">2020-02-24T07:34:38Z</dcterms:created>
  <dcterms:modified xsi:type="dcterms:W3CDTF">2020-03-11T16:18:39Z</dcterms:modified>
</cp:coreProperties>
</file>