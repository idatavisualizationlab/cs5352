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sldIdLst>
    <p:sldId id="256" r:id="rId2"/>
    <p:sldId id="257" r:id="rId3"/>
    <p:sldId id="260" r:id="rId4"/>
    <p:sldId id="261" r:id="rId5"/>
    <p:sldId id="273" r:id="rId6"/>
    <p:sldId id="262" r:id="rId7"/>
    <p:sldId id="274" r:id="rId8"/>
    <p:sldId id="275" r:id="rId9"/>
    <p:sldId id="277" r:id="rId10"/>
    <p:sldId id="279" r:id="rId11"/>
    <p:sldId id="284" r:id="rId12"/>
    <p:sldId id="286" r:id="rId13"/>
    <p:sldId id="283" r:id="rId14"/>
    <p:sldId id="280" r:id="rId15"/>
    <p:sldId id="282" r:id="rId16"/>
    <p:sldId id="281" r:id="rId17"/>
    <p:sldId id="288" r:id="rId18"/>
    <p:sldId id="287" r:id="rId19"/>
    <p:sldId id="285"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72" d="100"/>
          <a:sy n="72" d="100"/>
        </p:scale>
        <p:origin x="-110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090EEF-BCDB-4870-90C6-9934696DED77}" type="datetimeFigureOut">
              <a:rPr lang="en-US" smtClean="0"/>
              <a:pPr/>
              <a:t>3/14/2020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FB350AB-5D01-494B-9F91-F2C75C47F3A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FB350AB-5D01-494B-9F91-F2C75C47F3A0}"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FA4057F6-35BB-4921-9DC2-CCAFA0412375}" type="datetimeFigureOut">
              <a:rPr lang="en-US" smtClean="0"/>
              <a:pPr/>
              <a:t>3/14/2020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084B3CD4-06C4-4444-BC74-10F5ED1259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A4057F6-35BB-4921-9DC2-CCAFA0412375}" type="datetimeFigureOut">
              <a:rPr lang="en-US" smtClean="0"/>
              <a:pPr/>
              <a:t>3/14/2020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84B3CD4-06C4-4444-BC74-10F5ED12592C}"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FA4057F6-35BB-4921-9DC2-CCAFA0412375}" type="datetimeFigureOut">
              <a:rPr lang="en-US" smtClean="0"/>
              <a:pPr/>
              <a:t>3/14/2020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84B3CD4-06C4-4444-BC74-10F5ED12592C}"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A4057F6-35BB-4921-9DC2-CCAFA0412375}" type="datetimeFigureOut">
              <a:rPr lang="en-US" smtClean="0"/>
              <a:pPr/>
              <a:t>3/14/2020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84B3CD4-06C4-4444-BC74-10F5ED12592C}"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FA4057F6-35BB-4921-9DC2-CCAFA0412375}" type="datetimeFigureOut">
              <a:rPr lang="en-US" smtClean="0"/>
              <a:pPr/>
              <a:t>3/14/2020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084B3CD4-06C4-4444-BC74-10F5ED12592C}"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FA4057F6-35BB-4921-9DC2-CCAFA0412375}" type="datetimeFigureOut">
              <a:rPr lang="en-US" smtClean="0"/>
              <a:pPr/>
              <a:t>3/14/2020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084B3CD4-06C4-4444-BC74-10F5ED12592C}"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FA4057F6-35BB-4921-9DC2-CCAFA0412375}" type="datetimeFigureOut">
              <a:rPr lang="en-US" smtClean="0"/>
              <a:pPr/>
              <a:t>3/14/2020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084B3CD4-06C4-4444-BC74-10F5ED1259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FA4057F6-35BB-4921-9DC2-CCAFA0412375}" type="datetimeFigureOut">
              <a:rPr lang="en-US" smtClean="0"/>
              <a:pPr/>
              <a:t>3/14/2020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84B3CD4-06C4-4444-BC74-10F5ED12592C}"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FA4057F6-35BB-4921-9DC2-CCAFA0412375}" type="datetimeFigureOut">
              <a:rPr lang="en-US" smtClean="0"/>
              <a:pPr/>
              <a:t>3/14/2020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084B3CD4-06C4-4444-BC74-10F5ED12592C}"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A4057F6-35BB-4921-9DC2-CCAFA0412375}" type="datetimeFigureOut">
              <a:rPr lang="en-US" smtClean="0"/>
              <a:pPr/>
              <a:t>3/14/2020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84B3CD4-06C4-4444-BC74-10F5ED1259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A4057F6-35BB-4921-9DC2-CCAFA0412375}" type="datetimeFigureOut">
              <a:rPr lang="en-US" smtClean="0"/>
              <a:pPr/>
              <a:t>3/14/2020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84B3CD4-06C4-4444-BC74-10F5ED12592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FA4057F6-35BB-4921-9DC2-CCAFA0412375}" type="datetimeFigureOut">
              <a:rPr lang="en-US" smtClean="0"/>
              <a:pPr/>
              <a:t>3/14/2020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084B3CD4-06C4-4444-BC74-10F5ED12592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38200"/>
            <a:ext cx="7772400" cy="2438400"/>
          </a:xfrm>
        </p:spPr>
        <p:txBody>
          <a:bodyPr>
            <a:noAutofit/>
          </a:bodyPr>
          <a:lstStyle/>
          <a:p>
            <a:pPr algn="ctr"/>
            <a:r>
              <a:rPr lang="en-US" sz="4500" dirty="0" smtClean="0"/>
              <a:t>Splitting Interfaces: Making Trust Between Applications </a:t>
            </a:r>
            <a:r>
              <a:rPr lang="en-US" sz="4500" dirty="0" smtClean="0"/>
              <a:t>and Operating Systems </a:t>
            </a:r>
            <a:r>
              <a:rPr lang="en-US" sz="4500" dirty="0" smtClean="0"/>
              <a:t>Configurable </a:t>
            </a:r>
            <a:endParaRPr lang="en-US" sz="4500" dirty="0"/>
          </a:p>
        </p:txBody>
      </p:sp>
      <p:sp>
        <p:nvSpPr>
          <p:cNvPr id="3" name="Subtitle 2"/>
          <p:cNvSpPr>
            <a:spLocks noGrp="1"/>
          </p:cNvSpPr>
          <p:nvPr>
            <p:ph type="subTitle" idx="1"/>
          </p:nvPr>
        </p:nvSpPr>
        <p:spPr>
          <a:xfrm>
            <a:off x="609600" y="3657600"/>
            <a:ext cx="7772400" cy="1199704"/>
          </a:xfrm>
        </p:spPr>
        <p:txBody>
          <a:bodyPr/>
          <a:lstStyle/>
          <a:p>
            <a:pPr algn="ctr"/>
            <a:r>
              <a:rPr lang="en-US" b="1" dirty="0" smtClean="0"/>
              <a:t>Professor</a:t>
            </a:r>
            <a:r>
              <a:rPr lang="en-US" dirty="0" smtClean="0"/>
              <a:t> </a:t>
            </a:r>
            <a:r>
              <a:rPr lang="en-US" b="1" dirty="0" smtClean="0"/>
              <a:t>Name: </a:t>
            </a:r>
            <a:r>
              <a:rPr lang="en-US" dirty="0" smtClean="0"/>
              <a:t>Tommy Dang</a:t>
            </a:r>
          </a:p>
          <a:p>
            <a:pPr algn="ctr"/>
            <a:r>
              <a:rPr lang="en-US" b="1" dirty="0" smtClean="0"/>
              <a:t>Presented </a:t>
            </a:r>
            <a:r>
              <a:rPr lang="en-US" b="1" dirty="0" smtClean="0"/>
              <a:t>b</a:t>
            </a:r>
            <a:r>
              <a:rPr lang="en-US" b="1" dirty="0" smtClean="0"/>
              <a:t>y: </a:t>
            </a:r>
            <a:r>
              <a:rPr lang="en-US" dirty="0" smtClean="0"/>
              <a:t>Sai Bhavesh Nooka</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1) Introduction</a:t>
            </a:r>
          </a:p>
          <a:p>
            <a:pPr>
              <a:buNone/>
            </a:pPr>
            <a:r>
              <a:rPr lang="en-US" dirty="0" smtClean="0"/>
              <a:t>2) Main Problem </a:t>
            </a:r>
          </a:p>
          <a:p>
            <a:pPr>
              <a:buNone/>
            </a:pPr>
            <a:r>
              <a:rPr lang="en-US" dirty="0" smtClean="0"/>
              <a:t>3) Approach to handle the security </a:t>
            </a:r>
          </a:p>
          <a:p>
            <a:pPr>
              <a:buNone/>
            </a:pPr>
            <a:r>
              <a:rPr lang="en-US" dirty="0" smtClean="0"/>
              <a:t>4) Design of the system</a:t>
            </a:r>
          </a:p>
          <a:p>
            <a:pPr>
              <a:buNone/>
            </a:pPr>
            <a:r>
              <a:rPr lang="en-US" dirty="0" smtClean="0"/>
              <a:t>5) Applications</a:t>
            </a:r>
          </a:p>
          <a:p>
            <a:pPr>
              <a:buNone/>
            </a:pPr>
            <a:r>
              <a:rPr lang="en-US" dirty="0" smtClean="0"/>
              <a:t>6) Results</a:t>
            </a:r>
          </a:p>
          <a:p>
            <a:pPr>
              <a:buNone/>
            </a:pPr>
            <a:r>
              <a:rPr lang="en-US" dirty="0" smtClean="0"/>
              <a:t>7) </a:t>
            </a:r>
            <a:r>
              <a:rPr lang="en-US" dirty="0" smtClean="0"/>
              <a:t>Conclusion</a:t>
            </a:r>
          </a:p>
          <a:p>
            <a:pPr>
              <a:buNone/>
            </a:pPr>
            <a:r>
              <a:rPr lang="en-US" dirty="0" smtClean="0"/>
              <a:t>8) </a:t>
            </a:r>
            <a:r>
              <a:rPr lang="en-US" dirty="0" smtClean="0"/>
              <a:t>References</a:t>
            </a:r>
            <a:endParaRPr lang="en-US" dirty="0"/>
          </a:p>
        </p:txBody>
      </p:sp>
      <p:sp>
        <p:nvSpPr>
          <p:cNvPr id="2" name="Title 1"/>
          <p:cNvSpPr>
            <a:spLocks noGrp="1"/>
          </p:cNvSpPr>
          <p:nvPr>
            <p:ph type="title"/>
          </p:nvPr>
        </p:nvSpPr>
        <p:spPr/>
        <p:txBody>
          <a:bodyPr/>
          <a:lstStyle/>
          <a:p>
            <a:pPr algn="ctr"/>
            <a:r>
              <a:rPr lang="en-US" dirty="0" smtClean="0"/>
              <a:t>CONTENTS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buNone/>
            </a:pPr>
            <a:r>
              <a:rPr lang="en-US" dirty="0" smtClean="0"/>
              <a:t>	In current commodity systems, applications have no way of limiting their trust in the underlying operating system (OS), leaving them at the complete mercy of an attacker who gains control over the OS. This work describes the design and implementation of Proxos, a system that allows applications to configure their trust in the OS by partitioning the system call interface into trusted and untrusted components.</a:t>
            </a:r>
            <a:endParaRPr lang="en-US" dirty="0"/>
          </a:p>
        </p:txBody>
      </p:sp>
      <p:sp>
        <p:nvSpPr>
          <p:cNvPr id="2" name="Title 1"/>
          <p:cNvSpPr>
            <a:spLocks noGrp="1"/>
          </p:cNvSpPr>
          <p:nvPr>
            <p:ph type="title"/>
          </p:nvPr>
        </p:nvSpPr>
        <p:spPr/>
        <p:txBody>
          <a:bodyPr/>
          <a:lstStyle/>
          <a:p>
            <a:pPr algn="ctr"/>
            <a:r>
              <a:rPr lang="en-US" dirty="0" smtClean="0"/>
              <a:t>INTRODUCTION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525963"/>
          </a:xfrm>
        </p:spPr>
        <p:txBody>
          <a:bodyPr>
            <a:normAutofit/>
          </a:bodyPr>
          <a:lstStyle/>
          <a:p>
            <a:pPr>
              <a:buNone/>
            </a:pPr>
            <a:r>
              <a:rPr lang="en-US" b="1" dirty="0" smtClean="0"/>
              <a:t>Trends of attacks in the recent time: </a:t>
            </a:r>
          </a:p>
          <a:p>
            <a:pPr>
              <a:buNone/>
            </a:pPr>
            <a:endParaRPr lang="en-US" dirty="0"/>
          </a:p>
        </p:txBody>
      </p:sp>
      <p:sp>
        <p:nvSpPr>
          <p:cNvPr id="2" name="Title 1"/>
          <p:cNvSpPr>
            <a:spLocks noGrp="1"/>
          </p:cNvSpPr>
          <p:nvPr>
            <p:ph type="title"/>
          </p:nvPr>
        </p:nvSpPr>
        <p:spPr/>
        <p:txBody>
          <a:bodyPr/>
          <a:lstStyle/>
          <a:p>
            <a:pPr algn="ctr"/>
            <a:r>
              <a:rPr lang="en-US" dirty="0" smtClean="0"/>
              <a:t>INTRODUCTION</a:t>
            </a:r>
            <a:endParaRPr lang="en-US" dirty="0"/>
          </a:p>
        </p:txBody>
      </p:sp>
      <p:pic>
        <p:nvPicPr>
          <p:cNvPr id="4" name="Picture 5"/>
          <p:cNvPicPr>
            <a:picLocks noChangeAspect="1" noChangeArrowheads="1"/>
          </p:cNvPicPr>
          <p:nvPr/>
        </p:nvPicPr>
        <p:blipFill>
          <a:blip r:embed="rId2" cstate="print"/>
          <a:stretch>
            <a:fillRect/>
          </a:stretch>
        </p:blipFill>
        <p:spPr bwMode="auto">
          <a:xfrm>
            <a:off x="609600" y="1828800"/>
            <a:ext cx="8153400" cy="41148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525963"/>
          </a:xfrm>
        </p:spPr>
        <p:txBody>
          <a:bodyPr>
            <a:normAutofit fontScale="92500"/>
          </a:bodyPr>
          <a:lstStyle/>
          <a:p>
            <a:pPr>
              <a:buNone/>
            </a:pPr>
            <a:r>
              <a:rPr lang="en-US" b="1" dirty="0" smtClean="0"/>
              <a:t> </a:t>
            </a:r>
          </a:p>
          <a:p>
            <a:r>
              <a:rPr lang="en-US" dirty="0" smtClean="0"/>
              <a:t>Most of the application now a days needs administrative privileges i.e.; admin control to run on the system. So, when the attackers attack they can get a control over OS and kernel (Middleware between apps to access Hardware of a machine)</a:t>
            </a:r>
          </a:p>
          <a:p>
            <a:r>
              <a:rPr lang="en-US" dirty="0" smtClean="0"/>
              <a:t>As the kernel code is large, it gives attacker a lot of scope to inject drivers or code to hack the data. When this happens, they can even get a control over app that are security sensitive apps</a:t>
            </a:r>
          </a:p>
        </p:txBody>
      </p:sp>
      <p:sp>
        <p:nvSpPr>
          <p:cNvPr id="2" name="Title 1"/>
          <p:cNvSpPr>
            <a:spLocks noGrp="1"/>
          </p:cNvSpPr>
          <p:nvPr>
            <p:ph type="title"/>
          </p:nvPr>
        </p:nvSpPr>
        <p:spPr/>
        <p:txBody>
          <a:bodyPr/>
          <a:lstStyle/>
          <a:p>
            <a:pPr algn="ctr"/>
            <a:r>
              <a:rPr lang="en-US" dirty="0" smtClean="0"/>
              <a:t>MAIN PROBLEM</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525963"/>
          </a:xfrm>
        </p:spPr>
        <p:txBody>
          <a:bodyPr>
            <a:normAutofit/>
          </a:bodyPr>
          <a:lstStyle/>
          <a:p>
            <a:pPr>
              <a:buNone/>
            </a:pPr>
            <a:r>
              <a:rPr lang="en-US" b="1" dirty="0" smtClean="0"/>
              <a:t> </a:t>
            </a:r>
          </a:p>
          <a:p>
            <a:pPr>
              <a:buNone/>
            </a:pPr>
            <a:endParaRPr lang="en-US" dirty="0"/>
          </a:p>
        </p:txBody>
      </p:sp>
      <p:sp>
        <p:nvSpPr>
          <p:cNvPr id="2" name="Title 1"/>
          <p:cNvSpPr>
            <a:spLocks noGrp="1"/>
          </p:cNvSpPr>
          <p:nvPr>
            <p:ph type="title"/>
          </p:nvPr>
        </p:nvSpPr>
        <p:spPr/>
        <p:txBody>
          <a:bodyPr/>
          <a:lstStyle/>
          <a:p>
            <a:pPr algn="ctr"/>
            <a:r>
              <a:rPr lang="en-US" dirty="0" smtClean="0"/>
              <a:t>MAIN PROBLEM</a:t>
            </a:r>
            <a:endParaRPr lang="en-US" dirty="0"/>
          </a:p>
        </p:txBody>
      </p:sp>
      <p:pic>
        <p:nvPicPr>
          <p:cNvPr id="1026" name="Picture 2"/>
          <p:cNvPicPr>
            <a:picLocks noChangeAspect="1" noChangeArrowheads="1"/>
          </p:cNvPicPr>
          <p:nvPr/>
        </p:nvPicPr>
        <p:blipFill>
          <a:blip r:embed="rId2"/>
          <a:srcRect/>
          <a:stretch>
            <a:fillRect/>
          </a:stretch>
        </p:blipFill>
        <p:spPr bwMode="auto">
          <a:xfrm>
            <a:off x="381000" y="1295400"/>
            <a:ext cx="8382000" cy="45720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525963"/>
          </a:xfrm>
        </p:spPr>
        <p:txBody>
          <a:bodyPr>
            <a:normAutofit fontScale="85000" lnSpcReduction="20000"/>
          </a:bodyPr>
          <a:lstStyle/>
          <a:p>
            <a:pPr>
              <a:buNone/>
            </a:pPr>
            <a:r>
              <a:rPr lang="en-US" b="1" dirty="0" smtClean="0"/>
              <a:t> </a:t>
            </a:r>
          </a:p>
          <a:p>
            <a:r>
              <a:rPr lang="en-US" dirty="0" smtClean="0"/>
              <a:t>App depend on OS for all the operations and we have two types of apps</a:t>
            </a:r>
          </a:p>
          <a:p>
            <a:pPr>
              <a:buNone/>
            </a:pPr>
            <a:r>
              <a:rPr lang="en-US" dirty="0" smtClean="0"/>
              <a:t>           1) security sensitive apps</a:t>
            </a:r>
          </a:p>
          <a:p>
            <a:pPr>
              <a:buNone/>
            </a:pPr>
            <a:r>
              <a:rPr lang="en-US" dirty="0" smtClean="0"/>
              <a:t>           2) other apps</a:t>
            </a:r>
          </a:p>
          <a:p>
            <a:pPr>
              <a:buNone/>
            </a:pPr>
            <a:endParaRPr lang="en-US" dirty="0" smtClean="0"/>
          </a:p>
          <a:p>
            <a:r>
              <a:rPr lang="en-US" dirty="0" smtClean="0"/>
              <a:t>Main scope is how app will not trust OS but still will get the resources accessed. For this, Security – Sensitive Application (SSA) is separated from Commodity OS Kernel</a:t>
            </a:r>
          </a:p>
          <a:p>
            <a:endParaRPr lang="en-US" dirty="0" smtClean="0"/>
          </a:p>
          <a:p>
            <a:r>
              <a:rPr lang="en-US" dirty="0" smtClean="0"/>
              <a:t>SSA is not aware that it is separated and tries to make internal calls. So, a private OS is added to handle only SSA calls by using Virtual Machine Management</a:t>
            </a:r>
            <a:endParaRPr lang="en-US" dirty="0"/>
          </a:p>
        </p:txBody>
      </p:sp>
      <p:sp>
        <p:nvSpPr>
          <p:cNvPr id="2" name="Title 1"/>
          <p:cNvSpPr>
            <a:spLocks noGrp="1"/>
          </p:cNvSpPr>
          <p:nvPr>
            <p:ph type="title"/>
          </p:nvPr>
        </p:nvSpPr>
        <p:spPr/>
        <p:txBody>
          <a:bodyPr>
            <a:normAutofit fontScale="90000"/>
          </a:bodyPr>
          <a:lstStyle/>
          <a:p>
            <a:pPr algn="ctr"/>
            <a:r>
              <a:rPr lang="en-US" dirty="0" smtClean="0"/>
              <a:t>APPROACH TO HANDLE THE SECURITY</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APPROACH TO HANDLE THE SECURITY</a:t>
            </a:r>
            <a:endParaRPr lang="en-US" dirty="0"/>
          </a:p>
        </p:txBody>
      </p:sp>
      <p:pic>
        <p:nvPicPr>
          <p:cNvPr id="31746" name="Picture 2"/>
          <p:cNvPicPr>
            <a:picLocks noGrp="1" noChangeAspect="1" noChangeArrowheads="1"/>
          </p:cNvPicPr>
          <p:nvPr>
            <p:ph idx="1"/>
          </p:nvPr>
        </p:nvPicPr>
        <p:blipFill>
          <a:blip r:embed="rId2"/>
          <a:srcRect/>
          <a:stretch>
            <a:fillRect/>
          </a:stretch>
        </p:blipFill>
        <p:spPr bwMode="auto">
          <a:xfrm>
            <a:off x="457200" y="1524000"/>
            <a:ext cx="8153400" cy="43434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DESIGN OF THE SYSTEM</a:t>
            </a:r>
            <a:endParaRPr lang="en-US" dirty="0"/>
          </a:p>
        </p:txBody>
      </p:sp>
      <p:pic>
        <p:nvPicPr>
          <p:cNvPr id="32770" name="Picture 2"/>
          <p:cNvPicPr>
            <a:picLocks noChangeAspect="1" noChangeArrowheads="1"/>
          </p:cNvPicPr>
          <p:nvPr/>
        </p:nvPicPr>
        <p:blipFill>
          <a:blip r:embed="rId2"/>
          <a:srcRect/>
          <a:stretch>
            <a:fillRect/>
          </a:stretch>
        </p:blipFill>
        <p:spPr bwMode="auto">
          <a:xfrm>
            <a:off x="609600" y="1143001"/>
            <a:ext cx="8153400" cy="3200399"/>
          </a:xfrm>
          <a:prstGeom prst="rect">
            <a:avLst/>
          </a:prstGeom>
          <a:noFill/>
          <a:ln w="9525">
            <a:noFill/>
            <a:miter lim="800000"/>
            <a:headEnd/>
            <a:tailEnd/>
          </a:ln>
          <a:effectLst/>
        </p:spPr>
      </p:pic>
      <p:sp>
        <p:nvSpPr>
          <p:cNvPr id="6" name="Content Placeholder 3"/>
          <p:cNvSpPr>
            <a:spLocks noGrp="1"/>
          </p:cNvSpPr>
          <p:nvPr>
            <p:ph idx="1"/>
          </p:nvPr>
        </p:nvSpPr>
        <p:spPr>
          <a:xfrm>
            <a:off x="609600" y="4572000"/>
            <a:ext cx="8229600" cy="1566672"/>
          </a:xfrm>
        </p:spPr>
        <p:txBody>
          <a:bodyPr>
            <a:normAutofit fontScale="77500" lnSpcReduction="20000"/>
          </a:bodyPr>
          <a:lstStyle/>
          <a:p>
            <a:r>
              <a:rPr lang="en-US" b="1" dirty="0" smtClean="0"/>
              <a:t>Proxos</a:t>
            </a:r>
            <a:r>
              <a:rPr lang="en-US" dirty="0" smtClean="0"/>
              <a:t> (Proxy Operating System) is a middleware to send the calls from SSA to private OS and to other external applications</a:t>
            </a:r>
          </a:p>
          <a:p>
            <a:endParaRPr lang="en-US" dirty="0" smtClean="0"/>
          </a:p>
          <a:p>
            <a:r>
              <a:rPr lang="en-US" dirty="0" smtClean="0"/>
              <a:t>SSA can access other apps or kernel using “</a:t>
            </a:r>
            <a:r>
              <a:rPr lang="en-US" b="1" dirty="0" smtClean="0"/>
              <a:t>Host Process</a:t>
            </a:r>
            <a:r>
              <a:rPr lang="en-US" dirty="0" smtClean="0"/>
              <a: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457200"/>
          </a:xfrm>
        </p:spPr>
        <p:txBody>
          <a:bodyPr>
            <a:normAutofit fontScale="90000"/>
          </a:bodyPr>
          <a:lstStyle/>
          <a:p>
            <a:pPr algn="ctr"/>
            <a:r>
              <a:rPr lang="en-US" dirty="0" smtClean="0"/>
              <a:t>DESIGN OF THE SYSTEM</a:t>
            </a:r>
            <a:endParaRPr lang="en-US" dirty="0"/>
          </a:p>
        </p:txBody>
      </p:sp>
      <p:pic>
        <p:nvPicPr>
          <p:cNvPr id="33795" name="Picture 3"/>
          <p:cNvPicPr>
            <a:picLocks noChangeAspect="1" noChangeArrowheads="1"/>
          </p:cNvPicPr>
          <p:nvPr/>
        </p:nvPicPr>
        <p:blipFill>
          <a:blip r:embed="rId2"/>
          <a:srcRect/>
          <a:stretch>
            <a:fillRect/>
          </a:stretch>
        </p:blipFill>
        <p:spPr bwMode="auto">
          <a:xfrm>
            <a:off x="609600" y="1066800"/>
            <a:ext cx="8229600" cy="4876800"/>
          </a:xfrm>
          <a:prstGeom prst="rect">
            <a:avLst/>
          </a:prstGeom>
          <a:noFill/>
          <a:ln w="9525">
            <a:noFill/>
            <a:miter lim="800000"/>
            <a:headEnd/>
            <a:tailEnd/>
          </a:ln>
          <a:effectLst/>
        </p:spPr>
      </p:pic>
      <p:sp>
        <p:nvSpPr>
          <p:cNvPr id="6" name="Title 1"/>
          <p:cNvSpPr txBox="1">
            <a:spLocks/>
          </p:cNvSpPr>
          <p:nvPr/>
        </p:nvSpPr>
        <p:spPr>
          <a:xfrm>
            <a:off x="0" y="381000"/>
            <a:ext cx="8229600" cy="990600"/>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25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Process Diagram:</a:t>
            </a:r>
            <a:endParaRPr kumimoji="0" lang="en-US" sz="25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DESIGN OF THE SYSTEM</a:t>
            </a:r>
            <a:endParaRPr lang="en-US" dirty="0"/>
          </a:p>
        </p:txBody>
      </p:sp>
      <p:sp>
        <p:nvSpPr>
          <p:cNvPr id="4" name="Content Placeholder 3"/>
          <p:cNvSpPr>
            <a:spLocks noGrp="1"/>
          </p:cNvSpPr>
          <p:nvPr>
            <p:ph idx="1"/>
          </p:nvPr>
        </p:nvSpPr>
        <p:spPr>
          <a:xfrm>
            <a:off x="457200" y="1295400"/>
            <a:ext cx="8229600" cy="4525963"/>
          </a:xfrm>
        </p:spPr>
        <p:txBody>
          <a:bodyPr>
            <a:normAutofit/>
          </a:bodyPr>
          <a:lstStyle/>
          <a:p>
            <a:pPr>
              <a:buNone/>
            </a:pPr>
            <a:r>
              <a:rPr lang="en-US" b="1" dirty="0" smtClean="0"/>
              <a:t>Developer Rules:</a:t>
            </a:r>
          </a:p>
          <a:p>
            <a:pPr>
              <a:buNone/>
            </a:pPr>
            <a:endParaRPr lang="en-US" b="1" dirty="0" smtClean="0"/>
          </a:p>
          <a:p>
            <a:r>
              <a:rPr lang="en-US" dirty="0" smtClean="0"/>
              <a:t>Proxos routes system calls based on rules set by the developer. Developer needs to set which data needs to be handles by secured OS and non secured</a:t>
            </a:r>
          </a:p>
          <a:p>
            <a:endParaRPr lang="en-US" dirty="0" smtClean="0"/>
          </a:p>
          <a:p>
            <a:r>
              <a:rPr lang="en-US" dirty="0" smtClean="0"/>
              <a:t>For example, Proxos may route read system calls differently depending on what file is being read.</a:t>
            </a:r>
          </a:p>
          <a:p>
            <a:endParaRPr lang="en-US" dirty="0" smtClean="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990600"/>
          </a:xfrm>
        </p:spPr>
        <p:txBody>
          <a:bodyPr>
            <a:normAutofit/>
          </a:bodyPr>
          <a:lstStyle/>
          <a:p>
            <a:pPr algn="ctr"/>
            <a:r>
              <a:rPr lang="en-US" dirty="0" smtClean="0"/>
              <a:t>DESIGN OF THE SYSTEM</a:t>
            </a:r>
            <a:endParaRPr lang="en-US" dirty="0"/>
          </a:p>
        </p:txBody>
      </p:sp>
      <p:sp>
        <p:nvSpPr>
          <p:cNvPr id="4" name="Content Placeholder 3"/>
          <p:cNvSpPr>
            <a:spLocks noGrp="1"/>
          </p:cNvSpPr>
          <p:nvPr>
            <p:ph idx="1"/>
          </p:nvPr>
        </p:nvSpPr>
        <p:spPr>
          <a:xfrm>
            <a:off x="381000" y="838200"/>
            <a:ext cx="8229600" cy="4525963"/>
          </a:xfrm>
        </p:spPr>
        <p:txBody>
          <a:bodyPr>
            <a:normAutofit/>
          </a:bodyPr>
          <a:lstStyle/>
          <a:p>
            <a:pPr>
              <a:buNone/>
            </a:pPr>
            <a:r>
              <a:rPr lang="en-US" b="1" dirty="0" smtClean="0"/>
              <a:t>  </a:t>
            </a:r>
            <a:r>
              <a:rPr lang="en-US" sz="2000" b="1" dirty="0" smtClean="0"/>
              <a:t>Sample Developer Rules (</a:t>
            </a:r>
            <a:r>
              <a:rPr lang="en-US" sz="2000" dirty="0" smtClean="0"/>
              <a:t>This example shows a simple set of routing rules that protects operations on a particular file, two network sockets, and the standard I/O streams)</a:t>
            </a:r>
          </a:p>
          <a:p>
            <a:pPr>
              <a:buNone/>
            </a:pPr>
            <a:endParaRPr lang="en-US" sz="2000" b="1" dirty="0" smtClean="0"/>
          </a:p>
          <a:p>
            <a:pPr>
              <a:buNone/>
            </a:pPr>
            <a:endParaRPr lang="en-US" dirty="0" smtClean="0"/>
          </a:p>
          <a:p>
            <a:endParaRPr lang="en-US" dirty="0"/>
          </a:p>
        </p:txBody>
      </p:sp>
      <p:pic>
        <p:nvPicPr>
          <p:cNvPr id="35843" name="Picture 3"/>
          <p:cNvPicPr>
            <a:picLocks noChangeAspect="1" noChangeArrowheads="1"/>
          </p:cNvPicPr>
          <p:nvPr/>
        </p:nvPicPr>
        <p:blipFill>
          <a:blip r:embed="rId2"/>
          <a:srcRect/>
          <a:stretch>
            <a:fillRect/>
          </a:stretch>
        </p:blipFill>
        <p:spPr bwMode="auto">
          <a:xfrm>
            <a:off x="838200" y="1981200"/>
            <a:ext cx="7772400" cy="39624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715962"/>
          </a:xfrm>
        </p:spPr>
        <p:txBody>
          <a:bodyPr>
            <a:normAutofit fontScale="90000"/>
          </a:bodyPr>
          <a:lstStyle/>
          <a:p>
            <a:pPr algn="ctr"/>
            <a:r>
              <a:rPr lang="en-US" dirty="0" smtClean="0"/>
              <a:t>DESIGN OF THE SYSTEM</a:t>
            </a:r>
            <a:endParaRPr lang="en-US" dirty="0"/>
          </a:p>
        </p:txBody>
      </p:sp>
      <p:pic>
        <p:nvPicPr>
          <p:cNvPr id="33794" name="Picture 2"/>
          <p:cNvPicPr>
            <a:picLocks noChangeAspect="1" noChangeArrowheads="1"/>
          </p:cNvPicPr>
          <p:nvPr/>
        </p:nvPicPr>
        <p:blipFill>
          <a:blip r:embed="rId2"/>
          <a:srcRect/>
          <a:stretch>
            <a:fillRect/>
          </a:stretch>
        </p:blipFill>
        <p:spPr bwMode="auto">
          <a:xfrm>
            <a:off x="762000" y="1371600"/>
            <a:ext cx="7772400" cy="4495800"/>
          </a:xfrm>
          <a:prstGeom prst="rect">
            <a:avLst/>
          </a:prstGeom>
          <a:noFill/>
          <a:ln w="9525">
            <a:noFill/>
            <a:miter lim="800000"/>
            <a:headEnd/>
            <a:tailEnd/>
          </a:ln>
          <a:effectLst/>
        </p:spPr>
      </p:pic>
      <p:sp>
        <p:nvSpPr>
          <p:cNvPr id="4" name="Title 1"/>
          <p:cNvSpPr txBox="1">
            <a:spLocks/>
          </p:cNvSpPr>
          <p:nvPr/>
        </p:nvSpPr>
        <p:spPr>
          <a:xfrm>
            <a:off x="228600" y="838200"/>
            <a:ext cx="8229600" cy="715962"/>
          </a:xfrm>
          <a:prstGeom prst="rect">
            <a:avLst/>
          </a:prstGeom>
        </p:spPr>
        <p:txBody>
          <a:bodyPr vert="horz" rtlCol="0" anchor="ctr">
            <a:normAutofit fontScale="97500"/>
            <a:scene3d>
              <a:camera prst="orthographicFront"/>
              <a:lightRig rig="soft" dir="t"/>
            </a:scene3d>
            <a:sp3d prstMaterial="softEdge">
              <a:bevelT w="25400" h="25400"/>
            </a:sp3d>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25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Summary of Design:</a:t>
            </a:r>
            <a:endParaRPr kumimoji="0" lang="en-US" sz="25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APPLICATIONS</a:t>
            </a:r>
            <a:endParaRPr lang="en-US" dirty="0"/>
          </a:p>
        </p:txBody>
      </p:sp>
      <p:sp>
        <p:nvSpPr>
          <p:cNvPr id="4" name="Content Placeholder 3"/>
          <p:cNvSpPr>
            <a:spLocks noGrp="1"/>
          </p:cNvSpPr>
          <p:nvPr>
            <p:ph idx="1"/>
          </p:nvPr>
        </p:nvSpPr>
        <p:spPr/>
        <p:txBody>
          <a:bodyPr>
            <a:normAutofit fontScale="92500" lnSpcReduction="20000"/>
          </a:bodyPr>
          <a:lstStyle/>
          <a:p>
            <a:r>
              <a:rPr lang="en-US" dirty="0" smtClean="0"/>
              <a:t>There are 3 applications ported to Proxos</a:t>
            </a:r>
          </a:p>
          <a:p>
            <a:endParaRPr lang="en-US" dirty="0" smtClean="0"/>
          </a:p>
          <a:p>
            <a:pPr lvl="1"/>
            <a:r>
              <a:rPr lang="en-US" sz="2400" dirty="0" smtClean="0"/>
              <a:t>First application is a secure web browser that protects user information</a:t>
            </a:r>
          </a:p>
          <a:p>
            <a:pPr lvl="1"/>
            <a:endParaRPr lang="en-US" sz="2400" dirty="0" smtClean="0"/>
          </a:p>
          <a:p>
            <a:pPr lvl="1"/>
            <a:r>
              <a:rPr lang="en-US" sz="2400" dirty="0" smtClean="0"/>
              <a:t>Second application is an SSH server that protects system-critical information such as passwords and host keys even if the commodity OS is compromised, but still allows users who login to gain a full shell on the commodity Linux OS</a:t>
            </a:r>
          </a:p>
          <a:p>
            <a:pPr lvl="1"/>
            <a:endParaRPr lang="en-US" sz="2400" dirty="0" smtClean="0"/>
          </a:p>
          <a:p>
            <a:pPr lvl="1"/>
            <a:r>
              <a:rPr lang="en-US" sz="2400" dirty="0" smtClean="0"/>
              <a:t>Final application is an SSL certificate service that we use with an Apache web server to implement SSL transactions. In this case, the private keys corresponding to the certificate are protected</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APPLICATIONS</a:t>
            </a:r>
            <a:endParaRPr lang="en-US" dirty="0"/>
          </a:p>
        </p:txBody>
      </p:sp>
      <p:pic>
        <p:nvPicPr>
          <p:cNvPr id="34818" name="Picture 2"/>
          <p:cNvPicPr>
            <a:picLocks noChangeAspect="1" noChangeArrowheads="1"/>
          </p:cNvPicPr>
          <p:nvPr/>
        </p:nvPicPr>
        <p:blipFill>
          <a:blip r:embed="rId2"/>
          <a:srcRect/>
          <a:stretch>
            <a:fillRect/>
          </a:stretch>
        </p:blipFill>
        <p:spPr bwMode="auto">
          <a:xfrm>
            <a:off x="1371600" y="1600200"/>
            <a:ext cx="7543800" cy="4450842"/>
          </a:xfrm>
          <a:prstGeom prst="rect">
            <a:avLst/>
          </a:prstGeom>
          <a:noFill/>
          <a:ln w="9525">
            <a:noFill/>
            <a:miter lim="800000"/>
            <a:headEnd/>
            <a:tailEnd/>
          </a:ln>
          <a:effectLst/>
        </p:spPr>
      </p:pic>
      <p:sp>
        <p:nvSpPr>
          <p:cNvPr id="4" name="Content Placeholder 3"/>
          <p:cNvSpPr>
            <a:spLocks noGrp="1"/>
          </p:cNvSpPr>
          <p:nvPr>
            <p:ph idx="1"/>
          </p:nvPr>
        </p:nvSpPr>
        <p:spPr>
          <a:xfrm>
            <a:off x="381000" y="1295401"/>
            <a:ext cx="8458200" cy="457200"/>
          </a:xfrm>
        </p:spPr>
        <p:txBody>
          <a:bodyPr>
            <a:normAutofit fontScale="70000" lnSpcReduction="20000"/>
          </a:bodyPr>
          <a:lstStyle/>
          <a:p>
            <a:pPr>
              <a:buNone/>
            </a:pPr>
            <a:r>
              <a:rPr lang="en-US" b="1" dirty="0" smtClean="0"/>
              <a:t>Comparison of the original SSH server and our private SSH server:</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RESULTS</a:t>
            </a:r>
            <a:endParaRPr lang="en-US" dirty="0"/>
          </a:p>
        </p:txBody>
      </p:sp>
      <p:sp>
        <p:nvSpPr>
          <p:cNvPr id="4" name="Content Placeholder 3"/>
          <p:cNvSpPr>
            <a:spLocks noGrp="1"/>
          </p:cNvSpPr>
          <p:nvPr>
            <p:ph idx="1"/>
          </p:nvPr>
        </p:nvSpPr>
        <p:spPr/>
        <p:txBody>
          <a:bodyPr>
            <a:normAutofit lnSpcReduction="10000"/>
          </a:bodyPr>
          <a:lstStyle/>
          <a:p>
            <a:r>
              <a:rPr lang="en-US" dirty="0" smtClean="0"/>
              <a:t>To </a:t>
            </a:r>
            <a:r>
              <a:rPr lang="en-US" dirty="0" smtClean="0"/>
              <a:t>evaluate the </a:t>
            </a:r>
            <a:r>
              <a:rPr lang="en-US" dirty="0" smtClean="0"/>
              <a:t>average overhead a forwarded system call </a:t>
            </a:r>
            <a:r>
              <a:rPr lang="en-US" dirty="0" smtClean="0"/>
              <a:t>experiences, an </a:t>
            </a:r>
            <a:r>
              <a:rPr lang="en-US" dirty="0" smtClean="0"/>
              <a:t>SSH client </a:t>
            </a:r>
            <a:r>
              <a:rPr lang="en-US" dirty="0" smtClean="0"/>
              <a:t>was used to </a:t>
            </a:r>
            <a:r>
              <a:rPr lang="en-US" dirty="0" smtClean="0"/>
              <a:t>login to </a:t>
            </a:r>
            <a:r>
              <a:rPr lang="en-US" dirty="0" smtClean="0"/>
              <a:t>our private SSH server </a:t>
            </a:r>
            <a:r>
              <a:rPr lang="en-US" dirty="0" smtClean="0"/>
              <a:t>over the loopback device and measured the </a:t>
            </a:r>
            <a:r>
              <a:rPr lang="en-US" dirty="0" smtClean="0"/>
              <a:t>time taken </a:t>
            </a:r>
            <a:r>
              <a:rPr lang="en-US" dirty="0" smtClean="0"/>
              <a:t>to copy files ranging from 32MB to 256MB </a:t>
            </a:r>
            <a:r>
              <a:rPr lang="en-US" dirty="0" smtClean="0"/>
              <a:t>over the </a:t>
            </a:r>
            <a:r>
              <a:rPr lang="en-US" dirty="0" smtClean="0"/>
              <a:t>SSH connection. Each file transfer was </a:t>
            </a:r>
            <a:r>
              <a:rPr lang="en-US" dirty="0" smtClean="0"/>
              <a:t>performed five </a:t>
            </a:r>
            <a:r>
              <a:rPr lang="en-US" dirty="0" smtClean="0"/>
              <a:t>times on both the private SSH server and a </a:t>
            </a:r>
            <a:r>
              <a:rPr lang="en-US" dirty="0" smtClean="0"/>
              <a:t>native SSH </a:t>
            </a:r>
            <a:r>
              <a:rPr lang="en-US" dirty="0" smtClean="0"/>
              <a:t>server running on Xen. The standard </a:t>
            </a:r>
            <a:r>
              <a:rPr lang="en-US" dirty="0" smtClean="0"/>
              <a:t>deviation was </a:t>
            </a:r>
            <a:r>
              <a:rPr lang="en-US" dirty="0" smtClean="0"/>
              <a:t>less than 1.5% across our measurements.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a:bodyPr>
          <a:lstStyle/>
          <a:p>
            <a:pPr algn="ctr"/>
            <a:r>
              <a:rPr lang="en-US" dirty="0" smtClean="0"/>
              <a:t>RESULTS</a:t>
            </a:r>
            <a:endParaRPr lang="en-US" dirty="0"/>
          </a:p>
        </p:txBody>
      </p:sp>
      <p:sp>
        <p:nvSpPr>
          <p:cNvPr id="4" name="Content Placeholder 3"/>
          <p:cNvSpPr>
            <a:spLocks noGrp="1"/>
          </p:cNvSpPr>
          <p:nvPr>
            <p:ph idx="1"/>
          </p:nvPr>
        </p:nvSpPr>
        <p:spPr>
          <a:xfrm>
            <a:off x="457200" y="990600"/>
            <a:ext cx="8229600" cy="4525963"/>
          </a:xfrm>
        </p:spPr>
        <p:txBody>
          <a:bodyPr>
            <a:normAutofit/>
          </a:bodyPr>
          <a:lstStyle/>
          <a:p>
            <a:r>
              <a:rPr lang="en-US" sz="2000" dirty="0" smtClean="0"/>
              <a:t>The below figure depicts </a:t>
            </a:r>
            <a:r>
              <a:rPr lang="en-US" sz="2000" dirty="0" smtClean="0"/>
              <a:t>SSH </a:t>
            </a:r>
            <a:r>
              <a:rPr lang="en-US" sz="2000" dirty="0" smtClean="0"/>
              <a:t>benchmark. Overhead of the private </a:t>
            </a:r>
            <a:r>
              <a:rPr lang="en-US" sz="2000" dirty="0" smtClean="0"/>
              <a:t>SSH server versus the number of system calls </a:t>
            </a:r>
            <a:r>
              <a:rPr lang="en-US" sz="2000" dirty="0" smtClean="0"/>
              <a:t>forwarded to Linux is plotted in the graph</a:t>
            </a:r>
            <a:endParaRPr lang="en-US" sz="2000" dirty="0"/>
          </a:p>
        </p:txBody>
      </p:sp>
      <p:pic>
        <p:nvPicPr>
          <p:cNvPr id="1026" name="Picture 2"/>
          <p:cNvPicPr>
            <a:picLocks noChangeAspect="1" noChangeArrowheads="1"/>
          </p:cNvPicPr>
          <p:nvPr/>
        </p:nvPicPr>
        <p:blipFill>
          <a:blip r:embed="rId2"/>
          <a:srcRect/>
          <a:stretch>
            <a:fillRect/>
          </a:stretch>
        </p:blipFill>
        <p:spPr bwMode="auto">
          <a:xfrm>
            <a:off x="1376363" y="2057400"/>
            <a:ext cx="7310437" cy="3824288"/>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CONCLUSION</a:t>
            </a:r>
            <a:endParaRPr lang="en-US" dirty="0"/>
          </a:p>
        </p:txBody>
      </p:sp>
      <p:sp>
        <p:nvSpPr>
          <p:cNvPr id="4" name="Content Placeholder 3"/>
          <p:cNvSpPr>
            <a:spLocks noGrp="1"/>
          </p:cNvSpPr>
          <p:nvPr>
            <p:ph idx="1"/>
          </p:nvPr>
        </p:nvSpPr>
        <p:spPr/>
        <p:txBody>
          <a:bodyPr>
            <a:normAutofit fontScale="77500" lnSpcReduction="20000"/>
          </a:bodyPr>
          <a:lstStyle/>
          <a:p>
            <a:r>
              <a:rPr lang="en-US" dirty="0" smtClean="0"/>
              <a:t>Current commodity OSs export an interface that is too permissive to privileged applications, allowing compromised applications to gain control of the operating system kernel and attack other applications. </a:t>
            </a:r>
          </a:p>
          <a:p>
            <a:r>
              <a:rPr lang="en-US" dirty="0" smtClean="0"/>
              <a:t>Proxos allows applications to partition the interface between them and the commodity OS kernel into trusted and untrusted components by specifying system call routing rules. </a:t>
            </a:r>
          </a:p>
          <a:p>
            <a:r>
              <a:rPr lang="en-US" dirty="0" smtClean="0"/>
              <a:t>The end result is that Proxos allows application developers to protect applications from a compromised kernel without having to make major source code modifications.</a:t>
            </a:r>
          </a:p>
          <a:p>
            <a:r>
              <a:rPr lang="en-US" dirty="0" smtClean="0"/>
              <a:t>By building a Proxos prototype and porting several representative applications, it is found that specifying trust at the system call interface is a powerful and simple way of isolating applications from the operating system. Proxos routing rule specifications are short and simple.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REFERENCES</a:t>
            </a:r>
            <a:endParaRPr lang="en-US" dirty="0"/>
          </a:p>
        </p:txBody>
      </p:sp>
      <p:sp>
        <p:nvSpPr>
          <p:cNvPr id="4" name="Content Placeholder 3"/>
          <p:cNvSpPr>
            <a:spLocks noGrp="1"/>
          </p:cNvSpPr>
          <p:nvPr>
            <p:ph idx="1"/>
          </p:nvPr>
        </p:nvSpPr>
        <p:spPr/>
        <p:txBody>
          <a:bodyPr>
            <a:noAutofit/>
          </a:bodyPr>
          <a:lstStyle/>
          <a:p>
            <a:r>
              <a:rPr lang="en-US" sz="2100" dirty="0" smtClean="0"/>
              <a:t>M. </a:t>
            </a:r>
            <a:r>
              <a:rPr lang="en-US" sz="2100" dirty="0" err="1" smtClean="0"/>
              <a:t>Hohmuth</a:t>
            </a:r>
            <a:r>
              <a:rPr lang="en-US" sz="2100" dirty="0" smtClean="0"/>
              <a:t>, M. Peter, H. </a:t>
            </a:r>
            <a:r>
              <a:rPr lang="en-US" sz="2100" dirty="0" err="1" smtClean="0"/>
              <a:t>H¨artig</a:t>
            </a:r>
            <a:r>
              <a:rPr lang="en-US" sz="2100" dirty="0" smtClean="0"/>
              <a:t>, and J. S. Shapiro. </a:t>
            </a:r>
            <a:r>
              <a:rPr lang="en-US" sz="2100" dirty="0" smtClean="0"/>
              <a:t>Reducing TCB </a:t>
            </a:r>
            <a:r>
              <a:rPr lang="en-US" sz="2100" dirty="0" smtClean="0"/>
              <a:t>size by using untrusted components - small kernels </a:t>
            </a:r>
            <a:r>
              <a:rPr lang="en-US" sz="2100" dirty="0" smtClean="0"/>
              <a:t>versus virtual-machine </a:t>
            </a:r>
            <a:r>
              <a:rPr lang="en-US" sz="2100" dirty="0" smtClean="0"/>
              <a:t>monitors. In </a:t>
            </a:r>
            <a:r>
              <a:rPr lang="en-US" sz="2100" i="1" dirty="0" smtClean="0"/>
              <a:t>Proceedings of the 11th </a:t>
            </a:r>
            <a:r>
              <a:rPr lang="en-US" sz="2100" i="1" dirty="0" smtClean="0"/>
              <a:t>ACM SIGOPS </a:t>
            </a:r>
            <a:r>
              <a:rPr lang="en-US" sz="2100" i="1" dirty="0" smtClean="0"/>
              <a:t>European Workshop, </a:t>
            </a:r>
            <a:r>
              <a:rPr lang="en-US" sz="2100" i="1" dirty="0" smtClean="0"/>
              <a:t>Sept</a:t>
            </a:r>
            <a:r>
              <a:rPr lang="en-US" sz="2100" i="1" dirty="0" smtClean="0"/>
              <a:t>. 2004</a:t>
            </a:r>
            <a:r>
              <a:rPr lang="en-US" sz="2100" i="1" dirty="0" smtClean="0"/>
              <a:t>.</a:t>
            </a:r>
          </a:p>
          <a:p>
            <a:r>
              <a:rPr lang="en-US" sz="2100" dirty="0" smtClean="0"/>
              <a:t>E. </a:t>
            </a:r>
            <a:r>
              <a:rPr lang="en-US" sz="2100" dirty="0" err="1" smtClean="0"/>
              <a:t>Bugnion</a:t>
            </a:r>
            <a:r>
              <a:rPr lang="en-US" sz="2100" dirty="0" smtClean="0"/>
              <a:t>, S. Devine, and M. </a:t>
            </a:r>
            <a:r>
              <a:rPr lang="en-US" sz="2100" dirty="0" err="1" smtClean="0"/>
              <a:t>Rosenblum</a:t>
            </a:r>
            <a:r>
              <a:rPr lang="en-US" sz="2100" dirty="0" smtClean="0"/>
              <a:t>. Disco: </a:t>
            </a:r>
            <a:r>
              <a:rPr lang="en-US" sz="2100" dirty="0" smtClean="0"/>
              <a:t>running commodity </a:t>
            </a:r>
            <a:r>
              <a:rPr lang="en-US" sz="2100" dirty="0" smtClean="0"/>
              <a:t>operating systems on scalable multiprocessors. </a:t>
            </a:r>
            <a:r>
              <a:rPr lang="en-US" sz="2100" dirty="0" smtClean="0"/>
              <a:t>In </a:t>
            </a:r>
            <a:r>
              <a:rPr lang="en-US" sz="2100" i="1" dirty="0" smtClean="0"/>
              <a:t>Proceedings </a:t>
            </a:r>
            <a:r>
              <a:rPr lang="en-US" sz="2100" i="1" dirty="0" smtClean="0"/>
              <a:t>of the 16th ACM Symposium on Operating </a:t>
            </a:r>
            <a:r>
              <a:rPr lang="en-US" sz="2100" i="1" dirty="0" smtClean="0"/>
              <a:t>Systems </a:t>
            </a:r>
            <a:r>
              <a:rPr lang="fr-FR" sz="2100" i="1" dirty="0" err="1" smtClean="0"/>
              <a:t>Principles</a:t>
            </a:r>
            <a:r>
              <a:rPr lang="fr-FR" sz="2100" i="1" dirty="0" smtClean="0"/>
              <a:t> </a:t>
            </a:r>
            <a:r>
              <a:rPr lang="fr-FR" sz="2100" i="1" dirty="0" smtClean="0"/>
              <a:t>(SOSP 1997), pages 143–156, Oct. 1997</a:t>
            </a:r>
            <a:r>
              <a:rPr lang="fr-FR" sz="2100" i="1" dirty="0" smtClean="0"/>
              <a:t>.</a:t>
            </a:r>
          </a:p>
          <a:p>
            <a:r>
              <a:rPr lang="en-US" sz="2100" dirty="0" smtClean="0"/>
              <a:t>N. </a:t>
            </a:r>
            <a:r>
              <a:rPr lang="en-US" sz="2100" dirty="0" err="1" smtClean="0"/>
              <a:t>Feske</a:t>
            </a:r>
            <a:r>
              <a:rPr lang="en-US" sz="2100" dirty="0" smtClean="0"/>
              <a:t> and C. </a:t>
            </a:r>
            <a:r>
              <a:rPr lang="en-US" sz="2100" dirty="0" err="1" smtClean="0"/>
              <a:t>Helmuth</a:t>
            </a:r>
            <a:r>
              <a:rPr lang="en-US" sz="2100" dirty="0" smtClean="0"/>
              <a:t>. A Nitpicker’s guide to a </a:t>
            </a:r>
            <a:r>
              <a:rPr lang="en-US" sz="2100" dirty="0" err="1" smtClean="0"/>
              <a:t>minimalcomplexity</a:t>
            </a:r>
            <a:r>
              <a:rPr lang="en-US" sz="2100" dirty="0" smtClean="0"/>
              <a:t> secure </a:t>
            </a:r>
            <a:r>
              <a:rPr lang="en-US" sz="2100" dirty="0" smtClean="0"/>
              <a:t>GUI. In </a:t>
            </a:r>
            <a:r>
              <a:rPr lang="en-US" sz="2100" i="1" dirty="0" smtClean="0"/>
              <a:t>Proceedings of the 21st Annual </a:t>
            </a:r>
            <a:r>
              <a:rPr lang="en-US" sz="2100" i="1" dirty="0" smtClean="0"/>
              <a:t>Computer Security </a:t>
            </a:r>
            <a:r>
              <a:rPr lang="en-US" sz="2100" i="1" dirty="0" smtClean="0"/>
              <a:t>Applications Conference (ACSAC 2005), </a:t>
            </a:r>
            <a:r>
              <a:rPr lang="en-US" sz="2100" i="1" dirty="0" smtClean="0"/>
              <a:t>pages </a:t>
            </a:r>
            <a:r>
              <a:rPr lang="en-US" sz="2100" dirty="0" smtClean="0"/>
              <a:t>85–94</a:t>
            </a:r>
            <a:r>
              <a:rPr lang="en-US" sz="2100" dirty="0" smtClean="0"/>
              <a:t>, Dec. 2005.</a:t>
            </a:r>
            <a:endParaRPr lang="en-US" sz="21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292</TotalTime>
  <Words>875</Words>
  <Application>Microsoft Office PowerPoint</Application>
  <PresentationFormat>On-screen Show (4:3)</PresentationFormat>
  <Paragraphs>73</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Concourse</vt:lpstr>
      <vt:lpstr>Splitting Interfaces: Making Trust Between Applications and Operating Systems Configurable </vt:lpstr>
      <vt:lpstr>CONTENTS</vt:lpstr>
      <vt:lpstr>INTRODUCTION</vt:lpstr>
      <vt:lpstr>INTRODUCTION</vt:lpstr>
      <vt:lpstr>MAIN PROBLEM</vt:lpstr>
      <vt:lpstr>MAIN PROBLEM</vt:lpstr>
      <vt:lpstr>APPROACH TO HANDLE THE SECURITY</vt:lpstr>
      <vt:lpstr>APPROACH TO HANDLE THE SECURITY</vt:lpstr>
      <vt:lpstr>DESIGN OF THE SYSTEM</vt:lpstr>
      <vt:lpstr>DESIGN OF THE SYSTEM</vt:lpstr>
      <vt:lpstr>DESIGN OF THE SYSTEM</vt:lpstr>
      <vt:lpstr>DESIGN OF THE SYSTEM</vt:lpstr>
      <vt:lpstr>DESIGN OF THE SYSTEM</vt:lpstr>
      <vt:lpstr>APPLICATIONS</vt:lpstr>
      <vt:lpstr>APPLICATIONS</vt:lpstr>
      <vt:lpstr>RESULTS</vt:lpstr>
      <vt:lpstr>RESULTS</vt:lpstr>
      <vt:lpstr>CONCLUSION</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Sunaina Reddy</dc:creator>
  <cp:lastModifiedBy>USER</cp:lastModifiedBy>
  <cp:revision>69</cp:revision>
  <dcterms:created xsi:type="dcterms:W3CDTF">2020-03-13T03:15:02Z</dcterms:created>
  <dcterms:modified xsi:type="dcterms:W3CDTF">2020-03-13T22:46:24Z</dcterms:modified>
</cp:coreProperties>
</file>