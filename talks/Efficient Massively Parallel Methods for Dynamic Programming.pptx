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faead370_0_1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faead370_0_1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80faead370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80faead370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0faead370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0faead370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80faead370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80faead370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80faead370_0_2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80faead370_0_2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0faead370_0_4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0faead370_0_4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0faead370_0_4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0faead370_0_4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0faead370_0_2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0faead370_0_2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80faead370_0_4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80faead370_0_4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80faead370_0_4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80faead370_0_4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80faead370_0_4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80faead370_0_4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0faead370_0_1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0faead370_0_1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0faead370_0_1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0faead370_0_1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">
  <p:cSld name="AUTOLAYOUT_6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3"/>
          <p:cNvCxnSpPr/>
          <p:nvPr/>
        </p:nvCxnSpPr>
        <p:spPr>
          <a:xfrm>
            <a:off x="3027472" y="0"/>
            <a:ext cx="0" cy="513330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</p:cxnSp>
      <p:sp>
        <p:nvSpPr>
          <p:cNvPr id="85" name="Google Shape;85;p13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284100" y="307975"/>
            <a:ext cx="2479800" cy="426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3381100" y="307975"/>
            <a:ext cx="5451300" cy="426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">
  <p:cSld name="AUTOLAYOUT_7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4"/>
          <p:cNvCxnSpPr/>
          <p:nvPr/>
        </p:nvCxnSpPr>
        <p:spPr>
          <a:xfrm>
            <a:off x="393910" y="2899950"/>
            <a:ext cx="24798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4"/>
          <p:cNvSpPr txBox="1"/>
          <p:nvPr>
            <p:ph type="title"/>
          </p:nvPr>
        </p:nvSpPr>
        <p:spPr>
          <a:xfrm>
            <a:off x="304800" y="477850"/>
            <a:ext cx="5590200" cy="2193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04800" y="3033700"/>
            <a:ext cx="8512500" cy="1539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2">
  <p:cSld name="AUTOLAYOUT_8"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>
            <p:ph type="title"/>
          </p:nvPr>
        </p:nvSpPr>
        <p:spPr>
          <a:xfrm rot="-5400000">
            <a:off x="-620225" y="1797500"/>
            <a:ext cx="4064100" cy="1506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2601000" y="518875"/>
            <a:ext cx="5913300" cy="4064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4">
  <p:cSld name="AUTOLAYOUT_9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-25" y="0"/>
            <a:ext cx="9144000" cy="1741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6551675" y="0"/>
            <a:ext cx="2592300" cy="1741500"/>
          </a:xfrm>
          <a:prstGeom prst="rect">
            <a:avLst/>
          </a:prstGeom>
          <a:solidFill>
            <a:srgbClr val="FFFFFF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 rot="10800000">
            <a:off x="3991228" y="0"/>
            <a:ext cx="1727100" cy="17415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 rot="10800000">
            <a:off x="3991228" y="0"/>
            <a:ext cx="1727100" cy="1741500"/>
          </a:xfrm>
          <a:prstGeom prst="flowChartDelay">
            <a:avLst/>
          </a:pr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 rot="10800000">
            <a:off x="4431837" y="0"/>
            <a:ext cx="1727100" cy="17415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 rot="10800000">
            <a:off x="4431837" y="0"/>
            <a:ext cx="1727100" cy="1741500"/>
          </a:xfrm>
          <a:prstGeom prst="flowChartDelay">
            <a:avLst/>
          </a:prstGeom>
          <a:solidFill>
            <a:srgbClr val="FFFFFF">
              <a:alpha val="188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 rot="10800000">
            <a:off x="4856511" y="0"/>
            <a:ext cx="1727100" cy="17415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 rot="10800000">
            <a:off x="4856511" y="0"/>
            <a:ext cx="1727100" cy="1741500"/>
          </a:xfrm>
          <a:prstGeom prst="flowChartDelay">
            <a:avLst/>
          </a:prstGeom>
          <a:solidFill>
            <a:srgbClr val="FFFFFF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6">
  <p:cSld name="AUTOLAYOUT_11"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181125" y="181125"/>
            <a:ext cx="8795400" cy="478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811650" y="799739"/>
            <a:ext cx="6458400" cy="1479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811650" y="2432039"/>
            <a:ext cx="6458400" cy="203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8">
  <p:cSld name="AUTOLAYOUT_13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0" y="0"/>
            <a:ext cx="4583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363750" y="554850"/>
            <a:ext cx="3855900" cy="403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4947374" y="554850"/>
            <a:ext cx="3855900" cy="403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0">
  <p:cSld name="AUTOLAYOUT_17"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181125" y="181125"/>
            <a:ext cx="8795400" cy="478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>
            <p:ph type="title"/>
          </p:nvPr>
        </p:nvSpPr>
        <p:spPr>
          <a:xfrm>
            <a:off x="811650" y="799739"/>
            <a:ext cx="6458400" cy="1479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811650" y="2432039"/>
            <a:ext cx="6458400" cy="203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1">
  <p:cSld name="AUTOLAYOUT_18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" name="Google Shape;133;p20"/>
          <p:cNvCxnSpPr/>
          <p:nvPr/>
        </p:nvCxnSpPr>
        <p:spPr>
          <a:xfrm>
            <a:off x="393910" y="2899950"/>
            <a:ext cx="24798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20"/>
          <p:cNvSpPr txBox="1"/>
          <p:nvPr>
            <p:ph type="title"/>
          </p:nvPr>
        </p:nvSpPr>
        <p:spPr>
          <a:xfrm>
            <a:off x="304800" y="477850"/>
            <a:ext cx="5590200" cy="2193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04800" y="3033700"/>
            <a:ext cx="8512500" cy="1539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2">
  <p:cSld name="AUTOLAYOUT_19"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181125" y="181125"/>
            <a:ext cx="8795400" cy="478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811650" y="799739"/>
            <a:ext cx="6458400" cy="1479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811650" y="2432039"/>
            <a:ext cx="6458400" cy="203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7">
  <p:cSld name="AUTOLAYOUT_20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/>
          <p:nvPr/>
        </p:nvSpPr>
        <p:spPr>
          <a:xfrm>
            <a:off x="0" y="981549"/>
            <a:ext cx="9144000" cy="708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2">
            <a:alphaModFix/>
          </a:blip>
          <a:srcRect b="38309" l="0" r="0" t="38312"/>
          <a:stretch/>
        </p:blipFill>
        <p:spPr>
          <a:xfrm>
            <a:off x="0" y="0"/>
            <a:ext cx="9144006" cy="98155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type="ctrTitle"/>
          </p:nvPr>
        </p:nvSpPr>
        <p:spPr>
          <a:xfrm>
            <a:off x="2938225" y="1478825"/>
            <a:ext cx="5379900" cy="1019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None/>
              <a:defRPr b="1" sz="2400">
                <a:solidFill>
                  <a:srgbClr val="21212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None/>
              <a:defRPr b="1" sz="2400">
                <a:solidFill>
                  <a:srgbClr val="21212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None/>
              <a:defRPr b="1" sz="2400">
                <a:solidFill>
                  <a:srgbClr val="21212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None/>
              <a:defRPr b="1" sz="2400">
                <a:solidFill>
                  <a:srgbClr val="21212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None/>
              <a:defRPr b="1" sz="2400">
                <a:solidFill>
                  <a:srgbClr val="21212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None/>
              <a:defRPr b="1" sz="2400">
                <a:solidFill>
                  <a:srgbClr val="21212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None/>
              <a:defRPr b="1" sz="2400">
                <a:solidFill>
                  <a:srgbClr val="21212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None/>
              <a:defRPr b="1" sz="2400">
                <a:solidFill>
                  <a:srgbClr val="21212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None/>
              <a:defRPr b="1" sz="2400">
                <a:solidFill>
                  <a:srgbClr val="212121"/>
                </a:solidFill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2938225" y="2602450"/>
            <a:ext cx="5387400" cy="1725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Char char="●"/>
              <a:defRPr sz="1600">
                <a:solidFill>
                  <a:srgbClr val="21212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100"/>
              <a:buChar char="○"/>
              <a:defRPr sz="1400">
                <a:solidFill>
                  <a:srgbClr val="21212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100"/>
              <a:buChar char="■"/>
              <a:defRPr sz="1400">
                <a:solidFill>
                  <a:srgbClr val="21212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100"/>
              <a:buChar char="●"/>
              <a:defRPr sz="1400">
                <a:solidFill>
                  <a:srgbClr val="21212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100"/>
              <a:buChar char="○"/>
              <a:defRPr sz="1400">
                <a:solidFill>
                  <a:srgbClr val="21212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100"/>
              <a:buChar char="■"/>
              <a:defRPr sz="1400">
                <a:solidFill>
                  <a:srgbClr val="21212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100"/>
              <a:buChar char="●"/>
              <a:defRPr sz="1400">
                <a:solidFill>
                  <a:srgbClr val="21212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100"/>
              <a:buChar char="○"/>
              <a:defRPr sz="1400">
                <a:solidFill>
                  <a:srgbClr val="21212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212121"/>
              </a:buClr>
              <a:buSzPts val="1100"/>
              <a:buChar char="■"/>
              <a:defRPr sz="1400">
                <a:solidFill>
                  <a:srgbClr val="212121"/>
                </a:solidFill>
              </a:defRPr>
            </a:lvl9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12121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12121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12121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12121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12121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12121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12121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12121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1212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3">
  <p:cSld name="AUTOLAYOUT_21"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-29" y="0"/>
            <a:ext cx="9144000" cy="174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3"/>
          <p:cNvSpPr/>
          <p:nvPr/>
        </p:nvSpPr>
        <p:spPr>
          <a:xfrm rot="10800000">
            <a:off x="7697100" y="-25"/>
            <a:ext cx="962400" cy="1741500"/>
          </a:xfrm>
          <a:prstGeom prst="rect">
            <a:avLst/>
          </a:prstGeom>
          <a:solidFill>
            <a:srgbClr val="FFFFFF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 rot="10800000">
            <a:off x="5750475" y="-25"/>
            <a:ext cx="1946700" cy="1741500"/>
          </a:xfrm>
          <a:prstGeom prst="rect">
            <a:avLst/>
          </a:pr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 flipH="1" rot="10800000">
            <a:off x="8659500" y="-25"/>
            <a:ext cx="484500" cy="1741500"/>
          </a:xfrm>
          <a:prstGeom prst="rect">
            <a:avLst/>
          </a:prstGeom>
          <a:solidFill>
            <a:srgbClr val="FFFFFF">
              <a:alpha val="37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324475" y="148225"/>
            <a:ext cx="5244900" cy="1373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1800"/>
              <a:buChar char="●"/>
              <a:defRPr sz="1800">
                <a:solidFill>
                  <a:srgbClr val="61616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○"/>
              <a:defRPr sz="1400">
                <a:solidFill>
                  <a:srgbClr val="61616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■"/>
              <a:defRPr sz="1400">
                <a:solidFill>
                  <a:srgbClr val="61616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●"/>
              <a:defRPr sz="1400">
                <a:solidFill>
                  <a:srgbClr val="61616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○"/>
              <a:defRPr sz="1400">
                <a:solidFill>
                  <a:srgbClr val="61616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■"/>
              <a:defRPr sz="1400">
                <a:solidFill>
                  <a:srgbClr val="61616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●"/>
              <a:defRPr sz="1400">
                <a:solidFill>
                  <a:srgbClr val="61616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○"/>
              <a:defRPr sz="1400">
                <a:solidFill>
                  <a:srgbClr val="61616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16161"/>
              </a:buClr>
              <a:buSzPts val="1100"/>
              <a:buChar char="■"/>
              <a:defRPr sz="1400">
                <a:solidFill>
                  <a:srgbClr val="616161"/>
                </a:solidFill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 Massively Parallel Methods for Dynamic Programming</a:t>
            </a:r>
            <a:endParaRPr/>
          </a:p>
        </p:txBody>
      </p:sp>
      <p:sp>
        <p:nvSpPr>
          <p:cNvPr id="164" name="Google Shape;164;p24"/>
          <p:cNvSpPr txBox="1"/>
          <p:nvPr>
            <p:ph idx="1" type="subTitle"/>
          </p:nvPr>
        </p:nvSpPr>
        <p:spPr>
          <a:xfrm>
            <a:off x="729452" y="335882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Sungjin Im, Benjamin Moseley, Xiaorui Sun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284100" y="307975"/>
            <a:ext cx="2479800" cy="42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Background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381100" y="307975"/>
            <a:ext cx="5451300" cy="42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Ability to scale problems to massively large data sets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Massively parallel computing platforms such as Spark, MapReduce, and Hadoop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 models have been proposed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Discovery of new algorithms that are fast and ecient in both theory and practice, thereby beginning to unlock their underlying power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04800" y="477850"/>
            <a:ext cx="5590200" cy="21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04800" y="3033700"/>
            <a:ext cx="8512500" cy="15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main idea of this paper is to walk towards the goal of discovering widely applicable algorithmic techniques for solving problems efficiently.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 rot="-5400000">
            <a:off x="-620225" y="1797500"/>
            <a:ext cx="4064100" cy="150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Approach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2601000" y="518875"/>
            <a:ext cx="5913300" cy="40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Giving principles for simulating a large class of sequential dynamic programs in the distributed setting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Using monotonicity and decomposability to derive efficient distributed algorithms for problems possessing the properties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Showcase our framework by considering several core dynamic programming applications, Longest Increasing Subsequence, Optimal Binary Search Tree, and Weighted Interval Selection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Derive algorithms yielding solutions that are arbitrarily close to the optimum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Theoretical Model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n be the input size and m be the number of machines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Local memory on each machine should be at most Θ(n/m)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Algorithm should allow for  n^ϵ ≤ m ≤ n^(1-ϵ)  for some constant ϵ &gt; 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The number of machines, m, and local memory size, M, on each machine should be much smaller than the input size restricted to Θ(n)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</a:t>
            </a:r>
            <a:endParaRPr/>
          </a:p>
        </p:txBody>
      </p:sp>
      <p:sp>
        <p:nvSpPr>
          <p:cNvPr id="194" name="Google Shape;194;p2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Monotonicity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Decomposability</a:t>
            </a:r>
            <a:endParaRPr/>
          </a:p>
        </p:txBody>
      </p:sp>
      <p:sp>
        <p:nvSpPr>
          <p:cNvPr id="195" name="Google Shape;195;p2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363750" y="554850"/>
            <a:ext cx="3855900" cy="40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Monotonicity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4947374" y="554850"/>
            <a:ext cx="3855900" cy="40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sub-problem has no greater (smaller, resp.) optimum if the objective is to be maximized (minimized, resp.)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24475" y="148225"/>
            <a:ext cx="52449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Decomposability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input can be decomposed into a two-level laminar family of partial input, where an upper level partial input is called a group and a lower level partial input is called a block, such that: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nearly optimal solution (for the whole input) can be constructed by concatenating solutions for groups.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A nearly optimal solution for each group can be constructed from O(1) blocks.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ctrTitle"/>
          </p:nvPr>
        </p:nvSpPr>
        <p:spPr>
          <a:xfrm>
            <a:off x="2938225" y="1478825"/>
            <a:ext cx="5379900" cy="101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Considered Canonical Dynamic Program Applications</a:t>
            </a:r>
            <a:endParaRPr/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2938225" y="2602450"/>
            <a:ext cx="5387400" cy="17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Binary Search Tree (OBST)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Weighted Interval Selection (IS)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Longest Increasing Subsequence (LIS)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811650" y="799739"/>
            <a:ext cx="6458400" cy="14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Optimal Binary Search Tree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811650" y="2432039"/>
            <a:ext cx="6458400" cy="20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The algorithm for Optimal Binary Search Tree runs in O( 1/ δ ) rounds for any δ &gt; 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811650" y="799739"/>
            <a:ext cx="6458400" cy="14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Weighted Interval Selection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811650" y="2432039"/>
            <a:ext cx="6458400" cy="20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algorithm for Weighted Interval Selection runs in O( 1 δ (log (1/ ϵ) + log (1/ δ) )) rounds for any δ &gt; 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811650" y="799739"/>
            <a:ext cx="6458400" cy="14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Longest Increasing Subsequence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811650" y="2432039"/>
            <a:ext cx="6458400" cy="20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algorithm for Longest Increasing Subsequence runs in O( 1/ ϵ^2 ) rounds for any δ &gt; 3/4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304800" y="477850"/>
            <a:ext cx="5590200" cy="21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304800" y="3033700"/>
            <a:ext cx="8512500" cy="15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</a:t>
            </a:r>
            <a:r>
              <a:rPr lang="en"/>
              <a:t>ith the aid of the two key properties, we give the rst O(1)-rounds algorithms for all the aforementioned problems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811650" y="799739"/>
            <a:ext cx="6458400" cy="14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Related Work</a:t>
            </a:r>
            <a:endParaRPr/>
          </a:p>
        </p:txBody>
      </p:sp>
      <p:sp>
        <p:nvSpPr>
          <p:cNvPr id="243" name="Google Shape;243;p37"/>
          <p:cNvSpPr txBox="1"/>
          <p:nvPr>
            <p:ph idx="1" type="body"/>
          </p:nvPr>
        </p:nvSpPr>
        <p:spPr>
          <a:xfrm>
            <a:off x="811650" y="2432039"/>
            <a:ext cx="6458400" cy="20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have been a few previous works on individual problems subject to dynamic programming in other models which readily translate into results in the theoretical model we consider in this paper.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The work in the BSP model implies a O(logn)-rounds algorithm for the LIS problem in our model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