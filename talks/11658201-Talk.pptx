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90" r:id="rId1"/>
  </p:sldMasterIdLst>
  <p:notesMasterIdLst>
    <p:notesMasterId r:id="rId22"/>
  </p:notesMasterIdLst>
  <p:sldIdLst>
    <p:sldId id="256" r:id="rId2"/>
    <p:sldId id="258" r:id="rId3"/>
    <p:sldId id="259" r:id="rId4"/>
    <p:sldId id="260" r:id="rId5"/>
    <p:sldId id="262" r:id="rId6"/>
    <p:sldId id="263" r:id="rId7"/>
    <p:sldId id="264" r:id="rId8"/>
    <p:sldId id="265" r:id="rId9"/>
    <p:sldId id="267" r:id="rId10"/>
    <p:sldId id="268" r:id="rId11"/>
    <p:sldId id="269" r:id="rId12"/>
    <p:sldId id="271" r:id="rId13"/>
    <p:sldId id="272" r:id="rId14"/>
    <p:sldId id="273" r:id="rId15"/>
    <p:sldId id="274" r:id="rId16"/>
    <p:sldId id="275" r:id="rId17"/>
    <p:sldId id="276" r:id="rId18"/>
    <p:sldId id="278" r:id="rId19"/>
    <p:sldId id="261" r:id="rId20"/>
    <p:sldId id="25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78030"/>
  </p:normalViewPr>
  <p:slideViewPr>
    <p:cSldViewPr snapToGrid="0" snapToObjects="1">
      <p:cViewPr varScale="1">
        <p:scale>
          <a:sx n="87" d="100"/>
          <a:sy n="87" d="100"/>
        </p:scale>
        <p:origin x="1536"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2AD4E6-383F-FD4B-98B4-9BA070559DE1}" type="datetimeFigureOut">
              <a:rPr lang="en-US" smtClean="0"/>
              <a:t>3/13/20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B90286-7856-6940-88E0-51EF0689682B}" type="slidenum">
              <a:rPr lang="en-US" smtClean="0"/>
              <a:t>‹#›</a:t>
            </a:fld>
            <a:endParaRPr lang="en-US"/>
          </a:p>
        </p:txBody>
      </p:sp>
    </p:spTree>
    <p:extLst>
      <p:ext uri="{BB962C8B-B14F-4D97-AF65-F5344CB8AC3E}">
        <p14:creationId xmlns:p14="http://schemas.microsoft.com/office/powerpoint/2010/main" val="14527989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90286-7856-6940-88E0-51EF0689682B}" type="slidenum">
              <a:rPr lang="en-US" smtClean="0"/>
              <a:t>3</a:t>
            </a:fld>
            <a:endParaRPr lang="en-US"/>
          </a:p>
        </p:txBody>
      </p:sp>
    </p:spTree>
    <p:extLst>
      <p:ext uri="{BB962C8B-B14F-4D97-AF65-F5344CB8AC3E}">
        <p14:creationId xmlns:p14="http://schemas.microsoft.com/office/powerpoint/2010/main" val="11185392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Our algorithm </a:t>
            </a:r>
            <a:r>
              <a:rPr lang="en-US" sz="1200" b="0" kern="1200" dirty="0">
                <a:solidFill>
                  <a:schemeClr val="tx1"/>
                </a:solidFill>
                <a:effectLst/>
                <a:latin typeface="+mn-lt"/>
                <a:ea typeface="+mn-ea"/>
                <a:cs typeface="+mn-cs"/>
              </a:rPr>
              <a:t>SSF-W </a:t>
            </a:r>
            <a:r>
              <a:rPr lang="en-US" sz="1200" kern="1200" dirty="0">
                <a:solidFill>
                  <a:schemeClr val="tx1"/>
                </a:solidFill>
                <a:effectLst/>
                <a:latin typeface="+mn-lt"/>
                <a:ea typeface="+mn-ea"/>
                <a:cs typeface="+mn-cs"/>
              </a:rPr>
              <a:t>can be viewed as an interesting tradeoff between </a:t>
            </a:r>
            <a:r>
              <a:rPr lang="en-US" sz="1200" b="0" kern="1200" dirty="0">
                <a:solidFill>
                  <a:schemeClr val="tx1"/>
                </a:solidFill>
                <a:effectLst/>
                <a:latin typeface="+mn-lt"/>
                <a:ea typeface="+mn-ea"/>
                <a:cs typeface="+mn-cs"/>
              </a:rPr>
              <a:t>SSF </a:t>
            </a:r>
            <a:r>
              <a:rPr lang="en-US" sz="1200" kern="1200" dirty="0">
                <a:solidFill>
                  <a:schemeClr val="tx1"/>
                </a:solidFill>
                <a:effectLst/>
                <a:latin typeface="+mn-lt"/>
                <a:ea typeface="+mn-ea"/>
                <a:cs typeface="+mn-cs"/>
              </a:rPr>
              <a:t>and </a:t>
            </a:r>
            <a:r>
              <a:rPr lang="en-US" sz="1200" b="0" kern="1200" dirty="0">
                <a:solidFill>
                  <a:schemeClr val="tx1"/>
                </a:solidFill>
                <a:effectLst/>
                <a:latin typeface="+mn-lt"/>
                <a:ea typeface="+mn-ea"/>
                <a:cs typeface="+mn-cs"/>
              </a:rPr>
              <a:t>LF</a:t>
            </a:r>
            <a:r>
              <a:rPr lang="en-US" sz="1200" kern="1200" dirty="0">
                <a:solidFill>
                  <a:schemeClr val="tx1"/>
                </a:solidFill>
                <a:effectLst/>
                <a:latin typeface="+mn-lt"/>
                <a:ea typeface="+mn-ea"/>
                <a:cs typeface="+mn-cs"/>
              </a:rPr>
              <a:t>. </a:t>
            </a:r>
            <a:r>
              <a:rPr lang="en-US" sz="1200" b="0" kern="1200" dirty="0">
                <a:solidFill>
                  <a:schemeClr val="tx1"/>
                </a:solidFill>
                <a:effectLst/>
                <a:latin typeface="+mn-lt"/>
                <a:ea typeface="+mn-ea"/>
                <a:cs typeface="+mn-cs"/>
              </a:rPr>
              <a:t>SSF </a:t>
            </a:r>
            <a:r>
              <a:rPr lang="en-US" sz="1200" kern="1200" dirty="0">
                <a:solidFill>
                  <a:schemeClr val="tx1"/>
                </a:solidFill>
                <a:effectLst/>
                <a:latin typeface="+mn-lt"/>
                <a:ea typeface="+mn-ea"/>
                <a:cs typeface="+mn-cs"/>
              </a:rPr>
              <a:t>gives </a:t>
            </a:r>
            <a:r>
              <a:rPr lang="en-US" sz="1200" kern="1200" dirty="0" err="1">
                <a:solidFill>
                  <a:schemeClr val="tx1"/>
                </a:solidFill>
                <a:effectLst/>
                <a:latin typeface="+mn-lt"/>
                <a:ea typeface="+mn-ea"/>
                <a:cs typeface="+mn-cs"/>
              </a:rPr>
              <a:t>pref</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erence</a:t>
            </a:r>
            <a:r>
              <a:rPr lang="en-US" sz="1200" kern="1200" dirty="0">
                <a:solidFill>
                  <a:schemeClr val="tx1"/>
                </a:solidFill>
                <a:effectLst/>
                <a:latin typeface="+mn-lt"/>
                <a:ea typeface="+mn-ea"/>
                <a:cs typeface="+mn-cs"/>
              </a:rPr>
              <a:t> to small slack requests while the </a:t>
            </a:r>
            <a:r>
              <a:rPr lang="en-US" sz="1200" b="0" kern="1200" dirty="0">
                <a:solidFill>
                  <a:schemeClr val="tx1"/>
                </a:solidFill>
                <a:effectLst/>
                <a:latin typeface="+mn-lt"/>
                <a:ea typeface="+mn-ea"/>
                <a:cs typeface="+mn-cs"/>
              </a:rPr>
              <a:t>LF </a:t>
            </a:r>
            <a:r>
              <a:rPr lang="en-US" sz="1200" kern="1200" dirty="0">
                <a:solidFill>
                  <a:schemeClr val="tx1"/>
                </a:solidFill>
                <a:effectLst/>
                <a:latin typeface="+mn-lt"/>
                <a:ea typeface="+mn-ea"/>
                <a:cs typeface="+mn-cs"/>
              </a:rPr>
              <a:t>strategy helps avoid doing too much extra work in broadcast scheduling by giving preference to pages that have waited sufficiently long even if they have large slack. The algorithm </a:t>
            </a:r>
            <a:r>
              <a:rPr lang="en-US" sz="1200" b="0" kern="1200" dirty="0">
                <a:solidFill>
                  <a:schemeClr val="tx1"/>
                </a:solidFill>
                <a:effectLst/>
                <a:latin typeface="+mn-lt"/>
                <a:ea typeface="+mn-ea"/>
                <a:cs typeface="+mn-cs"/>
              </a:rPr>
              <a:t>SSF-W </a:t>
            </a:r>
            <a:r>
              <a:rPr lang="en-US" sz="1200" kern="1200" dirty="0">
                <a:solidFill>
                  <a:schemeClr val="tx1"/>
                </a:solidFill>
                <a:effectLst/>
                <a:latin typeface="+mn-lt"/>
                <a:ea typeface="+mn-ea"/>
                <a:cs typeface="+mn-cs"/>
              </a:rPr>
              <a:t>considers all requests whose delay factor at time t (or weighted wait time) is within a constant factor of the largest delay factor at t and amongst those requests schedules the one with the smallest slack. </a:t>
            </a:r>
            <a:endParaRPr lang="en-US" dirty="0"/>
          </a:p>
          <a:p>
            <a:endParaRPr lang="en-US" dirty="0"/>
          </a:p>
        </p:txBody>
      </p:sp>
      <p:sp>
        <p:nvSpPr>
          <p:cNvPr id="4" name="Slide Number Placeholder 3"/>
          <p:cNvSpPr>
            <a:spLocks noGrp="1"/>
          </p:cNvSpPr>
          <p:nvPr>
            <p:ph type="sldNum" sz="quarter" idx="5"/>
          </p:nvPr>
        </p:nvSpPr>
        <p:spPr/>
        <p:txBody>
          <a:bodyPr/>
          <a:lstStyle/>
          <a:p>
            <a:fld id="{BBB90286-7856-6940-88E0-51EF0689682B}" type="slidenum">
              <a:rPr lang="en-US" smtClean="0"/>
              <a:t>6</a:t>
            </a:fld>
            <a:endParaRPr lang="en-US"/>
          </a:p>
        </p:txBody>
      </p:sp>
    </p:spTree>
    <p:extLst>
      <p:ext uri="{BB962C8B-B14F-4D97-AF65-F5344CB8AC3E}">
        <p14:creationId xmlns:p14="http://schemas.microsoft.com/office/powerpoint/2010/main" val="396454827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90286-7856-6940-88E0-51EF0689682B}" type="slidenum">
              <a:rPr lang="en-US" smtClean="0"/>
              <a:t>12</a:t>
            </a:fld>
            <a:endParaRPr lang="en-US"/>
          </a:p>
        </p:txBody>
      </p:sp>
    </p:spTree>
    <p:extLst>
      <p:ext uri="{BB962C8B-B14F-4D97-AF65-F5344CB8AC3E}">
        <p14:creationId xmlns:p14="http://schemas.microsoft.com/office/powerpoint/2010/main" val="41246268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It may also be of interest to minimize the maximum </a:t>
            </a:r>
            <a:r>
              <a:rPr lang="en-US" sz="1200" i="1" kern="1200" dirty="0">
                <a:solidFill>
                  <a:schemeClr val="tx1"/>
                </a:solidFill>
                <a:effectLst/>
                <a:latin typeface="+mn-lt"/>
                <a:ea typeface="+mn-ea"/>
                <a:cs typeface="+mn-cs"/>
              </a:rPr>
              <a:t>weighted </a:t>
            </a:r>
            <a:r>
              <a:rPr lang="en-US" sz="1200" kern="1200" dirty="0">
                <a:solidFill>
                  <a:schemeClr val="tx1"/>
                </a:solidFill>
                <a:effectLst/>
                <a:latin typeface="+mn-lt"/>
                <a:ea typeface="+mn-ea"/>
                <a:cs typeface="+mn-cs"/>
              </a:rPr>
              <a:t>delay factor. In this setting each request has a deadline and a weight. The goal is to minimize </a:t>
            </a:r>
            <a:r>
              <a:rPr lang="en-US" sz="1200" kern="1200" dirty="0" err="1">
                <a:solidFill>
                  <a:schemeClr val="tx1"/>
                </a:solidFill>
                <a:effectLst/>
                <a:latin typeface="+mn-lt"/>
                <a:ea typeface="+mn-ea"/>
                <a:cs typeface="+mn-cs"/>
              </a:rPr>
              <a:t>max</a:t>
            </a:r>
            <a:r>
              <a:rPr lang="en-US" sz="1200" kern="1200" baseline="-25000" dirty="0" err="1">
                <a:solidFill>
                  <a:schemeClr val="tx1"/>
                </a:solidFill>
                <a:effectLst/>
                <a:latin typeface="+mn-lt"/>
                <a:ea typeface="+mn-ea"/>
                <a:cs typeface="+mn-cs"/>
              </a:rPr>
              <a:t>p,i</a:t>
            </a:r>
            <a:r>
              <a:rPr lang="en-US" sz="1200" kern="1200" dirty="0">
                <a:solidFill>
                  <a:schemeClr val="tx1"/>
                </a:solidFill>
                <a:effectLst/>
                <a:latin typeface="+mn-lt"/>
                <a:ea typeface="+mn-ea"/>
                <a:cs typeface="+mn-cs"/>
              </a:rPr>
              <a:t> </a:t>
            </a:r>
            <a:r>
              <a:rPr lang="en-US" sz="1200" kern="1200" dirty="0" err="1">
                <a:solidFill>
                  <a:schemeClr val="tx1"/>
                </a:solidFill>
                <a:effectLst/>
                <a:latin typeface="+mn-lt"/>
                <a:ea typeface="+mn-ea"/>
                <a:cs typeface="+mn-cs"/>
              </a:rPr>
              <a:t>w</a:t>
            </a:r>
            <a:r>
              <a:rPr lang="en-US" sz="1200" kern="1200" baseline="-25000" dirty="0" err="1">
                <a:solidFill>
                  <a:schemeClr val="tx1"/>
                </a:solidFill>
                <a:effectLst/>
                <a:latin typeface="+mn-lt"/>
                <a:ea typeface="+mn-ea"/>
                <a:cs typeface="+mn-cs"/>
              </a:rPr>
              <a:t>p,i</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f</a:t>
            </a:r>
            <a:r>
              <a:rPr lang="en-US" sz="1200" kern="1200" baseline="-25000" dirty="0" err="1">
                <a:solidFill>
                  <a:schemeClr val="tx1"/>
                </a:solidFill>
                <a:effectLst/>
                <a:latin typeface="+mn-lt"/>
                <a:ea typeface="+mn-ea"/>
                <a:cs typeface="+mn-cs"/>
              </a:rPr>
              <a:t>p,i</a:t>
            </a:r>
            <a:r>
              <a:rPr lang="en-US" sz="1200" kern="1200" dirty="0">
                <a:solidFill>
                  <a:schemeClr val="tx1"/>
                </a:solidFill>
                <a:effectLst/>
                <a:latin typeface="+mn-lt"/>
                <a:ea typeface="+mn-ea"/>
                <a:cs typeface="+mn-cs"/>
              </a:rPr>
              <a:t> − </a:t>
            </a:r>
            <a:r>
              <a:rPr lang="en-US" sz="1200" kern="1200" dirty="0" err="1">
                <a:solidFill>
                  <a:schemeClr val="tx1"/>
                </a:solidFill>
                <a:effectLst/>
                <a:latin typeface="+mn-lt"/>
                <a:ea typeface="+mn-ea"/>
                <a:cs typeface="+mn-cs"/>
              </a:rPr>
              <a:t>a</a:t>
            </a:r>
            <a:r>
              <a:rPr lang="en-US" sz="1200" kern="1200" baseline="-25000" dirty="0" err="1">
                <a:solidFill>
                  <a:schemeClr val="tx1"/>
                </a:solidFill>
                <a:effectLst/>
                <a:latin typeface="+mn-lt"/>
                <a:ea typeface="+mn-ea"/>
                <a:cs typeface="+mn-cs"/>
              </a:rPr>
              <a:t>p,i</a:t>
            </a:r>
            <a:r>
              <a:rPr lang="en-US" sz="1200" kern="1200" dirty="0">
                <a:solidFill>
                  <a:schemeClr val="tx1"/>
                </a:solidFill>
                <a:effectLst/>
                <a:latin typeface="+mn-lt"/>
                <a:ea typeface="+mn-ea"/>
                <a:cs typeface="+mn-cs"/>
              </a:rPr>
              <a:t>)/</a:t>
            </a:r>
            <a:r>
              <a:rPr lang="en-US" sz="1200" kern="1200" dirty="0" err="1">
                <a:solidFill>
                  <a:schemeClr val="tx1"/>
                </a:solidFill>
                <a:effectLst/>
                <a:latin typeface="+mn-lt"/>
                <a:ea typeface="+mn-ea"/>
                <a:cs typeface="+mn-cs"/>
              </a:rPr>
              <a:t>S</a:t>
            </a:r>
            <a:r>
              <a:rPr lang="en-US" sz="1200" kern="1200" baseline="-25000" dirty="0" err="1">
                <a:solidFill>
                  <a:schemeClr val="tx1"/>
                </a:solidFill>
                <a:effectLst/>
                <a:latin typeface="+mn-lt"/>
                <a:ea typeface="+mn-ea"/>
                <a:cs typeface="+mn-cs"/>
              </a:rPr>
              <a:t>p,i</a:t>
            </a:r>
            <a:r>
              <a:rPr lang="en-US" sz="1200" kern="1200" dirty="0">
                <a:solidFill>
                  <a:schemeClr val="tx1"/>
                </a:solidFill>
                <a:effectLst/>
                <a:latin typeface="+mn-lt"/>
                <a:ea typeface="+mn-ea"/>
                <a:cs typeface="+mn-cs"/>
              </a:rPr>
              <a:t>. For this setting we develop another algorithm which we call </a:t>
            </a:r>
            <a:r>
              <a:rPr lang="en-US" sz="1200" b="0" kern="1200" dirty="0">
                <a:solidFill>
                  <a:schemeClr val="tx1"/>
                </a:solidFill>
                <a:effectLst/>
                <a:latin typeface="+mn-lt"/>
                <a:ea typeface="+mn-ea"/>
                <a:cs typeface="+mn-cs"/>
              </a:rPr>
              <a:t>SRF-W </a:t>
            </a:r>
            <a:r>
              <a:rPr lang="en-US" sz="1200" kern="1200" dirty="0">
                <a:solidFill>
                  <a:schemeClr val="tx1"/>
                </a:solidFill>
                <a:effectLst/>
                <a:latin typeface="+mn-lt"/>
                <a:ea typeface="+mn-ea"/>
                <a:cs typeface="+mn-cs"/>
              </a:rPr>
              <a:t>(Smallest-Ratio-First with Waiting). </a:t>
            </a:r>
            <a:endParaRPr lang="en-US" dirty="0"/>
          </a:p>
          <a:p>
            <a:endParaRPr lang="en-US" dirty="0"/>
          </a:p>
        </p:txBody>
      </p:sp>
      <p:sp>
        <p:nvSpPr>
          <p:cNvPr id="4" name="Slide Number Placeholder 3"/>
          <p:cNvSpPr>
            <a:spLocks noGrp="1"/>
          </p:cNvSpPr>
          <p:nvPr>
            <p:ph type="sldNum" sz="quarter" idx="5"/>
          </p:nvPr>
        </p:nvSpPr>
        <p:spPr/>
        <p:txBody>
          <a:bodyPr/>
          <a:lstStyle/>
          <a:p>
            <a:fld id="{BBB90286-7856-6940-88E0-51EF0689682B}" type="slidenum">
              <a:rPr lang="en-US" smtClean="0"/>
              <a:t>13</a:t>
            </a:fld>
            <a:endParaRPr lang="en-US"/>
          </a:p>
        </p:txBody>
      </p:sp>
    </p:spTree>
    <p:extLst>
      <p:ext uri="{BB962C8B-B14F-4D97-AF65-F5344CB8AC3E}">
        <p14:creationId xmlns:p14="http://schemas.microsoft.com/office/powerpoint/2010/main" val="24770727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BB90286-7856-6940-88E0-51EF0689682B}" type="slidenum">
              <a:rPr lang="en-US" smtClean="0"/>
              <a:t>18</a:t>
            </a:fld>
            <a:endParaRPr lang="en-US"/>
          </a:p>
        </p:txBody>
      </p:sp>
    </p:spTree>
    <p:extLst>
      <p:ext uri="{BB962C8B-B14F-4D97-AF65-F5344CB8AC3E}">
        <p14:creationId xmlns:p14="http://schemas.microsoft.com/office/powerpoint/2010/main" val="467773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different sized pages, it is still open on whether there exists a (1 + </a:t>
            </a:r>
            <a:r>
              <a:rPr lang="el-GR" dirty="0"/>
              <a:t>ε)-</a:t>
            </a:r>
            <a:r>
              <a:rPr lang="en-US" dirty="0"/>
              <a:t>speed algorithm that is O(1)-competitive. For minimizing the maximum response time offline it is of theoretical interest to show a lower bound on the approximation ratio that can be achieved or to show an algorithm that is a c-approximation for some c &lt; 2. </a:t>
            </a:r>
          </a:p>
        </p:txBody>
      </p:sp>
      <p:sp>
        <p:nvSpPr>
          <p:cNvPr id="4" name="Slide Number Placeholder 3"/>
          <p:cNvSpPr>
            <a:spLocks noGrp="1"/>
          </p:cNvSpPr>
          <p:nvPr>
            <p:ph type="sldNum" sz="quarter" idx="5"/>
          </p:nvPr>
        </p:nvSpPr>
        <p:spPr/>
        <p:txBody>
          <a:bodyPr/>
          <a:lstStyle/>
          <a:p>
            <a:fld id="{BBB90286-7856-6940-88E0-51EF0689682B}" type="slidenum">
              <a:rPr lang="en-US" smtClean="0"/>
              <a:t>19</a:t>
            </a:fld>
            <a:endParaRPr lang="en-US"/>
          </a:p>
        </p:txBody>
      </p:sp>
    </p:spTree>
    <p:extLst>
      <p:ext uri="{BB962C8B-B14F-4D97-AF65-F5344CB8AC3E}">
        <p14:creationId xmlns:p14="http://schemas.microsoft.com/office/powerpoint/2010/main" val="10425617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F8A6D07-9103-7543-ACC8-852C7402AFBE}" type="datetimeFigureOut">
              <a:rPr lang="en-US" smtClean="0"/>
              <a:t>3/13/20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82755C-B4C5-7E4C-9DF8-14A5672CCA14}" type="slidenum">
              <a:rPr lang="en-US" smtClean="0"/>
              <a:t>‹#›</a:t>
            </a:fld>
            <a:endParaRPr lang="en-US"/>
          </a:p>
        </p:txBody>
      </p:sp>
    </p:spTree>
    <p:extLst>
      <p:ext uri="{BB962C8B-B14F-4D97-AF65-F5344CB8AC3E}">
        <p14:creationId xmlns:p14="http://schemas.microsoft.com/office/powerpoint/2010/main" val="3868233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F8A6D07-9103-7543-ACC8-852C7402AFBE}" type="datetimeFigureOut">
              <a:rPr lang="en-US" smtClean="0"/>
              <a:t>3/13/20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82755C-B4C5-7E4C-9DF8-14A5672CCA14}" type="slidenum">
              <a:rPr lang="en-US" smtClean="0"/>
              <a:t>‹#›</a:t>
            </a:fld>
            <a:endParaRPr lang="en-US"/>
          </a:p>
        </p:txBody>
      </p:sp>
    </p:spTree>
    <p:extLst>
      <p:ext uri="{BB962C8B-B14F-4D97-AF65-F5344CB8AC3E}">
        <p14:creationId xmlns:p14="http://schemas.microsoft.com/office/powerpoint/2010/main" val="36045822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F8A6D07-9103-7543-ACC8-852C7402AFBE}" type="datetimeFigureOut">
              <a:rPr lang="en-US" smtClean="0"/>
              <a:t>3/13/20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382755C-B4C5-7E4C-9DF8-14A5672CCA14}" type="slidenum">
              <a:rPr lang="en-US" smtClean="0"/>
              <a:t>‹#›</a:t>
            </a:fld>
            <a:endParaRPr lang="en-US"/>
          </a:p>
        </p:txBody>
      </p:sp>
    </p:spTree>
    <p:extLst>
      <p:ext uri="{BB962C8B-B14F-4D97-AF65-F5344CB8AC3E}">
        <p14:creationId xmlns:p14="http://schemas.microsoft.com/office/powerpoint/2010/main" val="3931518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9F8A6D07-9103-7543-ACC8-852C7402AFBE}" type="datetimeFigureOut">
              <a:rPr lang="en-US" smtClean="0"/>
              <a:t>3/13/20</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A382755C-B4C5-7E4C-9DF8-14A5672CCA14}" type="slidenum">
              <a:rPr lang="en-US" smtClean="0"/>
              <a:t>‹#›</a:t>
            </a:fld>
            <a:endParaRPr lang="en-US"/>
          </a:p>
        </p:txBody>
      </p:sp>
    </p:spTree>
    <p:extLst>
      <p:ext uri="{BB962C8B-B14F-4D97-AF65-F5344CB8AC3E}">
        <p14:creationId xmlns:p14="http://schemas.microsoft.com/office/powerpoint/2010/main" val="3330520422"/>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9F8A6D07-9103-7543-ACC8-852C7402AFBE}" type="datetimeFigureOut">
              <a:rPr lang="en-US" smtClean="0"/>
              <a:t>3/13/20</a:t>
            </a:fld>
            <a:endParaRPr lang="en-US"/>
          </a:p>
        </p:txBody>
      </p:sp>
      <p:sp>
        <p:nvSpPr>
          <p:cNvPr id="11" name="Footer Placeholder 10"/>
          <p:cNvSpPr>
            <a:spLocks noGrp="1"/>
          </p:cNvSpPr>
          <p:nvPr>
            <p:ph type="ftr" sz="quarter" idx="11"/>
          </p:nvPr>
        </p:nvSpPr>
        <p:spPr/>
        <p:txBody>
          <a:bodyPr/>
          <a:lstStyle/>
          <a:p>
            <a:endParaRPr lang="en-US"/>
          </a:p>
        </p:txBody>
      </p:sp>
      <p:sp>
        <p:nvSpPr>
          <p:cNvPr id="12" name="Slide Number Placeholder 11"/>
          <p:cNvSpPr>
            <a:spLocks noGrp="1"/>
          </p:cNvSpPr>
          <p:nvPr>
            <p:ph type="sldNum" sz="quarter" idx="12"/>
          </p:nvPr>
        </p:nvSpPr>
        <p:spPr/>
        <p:txBody>
          <a:bodyPr/>
          <a:lstStyle/>
          <a:p>
            <a:fld id="{A382755C-B4C5-7E4C-9DF8-14A5672CCA14}" type="slidenum">
              <a:rPr lang="en-US" smtClean="0"/>
              <a:t>‹#›</a:t>
            </a:fld>
            <a:endParaRPr lang="en-US"/>
          </a:p>
        </p:txBody>
      </p:sp>
    </p:spTree>
    <p:extLst>
      <p:ext uri="{BB962C8B-B14F-4D97-AF65-F5344CB8AC3E}">
        <p14:creationId xmlns:p14="http://schemas.microsoft.com/office/powerpoint/2010/main" val="69180909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9F8A6D07-9103-7543-ACC8-852C7402AFBE}" type="datetimeFigureOut">
              <a:rPr lang="en-US" smtClean="0"/>
              <a:t>3/13/20</a:t>
            </a:fld>
            <a:endParaRPr lang="en-US"/>
          </a:p>
        </p:txBody>
      </p:sp>
      <p:sp>
        <p:nvSpPr>
          <p:cNvPr id="7" name="Footer Placeholder 6"/>
          <p:cNvSpPr>
            <a:spLocks noGrp="1"/>
          </p:cNvSpPr>
          <p:nvPr>
            <p:ph type="ftr" sz="quarter" idx="11"/>
          </p:nvPr>
        </p:nvSpPr>
        <p:spPr/>
        <p:txBody>
          <a:bodyPr/>
          <a:lstStyle/>
          <a:p>
            <a:endParaRPr lang="en-US"/>
          </a:p>
        </p:txBody>
      </p:sp>
      <p:sp>
        <p:nvSpPr>
          <p:cNvPr id="8" name="Slide Number Placeholder 7"/>
          <p:cNvSpPr>
            <a:spLocks noGrp="1"/>
          </p:cNvSpPr>
          <p:nvPr>
            <p:ph type="sldNum" sz="quarter" idx="12"/>
          </p:nvPr>
        </p:nvSpPr>
        <p:spPr/>
        <p:txBody>
          <a:bodyPr/>
          <a:lstStyle/>
          <a:p>
            <a:fld id="{A382755C-B4C5-7E4C-9DF8-14A5672CCA14}" type="slidenum">
              <a:rPr lang="en-US" smtClean="0"/>
              <a:t>‹#›</a:t>
            </a:fld>
            <a:endParaRPr lang="en-US"/>
          </a:p>
        </p:txBody>
      </p:sp>
    </p:spTree>
    <p:extLst>
      <p:ext uri="{BB962C8B-B14F-4D97-AF65-F5344CB8AC3E}">
        <p14:creationId xmlns:p14="http://schemas.microsoft.com/office/powerpoint/2010/main" val="20458092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F8A6D07-9103-7543-ACC8-852C7402AFBE}" type="datetimeFigureOut">
              <a:rPr lang="en-US" smtClean="0"/>
              <a:t>3/13/20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382755C-B4C5-7E4C-9DF8-14A5672CCA14}" type="slidenum">
              <a:rPr lang="en-US" smtClean="0"/>
              <a:t>‹#›</a:t>
            </a:fld>
            <a:endParaRPr lang="en-US"/>
          </a:p>
        </p:txBody>
      </p:sp>
    </p:spTree>
    <p:extLst>
      <p:ext uri="{BB962C8B-B14F-4D97-AF65-F5344CB8AC3E}">
        <p14:creationId xmlns:p14="http://schemas.microsoft.com/office/powerpoint/2010/main" val="1601747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9F8A6D07-9103-7543-ACC8-852C7402AFBE}" type="datetimeFigureOut">
              <a:rPr lang="en-US" smtClean="0"/>
              <a:t>3/13/20</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A382755C-B4C5-7E4C-9DF8-14A5672CCA14}" type="slidenum">
              <a:rPr lang="en-US" smtClean="0"/>
              <a:t>‹#›</a:t>
            </a:fld>
            <a:endParaRPr lang="en-US"/>
          </a:p>
        </p:txBody>
      </p:sp>
    </p:spTree>
    <p:extLst>
      <p:ext uri="{BB962C8B-B14F-4D97-AF65-F5344CB8AC3E}">
        <p14:creationId xmlns:p14="http://schemas.microsoft.com/office/powerpoint/2010/main" val="379303697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9F8A6D07-9103-7543-ACC8-852C7402AFBE}" type="datetimeFigureOut">
              <a:rPr lang="en-US" smtClean="0"/>
              <a:t>3/13/20</a:t>
            </a:fld>
            <a:endParaRPr lang="en-US"/>
          </a:p>
        </p:txBody>
      </p:sp>
      <p:sp>
        <p:nvSpPr>
          <p:cNvPr id="9" name="Footer Placeholder 8"/>
          <p:cNvSpPr>
            <a:spLocks noGrp="1"/>
          </p:cNvSpPr>
          <p:nvPr>
            <p:ph type="ftr" sz="quarter" idx="11"/>
          </p:nvPr>
        </p:nvSpPr>
        <p:spPr>
          <a:xfrm>
            <a:off x="3499101" y="6356350"/>
            <a:ext cx="5911517" cy="365125"/>
          </a:xfrm>
        </p:spPr>
        <p:txBody>
          <a:bodyPr/>
          <a:lstStyle/>
          <a:p>
            <a:endParaRPr lang="en-US"/>
          </a:p>
        </p:txBody>
      </p:sp>
      <p:sp>
        <p:nvSpPr>
          <p:cNvPr id="10" name="Slide Number Placeholder 9"/>
          <p:cNvSpPr>
            <a:spLocks noGrp="1"/>
          </p:cNvSpPr>
          <p:nvPr>
            <p:ph type="sldNum" sz="quarter" idx="12"/>
          </p:nvPr>
        </p:nvSpPr>
        <p:spPr/>
        <p:txBody>
          <a:bodyPr/>
          <a:lstStyle/>
          <a:p>
            <a:fld id="{A382755C-B4C5-7E4C-9DF8-14A5672CCA14}" type="slidenum">
              <a:rPr lang="en-US" smtClean="0"/>
              <a:t>‹#›</a:t>
            </a:fld>
            <a:endParaRPr lang="en-US"/>
          </a:p>
        </p:txBody>
      </p:sp>
    </p:spTree>
    <p:extLst>
      <p:ext uri="{BB962C8B-B14F-4D97-AF65-F5344CB8AC3E}">
        <p14:creationId xmlns:p14="http://schemas.microsoft.com/office/powerpoint/2010/main" val="1459191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8A6D07-9103-7543-ACC8-852C7402AFBE}" type="datetimeFigureOut">
              <a:rPr lang="en-US" smtClean="0"/>
              <a:t>3/13/20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82755C-B4C5-7E4C-9DF8-14A5672CCA14}" type="slidenum">
              <a:rPr lang="en-US" smtClean="0"/>
              <a:t>‹#›</a:t>
            </a:fld>
            <a:endParaRPr lang="en-US"/>
          </a:p>
        </p:txBody>
      </p:sp>
    </p:spTree>
    <p:extLst>
      <p:ext uri="{BB962C8B-B14F-4D97-AF65-F5344CB8AC3E}">
        <p14:creationId xmlns:p14="http://schemas.microsoft.com/office/powerpoint/2010/main" val="33494733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F8A6D07-9103-7543-ACC8-852C7402AFBE}" type="datetimeFigureOut">
              <a:rPr lang="en-US" smtClean="0"/>
              <a:t>3/13/20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382755C-B4C5-7E4C-9DF8-14A5672CCA14}" type="slidenum">
              <a:rPr lang="en-US" smtClean="0"/>
              <a:t>‹#›</a:t>
            </a:fld>
            <a:endParaRPr lang="en-US"/>
          </a:p>
        </p:txBody>
      </p:sp>
    </p:spTree>
    <p:extLst>
      <p:ext uri="{BB962C8B-B14F-4D97-AF65-F5344CB8AC3E}">
        <p14:creationId xmlns:p14="http://schemas.microsoft.com/office/powerpoint/2010/main" val="26573805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9F8A6D07-9103-7543-ACC8-852C7402AFBE}" type="datetimeFigureOut">
              <a:rPr lang="en-US" smtClean="0"/>
              <a:t>3/13/20</a:t>
            </a:fld>
            <a:endParaRPr lang="en-US"/>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A382755C-B4C5-7E4C-9DF8-14A5672CCA14}" type="slidenum">
              <a:rPr lang="en-US" smtClean="0"/>
              <a:t>‹#›</a:t>
            </a:fld>
            <a:endParaRPr lang="en-US"/>
          </a:p>
        </p:txBody>
      </p:sp>
    </p:spTree>
    <p:extLst>
      <p:ext uri="{BB962C8B-B14F-4D97-AF65-F5344CB8AC3E}">
        <p14:creationId xmlns:p14="http://schemas.microsoft.com/office/powerpoint/2010/main" val="3942133743"/>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817535-CD7F-E140-AE72-C06D9DD8410D}"/>
              </a:ext>
            </a:extLst>
          </p:cNvPr>
          <p:cNvSpPr>
            <a:spLocks noGrp="1"/>
          </p:cNvSpPr>
          <p:nvPr>
            <p:ph type="ctrTitle"/>
          </p:nvPr>
        </p:nvSpPr>
        <p:spPr/>
        <p:txBody>
          <a:bodyPr>
            <a:normAutofit fontScale="90000"/>
          </a:bodyPr>
          <a:lstStyle/>
          <a:p>
            <a:r>
              <a:rPr lang="en-US" b="1" dirty="0">
                <a:effectLst/>
                <a:latin typeface="Bell MT" panose="02020503060305020303" pitchFamily="18" charset="77"/>
              </a:rPr>
              <a:t>Minimizing Maximum Response Time &amp; Delay Factor in Broadcast Scheduling </a:t>
            </a:r>
            <a:endParaRPr lang="en-US" b="1" dirty="0">
              <a:latin typeface="Bell MT" panose="02020503060305020303" pitchFamily="18" charset="77"/>
            </a:endParaRPr>
          </a:p>
        </p:txBody>
      </p:sp>
      <p:sp>
        <p:nvSpPr>
          <p:cNvPr id="3" name="Subtitle 2">
            <a:extLst>
              <a:ext uri="{FF2B5EF4-FFF2-40B4-BE49-F238E27FC236}">
                <a16:creationId xmlns:a16="http://schemas.microsoft.com/office/drawing/2014/main" id="{0BE7C509-DDDB-9F4D-95DD-DBBD1D59B722}"/>
              </a:ext>
            </a:extLst>
          </p:cNvPr>
          <p:cNvSpPr>
            <a:spLocks noGrp="1"/>
          </p:cNvSpPr>
          <p:nvPr>
            <p:ph type="subTitle" idx="1"/>
          </p:nvPr>
        </p:nvSpPr>
        <p:spPr/>
        <p:txBody>
          <a:bodyPr>
            <a:normAutofit fontScale="92500"/>
          </a:bodyPr>
          <a:lstStyle/>
          <a:p>
            <a:pPr algn="l"/>
            <a:r>
              <a:rPr lang="en-US" dirty="0">
                <a:effectLst/>
              </a:rPr>
              <a:t>Paper by:</a:t>
            </a:r>
          </a:p>
          <a:p>
            <a:pPr algn="l"/>
            <a:r>
              <a:rPr lang="en-US" dirty="0">
                <a:effectLst/>
              </a:rPr>
              <a:t>Chandra </a:t>
            </a:r>
            <a:r>
              <a:rPr lang="en-US" dirty="0" err="1">
                <a:effectLst/>
              </a:rPr>
              <a:t>Chekuri</a:t>
            </a:r>
            <a:r>
              <a:rPr lang="en-US" dirty="0">
                <a:effectLst/>
              </a:rPr>
              <a:t>, </a:t>
            </a:r>
            <a:r>
              <a:rPr lang="en-US" dirty="0" err="1">
                <a:effectLst/>
              </a:rPr>
              <a:t>Sungjin</a:t>
            </a:r>
            <a:r>
              <a:rPr lang="en-US" dirty="0">
                <a:effectLst/>
              </a:rPr>
              <a:t> </a:t>
            </a:r>
            <a:r>
              <a:rPr lang="en-US" dirty="0" err="1">
                <a:effectLst/>
              </a:rPr>
              <a:t>Im</a:t>
            </a:r>
            <a:r>
              <a:rPr lang="en-US" dirty="0">
                <a:effectLst/>
              </a:rPr>
              <a:t>† &amp; Benjamin Moseley‡ (June 11, 2009) </a:t>
            </a:r>
            <a:endParaRPr lang="en-US" dirty="0"/>
          </a:p>
          <a:p>
            <a:pPr algn="l"/>
            <a:endParaRPr lang="en-US" dirty="0"/>
          </a:p>
        </p:txBody>
      </p:sp>
      <p:sp>
        <p:nvSpPr>
          <p:cNvPr id="5" name="TextBox 4">
            <a:extLst>
              <a:ext uri="{FF2B5EF4-FFF2-40B4-BE49-F238E27FC236}">
                <a16:creationId xmlns:a16="http://schemas.microsoft.com/office/drawing/2014/main" id="{4717F1C2-4396-8F43-82DC-731980BDF491}"/>
              </a:ext>
            </a:extLst>
          </p:cNvPr>
          <p:cNvSpPr txBox="1"/>
          <p:nvPr/>
        </p:nvSpPr>
        <p:spPr>
          <a:xfrm>
            <a:off x="8358188" y="6243638"/>
            <a:ext cx="3751348" cy="369332"/>
          </a:xfrm>
          <a:prstGeom prst="rect">
            <a:avLst/>
          </a:prstGeom>
          <a:noFill/>
        </p:spPr>
        <p:txBody>
          <a:bodyPr wrap="none" rtlCol="0">
            <a:spAutoFit/>
          </a:bodyPr>
          <a:lstStyle/>
          <a:p>
            <a:r>
              <a:rPr lang="en-US" dirty="0"/>
              <a:t>Presented By: </a:t>
            </a:r>
            <a:r>
              <a:rPr lang="en-US" dirty="0" err="1"/>
              <a:t>Vamsidhar</a:t>
            </a:r>
            <a:r>
              <a:rPr lang="en-US" dirty="0"/>
              <a:t> Reddy</a:t>
            </a:r>
          </a:p>
        </p:txBody>
      </p:sp>
    </p:spTree>
    <p:extLst>
      <p:ext uri="{BB962C8B-B14F-4D97-AF65-F5344CB8AC3E}">
        <p14:creationId xmlns:p14="http://schemas.microsoft.com/office/powerpoint/2010/main" val="2936744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946B76-5F95-B94F-94FE-EAAA9E4B5195}"/>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6394C1B3-2149-F54D-8946-52F74FCE0DC4}"/>
              </a:ext>
            </a:extLst>
          </p:cNvPr>
          <p:cNvSpPr>
            <a:spLocks noGrp="1"/>
          </p:cNvSpPr>
          <p:nvPr>
            <p:ph idx="1"/>
          </p:nvPr>
        </p:nvSpPr>
        <p:spPr>
          <a:xfrm>
            <a:off x="3930731" y="2256313"/>
            <a:ext cx="7116679" cy="3534888"/>
          </a:xfrm>
        </p:spPr>
        <p:txBody>
          <a:bodyPr>
            <a:normAutofit/>
          </a:bodyPr>
          <a:lstStyle/>
          <a:p>
            <a:r>
              <a:rPr lang="en-US" sz="2400" dirty="0"/>
              <a:t>Abstract</a:t>
            </a:r>
          </a:p>
          <a:p>
            <a:r>
              <a:rPr lang="en-US" sz="2400" dirty="0"/>
              <a:t>Introduction</a:t>
            </a:r>
          </a:p>
          <a:p>
            <a:r>
              <a:rPr lang="en-US" sz="2400" dirty="0"/>
              <a:t>Minimizing the maximum response time</a:t>
            </a:r>
          </a:p>
          <a:p>
            <a:r>
              <a:rPr lang="en-US" sz="2400" dirty="0">
                <a:effectLst/>
              </a:rPr>
              <a:t>Minimizing Maximum Delay Factor and Weighted Response time </a:t>
            </a:r>
          </a:p>
          <a:p>
            <a:r>
              <a:rPr lang="en-US" sz="2400" dirty="0">
                <a:effectLst/>
              </a:rPr>
              <a:t>Lower Bound for a Natural Greedy Algorithm LF </a:t>
            </a:r>
            <a:endParaRPr lang="en-US" sz="2400" dirty="0"/>
          </a:p>
          <a:p>
            <a:r>
              <a:rPr lang="en-US" sz="2400" dirty="0">
                <a:effectLst/>
              </a:rPr>
              <a:t>Conclusion </a:t>
            </a:r>
            <a:endParaRPr lang="en-US" sz="2400" dirty="0"/>
          </a:p>
        </p:txBody>
      </p:sp>
    </p:spTree>
    <p:extLst>
      <p:ext uri="{BB962C8B-B14F-4D97-AF65-F5344CB8AC3E}">
        <p14:creationId xmlns:p14="http://schemas.microsoft.com/office/powerpoint/2010/main" val="42354909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B47B9-593B-D846-A496-6D94CCF87BE0}"/>
              </a:ext>
            </a:extLst>
          </p:cNvPr>
          <p:cNvSpPr>
            <a:spLocks noGrp="1"/>
          </p:cNvSpPr>
          <p:nvPr>
            <p:ph type="title"/>
          </p:nvPr>
        </p:nvSpPr>
        <p:spPr/>
        <p:txBody>
          <a:bodyPr/>
          <a:lstStyle/>
          <a:p>
            <a:r>
              <a:rPr lang="en-US" dirty="0"/>
              <a:t>Abstract</a:t>
            </a:r>
          </a:p>
        </p:txBody>
      </p:sp>
      <p:sp>
        <p:nvSpPr>
          <p:cNvPr id="3" name="Content Placeholder 2">
            <a:extLst>
              <a:ext uri="{FF2B5EF4-FFF2-40B4-BE49-F238E27FC236}">
                <a16:creationId xmlns:a16="http://schemas.microsoft.com/office/drawing/2014/main" id="{FF84B0A9-C1BC-3F42-BD5E-8213A434A842}"/>
              </a:ext>
            </a:extLst>
          </p:cNvPr>
          <p:cNvSpPr>
            <a:spLocks noGrp="1"/>
          </p:cNvSpPr>
          <p:nvPr>
            <p:ph idx="1"/>
          </p:nvPr>
        </p:nvSpPr>
        <p:spPr/>
        <p:txBody>
          <a:bodyPr/>
          <a:lstStyle/>
          <a:p>
            <a:pPr algn="just"/>
            <a:r>
              <a:rPr lang="en-US" dirty="0">
                <a:effectLst/>
              </a:rPr>
              <a:t>We consider </a:t>
            </a:r>
            <a:r>
              <a:rPr lang="en-US" i="1" dirty="0">
                <a:effectLst/>
              </a:rPr>
              <a:t>online </a:t>
            </a:r>
            <a:r>
              <a:rPr lang="en-US" dirty="0">
                <a:effectLst/>
              </a:rPr>
              <a:t>algorithms for pull-based broadcast scheduling. In this setting there are n pages of information at a server and requests for pages arrive online. When the server serves (broadcasts) a page p, all outstanding requests for that page are satisfied. </a:t>
            </a:r>
          </a:p>
          <a:p>
            <a:pPr algn="just"/>
            <a:r>
              <a:rPr lang="en-US" dirty="0">
                <a:effectLst/>
              </a:rPr>
              <a:t>We study two related metrics, namely maximum response time (waiting time) and maximum delay-factor and their </a:t>
            </a:r>
            <a:r>
              <a:rPr lang="en-US" i="1" dirty="0">
                <a:effectLst/>
              </a:rPr>
              <a:t>weighted </a:t>
            </a:r>
            <a:r>
              <a:rPr lang="en-US" dirty="0">
                <a:effectLst/>
              </a:rPr>
              <a:t>versions. We obtain the following results in the worst-case online competitive model. </a:t>
            </a:r>
          </a:p>
          <a:p>
            <a:pPr algn="just"/>
            <a:r>
              <a:rPr lang="en-US" dirty="0">
                <a:effectLst/>
              </a:rPr>
              <a:t>How different from other papers?</a:t>
            </a:r>
            <a:endParaRPr lang="en-US" dirty="0"/>
          </a:p>
          <a:p>
            <a:pPr algn="just"/>
            <a:endParaRPr lang="en-US" dirty="0"/>
          </a:p>
        </p:txBody>
      </p:sp>
    </p:spTree>
    <p:extLst>
      <p:ext uri="{BB962C8B-B14F-4D97-AF65-F5344CB8AC3E}">
        <p14:creationId xmlns:p14="http://schemas.microsoft.com/office/powerpoint/2010/main" val="1504431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83E19A-5605-AD48-ABB7-3FBBFF6A7FA5}"/>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1891C7B0-2913-DB4F-8F16-8205E331CA8D}"/>
              </a:ext>
            </a:extLst>
          </p:cNvPr>
          <p:cNvSpPr>
            <a:spLocks noGrp="1"/>
          </p:cNvSpPr>
          <p:nvPr>
            <p:ph idx="1"/>
          </p:nvPr>
        </p:nvSpPr>
        <p:spPr>
          <a:xfrm>
            <a:off x="3869268" y="463138"/>
            <a:ext cx="7315200" cy="5521610"/>
          </a:xfrm>
        </p:spPr>
        <p:txBody>
          <a:bodyPr>
            <a:normAutofit/>
          </a:bodyPr>
          <a:lstStyle/>
          <a:p>
            <a:pPr algn="just"/>
            <a:r>
              <a:rPr lang="en-US" dirty="0"/>
              <a:t>Broadcast scheduling is motivated by several applications in wireless and LAN based systems.</a:t>
            </a:r>
          </a:p>
          <a:p>
            <a:pPr algn="just"/>
            <a:r>
              <a:rPr lang="en-US" dirty="0"/>
              <a:t>To distinguish broadcast scheduling from “standard” job scheduling, we refer to the latter as unicast scheduling — we use requests in the context of broadcast and jobs in the context of unicast scheduling. </a:t>
            </a:r>
          </a:p>
          <a:p>
            <a:pPr algn="just"/>
            <a:r>
              <a:rPr lang="en-US" dirty="0"/>
              <a:t>In this paper, we focus on scheduling to minimize two related objectives: the maximum response time and the maximum delay factor. We also consider their </a:t>
            </a:r>
            <a:r>
              <a:rPr lang="en-US" i="1" dirty="0"/>
              <a:t>weighted </a:t>
            </a:r>
            <a:r>
              <a:rPr lang="en-US" dirty="0"/>
              <a:t>versions. </a:t>
            </a:r>
          </a:p>
          <a:p>
            <a:pPr algn="just"/>
            <a:r>
              <a:rPr lang="en-US" dirty="0"/>
              <a:t>It is easy to see that FIFO is optimal in unicast scheduling). Despite the claim, no proof was published. It is only recently, almost a decade later, that Chang et al. [10] gave formal proofs for these claims for unit-sizes pages </a:t>
            </a:r>
          </a:p>
          <a:p>
            <a:pPr algn="just"/>
            <a:r>
              <a:rPr lang="en-US" dirty="0"/>
              <a:t>In this paper we consider the sequential model [14], the most restrictive one, in which the server broadcasts each page sequentially and a client receives the page sequentially without buffering; see [25] on the relationship between different models </a:t>
            </a:r>
          </a:p>
        </p:txBody>
      </p:sp>
    </p:spTree>
    <p:extLst>
      <p:ext uri="{BB962C8B-B14F-4D97-AF65-F5344CB8AC3E}">
        <p14:creationId xmlns:p14="http://schemas.microsoft.com/office/powerpoint/2010/main" val="1306160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99F716E-4AF3-6247-89D2-3B56834B9462}"/>
              </a:ext>
            </a:extLst>
          </p:cNvPr>
          <p:cNvSpPr txBox="1"/>
          <p:nvPr/>
        </p:nvSpPr>
        <p:spPr>
          <a:xfrm>
            <a:off x="651163" y="394692"/>
            <a:ext cx="10889673" cy="6463308"/>
          </a:xfrm>
          <a:prstGeom prst="rect">
            <a:avLst/>
          </a:prstGeom>
          <a:noFill/>
        </p:spPr>
        <p:txBody>
          <a:bodyPr wrap="square" rtlCol="0">
            <a:spAutoFit/>
          </a:bodyPr>
          <a:lstStyle/>
          <a:p>
            <a:pPr algn="just"/>
            <a:r>
              <a:rPr lang="en-US" b="1" dirty="0"/>
              <a:t>Theorem 1.1. </a:t>
            </a:r>
            <a:r>
              <a:rPr lang="en-US" i="1" dirty="0"/>
              <a:t>FIFO is </a:t>
            </a:r>
            <a:r>
              <a:rPr lang="en-US" dirty="0"/>
              <a:t>2</a:t>
            </a:r>
            <a:r>
              <a:rPr lang="en-US" i="1" dirty="0"/>
              <a:t>-competitive for minimizing maximum response time in broadcast scheduling even with different page sizes. </a:t>
            </a:r>
            <a:endParaRPr lang="en-US" dirty="0"/>
          </a:p>
          <a:p>
            <a:pPr algn="just"/>
            <a:endParaRPr lang="en-US" dirty="0"/>
          </a:p>
          <a:p>
            <a:pPr algn="just"/>
            <a:r>
              <a:rPr lang="en-US" b="1" dirty="0"/>
              <a:t>Maximum (Weighted) Delay Factor and Weighted Response Time: </a:t>
            </a:r>
            <a:r>
              <a:rPr lang="en-US" dirty="0"/>
              <a:t>The delay factor of a schedule is a </a:t>
            </a:r>
          </a:p>
          <a:p>
            <a:pPr algn="just"/>
            <a:r>
              <a:rPr lang="en-US" dirty="0"/>
              <a:t>metric recently introduced in [10] (and implicitly in [7]) when requests have deadlines. Delay factor captures </a:t>
            </a:r>
          </a:p>
          <a:p>
            <a:pPr algn="just"/>
            <a:r>
              <a:rPr lang="en-US" dirty="0"/>
              <a:t>how much a request is delayed compared to its deadline. </a:t>
            </a:r>
          </a:p>
          <a:p>
            <a:pPr algn="just"/>
            <a:endParaRPr lang="en-US" dirty="0"/>
          </a:p>
          <a:p>
            <a:pPr algn="just"/>
            <a:r>
              <a:rPr lang="en-US" dirty="0"/>
              <a:t>Terms: </a:t>
            </a:r>
            <a:r>
              <a:rPr lang="en-US" dirty="0" err="1"/>
              <a:t>J</a:t>
            </a:r>
            <a:r>
              <a:rPr lang="en-US" baseline="-25000" dirty="0" err="1"/>
              <a:t>p,i</a:t>
            </a:r>
            <a:r>
              <a:rPr lang="en-US" dirty="0"/>
              <a:t> , </a:t>
            </a:r>
            <a:r>
              <a:rPr lang="en-US" dirty="0" err="1"/>
              <a:t>a</a:t>
            </a:r>
            <a:r>
              <a:rPr lang="en-US" baseline="-25000" dirty="0" err="1"/>
              <a:t>p,i</a:t>
            </a:r>
            <a:r>
              <a:rPr lang="en-US" baseline="-25000" dirty="0"/>
              <a:t> </a:t>
            </a:r>
            <a:r>
              <a:rPr lang="en-US" dirty="0"/>
              <a:t> , </a:t>
            </a:r>
            <a:r>
              <a:rPr lang="en-US" dirty="0" err="1"/>
              <a:t>d</a:t>
            </a:r>
            <a:r>
              <a:rPr lang="en-US" baseline="-25000" dirty="0" err="1"/>
              <a:t>p,i</a:t>
            </a:r>
            <a:r>
              <a:rPr lang="en-US" dirty="0"/>
              <a:t>, </a:t>
            </a:r>
            <a:r>
              <a:rPr lang="en-US" dirty="0" err="1"/>
              <a:t>S</a:t>
            </a:r>
            <a:r>
              <a:rPr lang="en-US" baseline="-25000" dirty="0" err="1"/>
              <a:t>p,i</a:t>
            </a:r>
            <a:r>
              <a:rPr lang="en-US" baseline="-25000" dirty="0"/>
              <a:t> </a:t>
            </a:r>
            <a:r>
              <a:rPr lang="en-US" dirty="0"/>
              <a:t>.</a:t>
            </a:r>
          </a:p>
          <a:p>
            <a:pPr algn="just"/>
            <a:endParaRPr lang="en-US" dirty="0"/>
          </a:p>
          <a:p>
            <a:pPr marL="285750" indent="-285750" algn="just">
              <a:buFont typeface="Courier New" panose="02070309020205020404" pitchFamily="49" charset="0"/>
              <a:buChar char="o"/>
            </a:pPr>
            <a:r>
              <a:rPr lang="en-US" dirty="0"/>
              <a:t>constant competitive algorithms were given for minimizing maximum delay factor in both unicast and broadcast scheduling; the algorithms are based on resource augmentation [20] wherein the algorithm is given a speed s &gt; 1 server while the offline adversary is given a speed 1 server. </a:t>
            </a:r>
          </a:p>
          <a:p>
            <a:pPr algn="just"/>
            <a:endParaRPr lang="en-US" dirty="0"/>
          </a:p>
          <a:p>
            <a:pPr marL="285750" indent="-285750" algn="just">
              <a:buFont typeface="Courier New" panose="02070309020205020404" pitchFamily="49" charset="0"/>
              <a:buChar char="o"/>
            </a:pPr>
            <a:r>
              <a:rPr lang="en-US" dirty="0"/>
              <a:t>They showed that SSF (shortest slack first) is O(1/</a:t>
            </a:r>
            <a:r>
              <a:rPr lang="el-GR" dirty="0"/>
              <a:t>ε)-</a:t>
            </a:r>
            <a:r>
              <a:rPr lang="en-US" dirty="0"/>
              <a:t>competitive with (1 + </a:t>
            </a:r>
            <a:r>
              <a:rPr lang="el-GR" dirty="0"/>
              <a:t>ε)-</a:t>
            </a:r>
            <a:r>
              <a:rPr lang="en-US" dirty="0"/>
              <a:t>speed in unicast scheduling. SSF does not work well in the broadcast scheduling. A different algorithm that involves waiting, SSF-W (shortest slack first with waiting) was developed and analyzed in [12]; the algorithm is O(1/</a:t>
            </a:r>
            <a:r>
              <a:rPr lang="el-GR" dirty="0"/>
              <a:t>ε2)-</a:t>
            </a:r>
            <a:r>
              <a:rPr lang="en-US" dirty="0"/>
              <a:t>competitive for unit-size pages with (2 + </a:t>
            </a:r>
            <a:r>
              <a:rPr lang="el-GR" dirty="0"/>
              <a:t>ε)-</a:t>
            </a:r>
            <a:r>
              <a:rPr lang="en-US" dirty="0"/>
              <a:t>speed and with (4 + </a:t>
            </a:r>
            <a:r>
              <a:rPr lang="el-GR" dirty="0"/>
              <a:t>ε)-</a:t>
            </a:r>
            <a:r>
              <a:rPr lang="en-US" dirty="0"/>
              <a:t>speed for different sized pages. </a:t>
            </a:r>
          </a:p>
          <a:p>
            <a:pPr marL="285750" indent="-285750" algn="just">
              <a:buFont typeface="Courier New" panose="02070309020205020404" pitchFamily="49" charset="0"/>
              <a:buChar char="o"/>
            </a:pPr>
            <a:endParaRPr lang="en-US" dirty="0"/>
          </a:p>
          <a:p>
            <a:pPr marL="285750" indent="-285750" algn="just">
              <a:buFont typeface="Courier New" panose="02070309020205020404" pitchFamily="49" charset="0"/>
              <a:buChar char="o"/>
            </a:pPr>
            <a:r>
              <a:rPr lang="en-US" dirty="0"/>
              <a:t>In this paper we obtain improved results by altering the analysis of SSF-W in a subtle and important way. In addition we show that the algorithm and analysis can be altered in an easy fashion to obtain the same bounds for weighted response time and delay factor. </a:t>
            </a:r>
          </a:p>
          <a:p>
            <a:pPr marL="285750" indent="-285750" algn="just">
              <a:buFont typeface="Courier New" panose="02070309020205020404" pitchFamily="49" charset="0"/>
              <a:buChar char="o"/>
            </a:pPr>
            <a:endParaRPr lang="en-US" dirty="0"/>
          </a:p>
          <a:p>
            <a:pPr algn="just"/>
            <a:endParaRPr lang="en-US" dirty="0"/>
          </a:p>
        </p:txBody>
      </p:sp>
    </p:spTree>
    <p:extLst>
      <p:ext uri="{BB962C8B-B14F-4D97-AF65-F5344CB8AC3E}">
        <p14:creationId xmlns:p14="http://schemas.microsoft.com/office/powerpoint/2010/main" val="925545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AEAB7D-E4BC-CF4B-AC55-DD8D8D5F7B38}"/>
              </a:ext>
            </a:extLst>
          </p:cNvPr>
          <p:cNvSpPr txBox="1"/>
          <p:nvPr/>
        </p:nvSpPr>
        <p:spPr>
          <a:xfrm>
            <a:off x="651163" y="394692"/>
            <a:ext cx="11093533" cy="6186309"/>
          </a:xfrm>
          <a:prstGeom prst="rect">
            <a:avLst/>
          </a:prstGeom>
          <a:noFill/>
        </p:spPr>
        <p:txBody>
          <a:bodyPr wrap="square" rtlCol="0">
            <a:spAutoFit/>
          </a:bodyPr>
          <a:lstStyle/>
          <a:p>
            <a:pPr algn="just"/>
            <a:r>
              <a:rPr lang="en-US" b="1" dirty="0"/>
              <a:t>Theorem 1.2.</a:t>
            </a:r>
            <a:r>
              <a:rPr lang="en-US" dirty="0"/>
              <a:t> </a:t>
            </a:r>
            <a:r>
              <a:rPr lang="en-US" i="1" dirty="0"/>
              <a:t>There is an algorithm that is </a:t>
            </a:r>
            <a:r>
              <a:rPr lang="en-US" dirty="0"/>
              <a:t>(1 + </a:t>
            </a:r>
            <a:r>
              <a:rPr lang="el-GR" dirty="0"/>
              <a:t>ε)</a:t>
            </a:r>
            <a:r>
              <a:rPr lang="el-GR" i="1" dirty="0"/>
              <a:t>-</a:t>
            </a:r>
            <a:r>
              <a:rPr lang="en-US" i="1" dirty="0"/>
              <a:t>speed </a:t>
            </a:r>
            <a:r>
              <a:rPr lang="en-US" dirty="0"/>
              <a:t>O(1/</a:t>
            </a:r>
            <a:r>
              <a:rPr lang="el-GR" dirty="0"/>
              <a:t>ε2)</a:t>
            </a:r>
            <a:r>
              <a:rPr lang="el-GR" i="1" dirty="0"/>
              <a:t>-</a:t>
            </a:r>
            <a:r>
              <a:rPr lang="en-US" i="1" dirty="0"/>
              <a:t>competitive for minimizing maximum delay factor in broadcast scheduling with unit-sized pages. For different sized pages there is a </a:t>
            </a:r>
            <a:r>
              <a:rPr lang="en-US" dirty="0"/>
              <a:t>(2 + </a:t>
            </a:r>
            <a:r>
              <a:rPr lang="el-GR" dirty="0"/>
              <a:t>ε)</a:t>
            </a:r>
            <a:r>
              <a:rPr lang="el-GR" i="1" dirty="0"/>
              <a:t>-</a:t>
            </a:r>
            <a:r>
              <a:rPr lang="en-US" i="1" dirty="0"/>
              <a:t>speed </a:t>
            </a:r>
            <a:r>
              <a:rPr lang="en-US" dirty="0"/>
              <a:t>O(1/</a:t>
            </a:r>
            <a:r>
              <a:rPr lang="el-GR" dirty="0"/>
              <a:t>ε2)</a:t>
            </a:r>
            <a:r>
              <a:rPr lang="el-GR" i="1" dirty="0"/>
              <a:t>-</a:t>
            </a:r>
            <a:r>
              <a:rPr lang="en-US" i="1" dirty="0"/>
              <a:t>competitive algorithm. The same bounds apply for minimizing maximum weighted response time and maximum weighted delay factor. </a:t>
            </a:r>
            <a:endParaRPr lang="en-US" dirty="0"/>
          </a:p>
          <a:p>
            <a:pPr algn="just"/>
            <a:r>
              <a:rPr lang="en-US" b="1" dirty="0"/>
              <a:t>Remark 1.3. </a:t>
            </a:r>
            <a:r>
              <a:rPr lang="en-US" i="1" dirty="0"/>
              <a:t>Minimizing maximum delay factor is NP-hard and there is no </a:t>
            </a:r>
            <a:r>
              <a:rPr lang="en-US" dirty="0"/>
              <a:t>(2 − </a:t>
            </a:r>
            <a:r>
              <a:rPr lang="el-GR" dirty="0"/>
              <a:t>ε)</a:t>
            </a:r>
            <a:r>
              <a:rPr lang="el-GR" i="1" dirty="0"/>
              <a:t>-</a:t>
            </a:r>
            <a:r>
              <a:rPr lang="en-US" i="1" dirty="0"/>
              <a:t>approximation unless </a:t>
            </a:r>
            <a:r>
              <a:rPr lang="en-US" dirty="0"/>
              <a:t>P = NP </a:t>
            </a:r>
            <a:r>
              <a:rPr lang="en-US" i="1" dirty="0"/>
              <a:t>for any </a:t>
            </a:r>
            <a:r>
              <a:rPr lang="el-GR" dirty="0"/>
              <a:t>ε &gt; 0 </a:t>
            </a:r>
            <a:r>
              <a:rPr lang="en-US" i="1" dirty="0"/>
              <a:t>in the </a:t>
            </a:r>
            <a:r>
              <a:rPr lang="en-US" dirty="0"/>
              <a:t>offline </a:t>
            </a:r>
            <a:r>
              <a:rPr lang="en-US" i="1" dirty="0"/>
              <a:t>setting for unit-sized pages. There is a polynomial time computable </a:t>
            </a:r>
            <a:r>
              <a:rPr lang="en-US" dirty="0"/>
              <a:t>2</a:t>
            </a:r>
            <a:r>
              <a:rPr lang="en-US" i="1" dirty="0"/>
              <a:t>-speed schedule with the optimal delay factor (with </a:t>
            </a:r>
            <a:r>
              <a:rPr lang="en-US" dirty="0"/>
              <a:t>1</a:t>
            </a:r>
            <a:r>
              <a:rPr lang="en-US" i="1" dirty="0"/>
              <a:t>-speed) [10]. Theorem 1.2 gives a polynomial time computable </a:t>
            </a:r>
            <a:r>
              <a:rPr lang="en-US" dirty="0"/>
              <a:t>(1 + </a:t>
            </a:r>
            <a:r>
              <a:rPr lang="el-GR" dirty="0"/>
              <a:t>ε)</a:t>
            </a:r>
            <a:r>
              <a:rPr lang="el-GR" i="1" dirty="0"/>
              <a:t>-</a:t>
            </a:r>
            <a:r>
              <a:rPr lang="en-US" i="1" dirty="0"/>
              <a:t>speed schedule that is </a:t>
            </a:r>
            <a:r>
              <a:rPr lang="en-US" dirty="0"/>
              <a:t>O(1/</a:t>
            </a:r>
            <a:r>
              <a:rPr lang="el-GR" dirty="0"/>
              <a:t>ε2)</a:t>
            </a:r>
            <a:r>
              <a:rPr lang="el-GR" i="1" dirty="0"/>
              <a:t>-</a:t>
            </a:r>
            <a:r>
              <a:rPr lang="en-US" i="1" dirty="0"/>
              <a:t>optimal (with </a:t>
            </a:r>
            <a:r>
              <a:rPr lang="en-US" dirty="0"/>
              <a:t>1</a:t>
            </a:r>
            <a:r>
              <a:rPr lang="en-US" i="1" dirty="0"/>
              <a:t>-speed). </a:t>
            </a:r>
          </a:p>
          <a:p>
            <a:pPr algn="just"/>
            <a:endParaRPr lang="en-US" i="1" dirty="0"/>
          </a:p>
          <a:p>
            <a:pPr marL="285750" indent="-285750" algn="just">
              <a:buFont typeface="Courier New" panose="02070309020205020404" pitchFamily="49" charset="0"/>
              <a:buChar char="o"/>
            </a:pPr>
            <a:r>
              <a:rPr lang="en-US" dirty="0"/>
              <a:t>SSF (which is equivalent to maximum weight first for weighted response time) is O(1/</a:t>
            </a:r>
            <a:r>
              <a:rPr lang="el-GR" dirty="0"/>
              <a:t>ε)-</a:t>
            </a:r>
            <a:r>
              <a:rPr lang="en-US" dirty="0"/>
              <a:t>competitive with (1 + </a:t>
            </a:r>
            <a:r>
              <a:rPr lang="el-GR" dirty="0"/>
              <a:t>ε)-</a:t>
            </a:r>
            <a:r>
              <a:rPr lang="en-US" dirty="0"/>
              <a:t>speed for job scheduling but is not competitive for broadcast scheduling — it may end up doing much more work than necessary by transmitting a page repeatedly instead of waiting and accumulating requests for a page. </a:t>
            </a:r>
          </a:p>
          <a:p>
            <a:pPr marL="285750" indent="-285750" algn="just">
              <a:buFont typeface="Courier New" panose="02070309020205020404" pitchFamily="49" charset="0"/>
              <a:buChar char="o"/>
            </a:pPr>
            <a:endParaRPr lang="en-US" dirty="0"/>
          </a:p>
          <a:p>
            <a:pPr marL="285750" indent="-285750" algn="just">
              <a:buFont typeface="Courier New" panose="02070309020205020404" pitchFamily="49" charset="0"/>
              <a:buChar char="o"/>
            </a:pPr>
            <a:r>
              <a:rPr lang="en-US" dirty="0"/>
              <a:t>A greedy algorithm was labeled LF (longest first) since it can be seen as an extension of the well-studied LWF (longest-wait-first) for average flow time. Since LWF is known to be O(1)-competitive with O(1)-speed for average flow time, it was suggested in [11] that LF may be O(1)-speed O(1)-competitive for maximum delay factor. </a:t>
            </a:r>
          </a:p>
          <a:p>
            <a:pPr marL="285750" indent="-285750" algn="just">
              <a:buFont typeface="Courier New" panose="02070309020205020404" pitchFamily="49" charset="0"/>
              <a:buChar char="o"/>
            </a:pPr>
            <a:endParaRPr lang="en-US" dirty="0"/>
          </a:p>
          <a:p>
            <a:pPr marL="285750" indent="-285750" algn="just">
              <a:buFont typeface="Courier New" panose="02070309020205020404" pitchFamily="49" charset="0"/>
              <a:buChar char="o"/>
            </a:pPr>
            <a:r>
              <a:rPr lang="en-US" dirty="0"/>
              <a:t>Theorem 1.4. </a:t>
            </a:r>
            <a:r>
              <a:rPr lang="en-US" i="1" dirty="0"/>
              <a:t>For any constants </a:t>
            </a:r>
            <a:r>
              <a:rPr lang="en-US" dirty="0"/>
              <a:t>s, c &gt; 1</a:t>
            </a:r>
            <a:r>
              <a:rPr lang="en-US" i="1" dirty="0"/>
              <a:t>, </a:t>
            </a:r>
            <a:r>
              <a:rPr lang="en-US" dirty="0"/>
              <a:t>LF </a:t>
            </a:r>
            <a:r>
              <a:rPr lang="en-US" i="1" dirty="0"/>
              <a:t>is not </a:t>
            </a:r>
            <a:r>
              <a:rPr lang="en-US" dirty="0"/>
              <a:t>c</a:t>
            </a:r>
            <a:r>
              <a:rPr lang="en-US" i="1" dirty="0"/>
              <a:t>-competitive with </a:t>
            </a:r>
            <a:r>
              <a:rPr lang="en-US" dirty="0"/>
              <a:t>s</a:t>
            </a:r>
            <a:r>
              <a:rPr lang="en-US" i="1" dirty="0"/>
              <a:t>-speed for minimizing maximum delay factor (or weighted response time) in unicast scheduling of unit-time jobs. </a:t>
            </a:r>
            <a:endParaRPr lang="en-US" dirty="0"/>
          </a:p>
          <a:p>
            <a:pPr marL="285750" indent="-285750" algn="just">
              <a:buFont typeface="Courier New" panose="02070309020205020404" pitchFamily="49" charset="0"/>
              <a:buChar char="o"/>
            </a:pPr>
            <a:endParaRPr lang="en-US" dirty="0"/>
          </a:p>
          <a:p>
            <a:pPr algn="just"/>
            <a:endParaRPr lang="en-US" dirty="0"/>
          </a:p>
        </p:txBody>
      </p:sp>
    </p:spTree>
    <p:extLst>
      <p:ext uri="{BB962C8B-B14F-4D97-AF65-F5344CB8AC3E}">
        <p14:creationId xmlns:p14="http://schemas.microsoft.com/office/powerpoint/2010/main" val="2636006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DB23C2B-2054-4D8B-9E98-9190F8E05E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8797B5BC-9873-45F9-97D6-298FB5AF0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0" y="762000"/>
            <a:ext cx="4208489" cy="5334001"/>
          </a:xfrm>
          <a:custGeom>
            <a:avLst/>
            <a:gdLst>
              <a:gd name="connsiteX0" fmla="*/ 1015642 w 4208489"/>
              <a:gd name="connsiteY0" fmla="*/ 0 h 5334001"/>
              <a:gd name="connsiteX1" fmla="*/ 4208489 w 4208489"/>
              <a:gd name="connsiteY1" fmla="*/ 0 h 5334001"/>
              <a:gd name="connsiteX2" fmla="*/ 4208489 w 4208489"/>
              <a:gd name="connsiteY2" fmla="*/ 5334001 h 5334001"/>
              <a:gd name="connsiteX3" fmla="*/ 0 w 4208489"/>
              <a:gd name="connsiteY3" fmla="*/ 5334001 h 5334001"/>
            </a:gdLst>
            <a:ahLst/>
            <a:cxnLst>
              <a:cxn ang="0">
                <a:pos x="connsiteX0" y="connsiteY0"/>
              </a:cxn>
              <a:cxn ang="0">
                <a:pos x="connsiteX1" y="connsiteY1"/>
              </a:cxn>
              <a:cxn ang="0">
                <a:pos x="connsiteX2" y="connsiteY2"/>
              </a:cxn>
              <a:cxn ang="0">
                <a:pos x="connsiteX3" y="connsiteY3"/>
              </a:cxn>
            </a:cxnLst>
            <a:rect l="l" t="t" r="r" b="b"/>
            <a:pathLst>
              <a:path w="4208489" h="5334001">
                <a:moveTo>
                  <a:pt x="1015642" y="0"/>
                </a:moveTo>
                <a:lnTo>
                  <a:pt x="4208489" y="0"/>
                </a:lnTo>
                <a:lnTo>
                  <a:pt x="4208489" y="5334001"/>
                </a:lnTo>
                <a:lnTo>
                  <a:pt x="0" y="533400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5CB3996-45E9-0A45-B574-B0BBCB685B12}"/>
              </a:ext>
            </a:extLst>
          </p:cNvPr>
          <p:cNvSpPr>
            <a:spLocks noGrp="1"/>
          </p:cNvSpPr>
          <p:nvPr>
            <p:ph type="title"/>
          </p:nvPr>
        </p:nvSpPr>
        <p:spPr>
          <a:xfrm>
            <a:off x="494260" y="1683144"/>
            <a:ext cx="2774922" cy="3491712"/>
          </a:xfrm>
        </p:spPr>
        <p:txBody>
          <a:bodyPr>
            <a:normAutofit/>
          </a:bodyPr>
          <a:lstStyle/>
          <a:p>
            <a:r>
              <a:rPr lang="en-US" dirty="0"/>
              <a:t>Minimizing the Maximum Response Time </a:t>
            </a:r>
            <a:br>
              <a:rPr lang="en-US" dirty="0"/>
            </a:br>
            <a:endParaRPr lang="en-US" dirty="0"/>
          </a:p>
        </p:txBody>
      </p:sp>
      <p:sp>
        <p:nvSpPr>
          <p:cNvPr id="3" name="Text Placeholder 2">
            <a:extLst>
              <a:ext uri="{FF2B5EF4-FFF2-40B4-BE49-F238E27FC236}">
                <a16:creationId xmlns:a16="http://schemas.microsoft.com/office/drawing/2014/main" id="{EDB2D04F-088B-2846-9981-5FBDE8E307E9}"/>
              </a:ext>
            </a:extLst>
          </p:cNvPr>
          <p:cNvSpPr>
            <a:spLocks noGrp="1"/>
          </p:cNvSpPr>
          <p:nvPr>
            <p:ph idx="1"/>
          </p:nvPr>
        </p:nvSpPr>
        <p:spPr>
          <a:xfrm>
            <a:off x="4361606" y="1270661"/>
            <a:ext cx="6627377" cy="3904196"/>
          </a:xfrm>
        </p:spPr>
        <p:txBody>
          <a:bodyPr>
            <a:normAutofit/>
          </a:bodyPr>
          <a:lstStyle/>
          <a:p>
            <a:r>
              <a:rPr lang="en-US" dirty="0"/>
              <a:t>In this section we analyze FIFO for minimizing maximum response time when page sizes are different. We first describe the algorithm FIFO </a:t>
            </a:r>
          </a:p>
          <a:p>
            <a:r>
              <a:rPr lang="en-US" dirty="0"/>
              <a:t>FIFO begins broadcasting page p at time t. At any time during this broadcast, we will say that </a:t>
            </a:r>
            <a:r>
              <a:rPr lang="en-US" dirty="0" err="1"/>
              <a:t>J</a:t>
            </a:r>
            <a:r>
              <a:rPr lang="en-US" baseline="-25000" dirty="0" err="1"/>
              <a:t>p,i</a:t>
            </a:r>
            <a:r>
              <a:rPr lang="en-US" dirty="0"/>
              <a:t> </a:t>
            </a:r>
            <a:r>
              <a:rPr lang="en-US" i="1" dirty="0"/>
              <a:t>forced </a:t>
            </a:r>
            <a:r>
              <a:rPr lang="en-US" dirty="0"/>
              <a:t>FIFO to broadcast page p at this time. When broadcasting a page p all requests for page p that arrived before the start of the broadcast are simultaneously satisfied when the broadcast completes. </a:t>
            </a:r>
          </a:p>
          <a:p>
            <a:r>
              <a:rPr lang="en-US" dirty="0"/>
              <a:t>Any request for page p that arrive during the broadcast are not satisfied until the next full transmission of p.</a:t>
            </a:r>
          </a:p>
        </p:txBody>
      </p:sp>
      <p:sp>
        <p:nvSpPr>
          <p:cNvPr id="12" name="Freeform: Shape 11">
            <a:extLst>
              <a:ext uri="{FF2B5EF4-FFF2-40B4-BE49-F238E27FC236}">
                <a16:creationId xmlns:a16="http://schemas.microsoft.com/office/drawing/2014/main" id="{665C2FCD-09A4-4B4B-AA73-F330DFE917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1190517" y="1056875"/>
            <a:ext cx="1001483" cy="4744251"/>
          </a:xfrm>
          <a:custGeom>
            <a:avLst/>
            <a:gdLst>
              <a:gd name="connsiteX0" fmla="*/ 0 w 1001483"/>
              <a:gd name="connsiteY0" fmla="*/ 0 h 4744251"/>
              <a:gd name="connsiteX1" fmla="*/ 1001483 w 1001483"/>
              <a:gd name="connsiteY1" fmla="*/ 0 h 4744251"/>
              <a:gd name="connsiteX2" fmla="*/ 0 w 1001483"/>
              <a:gd name="connsiteY2" fmla="*/ 4744251 h 4744251"/>
            </a:gdLst>
            <a:ahLst/>
            <a:cxnLst>
              <a:cxn ang="0">
                <a:pos x="connsiteX0" y="connsiteY0"/>
              </a:cxn>
              <a:cxn ang="0">
                <a:pos x="connsiteX1" y="connsiteY1"/>
              </a:cxn>
              <a:cxn ang="0">
                <a:pos x="connsiteX2" y="connsiteY2"/>
              </a:cxn>
            </a:cxnLst>
            <a:rect l="l" t="t" r="r" b="b"/>
            <a:pathLst>
              <a:path w="1001483" h="4744251">
                <a:moveTo>
                  <a:pt x="0" y="0"/>
                </a:moveTo>
                <a:lnTo>
                  <a:pt x="1001483" y="0"/>
                </a:lnTo>
                <a:lnTo>
                  <a:pt x="0" y="474425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997568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7B453F-BEB7-3A4B-8391-7888E96D4C13}"/>
              </a:ext>
            </a:extLst>
          </p:cNvPr>
          <p:cNvSpPr txBox="1"/>
          <p:nvPr/>
        </p:nvSpPr>
        <p:spPr>
          <a:xfrm>
            <a:off x="651163" y="394692"/>
            <a:ext cx="11093533" cy="3139321"/>
          </a:xfrm>
          <a:prstGeom prst="rect">
            <a:avLst/>
          </a:prstGeom>
          <a:noFill/>
        </p:spPr>
        <p:txBody>
          <a:bodyPr wrap="square" rtlCol="0">
            <a:spAutoFit/>
          </a:bodyPr>
          <a:lstStyle/>
          <a:p>
            <a:pPr marL="285750" indent="-285750" algn="just">
              <a:buFont typeface="Courier New" panose="02070309020205020404" pitchFamily="49" charset="0"/>
              <a:buChar char="o"/>
            </a:pPr>
            <a:r>
              <a:rPr lang="en-US" dirty="0"/>
              <a:t>Lemma 2.1. OPT </a:t>
            </a:r>
            <a:r>
              <a:rPr lang="en-US" i="1" dirty="0"/>
              <a:t>cannot merge any two requests in </a:t>
            </a:r>
            <a:r>
              <a:rPr lang="en-US" dirty="0"/>
              <a:t>J1 </a:t>
            </a:r>
            <a:r>
              <a:rPr lang="en-US" i="1" dirty="0"/>
              <a:t>into a single broadcast. </a:t>
            </a:r>
            <a:endParaRPr lang="en-US" dirty="0"/>
          </a:p>
          <a:p>
            <a:pPr marL="285750" indent="-285750" algn="just">
              <a:buFont typeface="Courier New" panose="02070309020205020404" pitchFamily="49" charset="0"/>
              <a:buChar char="o"/>
            </a:pPr>
            <a:endParaRPr lang="en-US" dirty="0"/>
          </a:p>
          <a:p>
            <a:pPr marL="285750" indent="-285750" algn="just">
              <a:buFont typeface="Courier New" panose="02070309020205020404" pitchFamily="49" charset="0"/>
              <a:buChar char="o"/>
            </a:pPr>
            <a:r>
              <a:rPr lang="en-US" dirty="0"/>
              <a:t>Lemma 2.2. </a:t>
            </a:r>
            <a:r>
              <a:rPr lang="en-US" i="1" dirty="0"/>
              <a:t>All requests in </a:t>
            </a:r>
            <a:r>
              <a:rPr lang="en-US" dirty="0"/>
              <a:t>JI </a:t>
            </a:r>
            <a:r>
              <a:rPr lang="en-US" i="1" dirty="0"/>
              <a:t>arrived no earlier than time </a:t>
            </a:r>
            <a:r>
              <a:rPr lang="en-US" dirty="0"/>
              <a:t>t1 − </a:t>
            </a:r>
            <a:r>
              <a:rPr lang="el-GR" dirty="0"/>
              <a:t>ρ </a:t>
            </a:r>
            <a:r>
              <a:rPr lang="el-GR" i="1" dirty="0"/>
              <a:t>. </a:t>
            </a:r>
            <a:endParaRPr lang="el-GR" dirty="0"/>
          </a:p>
          <a:p>
            <a:pPr marL="285750" indent="-285750" algn="just">
              <a:buFont typeface="Courier New" panose="02070309020205020404" pitchFamily="49" charset="0"/>
              <a:buChar char="o"/>
            </a:pPr>
            <a:endParaRPr lang="en-US" dirty="0"/>
          </a:p>
          <a:p>
            <a:r>
              <a:rPr lang="en-US" i="1" dirty="0"/>
              <a:t>Proof. </a:t>
            </a:r>
            <a:r>
              <a:rPr lang="en-US" dirty="0"/>
              <a:t>For the sake of contradiction, suppose some request </a:t>
            </a:r>
            <a:r>
              <a:rPr lang="en-US" dirty="0" err="1"/>
              <a:t>J</a:t>
            </a:r>
            <a:r>
              <a:rPr lang="en-US" baseline="-25000" dirty="0" err="1"/>
              <a:t>p,i</a:t>
            </a:r>
            <a:r>
              <a:rPr lang="en-US" baseline="-25000" dirty="0"/>
              <a:t> </a:t>
            </a:r>
            <a:r>
              <a:rPr lang="en-US" dirty="0"/>
              <a:t>∈ J1 arrived at time </a:t>
            </a:r>
            <a:r>
              <a:rPr lang="en-US" dirty="0" err="1"/>
              <a:t>a</a:t>
            </a:r>
            <a:r>
              <a:rPr lang="en-US" baseline="-25000" dirty="0" err="1"/>
              <a:t>p,i</a:t>
            </a:r>
            <a:r>
              <a:rPr lang="en-US" dirty="0"/>
              <a:t> &lt; t1 − </a:t>
            </a:r>
            <a:r>
              <a:rPr lang="el-GR" dirty="0"/>
              <a:t>ρ</a:t>
            </a:r>
            <a:r>
              <a:rPr lang="en-US" baseline="30000" dirty="0"/>
              <a:t>*</a:t>
            </a:r>
            <a:r>
              <a:rPr lang="el-GR" dirty="0"/>
              <a:t> . </a:t>
            </a:r>
            <a:endParaRPr lang="en-US" dirty="0"/>
          </a:p>
          <a:p>
            <a:endParaRPr lang="el-GR" dirty="0"/>
          </a:p>
          <a:p>
            <a:r>
              <a:rPr lang="en-US" dirty="0"/>
              <a:t>During the interval [</a:t>
            </a:r>
            <a:r>
              <a:rPr lang="en-US" dirty="0" err="1"/>
              <a:t>a</a:t>
            </a:r>
            <a:r>
              <a:rPr lang="en-US" baseline="-25000" dirty="0" err="1"/>
              <a:t>p,i</a:t>
            </a:r>
            <a:r>
              <a:rPr lang="en-US" dirty="0"/>
              <a:t> + </a:t>
            </a:r>
            <a:r>
              <a:rPr lang="el-GR" dirty="0"/>
              <a:t>ρ</a:t>
            </a:r>
            <a:r>
              <a:rPr lang="en-US" baseline="30000" dirty="0"/>
              <a:t>*</a:t>
            </a:r>
            <a:r>
              <a:rPr lang="el-GR" dirty="0"/>
              <a:t> , </a:t>
            </a:r>
            <a:r>
              <a:rPr lang="en-US" dirty="0"/>
              <a:t>t1] the request </a:t>
            </a:r>
            <a:r>
              <a:rPr lang="en-US" dirty="0" err="1"/>
              <a:t>Jp,i</a:t>
            </a:r>
            <a:r>
              <a:rPr lang="en-US" dirty="0"/>
              <a:t> must have wait time at least </a:t>
            </a:r>
            <a:r>
              <a:rPr lang="el-GR" dirty="0"/>
              <a:t>ρ</a:t>
            </a:r>
            <a:r>
              <a:rPr lang="en-US" dirty="0"/>
              <a:t>*</a:t>
            </a:r>
            <a:r>
              <a:rPr lang="el-GR" dirty="0"/>
              <a:t> . </a:t>
            </a:r>
            <a:r>
              <a:rPr lang="en-US" dirty="0"/>
              <a:t>However, then any request which forces FIFO to broadcast during [</a:t>
            </a:r>
            <a:r>
              <a:rPr lang="en-US" dirty="0" err="1"/>
              <a:t>a</a:t>
            </a:r>
            <a:r>
              <a:rPr lang="en-US" baseline="-25000" dirty="0" err="1"/>
              <a:t>p,i</a:t>
            </a:r>
            <a:r>
              <a:rPr lang="en-US" dirty="0"/>
              <a:t> + </a:t>
            </a:r>
            <a:r>
              <a:rPr lang="el-GR" dirty="0"/>
              <a:t>ρ</a:t>
            </a:r>
            <a:r>
              <a:rPr lang="el-GR" baseline="30000" dirty="0"/>
              <a:t>∗</a:t>
            </a:r>
            <a:r>
              <a:rPr lang="el-GR" dirty="0"/>
              <a:t>, </a:t>
            </a:r>
            <a:r>
              <a:rPr lang="en-US" dirty="0"/>
              <a:t>t1] must have response time at least </a:t>
            </a:r>
            <a:r>
              <a:rPr lang="el-GR" dirty="0"/>
              <a:t>ρ</a:t>
            </a:r>
            <a:r>
              <a:rPr lang="el-GR" baseline="30000" dirty="0"/>
              <a:t>∗</a:t>
            </a:r>
            <a:r>
              <a:rPr lang="el-GR" dirty="0"/>
              <a:t>, </a:t>
            </a:r>
            <a:r>
              <a:rPr lang="en-US" dirty="0"/>
              <a:t>contradicting the definition of t1.</a:t>
            </a:r>
          </a:p>
          <a:p>
            <a:endParaRPr lang="en-US" dirty="0"/>
          </a:p>
          <a:p>
            <a:r>
              <a:rPr lang="en-US" dirty="0"/>
              <a:t> </a:t>
            </a:r>
          </a:p>
          <a:p>
            <a:pPr algn="just"/>
            <a:endParaRPr lang="en-US" dirty="0"/>
          </a:p>
        </p:txBody>
      </p:sp>
      <p:pic>
        <p:nvPicPr>
          <p:cNvPr id="5" name="Picture 4">
            <a:extLst>
              <a:ext uri="{FF2B5EF4-FFF2-40B4-BE49-F238E27FC236}">
                <a16:creationId xmlns:a16="http://schemas.microsoft.com/office/drawing/2014/main" id="{B8027A65-927A-D044-B65B-9DEFC1E74C75}"/>
              </a:ext>
            </a:extLst>
          </p:cNvPr>
          <p:cNvPicPr>
            <a:picLocks noChangeAspect="1"/>
          </p:cNvPicPr>
          <p:nvPr/>
        </p:nvPicPr>
        <p:blipFill>
          <a:blip r:embed="rId2"/>
          <a:stretch>
            <a:fillRect/>
          </a:stretch>
        </p:blipFill>
        <p:spPr>
          <a:xfrm>
            <a:off x="1739900" y="3277754"/>
            <a:ext cx="8712200" cy="2463800"/>
          </a:xfrm>
          <a:prstGeom prst="rect">
            <a:avLst/>
          </a:prstGeom>
        </p:spPr>
      </p:pic>
    </p:spTree>
    <p:extLst>
      <p:ext uri="{BB962C8B-B14F-4D97-AF65-F5344CB8AC3E}">
        <p14:creationId xmlns:p14="http://schemas.microsoft.com/office/powerpoint/2010/main" val="21272149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0516254-1D9F-4F3A-9870-3A3280BE2B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F5CB3996-45E9-0A45-B574-B0BBCB685B12}"/>
              </a:ext>
            </a:extLst>
          </p:cNvPr>
          <p:cNvSpPr>
            <a:spLocks noGrp="1"/>
          </p:cNvSpPr>
          <p:nvPr>
            <p:ph type="title"/>
          </p:nvPr>
        </p:nvSpPr>
        <p:spPr>
          <a:xfrm>
            <a:off x="1539116" y="864108"/>
            <a:ext cx="3073914" cy="5120639"/>
          </a:xfrm>
        </p:spPr>
        <p:txBody>
          <a:bodyPr>
            <a:normAutofit/>
          </a:bodyPr>
          <a:lstStyle/>
          <a:p>
            <a:pPr algn="r"/>
            <a:r>
              <a:rPr lang="en-US">
                <a:solidFill>
                  <a:schemeClr val="tx1">
                    <a:lumMod val="85000"/>
                    <a:lumOff val="15000"/>
                  </a:schemeClr>
                </a:solidFill>
              </a:rPr>
              <a:t>Minimizing Maximum Delay Factor and Weighted Response time </a:t>
            </a:r>
            <a:br>
              <a:rPr lang="en-US">
                <a:solidFill>
                  <a:schemeClr val="tx1">
                    <a:lumMod val="85000"/>
                    <a:lumOff val="15000"/>
                  </a:schemeClr>
                </a:solidFill>
              </a:rPr>
            </a:br>
            <a:br>
              <a:rPr lang="en-US">
                <a:solidFill>
                  <a:schemeClr val="tx1">
                    <a:lumMod val="85000"/>
                    <a:lumOff val="15000"/>
                  </a:schemeClr>
                </a:solidFill>
              </a:rPr>
            </a:br>
            <a:endParaRPr lang="en-US">
              <a:solidFill>
                <a:schemeClr val="tx1">
                  <a:lumMod val="85000"/>
                  <a:lumOff val="15000"/>
                </a:schemeClr>
              </a:solidFill>
            </a:endParaRPr>
          </a:p>
        </p:txBody>
      </p:sp>
      <p:sp>
        <p:nvSpPr>
          <p:cNvPr id="10" name="Rectangle 9">
            <a:extLst>
              <a:ext uri="{FF2B5EF4-FFF2-40B4-BE49-F238E27FC236}">
                <a16:creationId xmlns:a16="http://schemas.microsoft.com/office/drawing/2014/main" id="{FC14672B-27A5-4CDA-ABAF-5E4CF4B41C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1286934"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a:extLst>
              <a:ext uri="{FF2B5EF4-FFF2-40B4-BE49-F238E27FC236}">
                <a16:creationId xmlns:a16="http://schemas.microsoft.com/office/drawing/2014/main" id="{8D89589C-2C90-4407-A995-05EC3DD7AB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51129" y="2085681"/>
            <a:ext cx="0" cy="2686639"/>
          </a:xfrm>
          <a:prstGeom prst="line">
            <a:avLst/>
          </a:prstGeom>
          <a:ln w="127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7" name="Text Placeholder 2">
            <a:extLst>
              <a:ext uri="{FF2B5EF4-FFF2-40B4-BE49-F238E27FC236}">
                <a16:creationId xmlns:a16="http://schemas.microsoft.com/office/drawing/2014/main" id="{EDB2D04F-088B-2846-9981-5FBDE8E307E9}"/>
              </a:ext>
            </a:extLst>
          </p:cNvPr>
          <p:cNvSpPr>
            <a:spLocks noGrp="1"/>
          </p:cNvSpPr>
          <p:nvPr>
            <p:ph idx="1"/>
          </p:nvPr>
        </p:nvSpPr>
        <p:spPr>
          <a:xfrm>
            <a:off x="5289229" y="864108"/>
            <a:ext cx="5910677" cy="5120640"/>
          </a:xfrm>
        </p:spPr>
        <p:txBody>
          <a:bodyPr>
            <a:normAutofit/>
          </a:bodyPr>
          <a:lstStyle/>
          <a:p>
            <a:r>
              <a:rPr lang="en-US" dirty="0"/>
              <a:t>Unit Sized Pages </a:t>
            </a:r>
          </a:p>
          <a:p>
            <a:endParaRPr lang="en-US" dirty="0"/>
          </a:p>
          <a:p>
            <a:r>
              <a:rPr lang="en-US" dirty="0"/>
              <a:t>Weighted Response Time and Weighed Delay Factor</a:t>
            </a:r>
            <a:br>
              <a:rPr lang="en-US" dirty="0"/>
            </a:br>
            <a:endParaRPr lang="en-US" dirty="0"/>
          </a:p>
          <a:p>
            <a:r>
              <a:rPr lang="en-US" dirty="0"/>
              <a:t>Varying Sized Pages </a:t>
            </a:r>
          </a:p>
          <a:p>
            <a:endParaRPr lang="en-US" dirty="0"/>
          </a:p>
        </p:txBody>
      </p:sp>
      <p:sp>
        <p:nvSpPr>
          <p:cNvPr id="14" name="Rectangle 13">
            <a:extLst>
              <a:ext uri="{FF2B5EF4-FFF2-40B4-BE49-F238E27FC236}">
                <a16:creationId xmlns:a16="http://schemas.microsoft.com/office/drawing/2014/main" id="{9A206779-5C74-4555-94BC-5845C92EC3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683988" y="767825"/>
            <a:ext cx="508012" cy="5328173"/>
          </a:xfrm>
          <a:prstGeom prst="rect">
            <a:avLst/>
          </a:prstGeom>
          <a:solidFill>
            <a:srgbClr val="C8C8C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95817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626DA-779A-CF48-9E5E-0B95BF1B65E4}"/>
              </a:ext>
            </a:extLst>
          </p:cNvPr>
          <p:cNvSpPr>
            <a:spLocks noGrp="1"/>
          </p:cNvSpPr>
          <p:nvPr>
            <p:ph type="title"/>
          </p:nvPr>
        </p:nvSpPr>
        <p:spPr/>
        <p:txBody>
          <a:bodyPr/>
          <a:lstStyle/>
          <a:p>
            <a:r>
              <a:rPr lang="en-US" dirty="0"/>
              <a:t>Unit Sized Pages </a:t>
            </a:r>
            <a:br>
              <a:rPr lang="en-US" dirty="0"/>
            </a:br>
            <a:endParaRPr lang="en-US" dirty="0"/>
          </a:p>
        </p:txBody>
      </p:sp>
      <p:sp>
        <p:nvSpPr>
          <p:cNvPr id="3" name="Content Placeholder 2">
            <a:extLst>
              <a:ext uri="{FF2B5EF4-FFF2-40B4-BE49-F238E27FC236}">
                <a16:creationId xmlns:a16="http://schemas.microsoft.com/office/drawing/2014/main" id="{5BF5F19C-CB24-2345-9428-49ADE2E1FE39}"/>
              </a:ext>
            </a:extLst>
          </p:cNvPr>
          <p:cNvSpPr>
            <a:spLocks noGrp="1"/>
          </p:cNvSpPr>
          <p:nvPr>
            <p:ph idx="1"/>
          </p:nvPr>
        </p:nvSpPr>
        <p:spPr/>
        <p:txBody>
          <a:bodyPr/>
          <a:lstStyle/>
          <a:p>
            <a:r>
              <a:rPr lang="en-US" dirty="0"/>
              <a:t>In this section we consider the problem of minimizing the maximum delay factor when all pages are of unit size. </a:t>
            </a:r>
          </a:p>
          <a:p>
            <a:r>
              <a:rPr lang="en-US" dirty="0"/>
              <a:t>In the standard unicast scheduling setting where each broadcast satisfies exactly one request, it is known that the algorithm which always schedules the request with smallest slack at any time is (1 + </a:t>
            </a:r>
            <a:r>
              <a:rPr lang="el-GR" dirty="0"/>
              <a:t>ε)-</a:t>
            </a:r>
            <a:r>
              <a:rPr lang="en-US" dirty="0"/>
              <a:t>speed O( 1/</a:t>
            </a:r>
            <a:r>
              <a:rPr lang="el-GR" dirty="0"/>
              <a:t>ε )-</a:t>
            </a:r>
            <a:r>
              <a:rPr lang="en-US" dirty="0"/>
              <a:t>competitive [12]. </a:t>
            </a:r>
          </a:p>
          <a:p>
            <a:r>
              <a:rPr lang="en-US" dirty="0"/>
              <a:t>However, in the broadcast setting this algorithm, along with other simple greedy algorithms, do not provide constant competitive ratios even with extra speed. </a:t>
            </a:r>
          </a:p>
          <a:p>
            <a:r>
              <a:rPr lang="en-US" dirty="0"/>
              <a:t>The reason for this is that the adversary can force these algorithm to repeatedly broadcast the same page even though the adversary can satisfy each of these requests in a singe broadcast. </a:t>
            </a:r>
          </a:p>
          <a:p>
            <a:r>
              <a:rPr lang="en-US" dirty="0"/>
              <a:t>Due to this, we consider a more sophisticated algorithm called SSF-W (Shortest-Slack-First with Waiting). </a:t>
            </a:r>
          </a:p>
          <a:p>
            <a:endParaRPr lang="en-US" dirty="0"/>
          </a:p>
        </p:txBody>
      </p:sp>
    </p:spTree>
    <p:extLst>
      <p:ext uri="{BB962C8B-B14F-4D97-AF65-F5344CB8AC3E}">
        <p14:creationId xmlns:p14="http://schemas.microsoft.com/office/powerpoint/2010/main" val="3448468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Rectangle 20">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Rectangle 22">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31" name="Rectangle 24">
            <a:extLst>
              <a:ext uri="{FF2B5EF4-FFF2-40B4-BE49-F238E27FC236}">
                <a16:creationId xmlns:a16="http://schemas.microsoft.com/office/drawing/2014/main" id="{9203ABB4-7E2A-4248-9FE7-4A419AFF2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26">
            <a:extLst>
              <a:ext uri="{FF2B5EF4-FFF2-40B4-BE49-F238E27FC236}">
                <a16:creationId xmlns:a16="http://schemas.microsoft.com/office/drawing/2014/main" id="{3126970D-C1E5-4FB1-84E8-86CB9CED1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68767DC8-A88F-2243-885D-92331EFEAEF7}"/>
              </a:ext>
            </a:extLst>
          </p:cNvPr>
          <p:cNvSpPr>
            <a:spLocks noGrp="1"/>
          </p:cNvSpPr>
          <p:nvPr>
            <p:ph type="title"/>
          </p:nvPr>
        </p:nvSpPr>
        <p:spPr>
          <a:xfrm>
            <a:off x="1069848" y="4590661"/>
            <a:ext cx="10210862" cy="1065690"/>
          </a:xfrm>
        </p:spPr>
        <p:txBody>
          <a:bodyPr vert="horz" lIns="91440" tIns="45720" rIns="91440" bIns="45720" rtlCol="0" anchor="b">
            <a:normAutofit/>
          </a:bodyPr>
          <a:lstStyle/>
          <a:p>
            <a:r>
              <a:rPr lang="en-US" sz="5900" spc="-100"/>
              <a:t>SSF-W Algorithm</a:t>
            </a:r>
          </a:p>
        </p:txBody>
      </p:sp>
      <p:pic>
        <p:nvPicPr>
          <p:cNvPr id="4" name="Content Placeholder 3">
            <a:extLst>
              <a:ext uri="{FF2B5EF4-FFF2-40B4-BE49-F238E27FC236}">
                <a16:creationId xmlns:a16="http://schemas.microsoft.com/office/drawing/2014/main" id="{BD9ABB15-370A-C14E-82C1-858E2583F1ED}"/>
              </a:ext>
            </a:extLst>
          </p:cNvPr>
          <p:cNvPicPr>
            <a:picLocks noGrp="1" noChangeAspect="1"/>
          </p:cNvPicPr>
          <p:nvPr>
            <p:ph idx="1"/>
          </p:nvPr>
        </p:nvPicPr>
        <p:blipFill>
          <a:blip r:embed="rId2"/>
          <a:stretch>
            <a:fillRect/>
          </a:stretch>
        </p:blipFill>
        <p:spPr>
          <a:xfrm>
            <a:off x="1069847" y="1225852"/>
            <a:ext cx="10637520" cy="2074314"/>
          </a:xfrm>
          <a:prstGeom prst="rect">
            <a:avLst/>
          </a:prstGeom>
        </p:spPr>
      </p:pic>
    </p:spTree>
    <p:extLst>
      <p:ext uri="{BB962C8B-B14F-4D97-AF65-F5344CB8AC3E}">
        <p14:creationId xmlns:p14="http://schemas.microsoft.com/office/powerpoint/2010/main" val="34858023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AEAB7D-E4BC-CF4B-AC55-DD8D8D5F7B38}"/>
              </a:ext>
            </a:extLst>
          </p:cNvPr>
          <p:cNvSpPr txBox="1"/>
          <p:nvPr/>
        </p:nvSpPr>
        <p:spPr>
          <a:xfrm>
            <a:off x="710540" y="549072"/>
            <a:ext cx="11093533" cy="5909310"/>
          </a:xfrm>
          <a:prstGeom prst="rect">
            <a:avLst/>
          </a:prstGeom>
          <a:noFill/>
        </p:spPr>
        <p:txBody>
          <a:bodyPr wrap="square" rtlCol="0">
            <a:spAutoFit/>
          </a:bodyPr>
          <a:lstStyle/>
          <a:p>
            <a:pPr marL="285750" indent="-285750">
              <a:buFont typeface="Courier New" panose="02070309020205020404" pitchFamily="49" charset="0"/>
              <a:buChar char="o"/>
            </a:pPr>
            <a:r>
              <a:rPr lang="en-US" dirty="0"/>
              <a:t>Lemma 3.1. OPT </a:t>
            </a:r>
            <a:r>
              <a:rPr lang="en-US" i="1" dirty="0"/>
              <a:t>cannot merge any two requests in </a:t>
            </a:r>
            <a:r>
              <a:rPr lang="en-US" dirty="0"/>
              <a:t>J1 </a:t>
            </a:r>
            <a:r>
              <a:rPr lang="en-US" i="1" dirty="0"/>
              <a:t>into a single broadcast.</a:t>
            </a:r>
          </a:p>
          <a:p>
            <a:pPr marL="285750" indent="-285750">
              <a:buFont typeface="Courier New" panose="02070309020205020404" pitchFamily="49" charset="0"/>
              <a:buChar char="o"/>
            </a:pPr>
            <a:endParaRPr lang="en-US" i="1" dirty="0"/>
          </a:p>
          <a:p>
            <a:pPr marL="285750" indent="-285750">
              <a:buFont typeface="Courier New" panose="02070309020205020404" pitchFamily="49" charset="0"/>
              <a:buChar char="o"/>
            </a:pPr>
            <a:r>
              <a:rPr lang="en-US" dirty="0"/>
              <a:t>Lemma3.2.|I|=|[t1,t</a:t>
            </a:r>
            <a:r>
              <a:rPr lang="en-US" baseline="30000" dirty="0"/>
              <a:t>*</a:t>
            </a:r>
            <a:r>
              <a:rPr lang="en-US" dirty="0"/>
              <a:t>]|≥(c</a:t>
            </a:r>
            <a:r>
              <a:rPr lang="en-US" baseline="30000" dirty="0"/>
              <a:t>2</a:t>
            </a:r>
            <a:r>
              <a:rPr lang="en-US" dirty="0"/>
              <a:t> −c)</a:t>
            </a:r>
            <a:r>
              <a:rPr lang="en-US" dirty="0" err="1"/>
              <a:t>S</a:t>
            </a:r>
            <a:r>
              <a:rPr lang="en-US" baseline="-25000" dirty="0" err="1"/>
              <a:t>q,k</a:t>
            </a:r>
            <a:r>
              <a:rPr lang="el-GR" dirty="0"/>
              <a:t>α</a:t>
            </a:r>
            <a:r>
              <a:rPr lang="en-US" baseline="30000" dirty="0"/>
              <a:t>*</a:t>
            </a:r>
            <a:r>
              <a:rPr lang="el-GR" i="1" dirty="0"/>
              <a:t>. </a:t>
            </a:r>
            <a:endParaRPr lang="en-US" i="1" dirty="0"/>
          </a:p>
          <a:p>
            <a:pPr marL="285750" indent="-285750">
              <a:buFont typeface="Courier New" panose="02070309020205020404" pitchFamily="49" charset="0"/>
              <a:buChar char="o"/>
            </a:pPr>
            <a:endParaRPr lang="en-US" i="1" dirty="0"/>
          </a:p>
          <a:p>
            <a:pPr marL="285750" indent="-285750">
              <a:buFont typeface="Courier New" panose="02070309020205020404" pitchFamily="49" charset="0"/>
              <a:buChar char="o"/>
            </a:pPr>
            <a:r>
              <a:rPr lang="en-US" dirty="0"/>
              <a:t>Lemma 3.3. </a:t>
            </a:r>
            <a:r>
              <a:rPr lang="en-US" i="1" dirty="0"/>
              <a:t>Any request in </a:t>
            </a:r>
            <a:r>
              <a:rPr lang="en-US" dirty="0"/>
              <a:t>JI </a:t>
            </a:r>
            <a:r>
              <a:rPr lang="en-US" i="1" dirty="0"/>
              <a:t>must have arrived after time </a:t>
            </a:r>
            <a:r>
              <a:rPr lang="en-US" dirty="0"/>
              <a:t>t1 − 2 </a:t>
            </a:r>
            <a:r>
              <a:rPr lang="en-US" dirty="0" err="1"/>
              <a:t>S</a:t>
            </a:r>
            <a:r>
              <a:rPr lang="en-US" baseline="-25000" dirty="0" err="1"/>
              <a:t>q,k</a:t>
            </a:r>
            <a:r>
              <a:rPr lang="el-GR" dirty="0"/>
              <a:t>α</a:t>
            </a:r>
            <a:r>
              <a:rPr lang="en-US" baseline="30000" dirty="0"/>
              <a:t>*</a:t>
            </a:r>
            <a:r>
              <a:rPr lang="en-US" dirty="0"/>
              <a:t>c</a:t>
            </a:r>
            <a:r>
              <a:rPr lang="en-US" i="1" dirty="0"/>
              <a:t>.</a:t>
            </a:r>
          </a:p>
          <a:p>
            <a:pPr marL="285750" indent="-285750">
              <a:buFont typeface="Courier New" panose="02070309020205020404" pitchFamily="49" charset="0"/>
              <a:buChar char="o"/>
            </a:pPr>
            <a:endParaRPr lang="en-US" i="1" dirty="0"/>
          </a:p>
          <a:p>
            <a:pPr marL="285750" indent="-285750">
              <a:buFont typeface="Courier New" panose="02070309020205020404" pitchFamily="49" charset="0"/>
              <a:buChar char="o"/>
            </a:pPr>
            <a:r>
              <a:rPr lang="en-US" dirty="0"/>
              <a:t>Lemma3.4. </a:t>
            </a:r>
            <a:r>
              <a:rPr lang="en-US" i="1" dirty="0"/>
              <a:t>Suppose </a:t>
            </a:r>
            <a:r>
              <a:rPr lang="en-US" dirty="0"/>
              <a:t>c </a:t>
            </a:r>
            <a:r>
              <a:rPr lang="en-US" i="1" dirty="0"/>
              <a:t>is a constant </a:t>
            </a:r>
            <a:r>
              <a:rPr lang="en-US" i="1" dirty="0" err="1"/>
              <a:t>s.t.</a:t>
            </a:r>
            <a:r>
              <a:rPr lang="en-US" i="1" dirty="0"/>
              <a:t> </a:t>
            </a:r>
            <a:r>
              <a:rPr lang="en-US" dirty="0"/>
              <a:t>c &gt; 1+2/</a:t>
            </a:r>
            <a:r>
              <a:rPr lang="el-GR" dirty="0"/>
              <a:t>ε</a:t>
            </a:r>
            <a:r>
              <a:rPr lang="el-GR" i="1" dirty="0"/>
              <a:t>.</a:t>
            </a:r>
            <a:r>
              <a:rPr lang="en-US" i="1" dirty="0"/>
              <a:t> If </a:t>
            </a:r>
            <a:r>
              <a:rPr lang="en-US" dirty="0"/>
              <a:t>SSF-W </a:t>
            </a:r>
            <a:r>
              <a:rPr lang="en-US" i="1" dirty="0"/>
              <a:t>has </a:t>
            </a:r>
            <a:r>
              <a:rPr lang="en-US" dirty="0"/>
              <a:t>(1+</a:t>
            </a:r>
            <a:r>
              <a:rPr lang="el-GR" dirty="0"/>
              <a:t>ε)</a:t>
            </a:r>
            <a:r>
              <a:rPr lang="el-GR" i="1" dirty="0"/>
              <a:t>-</a:t>
            </a:r>
            <a:r>
              <a:rPr lang="en-US" i="1" dirty="0"/>
              <a:t>speed then </a:t>
            </a:r>
            <a:r>
              <a:rPr lang="el-GR" dirty="0"/>
              <a:t>α </a:t>
            </a:r>
            <a:r>
              <a:rPr lang="en-US" baseline="30000" dirty="0"/>
              <a:t>SSF-W</a:t>
            </a:r>
            <a:r>
              <a:rPr lang="en-US" dirty="0"/>
              <a:t> ≤c</a:t>
            </a:r>
            <a:r>
              <a:rPr lang="en-US" baseline="30000" dirty="0"/>
              <a:t>2</a:t>
            </a:r>
            <a:r>
              <a:rPr lang="en-US" dirty="0"/>
              <a:t> </a:t>
            </a:r>
            <a:r>
              <a:rPr lang="el-GR" dirty="0"/>
              <a:t>α</a:t>
            </a:r>
            <a:r>
              <a:rPr lang="en-US" baseline="30000" dirty="0"/>
              <a:t>*</a:t>
            </a:r>
            <a:r>
              <a:rPr lang="el-GR" dirty="0"/>
              <a:t> </a:t>
            </a:r>
            <a:r>
              <a:rPr lang="el-GR" i="1" dirty="0"/>
              <a:t>.</a:t>
            </a:r>
            <a:endParaRPr lang="en-US" i="1" dirty="0"/>
          </a:p>
          <a:p>
            <a:pPr marL="285750" indent="-285750">
              <a:buFont typeface="Courier New" panose="02070309020205020404" pitchFamily="49" charset="0"/>
              <a:buChar char="o"/>
            </a:pPr>
            <a:endParaRPr lang="en-US" i="1" dirty="0"/>
          </a:p>
          <a:p>
            <a:pPr marL="285750" indent="-285750">
              <a:buFont typeface="Courier New" panose="02070309020205020404" pitchFamily="49" charset="0"/>
              <a:buChar char="o"/>
            </a:pPr>
            <a:endParaRPr lang="en-US" i="1" dirty="0"/>
          </a:p>
          <a:p>
            <a:r>
              <a:rPr lang="en-US" b="1" dirty="0"/>
              <a:t>Weighted Response Time and Weighed Delay Factor</a:t>
            </a:r>
            <a:br>
              <a:rPr lang="en-US" dirty="0"/>
            </a:br>
            <a:endParaRPr lang="en-US" i="1" dirty="0"/>
          </a:p>
          <a:p>
            <a:pPr marL="285750" indent="-285750" algn="just">
              <a:buFont typeface="Courier New" panose="02070309020205020404" pitchFamily="49" charset="0"/>
              <a:buChar char="o"/>
            </a:pPr>
            <a:r>
              <a:rPr lang="en-US" dirty="0"/>
              <a:t>Before showing that SSF-W is (2 + </a:t>
            </a:r>
            <a:r>
              <a:rPr lang="el-GR" dirty="0"/>
              <a:t>ε)-</a:t>
            </a:r>
            <a:r>
              <a:rPr lang="en-US" dirty="0"/>
              <a:t>speed O( 1/</a:t>
            </a:r>
            <a:r>
              <a:rPr lang="el-GR" dirty="0"/>
              <a:t> ε</a:t>
            </a:r>
            <a:r>
              <a:rPr lang="el-GR" baseline="30000" dirty="0"/>
              <a:t>2</a:t>
            </a:r>
            <a:r>
              <a:rPr lang="en-US" dirty="0"/>
              <a:t> )-competitive for minimizing the maximum delay factor </a:t>
            </a:r>
            <a:br>
              <a:rPr lang="el-GR" dirty="0"/>
            </a:br>
            <a:r>
              <a:rPr lang="en-US" dirty="0"/>
              <a:t>with different sized pages, we show the connection of our analysis of SSF-W to the problem of minimizing </a:t>
            </a:r>
            <a:r>
              <a:rPr lang="en-US" i="1" dirty="0"/>
              <a:t>weighted </a:t>
            </a:r>
            <a:r>
              <a:rPr lang="en-US" dirty="0"/>
              <a:t>response time. In this setting a request </a:t>
            </a:r>
            <a:r>
              <a:rPr lang="en-US" dirty="0" err="1"/>
              <a:t>J</a:t>
            </a:r>
            <a:r>
              <a:rPr lang="en-US" baseline="-25000" dirty="0" err="1"/>
              <a:t>p,i</a:t>
            </a:r>
            <a:r>
              <a:rPr lang="en-US" dirty="0"/>
              <a:t> has a weight </a:t>
            </a:r>
            <a:r>
              <a:rPr lang="en-US" dirty="0" err="1"/>
              <a:t>w</a:t>
            </a:r>
            <a:r>
              <a:rPr lang="en-US" baseline="-25000" dirty="0" err="1"/>
              <a:t>p,i</a:t>
            </a:r>
            <a:r>
              <a:rPr lang="en-US" dirty="0"/>
              <a:t> instead of a slack. </a:t>
            </a:r>
          </a:p>
          <a:p>
            <a:pPr marL="285750" indent="-285750" algn="just">
              <a:buFont typeface="Courier New" panose="02070309020205020404" pitchFamily="49" charset="0"/>
              <a:buChar char="o"/>
            </a:pPr>
            <a:endParaRPr lang="en-US" dirty="0"/>
          </a:p>
          <a:p>
            <a:pPr marL="285750" indent="-285750" algn="just">
              <a:buFont typeface="Courier New" panose="02070309020205020404" pitchFamily="49" charset="0"/>
              <a:buChar char="o"/>
            </a:pPr>
            <a:r>
              <a:rPr lang="en-US" dirty="0"/>
              <a:t>The goal is to minimize the maximum weighted response time </a:t>
            </a:r>
            <a:r>
              <a:rPr lang="en-US" dirty="0" err="1"/>
              <a:t>max</a:t>
            </a:r>
            <a:r>
              <a:rPr lang="en-US" baseline="-25000" dirty="0" err="1"/>
              <a:t>p,i</a:t>
            </a:r>
            <a:r>
              <a:rPr lang="en-US" dirty="0"/>
              <a:t> </a:t>
            </a:r>
            <a:r>
              <a:rPr lang="en-US" dirty="0" err="1"/>
              <a:t>w</a:t>
            </a:r>
            <a:r>
              <a:rPr lang="en-US" baseline="-25000" dirty="0" err="1"/>
              <a:t>p,i</a:t>
            </a:r>
            <a:r>
              <a:rPr lang="en-US" dirty="0"/>
              <a:t>(</a:t>
            </a:r>
            <a:r>
              <a:rPr lang="en-US" dirty="0" err="1"/>
              <a:t>f</a:t>
            </a:r>
            <a:r>
              <a:rPr lang="en-US" baseline="-25000" dirty="0" err="1"/>
              <a:t>p,i</a:t>
            </a:r>
            <a:r>
              <a:rPr lang="en-US" dirty="0"/>
              <a:t> −</a:t>
            </a:r>
            <a:r>
              <a:rPr lang="en-US" dirty="0" err="1"/>
              <a:t>a</a:t>
            </a:r>
            <a:r>
              <a:rPr lang="en-US" baseline="-25000" dirty="0" err="1"/>
              <a:t>p,i</a:t>
            </a:r>
            <a:r>
              <a:rPr lang="en-US" dirty="0"/>
              <a:t>). </a:t>
            </a:r>
          </a:p>
          <a:p>
            <a:pPr marL="285750" indent="-285750" algn="just">
              <a:buFont typeface="Courier New" panose="02070309020205020404" pitchFamily="49" charset="0"/>
              <a:buChar char="o"/>
            </a:pPr>
            <a:endParaRPr lang="en-US" dirty="0"/>
          </a:p>
          <a:p>
            <a:pPr marL="285750" indent="-285750" algn="just">
              <a:buFont typeface="Courier New" panose="02070309020205020404" pitchFamily="49" charset="0"/>
              <a:buChar char="o"/>
            </a:pPr>
            <a:r>
              <a:rPr lang="en-US" dirty="0"/>
              <a:t>We develop an algorithm which we call </a:t>
            </a:r>
            <a:r>
              <a:rPr lang="en-US" b="1" dirty="0"/>
              <a:t>BWF-W(</a:t>
            </a:r>
            <a:r>
              <a:rPr lang="en-US" dirty="0"/>
              <a:t> for </a:t>
            </a:r>
            <a:r>
              <a:rPr lang="en-US" b="1" dirty="0"/>
              <a:t>Biggest-Wait-First with Waiting)</a:t>
            </a:r>
            <a:r>
              <a:rPr lang="en-US" dirty="0"/>
              <a:t>. </a:t>
            </a:r>
          </a:p>
          <a:p>
            <a:pPr marL="285750" indent="-285750" algn="just">
              <a:buFont typeface="Courier New" panose="02070309020205020404" pitchFamily="49" charset="0"/>
              <a:buChar char="o"/>
            </a:pPr>
            <a:endParaRPr lang="en-US" dirty="0"/>
          </a:p>
          <a:p>
            <a:pPr marL="285750" indent="-285750" algn="just">
              <a:buFont typeface="Courier New" panose="02070309020205020404" pitchFamily="49" charset="0"/>
              <a:buChar char="o"/>
            </a:pPr>
            <a:r>
              <a:rPr lang="en-US" dirty="0"/>
              <a:t>This algorithm is defined analogously to the definition of SSF-W. </a:t>
            </a:r>
          </a:p>
          <a:p>
            <a:endParaRPr lang="en-US" dirty="0"/>
          </a:p>
        </p:txBody>
      </p:sp>
    </p:spTree>
    <p:extLst>
      <p:ext uri="{BB962C8B-B14F-4D97-AF65-F5344CB8AC3E}">
        <p14:creationId xmlns:p14="http://schemas.microsoft.com/office/powerpoint/2010/main" val="22460814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24" name="Rectangle 23">
            <a:extLst>
              <a:ext uri="{FF2B5EF4-FFF2-40B4-BE49-F238E27FC236}">
                <a16:creationId xmlns:a16="http://schemas.microsoft.com/office/drawing/2014/main" id="{9203ABB4-7E2A-4248-9FE7-4A419AFF2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126970D-C1E5-4FB1-84E8-86CB9CED1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68767DC8-A88F-2243-885D-92331EFEAEF7}"/>
              </a:ext>
            </a:extLst>
          </p:cNvPr>
          <p:cNvSpPr>
            <a:spLocks noGrp="1"/>
          </p:cNvSpPr>
          <p:nvPr>
            <p:ph type="title"/>
          </p:nvPr>
        </p:nvSpPr>
        <p:spPr>
          <a:xfrm>
            <a:off x="1069848" y="4590661"/>
            <a:ext cx="10210862" cy="1065690"/>
          </a:xfrm>
        </p:spPr>
        <p:txBody>
          <a:bodyPr vert="horz" lIns="91440" tIns="45720" rIns="91440" bIns="45720" rtlCol="0" anchor="b">
            <a:normAutofit/>
          </a:bodyPr>
          <a:lstStyle/>
          <a:p>
            <a:r>
              <a:rPr lang="en-US" sz="5900" spc="-100" dirty="0"/>
              <a:t>BWF-W Algorithm</a:t>
            </a:r>
          </a:p>
        </p:txBody>
      </p:sp>
      <p:pic>
        <p:nvPicPr>
          <p:cNvPr id="3" name="Content Placeholder 2">
            <a:extLst>
              <a:ext uri="{FF2B5EF4-FFF2-40B4-BE49-F238E27FC236}">
                <a16:creationId xmlns:a16="http://schemas.microsoft.com/office/drawing/2014/main" id="{0151B407-4C4F-AF49-BC85-C93E90985BEA}"/>
              </a:ext>
            </a:extLst>
          </p:cNvPr>
          <p:cNvPicPr>
            <a:picLocks noGrp="1" noChangeAspect="1"/>
          </p:cNvPicPr>
          <p:nvPr>
            <p:ph idx="1"/>
          </p:nvPr>
        </p:nvPicPr>
        <p:blipFill>
          <a:blip r:embed="rId3"/>
          <a:stretch>
            <a:fillRect/>
          </a:stretch>
        </p:blipFill>
        <p:spPr>
          <a:xfrm>
            <a:off x="1069847" y="1225852"/>
            <a:ext cx="10637520" cy="2074314"/>
          </a:xfrm>
          <a:prstGeom prst="rect">
            <a:avLst/>
          </a:prstGeom>
        </p:spPr>
      </p:pic>
    </p:spTree>
    <p:extLst>
      <p:ext uri="{BB962C8B-B14F-4D97-AF65-F5344CB8AC3E}">
        <p14:creationId xmlns:p14="http://schemas.microsoft.com/office/powerpoint/2010/main" val="21983916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13" name="Rectangle 12">
            <a:extLst>
              <a:ext uri="{FF2B5EF4-FFF2-40B4-BE49-F238E27FC236}">
                <a16:creationId xmlns:a16="http://schemas.microsoft.com/office/drawing/2014/main" id="{9203ABB4-7E2A-4248-9FE7-4A419AFF2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26970D-C1E5-4FB1-84E8-86CB9CED1C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367639"/>
            <a:ext cx="11707367" cy="185218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69A77D82-62D3-9D49-BFEA-D551C8297570}"/>
              </a:ext>
            </a:extLst>
          </p:cNvPr>
          <p:cNvSpPr>
            <a:spLocks noGrp="1"/>
          </p:cNvSpPr>
          <p:nvPr>
            <p:ph type="title"/>
          </p:nvPr>
        </p:nvSpPr>
        <p:spPr>
          <a:xfrm>
            <a:off x="1069848" y="4590661"/>
            <a:ext cx="10210862" cy="1065690"/>
          </a:xfrm>
        </p:spPr>
        <p:txBody>
          <a:bodyPr vert="horz" lIns="91440" tIns="45720" rIns="91440" bIns="45720" rtlCol="0" anchor="b">
            <a:normAutofit/>
          </a:bodyPr>
          <a:lstStyle/>
          <a:p>
            <a:r>
              <a:rPr lang="en-US" sz="5900" spc="-100"/>
              <a:t>SRF-W Algorithm</a:t>
            </a:r>
          </a:p>
        </p:txBody>
      </p:sp>
      <p:pic>
        <p:nvPicPr>
          <p:cNvPr id="4" name="Content Placeholder 3">
            <a:extLst>
              <a:ext uri="{FF2B5EF4-FFF2-40B4-BE49-F238E27FC236}">
                <a16:creationId xmlns:a16="http://schemas.microsoft.com/office/drawing/2014/main" id="{8B011063-83A1-7349-9F90-3EFB0D830E06}"/>
              </a:ext>
            </a:extLst>
          </p:cNvPr>
          <p:cNvPicPr>
            <a:picLocks noGrp="1" noChangeAspect="1"/>
          </p:cNvPicPr>
          <p:nvPr>
            <p:ph idx="1"/>
          </p:nvPr>
        </p:nvPicPr>
        <p:blipFill>
          <a:blip r:embed="rId2"/>
          <a:stretch>
            <a:fillRect/>
          </a:stretch>
        </p:blipFill>
        <p:spPr>
          <a:xfrm>
            <a:off x="1069847" y="1132773"/>
            <a:ext cx="10637520" cy="2260473"/>
          </a:xfrm>
          <a:prstGeom prst="rect">
            <a:avLst/>
          </a:prstGeom>
        </p:spPr>
      </p:pic>
    </p:spTree>
    <p:extLst>
      <p:ext uri="{BB962C8B-B14F-4D97-AF65-F5344CB8AC3E}">
        <p14:creationId xmlns:p14="http://schemas.microsoft.com/office/powerpoint/2010/main" val="2526882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A34D2-E2FC-8140-9844-E8837C94871D}"/>
              </a:ext>
            </a:extLst>
          </p:cNvPr>
          <p:cNvSpPr>
            <a:spLocks noGrp="1"/>
          </p:cNvSpPr>
          <p:nvPr>
            <p:ph type="title"/>
          </p:nvPr>
        </p:nvSpPr>
        <p:spPr/>
        <p:txBody>
          <a:bodyPr/>
          <a:lstStyle/>
          <a:p>
            <a:r>
              <a:rPr lang="en-US" dirty="0"/>
              <a:t>Varying Sized Pages </a:t>
            </a:r>
            <a:br>
              <a:rPr lang="en-US" dirty="0"/>
            </a:br>
            <a:endParaRPr lang="en-US" dirty="0"/>
          </a:p>
        </p:txBody>
      </p:sp>
      <p:sp>
        <p:nvSpPr>
          <p:cNvPr id="3" name="Content Placeholder 2">
            <a:extLst>
              <a:ext uri="{FF2B5EF4-FFF2-40B4-BE49-F238E27FC236}">
                <a16:creationId xmlns:a16="http://schemas.microsoft.com/office/drawing/2014/main" id="{3C5FCB6F-1848-794B-BD9F-22277D8CDA55}"/>
              </a:ext>
            </a:extLst>
          </p:cNvPr>
          <p:cNvSpPr>
            <a:spLocks noGrp="1"/>
          </p:cNvSpPr>
          <p:nvPr>
            <p:ph idx="1"/>
          </p:nvPr>
        </p:nvSpPr>
        <p:spPr>
          <a:xfrm>
            <a:off x="3869267" y="752167"/>
            <a:ext cx="7457493" cy="5545393"/>
          </a:xfrm>
        </p:spPr>
        <p:txBody>
          <a:bodyPr/>
          <a:lstStyle/>
          <a:p>
            <a:pPr algn="just"/>
            <a:r>
              <a:rPr lang="en-US" dirty="0"/>
              <a:t>We develop a generalization of SSF-W for this setting which is similar to the generalization of SSF-W given in [12]. For each page p, we let </a:t>
            </a:r>
            <a:r>
              <a:rPr lang="en-US" dirty="0" err="1"/>
              <a:t>l</a:t>
            </a:r>
            <a:r>
              <a:rPr lang="en-US" baseline="-25000" dirty="0" err="1"/>
              <a:t>p</a:t>
            </a:r>
            <a:r>
              <a:rPr lang="en-US" dirty="0"/>
              <a:t> denote the length of page p. Since pages have different lengths, we allow preemption. </a:t>
            </a:r>
          </a:p>
          <a:p>
            <a:pPr algn="just"/>
            <a:r>
              <a:rPr lang="en-US" dirty="0"/>
              <a:t>Therefore, if t1 is the time where the broadcast of page p is started and t2 is the time that this broadcast is completed it is the case that </a:t>
            </a:r>
            <a:r>
              <a:rPr lang="en-US" dirty="0" err="1"/>
              <a:t>l</a:t>
            </a:r>
            <a:r>
              <a:rPr lang="en-US" baseline="-25000" dirty="0" err="1"/>
              <a:t>p</a:t>
            </a:r>
            <a:r>
              <a:rPr lang="en-US" dirty="0"/>
              <a:t> ≤ t2 − t1. </a:t>
            </a:r>
          </a:p>
          <a:p>
            <a:pPr algn="just"/>
            <a:r>
              <a:rPr lang="en-US" dirty="0"/>
              <a:t>A request for the page p is satisfied by this broadcast only if the request arrives before time t1. A request that arrives during the interval (t1, t2] does not start being satisfied because it must receive a sequential transmission of page p starting from the beginning. It is possible that a transmission of page p is </a:t>
            </a:r>
            <a:r>
              <a:rPr lang="en-US" i="1" dirty="0"/>
              <a:t>restarted </a:t>
            </a:r>
            <a:r>
              <a:rPr lang="en-US" dirty="0"/>
              <a:t>due to another request for page p arriving which has smaller slack.</a:t>
            </a:r>
          </a:p>
          <a:p>
            <a:pPr algn="just"/>
            <a:r>
              <a:rPr lang="en-US" dirty="0"/>
              <a:t> The original transmission of page p in this case is abandoned. Notice that this results in wasted work by the algorithm. It is because of this wasted work that more speed is needed to show the competitiveness of SSF-W. </a:t>
            </a:r>
          </a:p>
        </p:txBody>
      </p:sp>
    </p:spTree>
    <p:extLst>
      <p:ext uri="{BB962C8B-B14F-4D97-AF65-F5344CB8AC3E}">
        <p14:creationId xmlns:p14="http://schemas.microsoft.com/office/powerpoint/2010/main" val="4164810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00B1A-1AEB-BE48-AF84-E053EBF69A29}"/>
              </a:ext>
            </a:extLst>
          </p:cNvPr>
          <p:cNvSpPr>
            <a:spLocks noGrp="1"/>
          </p:cNvSpPr>
          <p:nvPr>
            <p:ph type="title"/>
          </p:nvPr>
        </p:nvSpPr>
        <p:spPr/>
        <p:txBody>
          <a:bodyPr/>
          <a:lstStyle/>
          <a:p>
            <a:r>
              <a:rPr lang="en-US" dirty="0"/>
              <a:t>Lower Bound for a Natural Greedy Algorithm LF </a:t>
            </a:r>
            <a:br>
              <a:rPr lang="en-US" dirty="0"/>
            </a:br>
            <a:endParaRPr lang="en-US" dirty="0"/>
          </a:p>
        </p:txBody>
      </p:sp>
      <p:sp>
        <p:nvSpPr>
          <p:cNvPr id="3" name="Content Placeholder 2">
            <a:extLst>
              <a:ext uri="{FF2B5EF4-FFF2-40B4-BE49-F238E27FC236}">
                <a16:creationId xmlns:a16="http://schemas.microsoft.com/office/drawing/2014/main" id="{E2DD5E26-C893-B84F-81F7-6FB2372DAF64}"/>
              </a:ext>
            </a:extLst>
          </p:cNvPr>
          <p:cNvSpPr>
            <a:spLocks noGrp="1"/>
          </p:cNvSpPr>
          <p:nvPr>
            <p:ph idx="1"/>
          </p:nvPr>
        </p:nvSpPr>
        <p:spPr/>
        <p:txBody>
          <a:bodyPr>
            <a:normAutofit fontScale="92500" lnSpcReduction="10000"/>
          </a:bodyPr>
          <a:lstStyle/>
          <a:p>
            <a:r>
              <a:rPr lang="en-US" dirty="0"/>
              <a:t>we consider a natural algorithm which is like SSF-W. This algorithm, which we will call </a:t>
            </a:r>
            <a:r>
              <a:rPr lang="en-US" b="1" dirty="0"/>
              <a:t>LF for Longest Delay First</a:t>
            </a:r>
            <a:r>
              <a:rPr lang="en-US" dirty="0"/>
              <a:t>, always schedules the page which has the largest delay factor. </a:t>
            </a:r>
          </a:p>
          <a:p>
            <a:r>
              <a:rPr lang="en-US" dirty="0"/>
              <a:t>Notice that LF is the same as SSF-W when c = 1. However, we can show a negative result on the algorithm for minimizing the maximum delay factor. </a:t>
            </a:r>
          </a:p>
          <a:p>
            <a:r>
              <a:rPr lang="en-US" dirty="0"/>
              <a:t>This demonstrates the importance of the tradeoff between scheduling a request with smallest slack and forcing requests to wait. </a:t>
            </a:r>
          </a:p>
          <a:p>
            <a:r>
              <a:rPr lang="en-US" dirty="0"/>
              <a:t>The algorithm LF was suggested and analyzed in our recent work [11] and is inspired by LWF which was shown to be O(1)-competitive with O(1)-speed for average flow time [15].</a:t>
            </a:r>
          </a:p>
          <a:p>
            <a:r>
              <a:rPr lang="en-US" dirty="0"/>
              <a:t> In [11] LF is shown to be O(k)-competitive with O(k)-speed for Lk norms of flow time and delay factor in broadcast scheduling for unit sized pages. </a:t>
            </a:r>
          </a:p>
          <a:p>
            <a:r>
              <a:rPr lang="en-US" dirty="0"/>
              <a:t>Note that LF is a simple greedy algorithm. It was suggested in [11] that LF may be competitive for maximum delay factor which is the L</a:t>
            </a:r>
            <a:r>
              <a:rPr lang="en-US" baseline="-25000" dirty="0"/>
              <a:t>∞</a:t>
            </a:r>
            <a:r>
              <a:rPr lang="en-US" dirty="0"/>
              <a:t>-norm of delay factor. </a:t>
            </a:r>
          </a:p>
        </p:txBody>
      </p:sp>
    </p:spTree>
    <p:extLst>
      <p:ext uri="{BB962C8B-B14F-4D97-AF65-F5344CB8AC3E}">
        <p14:creationId xmlns:p14="http://schemas.microsoft.com/office/powerpoint/2010/main" val="429347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ABBB681-F4D2-40F2-ACC3-DE0B4B488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09388ED0-1FEF-4E11-B488-BD661D1AC1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58470"/>
            <a:ext cx="11237976" cy="5897880"/>
          </a:xfrm>
          <a:prstGeom prst="rect">
            <a:avLst/>
          </a:prstGeom>
          <a:solidFill>
            <a:srgbClr val="FFFFFF"/>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80BFC1C5-42F6-4E49-83A1-1E26C1F4C4BE}"/>
              </a:ext>
            </a:extLst>
          </p:cNvPr>
          <p:cNvPicPr>
            <a:picLocks noChangeAspect="1"/>
          </p:cNvPicPr>
          <p:nvPr/>
        </p:nvPicPr>
        <p:blipFill>
          <a:blip r:embed="rId2"/>
          <a:stretch>
            <a:fillRect/>
          </a:stretch>
        </p:blipFill>
        <p:spPr>
          <a:xfrm>
            <a:off x="794805" y="1379703"/>
            <a:ext cx="10602391" cy="4055414"/>
          </a:xfrm>
          <a:prstGeom prst="rect">
            <a:avLst/>
          </a:prstGeom>
        </p:spPr>
      </p:pic>
    </p:spTree>
    <p:extLst>
      <p:ext uri="{BB962C8B-B14F-4D97-AF65-F5344CB8AC3E}">
        <p14:creationId xmlns:p14="http://schemas.microsoft.com/office/powerpoint/2010/main" val="1343186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BAEAB7D-E4BC-CF4B-AC55-DD8D8D5F7B38}"/>
              </a:ext>
            </a:extLst>
          </p:cNvPr>
          <p:cNvSpPr txBox="1"/>
          <p:nvPr/>
        </p:nvSpPr>
        <p:spPr>
          <a:xfrm>
            <a:off x="710540" y="549072"/>
            <a:ext cx="11093533" cy="3139321"/>
          </a:xfrm>
          <a:prstGeom prst="rect">
            <a:avLst/>
          </a:prstGeom>
          <a:noFill/>
        </p:spPr>
        <p:txBody>
          <a:bodyPr wrap="square" rtlCol="0">
            <a:spAutoFit/>
          </a:bodyPr>
          <a:lstStyle/>
          <a:p>
            <a:pPr marL="285750" indent="-285750" algn="just">
              <a:buFont typeface="Courier New" panose="02070309020205020404" pitchFamily="49" charset="0"/>
              <a:buChar char="o"/>
            </a:pPr>
            <a:r>
              <a:rPr lang="en-US" dirty="0"/>
              <a:t>Lemma 4.1. LF</a:t>
            </a:r>
            <a:r>
              <a:rPr lang="en-US" i="1" dirty="0"/>
              <a:t>, given speed </a:t>
            </a:r>
            <a:r>
              <a:rPr lang="en-US" dirty="0"/>
              <a:t>s</a:t>
            </a:r>
            <a:r>
              <a:rPr lang="en-US" i="1" dirty="0"/>
              <a:t>, processes </a:t>
            </a:r>
            <a:r>
              <a:rPr lang="en-US" dirty="0"/>
              <a:t>J</a:t>
            </a:r>
            <a:r>
              <a:rPr lang="en-US" baseline="-25000" dirty="0"/>
              <a:t>0</a:t>
            </a:r>
            <a:r>
              <a:rPr lang="en-US" dirty="0"/>
              <a:t> </a:t>
            </a:r>
            <a:r>
              <a:rPr lang="en-US" i="1" dirty="0"/>
              <a:t>during </a:t>
            </a:r>
            <a:r>
              <a:rPr lang="en-US" dirty="0"/>
              <a:t>[A</a:t>
            </a:r>
            <a:r>
              <a:rPr lang="en-US" baseline="-25000" dirty="0"/>
              <a:t>0</a:t>
            </a:r>
            <a:r>
              <a:rPr lang="en-US" dirty="0"/>
              <a:t>, F</a:t>
            </a:r>
            <a:r>
              <a:rPr lang="en-US" baseline="-25000" dirty="0"/>
              <a:t>0</a:t>
            </a:r>
            <a:r>
              <a:rPr lang="en-US" dirty="0"/>
              <a:t>] </a:t>
            </a:r>
            <a:r>
              <a:rPr lang="en-US" i="1" dirty="0"/>
              <a:t>and </a:t>
            </a:r>
            <a:r>
              <a:rPr lang="en-US" dirty="0"/>
              <a:t>Ji </a:t>
            </a:r>
            <a:r>
              <a:rPr lang="en-US" i="1" dirty="0"/>
              <a:t>during </a:t>
            </a:r>
            <a:r>
              <a:rPr lang="en-US" dirty="0"/>
              <a:t>[F</a:t>
            </a:r>
            <a:r>
              <a:rPr lang="en-US" baseline="-25000" dirty="0"/>
              <a:t>i−1</a:t>
            </a:r>
            <a:r>
              <a:rPr lang="en-US" dirty="0"/>
              <a:t>, F</a:t>
            </a:r>
            <a:r>
              <a:rPr lang="en-US" baseline="-25000" dirty="0"/>
              <a:t>i</a:t>
            </a:r>
            <a:r>
              <a:rPr lang="en-US" dirty="0"/>
              <a:t>]</a:t>
            </a:r>
            <a:r>
              <a:rPr lang="en-US" i="1" dirty="0"/>
              <a:t>, </a:t>
            </a:r>
            <a:r>
              <a:rPr lang="en-US" dirty="0"/>
              <a:t>1 ≤ </a:t>
            </a:r>
            <a:r>
              <a:rPr lang="en-US" dirty="0" err="1"/>
              <a:t>i</a:t>
            </a:r>
            <a:r>
              <a:rPr lang="en-US" dirty="0"/>
              <a:t> ≤ k</a:t>
            </a:r>
            <a:r>
              <a:rPr lang="en-US" i="1" dirty="0"/>
              <a:t>.</a:t>
            </a:r>
          </a:p>
          <a:p>
            <a:pPr marL="285750" indent="-285750" algn="just">
              <a:buFont typeface="Courier New" panose="02070309020205020404" pitchFamily="49" charset="0"/>
              <a:buChar char="o"/>
            </a:pPr>
            <a:endParaRPr lang="en-US" i="1" dirty="0"/>
          </a:p>
          <a:p>
            <a:pPr marL="285750" indent="-285750" algn="just">
              <a:buFont typeface="Courier New" panose="02070309020205020404" pitchFamily="49" charset="0"/>
              <a:buChar char="o"/>
            </a:pPr>
            <a:r>
              <a:rPr lang="en-US" dirty="0"/>
              <a:t>Lemma4.2. Ri =c(1− 1 /</a:t>
            </a:r>
            <a:r>
              <a:rPr lang="en-US" dirty="0" err="1"/>
              <a:t>sc</a:t>
            </a:r>
            <a:r>
              <a:rPr lang="en-US" dirty="0"/>
              <a:t>)</a:t>
            </a:r>
            <a:r>
              <a:rPr lang="en-US" baseline="30000" dirty="0"/>
              <a:t>k−</a:t>
            </a:r>
            <a:r>
              <a:rPr lang="en-US" baseline="30000" dirty="0" err="1"/>
              <a:t>i</a:t>
            </a:r>
            <a:r>
              <a:rPr lang="en-US" baseline="30000" dirty="0"/>
              <a:t>  </a:t>
            </a:r>
            <a:r>
              <a:rPr lang="en-US" i="1" dirty="0"/>
              <a:t>for 0</a:t>
            </a:r>
            <a:r>
              <a:rPr lang="en-US" dirty="0"/>
              <a:t>≤i≤k</a:t>
            </a:r>
            <a:r>
              <a:rPr lang="en-US" i="1" dirty="0"/>
              <a:t>. </a:t>
            </a:r>
            <a:endParaRPr lang="en-US" dirty="0"/>
          </a:p>
          <a:p>
            <a:pPr marL="285750" indent="-285750" algn="just">
              <a:buFont typeface="Courier New" panose="02070309020205020404" pitchFamily="49" charset="0"/>
              <a:buChar char="o"/>
            </a:pPr>
            <a:endParaRPr lang="en-US" i="1" dirty="0"/>
          </a:p>
          <a:p>
            <a:pPr marL="285750" indent="-285750" algn="just">
              <a:buFont typeface="Courier New" panose="02070309020205020404" pitchFamily="49" charset="0"/>
              <a:buChar char="o"/>
            </a:pPr>
            <a:r>
              <a:rPr lang="en-US" dirty="0"/>
              <a:t>Lemma 4.3. </a:t>
            </a:r>
            <a:r>
              <a:rPr lang="en-US" i="1" dirty="0"/>
              <a:t>Consider a schedule which processes each job in </a:t>
            </a:r>
            <a:r>
              <a:rPr lang="en-US" dirty="0"/>
              <a:t>J</a:t>
            </a:r>
            <a:r>
              <a:rPr lang="en-US" baseline="-25000" dirty="0"/>
              <a:t>0</a:t>
            </a:r>
            <a:r>
              <a:rPr lang="en-US" dirty="0"/>
              <a:t> </a:t>
            </a:r>
            <a:r>
              <a:rPr lang="en-US" i="1" dirty="0"/>
              <a:t>during </a:t>
            </a:r>
            <a:r>
              <a:rPr lang="en-US" dirty="0"/>
              <a:t>[</a:t>
            </a:r>
            <a:r>
              <a:rPr lang="en-US" dirty="0" err="1"/>
              <a:t>F</a:t>
            </a:r>
            <a:r>
              <a:rPr lang="en-US" baseline="-25000" dirty="0" err="1"/>
              <a:t>k</a:t>
            </a:r>
            <a:r>
              <a:rPr lang="en-US" dirty="0"/>
              <a:t> , </a:t>
            </a:r>
            <a:r>
              <a:rPr lang="en-US" dirty="0" err="1"/>
              <a:t>F</a:t>
            </a:r>
            <a:r>
              <a:rPr lang="en-US" baseline="-25000" dirty="0" err="1"/>
              <a:t>k</a:t>
            </a:r>
            <a:r>
              <a:rPr lang="en-US" dirty="0"/>
              <a:t> + |J0 |] </a:t>
            </a:r>
            <a:r>
              <a:rPr lang="en-US" i="1" dirty="0"/>
              <a:t>and each job in </a:t>
            </a:r>
            <a:r>
              <a:rPr lang="en-US" dirty="0"/>
              <a:t>J</a:t>
            </a:r>
            <a:r>
              <a:rPr lang="en-US" baseline="-25000" dirty="0"/>
              <a:t>i</a:t>
            </a:r>
            <a:r>
              <a:rPr lang="en-US" dirty="0"/>
              <a:t> </a:t>
            </a:r>
            <a:r>
              <a:rPr lang="en-US" i="1" dirty="0"/>
              <a:t>during </a:t>
            </a:r>
            <a:r>
              <a:rPr lang="en-US" dirty="0"/>
              <a:t>[A</a:t>
            </a:r>
            <a:r>
              <a:rPr lang="en-US" baseline="-25000" dirty="0"/>
              <a:t>i</a:t>
            </a:r>
            <a:r>
              <a:rPr lang="en-US" dirty="0"/>
              <a:t>, A</a:t>
            </a:r>
            <a:r>
              <a:rPr lang="en-US" baseline="-25000" dirty="0"/>
              <a:t>i</a:t>
            </a:r>
            <a:r>
              <a:rPr lang="en-US" dirty="0"/>
              <a:t> + |J</a:t>
            </a:r>
            <a:r>
              <a:rPr lang="en-US" baseline="-25000" dirty="0"/>
              <a:t>i</a:t>
            </a:r>
            <a:r>
              <a:rPr lang="en-US" dirty="0"/>
              <a:t>|] </a:t>
            </a:r>
            <a:r>
              <a:rPr lang="en-US" i="1" dirty="0"/>
              <a:t>for </a:t>
            </a:r>
            <a:r>
              <a:rPr lang="en-US" dirty="0"/>
              <a:t>1 ≤ </a:t>
            </a:r>
            <a:r>
              <a:rPr lang="en-US" dirty="0" err="1"/>
              <a:t>i</a:t>
            </a:r>
            <a:r>
              <a:rPr lang="en-US" dirty="0"/>
              <a:t> ≤ k</a:t>
            </a:r>
            <a:r>
              <a:rPr lang="en-US" i="1" dirty="0"/>
              <a:t>. This schedule is valid and, moreover, the maximum wait ratio witnessed by this schedule is at most one. </a:t>
            </a:r>
            <a:endParaRPr lang="en-US" dirty="0"/>
          </a:p>
          <a:p>
            <a:pPr marL="285750" indent="-285750" algn="just">
              <a:buFont typeface="Courier New" panose="02070309020205020404" pitchFamily="49" charset="0"/>
              <a:buChar char="o"/>
            </a:pPr>
            <a:endParaRPr lang="en-US" i="1" dirty="0"/>
          </a:p>
          <a:p>
            <a:pPr marL="285750" indent="-285750" algn="just">
              <a:buFont typeface="Courier New" panose="02070309020205020404" pitchFamily="49" charset="0"/>
              <a:buChar char="o"/>
            </a:pPr>
            <a:endParaRPr lang="en-US" i="1" dirty="0"/>
          </a:p>
          <a:p>
            <a:pPr marL="285750" indent="-285750" algn="just">
              <a:buFont typeface="Courier New" panose="02070309020205020404" pitchFamily="49" charset="0"/>
              <a:buChar char="o"/>
            </a:pPr>
            <a:r>
              <a:rPr lang="en-US" dirty="0"/>
              <a:t>From Lemma 4.2 the maximum delay factor witnessed by LF is c and by Lemma 4.3 the maximum delay factor witnessed by OPT is 1. Hence, we have the proof of Theorem 1.4. </a:t>
            </a:r>
          </a:p>
        </p:txBody>
      </p:sp>
    </p:spTree>
    <p:extLst>
      <p:ext uri="{BB962C8B-B14F-4D97-AF65-F5344CB8AC3E}">
        <p14:creationId xmlns:p14="http://schemas.microsoft.com/office/powerpoint/2010/main" val="371564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D722B-ACFE-034F-8934-069C88DB9E9D}"/>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8BA90511-5C6B-624C-BD7C-69E7D43464BF}"/>
              </a:ext>
            </a:extLst>
          </p:cNvPr>
          <p:cNvSpPr>
            <a:spLocks noGrp="1"/>
          </p:cNvSpPr>
          <p:nvPr>
            <p:ph idx="1"/>
          </p:nvPr>
        </p:nvSpPr>
        <p:spPr/>
        <p:txBody>
          <a:bodyPr/>
          <a:lstStyle/>
          <a:p>
            <a:r>
              <a:rPr lang="en-US" dirty="0"/>
              <a:t>In this paper, we showed an almost fully scalable algorithm1 for minimizing the maximum delay factor in broadcasting for unit sized jobs. </a:t>
            </a:r>
          </a:p>
          <a:p>
            <a:r>
              <a:rPr lang="en-US" dirty="0"/>
              <a:t>The slight modification we make to SSF-W makes the algorithm more practical. Using the intuition developed for the maximum delay factor, we proved that FIFO is in fact 2-competitive for varying sized jobs closing the problem for minimizing the maximum response time online in broadcast scheduling.</a:t>
            </a:r>
          </a:p>
          <a:p>
            <a:r>
              <a:rPr lang="en-US" dirty="0"/>
              <a:t>Although the new algorithm for the maximum delay factor with unit sized jobs is almost fully scalable, it explicitly depends on speed given to the algorithm. Can one get another algorithm independent of this dependency? </a:t>
            </a:r>
          </a:p>
          <a:p>
            <a:endParaRPr lang="en-US" dirty="0"/>
          </a:p>
          <a:p>
            <a:endParaRPr lang="en-US" dirty="0"/>
          </a:p>
        </p:txBody>
      </p:sp>
    </p:spTree>
    <p:extLst>
      <p:ext uri="{BB962C8B-B14F-4D97-AF65-F5344CB8AC3E}">
        <p14:creationId xmlns:p14="http://schemas.microsoft.com/office/powerpoint/2010/main" val="15371477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DB8424AB-D56B-4256-866A-5B54DE93C2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4" name="Rectangle 23">
            <a:extLst>
              <a:ext uri="{FF2B5EF4-FFF2-40B4-BE49-F238E27FC236}">
                <a16:creationId xmlns:a16="http://schemas.microsoft.com/office/drawing/2014/main" id="{FC999C28-AD33-4EB7-A5F1-C06D10A5FD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useBgFill="1">
        <p:nvSpPr>
          <p:cNvPr id="26" name="Rectangle 25">
            <a:extLst>
              <a:ext uri="{FF2B5EF4-FFF2-40B4-BE49-F238E27FC236}">
                <a16:creationId xmlns:a16="http://schemas.microsoft.com/office/drawing/2014/main" id="{07CBBDD0-4420-4A50-96AB-392F9B97C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465BA403-54B9-4A0B-BC79-028C495C03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61999"/>
            <a:ext cx="7552943"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Title 3">
            <a:extLst>
              <a:ext uri="{FF2B5EF4-FFF2-40B4-BE49-F238E27FC236}">
                <a16:creationId xmlns:a16="http://schemas.microsoft.com/office/drawing/2014/main" id="{D03F527A-CC4E-9541-BF48-4A8FC64E8A9F}"/>
              </a:ext>
            </a:extLst>
          </p:cNvPr>
          <p:cNvSpPr>
            <a:spLocks noGrp="1"/>
          </p:cNvSpPr>
          <p:nvPr>
            <p:ph type="title" idx="4294967295"/>
          </p:nvPr>
        </p:nvSpPr>
        <p:spPr>
          <a:xfrm>
            <a:off x="1069848" y="1298448"/>
            <a:ext cx="6068070" cy="3255264"/>
          </a:xfrm>
        </p:spPr>
        <p:txBody>
          <a:bodyPr vert="horz" lIns="91440" tIns="45720" rIns="91440" bIns="45720" rtlCol="0" anchor="b">
            <a:normAutofit/>
          </a:bodyPr>
          <a:lstStyle/>
          <a:p>
            <a:r>
              <a:rPr lang="en-US" sz="8800" b="1" i="1" spc="-100" dirty="0">
                <a:latin typeface="Brush Script MT" panose="03060802040406070304" pitchFamily="66" charset="-122"/>
                <a:ea typeface="Brush Script MT" panose="03060802040406070304" pitchFamily="66" charset="-122"/>
                <a:cs typeface="Brush Script MT" panose="03060802040406070304" pitchFamily="66" charset="-122"/>
              </a:rPr>
              <a:t>THANK YOU</a:t>
            </a:r>
          </a:p>
        </p:txBody>
      </p:sp>
      <p:pic>
        <p:nvPicPr>
          <p:cNvPr id="8" name="Graphic 7" descr="Handshake">
            <a:extLst>
              <a:ext uri="{FF2B5EF4-FFF2-40B4-BE49-F238E27FC236}">
                <a16:creationId xmlns:a16="http://schemas.microsoft.com/office/drawing/2014/main" id="{3666EEBB-D09C-4572-9B32-C86D2194BD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037574" y="1695799"/>
            <a:ext cx="3458249" cy="3458249"/>
          </a:xfrm>
          <a:prstGeom prst="rect">
            <a:avLst/>
          </a:prstGeom>
        </p:spPr>
      </p:pic>
      <p:sp>
        <p:nvSpPr>
          <p:cNvPr id="30" name="Rectangle 29">
            <a:extLst>
              <a:ext uri="{FF2B5EF4-FFF2-40B4-BE49-F238E27FC236}">
                <a16:creationId xmlns:a16="http://schemas.microsoft.com/office/drawing/2014/main" id="{DC8C6883-513A-4FE8-8B55-7AA2A13A9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052684381"/>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2492</Words>
  <Application>Microsoft Macintosh PowerPoint</Application>
  <PresentationFormat>Widescreen</PresentationFormat>
  <Paragraphs>120</Paragraphs>
  <Slides>20</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Brush Script MT</vt:lpstr>
      <vt:lpstr>Arial</vt:lpstr>
      <vt:lpstr>Bell MT</vt:lpstr>
      <vt:lpstr>Calibri</vt:lpstr>
      <vt:lpstr>Corbel</vt:lpstr>
      <vt:lpstr>Courier New</vt:lpstr>
      <vt:lpstr>Wingdings 2</vt:lpstr>
      <vt:lpstr>Frame</vt:lpstr>
      <vt:lpstr>Minimizing Maximum Response Time &amp; Delay Factor in Broadcast Scheduling </vt:lpstr>
      <vt:lpstr>Agenda:</vt:lpstr>
      <vt:lpstr>Abstract</vt:lpstr>
      <vt:lpstr>Introduction</vt:lpstr>
      <vt:lpstr>PowerPoint Presentation</vt:lpstr>
      <vt:lpstr>PowerPoint Presentation</vt:lpstr>
      <vt:lpstr>Minimizing the Maximum Response Time  </vt:lpstr>
      <vt:lpstr>PowerPoint Presentation</vt:lpstr>
      <vt:lpstr>Minimizing Maximum Delay Factor and Weighted Response time   </vt:lpstr>
      <vt:lpstr>Unit Sized Pages  </vt:lpstr>
      <vt:lpstr>SSF-W Algorithm</vt:lpstr>
      <vt:lpstr>PowerPoint Presentation</vt:lpstr>
      <vt:lpstr>BWF-W Algorithm</vt:lpstr>
      <vt:lpstr>SRF-W Algorithm</vt:lpstr>
      <vt:lpstr>Varying Sized Pages  </vt:lpstr>
      <vt:lpstr>Lower Bound for a Natural Greedy Algorithm LF  </vt:lpstr>
      <vt:lpstr>PowerPoint Presentation</vt:lpstr>
      <vt:lpstr>PowerPoint Presentation</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Minimizing Maximum Response Time &amp; Delay Factor in Broadcast Scheduling </dc:title>
  <dc:creator>Vamsidhar Reddy</dc:creator>
  <cp:lastModifiedBy>Vamsidhar Reddy</cp:lastModifiedBy>
  <cp:revision>2</cp:revision>
  <dcterms:created xsi:type="dcterms:W3CDTF">2020-03-14T04:52:37Z</dcterms:created>
  <dcterms:modified xsi:type="dcterms:W3CDTF">2020-03-14T04:57:12Z</dcterms:modified>
</cp:coreProperties>
</file>