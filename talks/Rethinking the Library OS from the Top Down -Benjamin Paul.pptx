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4" r:id="rId9"/>
    <p:sldId id="265" r:id="rId10"/>
    <p:sldId id="263" r:id="rId11"/>
    <p:sldId id="266"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EF02FA-E795-4914-AAF4-4A0B65A767CC}">
          <p14:sldIdLst>
            <p14:sldId id="256"/>
            <p14:sldId id="257"/>
            <p14:sldId id="258"/>
            <p14:sldId id="259"/>
            <p14:sldId id="264"/>
            <p14:sldId id="265"/>
            <p14:sldId id="263"/>
            <p14:sldId id="266"/>
            <p14:sldId id="268"/>
            <p14:sldId id="269"/>
            <p14:sldId id="270"/>
            <p14:sldId id="271"/>
            <p14:sldId id="272"/>
            <p14:sldId id="27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9DDF"/>
    <a:srgbClr val="172B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698D517F-84D2-4B1D-B364-1FCC47E64FC4}" type="datetimeFigureOut">
              <a:rPr lang="en-US" smtClean="0"/>
              <a:t>13-03-20</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208517629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8D517F-84D2-4B1D-B364-1FCC47E64FC4}" type="datetimeFigureOut">
              <a:rPr lang="en-US" smtClean="0"/>
              <a:t>13-03-20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2627913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8D517F-84D2-4B1D-B364-1FCC47E64FC4}" type="datetimeFigureOut">
              <a:rPr lang="en-US" smtClean="0"/>
              <a:t>13-03-20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1410278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8D517F-84D2-4B1D-B364-1FCC47E64FC4}" type="datetimeFigureOut">
              <a:rPr lang="en-US" smtClean="0"/>
              <a:t>13-03-20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3772516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8D517F-84D2-4B1D-B364-1FCC47E64FC4}" type="datetimeFigureOut">
              <a:rPr lang="en-US" smtClean="0"/>
              <a:t>13-03-20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1609408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8D517F-84D2-4B1D-B364-1FCC47E64FC4}" type="datetimeFigureOut">
              <a:rPr lang="en-US" smtClean="0"/>
              <a:t>13-03-20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1299886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698D517F-84D2-4B1D-B364-1FCC47E64FC4}" type="datetimeFigureOut">
              <a:rPr lang="en-US" smtClean="0"/>
              <a:t>13-03-20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3377163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8D517F-84D2-4B1D-B364-1FCC47E64FC4}" type="datetimeFigureOut">
              <a:rPr lang="en-US" smtClean="0"/>
              <a:t>13-03-20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89537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8D517F-84D2-4B1D-B364-1FCC47E64FC4}" type="datetimeFigureOut">
              <a:rPr lang="en-US" smtClean="0"/>
              <a:t>13-03-20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2631002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8D517F-84D2-4B1D-B364-1FCC47E64FC4}" type="datetimeFigureOut">
              <a:rPr lang="en-US" smtClean="0"/>
              <a:t>13-03-20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375254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8D517F-84D2-4B1D-B364-1FCC47E64FC4}" type="datetimeFigureOut">
              <a:rPr lang="en-US" smtClean="0"/>
              <a:t>13-03-20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83228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8D517F-84D2-4B1D-B364-1FCC47E64FC4}" type="datetimeFigureOut">
              <a:rPr lang="en-US" smtClean="0"/>
              <a:t>13-03-20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446180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8D517F-84D2-4B1D-B364-1FCC47E64FC4}" type="datetimeFigureOut">
              <a:rPr lang="en-US" smtClean="0"/>
              <a:t>13-03-20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3425844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8D517F-84D2-4B1D-B364-1FCC47E64FC4}" type="datetimeFigureOut">
              <a:rPr lang="en-US" smtClean="0"/>
              <a:t>13-03-20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33871139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8D517F-84D2-4B1D-B364-1FCC47E64FC4}" type="datetimeFigureOut">
              <a:rPr lang="en-US" smtClean="0"/>
              <a:t>13-03-20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12750068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8D517F-84D2-4B1D-B364-1FCC47E64FC4}" type="datetimeFigureOut">
              <a:rPr lang="en-US" smtClean="0"/>
              <a:t>13-03-20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077D7C-4D22-4354-B4AE-1DB1F092A505}"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1699314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8D517F-84D2-4B1D-B364-1FCC47E64FC4}" type="datetimeFigureOut">
              <a:rPr lang="en-US" smtClean="0"/>
              <a:t>13-03-20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077D7C-4D22-4354-B4AE-1DB1F092A505}" type="slidenum">
              <a:rPr lang="en-US" smtClean="0"/>
              <a:t>‹#›</a:t>
            </a:fld>
            <a:endParaRPr lang="en-US"/>
          </a:p>
        </p:txBody>
      </p:sp>
    </p:spTree>
    <p:extLst>
      <p:ext uri="{BB962C8B-B14F-4D97-AF65-F5344CB8AC3E}">
        <p14:creationId xmlns:p14="http://schemas.microsoft.com/office/powerpoint/2010/main" val="3211265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98D517F-84D2-4B1D-B364-1FCC47E64FC4}" type="datetimeFigureOut">
              <a:rPr lang="en-US" smtClean="0"/>
              <a:t>13-03-20</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4077D7C-4D22-4354-B4AE-1DB1F092A505}" type="slidenum">
              <a:rPr lang="en-US" smtClean="0"/>
              <a:t>‹#›</a:t>
            </a:fld>
            <a:endParaRPr lang="en-US"/>
          </a:p>
        </p:txBody>
      </p:sp>
    </p:spTree>
    <p:extLst>
      <p:ext uri="{BB962C8B-B14F-4D97-AF65-F5344CB8AC3E}">
        <p14:creationId xmlns:p14="http://schemas.microsoft.com/office/powerpoint/2010/main" val="259100172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02D8F-40FA-4164-B859-9BB334614D5E}"/>
              </a:ext>
            </a:extLst>
          </p:cNvPr>
          <p:cNvSpPr>
            <a:spLocks noGrp="1"/>
          </p:cNvSpPr>
          <p:nvPr>
            <p:ph type="ctrTitle"/>
          </p:nvPr>
        </p:nvSpPr>
        <p:spPr/>
        <p:txBody>
          <a:bodyPr/>
          <a:lstStyle/>
          <a:p>
            <a:pPr algn="l"/>
            <a:r>
              <a:rPr lang="en-US" dirty="0"/>
              <a:t>Rethinking the Library OS from the Top Down</a:t>
            </a:r>
          </a:p>
        </p:txBody>
      </p:sp>
      <p:sp>
        <p:nvSpPr>
          <p:cNvPr id="3" name="Subtitle 2">
            <a:extLst>
              <a:ext uri="{FF2B5EF4-FFF2-40B4-BE49-F238E27FC236}">
                <a16:creationId xmlns:a16="http://schemas.microsoft.com/office/drawing/2014/main" id="{D57B0714-F4D7-419D-A22B-11D9FA8713CA}"/>
              </a:ext>
            </a:extLst>
          </p:cNvPr>
          <p:cNvSpPr>
            <a:spLocks noGrp="1"/>
          </p:cNvSpPr>
          <p:nvPr>
            <p:ph type="subTitle" idx="1"/>
          </p:nvPr>
        </p:nvSpPr>
        <p:spPr>
          <a:xfrm>
            <a:off x="3882947" y="4323587"/>
            <a:ext cx="7356630" cy="2148233"/>
          </a:xfrm>
        </p:spPr>
        <p:txBody>
          <a:bodyPr>
            <a:normAutofit fontScale="92500" lnSpcReduction="10000"/>
          </a:bodyPr>
          <a:lstStyle/>
          <a:p>
            <a:pPr algn="l"/>
            <a:r>
              <a:rPr lang="en-US" dirty="0"/>
              <a:t>Donald E. Porter, </a:t>
            </a:r>
          </a:p>
          <a:p>
            <a:pPr algn="l"/>
            <a:r>
              <a:rPr lang="en-US" dirty="0"/>
              <a:t>Silas Boyd-</a:t>
            </a:r>
            <a:r>
              <a:rPr lang="en-US" dirty="0" err="1"/>
              <a:t>Wickizer</a:t>
            </a:r>
            <a:r>
              <a:rPr lang="en-US" dirty="0"/>
              <a:t> ,</a:t>
            </a:r>
          </a:p>
          <a:p>
            <a:pPr algn="l"/>
            <a:r>
              <a:rPr lang="en-US" dirty="0"/>
              <a:t> Jon Howell, </a:t>
            </a:r>
          </a:p>
          <a:p>
            <a:pPr algn="l"/>
            <a:r>
              <a:rPr lang="en-US" dirty="0"/>
              <a:t>Reuben </a:t>
            </a:r>
            <a:r>
              <a:rPr lang="en-US" dirty="0" err="1"/>
              <a:t>Olinsky</a:t>
            </a:r>
            <a:r>
              <a:rPr lang="en-US" dirty="0"/>
              <a:t>, </a:t>
            </a:r>
          </a:p>
          <a:p>
            <a:pPr algn="l"/>
            <a:r>
              <a:rPr lang="en-US" dirty="0"/>
              <a:t>Galen C. Hunt </a:t>
            </a:r>
          </a:p>
          <a:p>
            <a:pPr algn="l"/>
            <a:r>
              <a:rPr lang="en-US" dirty="0"/>
              <a:t>Presented by:- Benjamin Paul , TTU </a:t>
            </a:r>
          </a:p>
        </p:txBody>
      </p:sp>
    </p:spTree>
    <p:extLst>
      <p:ext uri="{BB962C8B-B14F-4D97-AF65-F5344CB8AC3E}">
        <p14:creationId xmlns:p14="http://schemas.microsoft.com/office/powerpoint/2010/main" val="3050926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88FF-B689-4D60-B282-C11CF7F10B9B}"/>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C011F5F5-3C02-48BA-8F4E-21EB021038DF}"/>
              </a:ext>
            </a:extLst>
          </p:cNvPr>
          <p:cNvSpPr>
            <a:spLocks noGrp="1"/>
          </p:cNvSpPr>
          <p:nvPr>
            <p:ph idx="1"/>
          </p:nvPr>
        </p:nvSpPr>
        <p:spPr/>
        <p:txBody>
          <a:bodyPr>
            <a:normAutofit/>
          </a:bodyPr>
          <a:lstStyle/>
          <a:p>
            <a:r>
              <a:rPr lang="en-US" sz="2000" dirty="0"/>
              <a:t>Introduction and backstory</a:t>
            </a:r>
          </a:p>
          <a:p>
            <a:r>
              <a:rPr lang="en-US" sz="2000" dirty="0"/>
              <a:t>Problems with VMM</a:t>
            </a:r>
          </a:p>
          <a:p>
            <a:r>
              <a:rPr lang="en-US" sz="2000" dirty="0"/>
              <a:t>Drawbridge</a:t>
            </a:r>
          </a:p>
          <a:p>
            <a:r>
              <a:rPr lang="en-US" sz="2000" dirty="0"/>
              <a:t>Results</a:t>
            </a:r>
          </a:p>
          <a:p>
            <a:r>
              <a:rPr lang="en-US" sz="2000" dirty="0"/>
              <a:t>Conclusion</a:t>
            </a:r>
          </a:p>
        </p:txBody>
      </p:sp>
    </p:spTree>
    <p:extLst>
      <p:ext uri="{BB962C8B-B14F-4D97-AF65-F5344CB8AC3E}">
        <p14:creationId xmlns:p14="http://schemas.microsoft.com/office/powerpoint/2010/main" val="4289764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C7682-4C2F-48C1-8BDC-6B29188A2F40}"/>
              </a:ext>
            </a:extLst>
          </p:cNvPr>
          <p:cNvSpPr>
            <a:spLocks noGrp="1"/>
          </p:cNvSpPr>
          <p:nvPr>
            <p:ph type="title"/>
          </p:nvPr>
        </p:nvSpPr>
        <p:spPr/>
        <p:txBody>
          <a:bodyPr/>
          <a:lstStyle/>
          <a:p>
            <a:r>
              <a:rPr lang="en-US" dirty="0"/>
              <a:t>Introduction and Backstory</a:t>
            </a:r>
          </a:p>
        </p:txBody>
      </p:sp>
      <p:sp>
        <p:nvSpPr>
          <p:cNvPr id="3" name="Content Placeholder 2">
            <a:extLst>
              <a:ext uri="{FF2B5EF4-FFF2-40B4-BE49-F238E27FC236}">
                <a16:creationId xmlns:a16="http://schemas.microsoft.com/office/drawing/2014/main" id="{218C0A0A-2D0C-46A9-AE31-8FE233B9D2CC}"/>
              </a:ext>
            </a:extLst>
          </p:cNvPr>
          <p:cNvSpPr>
            <a:spLocks noGrp="1"/>
          </p:cNvSpPr>
          <p:nvPr>
            <p:ph idx="1"/>
          </p:nvPr>
        </p:nvSpPr>
        <p:spPr/>
        <p:txBody>
          <a:bodyPr>
            <a:normAutofit/>
          </a:bodyPr>
          <a:lstStyle/>
          <a:p>
            <a:r>
              <a:rPr lang="en-US" sz="2000" dirty="0"/>
              <a:t>Paper is published in 2011.</a:t>
            </a:r>
          </a:p>
          <a:p>
            <a:r>
              <a:rPr lang="en-US" sz="2000" dirty="0"/>
              <a:t>The paper is based on windows 7 refactored </a:t>
            </a:r>
            <a:r>
              <a:rPr lang="en-US" sz="2000" dirty="0" err="1"/>
              <a:t>LibOS</a:t>
            </a:r>
            <a:r>
              <a:rPr lang="en-US" sz="2000" dirty="0"/>
              <a:t> called Drawbridge</a:t>
            </a:r>
          </a:p>
          <a:p>
            <a:r>
              <a:rPr lang="en-US" sz="2000" dirty="0"/>
              <a:t>Windows wanted to create its own container for business purposes</a:t>
            </a:r>
          </a:p>
          <a:p>
            <a:r>
              <a:rPr lang="en-US" sz="2000" dirty="0"/>
              <a:t>By 2013 docker was made available and started becoming popular</a:t>
            </a:r>
          </a:p>
          <a:p>
            <a:r>
              <a:rPr lang="en-US" sz="2000" dirty="0"/>
              <a:t>It gained supported by GOOGLE , IBM , RedHat, </a:t>
            </a:r>
            <a:r>
              <a:rPr lang="en-US" sz="2000" dirty="0" err="1"/>
              <a:t>Vmware</a:t>
            </a:r>
            <a:r>
              <a:rPr lang="en-US" sz="2000" dirty="0"/>
              <a:t>.</a:t>
            </a:r>
          </a:p>
          <a:p>
            <a:r>
              <a:rPr lang="en-US" sz="2000" dirty="0"/>
              <a:t>NOTE : Docker was initially based on LINUX underlying OS.</a:t>
            </a:r>
          </a:p>
        </p:txBody>
      </p:sp>
    </p:spTree>
    <p:extLst>
      <p:ext uri="{BB962C8B-B14F-4D97-AF65-F5344CB8AC3E}">
        <p14:creationId xmlns:p14="http://schemas.microsoft.com/office/powerpoint/2010/main" val="1119290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EB36E-48EA-4489-85F2-8243250DB819}"/>
              </a:ext>
            </a:extLst>
          </p:cNvPr>
          <p:cNvSpPr>
            <a:spLocks noGrp="1"/>
          </p:cNvSpPr>
          <p:nvPr>
            <p:ph type="title"/>
          </p:nvPr>
        </p:nvSpPr>
        <p:spPr/>
        <p:txBody>
          <a:bodyPr/>
          <a:lstStyle/>
          <a:p>
            <a:r>
              <a:rPr lang="en-US" dirty="0"/>
              <a:t>Motive	</a:t>
            </a:r>
          </a:p>
        </p:txBody>
      </p:sp>
      <p:sp>
        <p:nvSpPr>
          <p:cNvPr id="3" name="Content Placeholder 2">
            <a:extLst>
              <a:ext uri="{FF2B5EF4-FFF2-40B4-BE49-F238E27FC236}">
                <a16:creationId xmlns:a16="http://schemas.microsoft.com/office/drawing/2014/main" id="{D9EB67EB-681F-48A7-BB8E-0A8AF36041BA}"/>
              </a:ext>
            </a:extLst>
          </p:cNvPr>
          <p:cNvSpPr>
            <a:spLocks noGrp="1"/>
          </p:cNvSpPr>
          <p:nvPr>
            <p:ph idx="1"/>
          </p:nvPr>
        </p:nvSpPr>
        <p:spPr/>
        <p:txBody>
          <a:bodyPr>
            <a:normAutofit/>
          </a:bodyPr>
          <a:lstStyle/>
          <a:p>
            <a:r>
              <a:rPr lang="en-US" sz="2400" dirty="0"/>
              <a:t>To refactor a commercial OS to follow </a:t>
            </a:r>
            <a:r>
              <a:rPr lang="en-US" sz="2400" dirty="0" err="1"/>
              <a:t>LibOS</a:t>
            </a:r>
            <a:r>
              <a:rPr lang="en-US" sz="2400" dirty="0"/>
              <a:t> architecture and to achieve better performance than VM</a:t>
            </a:r>
          </a:p>
          <a:p>
            <a:r>
              <a:rPr lang="en-US" sz="2400" dirty="0"/>
              <a:t>VMs are great for isolation, but have significant overheads such as :-</a:t>
            </a:r>
          </a:p>
          <a:p>
            <a:pPr lvl="1">
              <a:buFont typeface="Wingdings" panose="05000000000000000000" pitchFamily="2" charset="2"/>
              <a:buChar char="v"/>
            </a:pPr>
            <a:r>
              <a:rPr lang="en-US" sz="2400" b="1" dirty="0"/>
              <a:t> Resource Overheads</a:t>
            </a:r>
            <a:r>
              <a:rPr lang="en-US" sz="2000" dirty="0"/>
              <a:t>: disk (GBs) and memory (512 MB+) per VM .</a:t>
            </a:r>
          </a:p>
          <a:p>
            <a:pPr lvl="1">
              <a:buFont typeface="Wingdings" panose="05000000000000000000" pitchFamily="2" charset="2"/>
              <a:buChar char="v"/>
            </a:pPr>
            <a:r>
              <a:rPr lang="pt-BR" sz="2400" b="1" dirty="0"/>
              <a:t>Runtime Overheads</a:t>
            </a:r>
            <a:r>
              <a:rPr lang="pt-BR" sz="2000" dirty="0"/>
              <a:t>: CPU virtualization, I/O virtualization, etc.</a:t>
            </a:r>
          </a:p>
          <a:p>
            <a:pPr lvl="1">
              <a:buFont typeface="Wingdings" panose="05000000000000000000" pitchFamily="2" charset="2"/>
              <a:buChar char="v"/>
            </a:pPr>
            <a:r>
              <a:rPr lang="en-US" sz="2400" b="1" dirty="0"/>
              <a:t>Administrative Overheads:</a:t>
            </a:r>
            <a:r>
              <a:rPr lang="en-US" sz="2000" dirty="0"/>
              <a:t> one new OS to manage per VM .</a:t>
            </a:r>
          </a:p>
          <a:p>
            <a:pPr lvl="1">
              <a:buFont typeface="Wingdings" panose="05000000000000000000" pitchFamily="2" charset="2"/>
              <a:buChar char="v"/>
            </a:pPr>
            <a:r>
              <a:rPr lang="en-US" sz="2400" b="1" dirty="0"/>
              <a:t>Ingress/Egress Overheads:</a:t>
            </a:r>
            <a:r>
              <a:rPr lang="en-US" sz="2000" dirty="0"/>
              <a:t> moving large VHDs to/from the cloud </a:t>
            </a:r>
            <a:r>
              <a:rPr lang="pt-BR" sz="2000" dirty="0"/>
              <a:t> </a:t>
            </a:r>
            <a:endParaRPr lang="en-US" sz="2000" dirty="0"/>
          </a:p>
          <a:p>
            <a:endParaRPr lang="en-US" sz="2400" dirty="0"/>
          </a:p>
        </p:txBody>
      </p:sp>
    </p:spTree>
    <p:extLst>
      <p:ext uri="{BB962C8B-B14F-4D97-AF65-F5344CB8AC3E}">
        <p14:creationId xmlns:p14="http://schemas.microsoft.com/office/powerpoint/2010/main" val="3405842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92A13EE-0820-41A1-B018-F059B0B014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99712" y="1682860"/>
            <a:ext cx="7621534" cy="4939882"/>
          </a:xfrm>
        </p:spPr>
      </p:pic>
      <p:sp>
        <p:nvSpPr>
          <p:cNvPr id="8" name="TextBox 7">
            <a:extLst>
              <a:ext uri="{FF2B5EF4-FFF2-40B4-BE49-F238E27FC236}">
                <a16:creationId xmlns:a16="http://schemas.microsoft.com/office/drawing/2014/main" id="{DF82EDC1-1EA3-4F33-97A6-91A08EEABA39}"/>
              </a:ext>
            </a:extLst>
          </p:cNvPr>
          <p:cNvSpPr txBox="1"/>
          <p:nvPr/>
        </p:nvSpPr>
        <p:spPr>
          <a:xfrm>
            <a:off x="1815428" y="457741"/>
            <a:ext cx="7705818" cy="584775"/>
          </a:xfrm>
          <a:prstGeom prst="rect">
            <a:avLst/>
          </a:prstGeom>
          <a:noFill/>
        </p:spPr>
        <p:txBody>
          <a:bodyPr wrap="square" rtlCol="0">
            <a:spAutoFit/>
          </a:bodyPr>
          <a:lstStyle/>
          <a:p>
            <a:r>
              <a:rPr lang="en-US" sz="3200" dirty="0"/>
              <a:t>Classical OS model</a:t>
            </a:r>
          </a:p>
        </p:txBody>
      </p:sp>
    </p:spTree>
    <p:extLst>
      <p:ext uri="{BB962C8B-B14F-4D97-AF65-F5344CB8AC3E}">
        <p14:creationId xmlns:p14="http://schemas.microsoft.com/office/powerpoint/2010/main" val="2255304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9018B-1DA3-41CF-AF99-6258E1ABF49F}"/>
              </a:ext>
            </a:extLst>
          </p:cNvPr>
          <p:cNvSpPr>
            <a:spLocks noGrp="1"/>
          </p:cNvSpPr>
          <p:nvPr>
            <p:ph type="title"/>
          </p:nvPr>
        </p:nvSpPr>
        <p:spPr/>
        <p:txBody>
          <a:bodyPr/>
          <a:lstStyle/>
          <a:p>
            <a:r>
              <a:rPr lang="en-US" dirty="0"/>
              <a:t>Windows 7 OS architecture</a:t>
            </a:r>
          </a:p>
        </p:txBody>
      </p:sp>
      <p:pic>
        <p:nvPicPr>
          <p:cNvPr id="5" name="Content Placeholder 4">
            <a:extLst>
              <a:ext uri="{FF2B5EF4-FFF2-40B4-BE49-F238E27FC236}">
                <a16:creationId xmlns:a16="http://schemas.microsoft.com/office/drawing/2014/main" id="{46B4BFB7-6D8E-4FF9-998E-746804F644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68577" y="2141538"/>
            <a:ext cx="6565870" cy="3649662"/>
          </a:xfrm>
        </p:spPr>
      </p:pic>
    </p:spTree>
    <p:extLst>
      <p:ext uri="{BB962C8B-B14F-4D97-AF65-F5344CB8AC3E}">
        <p14:creationId xmlns:p14="http://schemas.microsoft.com/office/powerpoint/2010/main" val="2758494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F0CF5-D93F-4048-BC59-B3529FB28E0F}"/>
              </a:ext>
            </a:extLst>
          </p:cNvPr>
          <p:cNvSpPr>
            <a:spLocks noGrp="1"/>
          </p:cNvSpPr>
          <p:nvPr>
            <p:ph type="title"/>
          </p:nvPr>
        </p:nvSpPr>
        <p:spPr/>
        <p:txBody>
          <a:bodyPr/>
          <a:lstStyle/>
          <a:p>
            <a:r>
              <a:rPr lang="en-US" dirty="0"/>
              <a:t>Drawbridge</a:t>
            </a:r>
          </a:p>
        </p:txBody>
      </p:sp>
      <p:pic>
        <p:nvPicPr>
          <p:cNvPr id="5" name="Content Placeholder 4">
            <a:extLst>
              <a:ext uri="{FF2B5EF4-FFF2-40B4-BE49-F238E27FC236}">
                <a16:creationId xmlns:a16="http://schemas.microsoft.com/office/drawing/2014/main" id="{53DE91B7-4413-44AD-8A6A-FCD1F9F41A0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334968" y="2141538"/>
            <a:ext cx="3697526" cy="3649662"/>
          </a:xfrm>
        </p:spPr>
      </p:pic>
      <p:sp>
        <p:nvSpPr>
          <p:cNvPr id="6" name="Content Placeholder 5">
            <a:extLst>
              <a:ext uri="{FF2B5EF4-FFF2-40B4-BE49-F238E27FC236}">
                <a16:creationId xmlns:a16="http://schemas.microsoft.com/office/drawing/2014/main" id="{AD51BE8B-FD4B-4968-A985-DF0E1A0C8C94}"/>
              </a:ext>
            </a:extLst>
          </p:cNvPr>
          <p:cNvSpPr>
            <a:spLocks noGrp="1"/>
          </p:cNvSpPr>
          <p:nvPr>
            <p:ph sz="half" idx="2"/>
          </p:nvPr>
        </p:nvSpPr>
        <p:spPr/>
        <p:txBody>
          <a:bodyPr>
            <a:normAutofit/>
          </a:bodyPr>
          <a:lstStyle/>
          <a:p>
            <a:r>
              <a:rPr lang="en-US" sz="2000" dirty="0"/>
              <a:t>Drawbridge packages application services into the library OS and leaves user and hardware services in the host OS</a:t>
            </a:r>
          </a:p>
          <a:p>
            <a:r>
              <a:rPr lang="en-US" sz="2000" dirty="0"/>
              <a:t>Each application runs in its own address space with its own copy of the library OS</a:t>
            </a:r>
          </a:p>
        </p:txBody>
      </p:sp>
    </p:spTree>
    <p:extLst>
      <p:ext uri="{BB962C8B-B14F-4D97-AF65-F5344CB8AC3E}">
        <p14:creationId xmlns:p14="http://schemas.microsoft.com/office/powerpoint/2010/main" val="931945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FB1B2-692A-4851-9C95-692ED0AF2D79}"/>
              </a:ext>
            </a:extLst>
          </p:cNvPr>
          <p:cNvSpPr>
            <a:spLocks noGrp="1"/>
          </p:cNvSpPr>
          <p:nvPr>
            <p:ph type="title"/>
          </p:nvPr>
        </p:nvSpPr>
        <p:spPr/>
        <p:txBody>
          <a:bodyPr/>
          <a:lstStyle/>
          <a:p>
            <a:r>
              <a:rPr lang="en-US" dirty="0"/>
              <a:t>Drawbridge Architecture and Implementation</a:t>
            </a:r>
          </a:p>
        </p:txBody>
      </p:sp>
      <p:sp>
        <p:nvSpPr>
          <p:cNvPr id="6" name="Content Placeholder 5">
            <a:extLst>
              <a:ext uri="{FF2B5EF4-FFF2-40B4-BE49-F238E27FC236}">
                <a16:creationId xmlns:a16="http://schemas.microsoft.com/office/drawing/2014/main" id="{52DACF70-22ED-4AC6-9B3C-56A985077876}"/>
              </a:ext>
            </a:extLst>
          </p:cNvPr>
          <p:cNvSpPr>
            <a:spLocks noGrp="1"/>
          </p:cNvSpPr>
          <p:nvPr>
            <p:ph sz="half" idx="2"/>
          </p:nvPr>
        </p:nvSpPr>
        <p:spPr/>
        <p:txBody>
          <a:bodyPr>
            <a:normAutofit/>
          </a:bodyPr>
          <a:lstStyle/>
          <a:p>
            <a:r>
              <a:rPr lang="en-US" sz="2000" dirty="0"/>
              <a:t>The library OS communicates with hardware services in the host OS through a narrow application binary interface (ABI), which is implemented by a platform adaptation layer and a security monitor. </a:t>
            </a:r>
          </a:p>
        </p:txBody>
      </p:sp>
      <p:pic>
        <p:nvPicPr>
          <p:cNvPr id="10" name="Content Placeholder 9">
            <a:extLst>
              <a:ext uri="{FF2B5EF4-FFF2-40B4-BE49-F238E27FC236}">
                <a16:creationId xmlns:a16="http://schemas.microsoft.com/office/drawing/2014/main" id="{9D080C12-E4A0-4F63-8A51-B4B86384A06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334968" y="2141538"/>
            <a:ext cx="3697526" cy="3649662"/>
          </a:xfrm>
        </p:spPr>
      </p:pic>
      <p:sp>
        <p:nvSpPr>
          <p:cNvPr id="12" name="Rectangle 11">
            <a:extLst>
              <a:ext uri="{FF2B5EF4-FFF2-40B4-BE49-F238E27FC236}">
                <a16:creationId xmlns:a16="http://schemas.microsoft.com/office/drawing/2014/main" id="{A2C0279F-52C3-4464-A563-120EBBD427D0}"/>
              </a:ext>
            </a:extLst>
          </p:cNvPr>
          <p:cNvSpPr/>
          <p:nvPr/>
        </p:nvSpPr>
        <p:spPr>
          <a:xfrm>
            <a:off x="2651760" y="4291584"/>
            <a:ext cx="505968" cy="103632"/>
          </a:xfrm>
          <a:prstGeom prst="rect">
            <a:avLst/>
          </a:prstGeom>
          <a:solidFill>
            <a:schemeClr val="accent1">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1F10D68-9B13-43B8-9D78-BAC867BAF223}"/>
              </a:ext>
            </a:extLst>
          </p:cNvPr>
          <p:cNvSpPr/>
          <p:nvPr/>
        </p:nvSpPr>
        <p:spPr>
          <a:xfrm>
            <a:off x="2078736" y="4395216"/>
            <a:ext cx="1524000" cy="201168"/>
          </a:xfrm>
          <a:prstGeom prst="rect">
            <a:avLst/>
          </a:prstGeom>
          <a:solidFill>
            <a:schemeClr val="bg2">
              <a:lumMod val="60000"/>
              <a:lumOff val="40000"/>
              <a:alpha val="3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851A787-1C8A-407F-BAD0-0CE5F5EBEA3A}"/>
              </a:ext>
            </a:extLst>
          </p:cNvPr>
          <p:cNvSpPr/>
          <p:nvPr/>
        </p:nvSpPr>
        <p:spPr>
          <a:xfrm>
            <a:off x="2255520" y="4724400"/>
            <a:ext cx="1712976" cy="262128"/>
          </a:xfrm>
          <a:prstGeom prst="ellipse">
            <a:avLst/>
          </a:prstGeom>
          <a:solidFill>
            <a:schemeClr val="accent3">
              <a:lumMod val="60000"/>
              <a:lumOff val="40000"/>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0268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FB1B2-692A-4851-9C95-692ED0AF2D79}"/>
              </a:ext>
            </a:extLst>
          </p:cNvPr>
          <p:cNvSpPr>
            <a:spLocks noGrp="1"/>
          </p:cNvSpPr>
          <p:nvPr>
            <p:ph type="title"/>
          </p:nvPr>
        </p:nvSpPr>
        <p:spPr/>
        <p:txBody>
          <a:bodyPr/>
          <a:lstStyle/>
          <a:p>
            <a:r>
              <a:rPr lang="en-US" dirty="0"/>
              <a:t>Drawbridge Architecture and Implementation</a:t>
            </a:r>
          </a:p>
        </p:txBody>
      </p:sp>
      <p:sp>
        <p:nvSpPr>
          <p:cNvPr id="6" name="Content Placeholder 5">
            <a:extLst>
              <a:ext uri="{FF2B5EF4-FFF2-40B4-BE49-F238E27FC236}">
                <a16:creationId xmlns:a16="http://schemas.microsoft.com/office/drawing/2014/main" id="{52DACF70-22ED-4AC6-9B3C-56A985077876}"/>
              </a:ext>
            </a:extLst>
          </p:cNvPr>
          <p:cNvSpPr>
            <a:spLocks noGrp="1"/>
          </p:cNvSpPr>
          <p:nvPr>
            <p:ph sz="half" idx="2"/>
          </p:nvPr>
        </p:nvSpPr>
        <p:spPr/>
        <p:txBody>
          <a:bodyPr>
            <a:normAutofit/>
          </a:bodyPr>
          <a:lstStyle/>
          <a:p>
            <a:r>
              <a:rPr lang="en-US" sz="2000" dirty="0"/>
              <a:t>The library OS communicates with user services in the host OS using the remote desktop protocol (RDP) ,tunneled through the ABI. Each application runs in its own address space with its own copy of the library OS</a:t>
            </a:r>
          </a:p>
        </p:txBody>
      </p:sp>
      <p:pic>
        <p:nvPicPr>
          <p:cNvPr id="10" name="Content Placeholder 9">
            <a:extLst>
              <a:ext uri="{FF2B5EF4-FFF2-40B4-BE49-F238E27FC236}">
                <a16:creationId xmlns:a16="http://schemas.microsoft.com/office/drawing/2014/main" id="{9D080C12-E4A0-4F63-8A51-B4B86384A06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334968" y="2141538"/>
            <a:ext cx="3697526" cy="3649662"/>
          </a:xfrm>
        </p:spPr>
      </p:pic>
      <p:sp>
        <p:nvSpPr>
          <p:cNvPr id="3" name="Rectangle 2">
            <a:extLst>
              <a:ext uri="{FF2B5EF4-FFF2-40B4-BE49-F238E27FC236}">
                <a16:creationId xmlns:a16="http://schemas.microsoft.com/office/drawing/2014/main" id="{3162D54C-FF16-4FBB-9BD3-4EA0502B53FF}"/>
              </a:ext>
            </a:extLst>
          </p:cNvPr>
          <p:cNvSpPr/>
          <p:nvPr/>
        </p:nvSpPr>
        <p:spPr>
          <a:xfrm>
            <a:off x="2359152" y="2682240"/>
            <a:ext cx="926592" cy="176784"/>
          </a:xfrm>
          <a:prstGeom prst="rect">
            <a:avLst/>
          </a:prstGeom>
          <a:solidFill>
            <a:srgbClr val="D49DDF">
              <a:alpha val="6313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3530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1AFCD-4FBE-4DC0-94A1-2CEC604CEE8F}"/>
              </a:ext>
            </a:extLst>
          </p:cNvPr>
          <p:cNvSpPr>
            <a:spLocks noGrp="1"/>
          </p:cNvSpPr>
          <p:nvPr>
            <p:ph type="title"/>
          </p:nvPr>
        </p:nvSpPr>
        <p:spPr/>
        <p:txBody>
          <a:bodyPr/>
          <a:lstStyle/>
          <a:p>
            <a:r>
              <a:rPr lang="en-US" dirty="0"/>
              <a:t>Results</a:t>
            </a:r>
          </a:p>
        </p:txBody>
      </p:sp>
      <p:pic>
        <p:nvPicPr>
          <p:cNvPr id="8" name="Content Placeholder 7">
            <a:extLst>
              <a:ext uri="{FF2B5EF4-FFF2-40B4-BE49-F238E27FC236}">
                <a16:creationId xmlns:a16="http://schemas.microsoft.com/office/drawing/2014/main" id="{64B3BF0A-7ECB-4DC1-B227-53F283F1AF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6682" y="1734151"/>
            <a:ext cx="6591906" cy="4640016"/>
          </a:xfrm>
        </p:spPr>
      </p:pic>
    </p:spTree>
    <p:extLst>
      <p:ext uri="{BB962C8B-B14F-4D97-AF65-F5344CB8AC3E}">
        <p14:creationId xmlns:p14="http://schemas.microsoft.com/office/powerpoint/2010/main" val="1968393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1AFCD-4FBE-4DC0-94A1-2CEC604CEE8F}"/>
              </a:ext>
            </a:extLst>
          </p:cNvPr>
          <p:cNvSpPr>
            <a:spLocks noGrp="1"/>
          </p:cNvSpPr>
          <p:nvPr>
            <p:ph type="title"/>
          </p:nvPr>
        </p:nvSpPr>
        <p:spPr/>
        <p:txBody>
          <a:bodyPr/>
          <a:lstStyle/>
          <a:p>
            <a:r>
              <a:rPr lang="en-US" dirty="0"/>
              <a:t>Results</a:t>
            </a:r>
          </a:p>
        </p:txBody>
      </p:sp>
      <p:pic>
        <p:nvPicPr>
          <p:cNvPr id="6" name="Content Placeholder 5">
            <a:extLst>
              <a:ext uri="{FF2B5EF4-FFF2-40B4-BE49-F238E27FC236}">
                <a16:creationId xmlns:a16="http://schemas.microsoft.com/office/drawing/2014/main" id="{553925CC-9D85-4DB9-A366-3E5A261B83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3574" y="1684338"/>
            <a:ext cx="6515878" cy="4564062"/>
          </a:xfrm>
        </p:spPr>
      </p:pic>
    </p:spTree>
    <p:extLst>
      <p:ext uri="{BB962C8B-B14F-4D97-AF65-F5344CB8AC3E}">
        <p14:creationId xmlns:p14="http://schemas.microsoft.com/office/powerpoint/2010/main" val="1428770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1AFCD-4FBE-4DC0-94A1-2CEC604CEE8F}"/>
              </a:ext>
            </a:extLst>
          </p:cNvPr>
          <p:cNvSpPr>
            <a:spLocks noGrp="1"/>
          </p:cNvSpPr>
          <p:nvPr>
            <p:ph type="title"/>
          </p:nvPr>
        </p:nvSpPr>
        <p:spPr/>
        <p:txBody>
          <a:bodyPr/>
          <a:lstStyle/>
          <a:p>
            <a:r>
              <a:rPr lang="en-US" dirty="0"/>
              <a:t>Results</a:t>
            </a:r>
          </a:p>
        </p:txBody>
      </p:sp>
      <p:pic>
        <p:nvPicPr>
          <p:cNvPr id="6" name="Content Placeholder 5">
            <a:extLst>
              <a:ext uri="{FF2B5EF4-FFF2-40B4-BE49-F238E27FC236}">
                <a16:creationId xmlns:a16="http://schemas.microsoft.com/office/drawing/2014/main" id="{CAC1F870-3451-4516-A986-A0EC5BE39F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1859" y="2100109"/>
            <a:ext cx="8779308" cy="3732520"/>
          </a:xfrm>
        </p:spPr>
      </p:pic>
    </p:spTree>
    <p:extLst>
      <p:ext uri="{BB962C8B-B14F-4D97-AF65-F5344CB8AC3E}">
        <p14:creationId xmlns:p14="http://schemas.microsoft.com/office/powerpoint/2010/main" val="962220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1EABD-24AE-4BB2-B11B-6F1626AF4E96}"/>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3DE16818-1F8E-4E77-9045-5208784AA4D3}"/>
              </a:ext>
            </a:extLst>
          </p:cNvPr>
          <p:cNvSpPr>
            <a:spLocks noGrp="1"/>
          </p:cNvSpPr>
          <p:nvPr>
            <p:ph idx="1"/>
          </p:nvPr>
        </p:nvSpPr>
        <p:spPr/>
        <p:txBody>
          <a:bodyPr>
            <a:normAutofit lnSpcReduction="10000"/>
          </a:bodyPr>
          <a:lstStyle/>
          <a:p>
            <a:endParaRPr lang="en-US" sz="2400" dirty="0"/>
          </a:p>
          <a:p>
            <a:pPr lvl="1"/>
            <a:r>
              <a:rPr lang="en-US" sz="2000" dirty="0"/>
              <a:t>Incomplete port of windows API</a:t>
            </a:r>
          </a:p>
          <a:p>
            <a:pPr lvl="2">
              <a:buFont typeface="Wingdings" panose="05000000000000000000" pitchFamily="2" charset="2"/>
              <a:buChar char="v"/>
            </a:pPr>
            <a:r>
              <a:rPr lang="en-US" sz="1800" dirty="0"/>
              <a:t>Printer support</a:t>
            </a:r>
          </a:p>
          <a:p>
            <a:pPr lvl="2">
              <a:buFont typeface="Wingdings" panose="05000000000000000000" pitchFamily="2" charset="2"/>
              <a:buChar char="v"/>
            </a:pPr>
            <a:r>
              <a:rPr lang="en-US" sz="1800" dirty="0"/>
              <a:t>Accelerated graphics</a:t>
            </a:r>
          </a:p>
          <a:p>
            <a:pPr lvl="1"/>
            <a:r>
              <a:rPr lang="en-US" sz="2000" dirty="0"/>
              <a:t>Support for multi-process applications (e.g., Outlook with Word as an editor, sharing state through windows subsystem)</a:t>
            </a:r>
          </a:p>
          <a:p>
            <a:pPr lvl="1"/>
            <a:r>
              <a:rPr lang="en-US" sz="2000" dirty="0"/>
              <a:t>Administrative tools will not work by design</a:t>
            </a:r>
          </a:p>
          <a:p>
            <a:pPr lvl="2">
              <a:buFont typeface="Wingdings" panose="05000000000000000000" pitchFamily="2" charset="2"/>
              <a:buChar char="v"/>
            </a:pPr>
            <a:r>
              <a:rPr lang="en-US" sz="1800" dirty="0"/>
              <a:t>Need more low-level system access</a:t>
            </a:r>
          </a:p>
          <a:p>
            <a:pPr marL="0" indent="0">
              <a:buNone/>
            </a:pPr>
            <a:br>
              <a:rPr lang="en-US" dirty="0"/>
            </a:br>
            <a:endParaRPr lang="en-US" dirty="0"/>
          </a:p>
        </p:txBody>
      </p:sp>
    </p:spTree>
    <p:extLst>
      <p:ext uri="{BB962C8B-B14F-4D97-AF65-F5344CB8AC3E}">
        <p14:creationId xmlns:p14="http://schemas.microsoft.com/office/powerpoint/2010/main" val="2308046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5F3C7-DE1B-4828-B04D-379EC61B1858}"/>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4E74696A-E652-4CB2-87DC-FE0078F5BBC0}"/>
              </a:ext>
            </a:extLst>
          </p:cNvPr>
          <p:cNvSpPr>
            <a:spLocks noGrp="1"/>
          </p:cNvSpPr>
          <p:nvPr>
            <p:ph idx="1"/>
          </p:nvPr>
        </p:nvSpPr>
        <p:spPr/>
        <p:txBody>
          <a:bodyPr/>
          <a:lstStyle/>
          <a:p>
            <a:r>
              <a:rPr lang="en-US" dirty="0"/>
              <a:t>The paper successfully demonstrates that we can use a refactored windows 7 OS  as a library OS</a:t>
            </a:r>
          </a:p>
          <a:p>
            <a:r>
              <a:rPr lang="en-US" dirty="0"/>
              <a:t>It maintains the function benefits of a VM such as </a:t>
            </a:r>
          </a:p>
          <a:p>
            <a:pPr lvl="1">
              <a:buFont typeface="Wingdings" panose="05000000000000000000" pitchFamily="2" charset="2"/>
              <a:buChar char="v"/>
            </a:pPr>
            <a:r>
              <a:rPr lang="en-US" dirty="0"/>
              <a:t>Robustness to change in the host system software</a:t>
            </a:r>
          </a:p>
          <a:p>
            <a:pPr lvl="1">
              <a:buFont typeface="Wingdings" panose="05000000000000000000" pitchFamily="2" charset="2"/>
              <a:buChar char="v"/>
            </a:pPr>
            <a:r>
              <a:rPr lang="en-US" dirty="0"/>
              <a:t>Security isolation</a:t>
            </a:r>
          </a:p>
          <a:p>
            <a:pPr lvl="1">
              <a:buFont typeface="Wingdings" panose="05000000000000000000" pitchFamily="2" charset="2"/>
              <a:buChar char="v"/>
            </a:pPr>
            <a:r>
              <a:rPr lang="en-US" dirty="0"/>
              <a:t>Migration </a:t>
            </a:r>
          </a:p>
          <a:p>
            <a:r>
              <a:rPr lang="en-US" dirty="0"/>
              <a:t>Comparing to a VM it has better scalability , causes lesser overhead and is much faster than a traditional virtual machine.</a:t>
            </a:r>
          </a:p>
        </p:txBody>
      </p:sp>
    </p:spTree>
    <p:extLst>
      <p:ext uri="{BB962C8B-B14F-4D97-AF65-F5344CB8AC3E}">
        <p14:creationId xmlns:p14="http://schemas.microsoft.com/office/powerpoint/2010/main" val="25910545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63A5DDB35317419A52545607CB7C53" ma:contentTypeVersion="2" ma:contentTypeDescription="Create a new document." ma:contentTypeScope="" ma:versionID="2ebe649da1316fddd9a98b9fd39c1bf1">
  <xsd:schema xmlns:xsd="http://www.w3.org/2001/XMLSchema" xmlns:xs="http://www.w3.org/2001/XMLSchema" xmlns:p="http://schemas.microsoft.com/office/2006/metadata/properties" xmlns:ns3="2c7142fc-ba6b-4524-b83e-7cb04d005cf7" targetNamespace="http://schemas.microsoft.com/office/2006/metadata/properties" ma:root="true" ma:fieldsID="4650248c7f10ab18b3a8392679035a2f" ns3:_="">
    <xsd:import namespace="2c7142fc-ba6b-4524-b83e-7cb04d005cf7"/>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7142fc-ba6b-4524-b83e-7cb04d005c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F51BED8-C14C-4F71-9427-B628282DF5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c7142fc-ba6b-4524-b83e-7cb04d005c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8C19B64-A3A5-41AC-AB6B-23C22A8100EF}">
  <ds:schemaRefs>
    <ds:schemaRef ds:uri="http://schemas.microsoft.com/sharepoint/v3/contenttype/forms"/>
  </ds:schemaRefs>
</ds:datastoreItem>
</file>

<file path=customXml/itemProps3.xml><?xml version="1.0" encoding="utf-8"?>
<ds:datastoreItem xmlns:ds="http://schemas.openxmlformats.org/officeDocument/2006/customXml" ds:itemID="{4A5261F1-F369-4839-A7ED-5C24BD4D8EA3}">
  <ds:schemaRef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terms/"/>
    <ds:schemaRef ds:uri="http://purl.org/dc/elements/1.1/"/>
    <ds:schemaRef ds:uri="http://schemas.microsoft.com/office/2006/metadata/properties"/>
    <ds:schemaRef ds:uri="2c7142fc-ba6b-4524-b83e-7cb04d005cf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TM03457452[[fn=Celestial]]</Template>
  <TotalTime>450</TotalTime>
  <Words>425</Words>
  <Application>Microsoft Office PowerPoint</Application>
  <PresentationFormat>Widescreen</PresentationFormat>
  <Paragraphs>55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Celestial</vt:lpstr>
      <vt:lpstr>Rethinking the Library OS from the Top Down</vt:lpstr>
      <vt:lpstr>Contents</vt:lpstr>
      <vt:lpstr>Introduction and Backstory</vt:lpstr>
      <vt:lpstr>Motive </vt:lpstr>
      <vt:lpstr>PowerPoint Presentation</vt:lpstr>
      <vt:lpstr>Windows 7 OS architecture</vt:lpstr>
      <vt:lpstr>Drawbridge</vt:lpstr>
      <vt:lpstr>Drawbridge Architecture and Implementation</vt:lpstr>
      <vt:lpstr>Drawbridge Architecture and Implementation</vt:lpstr>
      <vt:lpstr>Results</vt:lpstr>
      <vt:lpstr>Results</vt:lpstr>
      <vt:lpstr>Results</vt:lpstr>
      <vt:lpstr>Limitations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Rethinking the Library OS from the Top Down</dc:title>
  <dc:creator>Paul, Benjamin</dc:creator>
  <cp:lastModifiedBy>Paul, Benjamin</cp:lastModifiedBy>
  <cp:revision>17</cp:revision>
  <dcterms:created xsi:type="dcterms:W3CDTF">2020-03-13T18:13:19Z</dcterms:created>
  <dcterms:modified xsi:type="dcterms:W3CDTF">2020-03-14T01:44:03Z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0x0101009B63A5DDB35317419A52545607CB7C53</vt:lpwstr>
  </property>
</Properties>
</file>